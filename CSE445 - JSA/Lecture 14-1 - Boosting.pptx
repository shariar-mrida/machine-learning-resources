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5" r:id="rId3"/>
    <p:sldId id="278" r:id="rId4"/>
    <p:sldId id="276" r:id="rId5"/>
    <p:sldId id="277" r:id="rId6"/>
    <p:sldId id="279" r:id="rId7"/>
    <p:sldId id="2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14F1-BD4C-AE3F-2128-E8C7B468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B4BFF-8113-3A44-E69E-54BD0A0F9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8D63D-6448-8201-4D7B-EE25F9BBF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F4983-DA5E-B0CF-2DEA-D55691477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4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11E2F-751B-3B80-0B14-247837AB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37A2E-D8BC-8C42-C6A1-9514A2CE2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5C209-A48B-601E-BB93-095D85B7C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4CFDB-3553-089F-CDD8-A0F212CFA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92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30645-3AE5-34D0-D4D2-97BF04EB0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FF596-B1E9-2E64-7D13-11DB2E743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79D24-5AEE-521B-2DE0-FBFC405E9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FD784-B248-CDEB-45C1-9D6FCE7DE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66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B41A-97EA-1872-DE17-7191EA65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857DF-4614-7BDF-4113-939C97B86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4A055-A97C-8FA3-421A-5264161F0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38F31-A465-8DEE-5981-8FB2587A2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21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EE5D-1A70-431B-4020-CF9CEF00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F1135-596C-59A0-C06B-7373ABCEB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84252-2144-9469-B252-E60508BB5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185E0-BCF3-A430-649D-3B7CCEC0B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60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E17A8-3D4B-6EB1-FFE4-29DD525B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CC8C9-F091-B3D3-ADC1-6E086C4B1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D164D-86CC-D3D2-69BF-F8071E409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8B413-65A6-9258-1CEC-7B6D90D49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1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rcRect/>
          <a:tile tx="-85090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14-1: Boosting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1BEF-FA4B-58F0-8928-E7D8CAD41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615E-F91D-48E2-CB2C-CBF336F0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Introduction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8F4963-DC99-22A5-3994-7B1A9EBD5EB5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81D76-4AEE-ACF1-646E-06EECD60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B5A3F-5E5F-806F-ECB3-766E996430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812EE0-50E9-E4E3-A463-CD1F04AAB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522888"/>
            <a:ext cx="11040256" cy="4530723"/>
          </a:xfrm>
        </p:spPr>
        <p:txBody>
          <a:bodyPr>
            <a:noAutofit/>
          </a:bodyPr>
          <a:lstStyle/>
          <a:p>
            <a:pPr algn="just"/>
            <a:r>
              <a:rPr lang="en-US" sz="2300" b="1" u="sng" dirty="0"/>
              <a:t>Boosting</a:t>
            </a:r>
            <a:r>
              <a:rPr lang="en-US" sz="2300" dirty="0"/>
              <a:t> is an </a:t>
            </a:r>
            <a:r>
              <a:rPr lang="en-US" sz="2300" b="1" u="sng" dirty="0"/>
              <a:t>ensemble learning technique</a:t>
            </a:r>
            <a:r>
              <a:rPr lang="en-US" sz="2300" dirty="0"/>
              <a:t> that combines multiple weak classifiers to form a strong classifier</a:t>
            </a:r>
          </a:p>
          <a:p>
            <a:pPr algn="just"/>
            <a:r>
              <a:rPr lang="en-US" sz="2300" dirty="0"/>
              <a:t>It works in a sequential manner, where each model is trained on the errors of the previous one</a:t>
            </a:r>
          </a:p>
          <a:p>
            <a:pPr algn="just"/>
            <a:r>
              <a:rPr lang="en-US" sz="2300" dirty="0"/>
              <a:t>The process begins by training an initial model on the training data</a:t>
            </a:r>
          </a:p>
          <a:p>
            <a:pPr algn="just"/>
            <a:r>
              <a:rPr lang="en-US" sz="2300" dirty="0"/>
              <a:t>The next model is built to correct the errors made by the first model</a:t>
            </a:r>
          </a:p>
          <a:p>
            <a:pPr algn="just"/>
            <a:r>
              <a:rPr lang="en-US" sz="2300" dirty="0"/>
              <a:t>This sequence continues, adding models one after another, until:</a:t>
            </a:r>
          </a:p>
          <a:p>
            <a:pPr lvl="1" algn="just"/>
            <a:r>
              <a:rPr lang="en-US" sz="1900" dirty="0"/>
              <a:t>All training data is classified correctly, or</a:t>
            </a:r>
          </a:p>
          <a:p>
            <a:pPr lvl="1" algn="just"/>
            <a:r>
              <a:rPr lang="en-US" sz="1900" dirty="0"/>
              <a:t>A predefined number of iterations is completed</a:t>
            </a:r>
          </a:p>
          <a:p>
            <a:pPr algn="just"/>
            <a:r>
              <a:rPr lang="en-US" sz="2300" dirty="0"/>
              <a:t>Boosting can be compared to a teacher who focuses more attention on students who are struggling, aiming to improve their academic performance — similarly, boosting focuses on the mistakes to improve the overall model</a:t>
            </a:r>
          </a:p>
        </p:txBody>
      </p:sp>
    </p:spTree>
    <p:extLst>
      <p:ext uri="{BB962C8B-B14F-4D97-AF65-F5344CB8AC3E}">
        <p14:creationId xmlns:p14="http://schemas.microsoft.com/office/powerpoint/2010/main" val="25395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BD0C-1DED-2855-47F1-2D5C0BBDC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A42B-6DB7-586A-83F8-4404D3E87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Ensemble Learning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67C5A2-2C33-D2B5-69E1-32A1AB4DB06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47CD7-36E7-5120-8A8D-DCBBE447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0A3195-2888-3DD3-12B9-DC138141B3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4CC58D-0FAC-1118-255A-DB870A250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522887"/>
            <a:ext cx="11040256" cy="5032369"/>
          </a:xfrm>
        </p:spPr>
        <p:txBody>
          <a:bodyPr>
            <a:noAutofit/>
          </a:bodyPr>
          <a:lstStyle/>
          <a:p>
            <a:pPr algn="just"/>
            <a:r>
              <a:rPr lang="en-US" sz="2300" b="1" u="sng" dirty="0"/>
              <a:t>Definition</a:t>
            </a:r>
            <a:r>
              <a:rPr lang="en-US" sz="2300" dirty="0"/>
              <a:t>: Combining multiple base models to improve overall predictive performance</a:t>
            </a:r>
          </a:p>
          <a:p>
            <a:pPr algn="just"/>
            <a:r>
              <a:rPr lang="en-US" sz="2300" dirty="0"/>
              <a:t>Core Idea: Diverse models make fewer errors collectively (a strong learner built from many weak learners)</a:t>
            </a:r>
          </a:p>
          <a:p>
            <a:pPr algn="just"/>
            <a:r>
              <a:rPr lang="en-US" sz="2300" dirty="0"/>
              <a:t>Key Techniques:</a:t>
            </a:r>
          </a:p>
          <a:p>
            <a:pPr algn="just"/>
            <a:r>
              <a:rPr lang="en-US" sz="2300" b="1" dirty="0"/>
              <a:t>Bagging</a:t>
            </a:r>
            <a:r>
              <a:rPr lang="en-US" sz="2300" dirty="0"/>
              <a:t> (Bootstrap Aggregating)</a:t>
            </a:r>
          </a:p>
          <a:p>
            <a:pPr lvl="1" algn="just"/>
            <a:r>
              <a:rPr lang="en-US" sz="1900" dirty="0"/>
              <a:t>Train models on different data subsets</a:t>
            </a:r>
          </a:p>
          <a:p>
            <a:pPr lvl="1" algn="just"/>
            <a:r>
              <a:rPr lang="en-US" sz="1900" dirty="0"/>
              <a:t>Reduces variance (e.g. Random Forests)</a:t>
            </a:r>
          </a:p>
          <a:p>
            <a:pPr algn="just"/>
            <a:r>
              <a:rPr lang="en-US" sz="2300" b="1" dirty="0"/>
              <a:t>Boosting</a:t>
            </a:r>
          </a:p>
          <a:p>
            <a:pPr lvl="1" algn="just"/>
            <a:r>
              <a:rPr lang="en-US" sz="1900" dirty="0"/>
              <a:t>Sequentially train models, each focusing on previous errors</a:t>
            </a:r>
          </a:p>
          <a:p>
            <a:pPr lvl="1" algn="just"/>
            <a:r>
              <a:rPr lang="en-US" sz="1900" dirty="0"/>
              <a:t>Reduces bias (e.g. AdaBoost, Gradient Boosting)</a:t>
            </a:r>
          </a:p>
        </p:txBody>
      </p:sp>
    </p:spTree>
    <p:extLst>
      <p:ext uri="{BB962C8B-B14F-4D97-AF65-F5344CB8AC3E}">
        <p14:creationId xmlns:p14="http://schemas.microsoft.com/office/powerpoint/2010/main" val="150747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11354-34B5-9802-6DD1-910F45A6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4A45-0AA3-DFFA-FFE5-E9070E4A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057"/>
            <a:ext cx="10515600" cy="1325563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AdaBoost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462C3C-C7E1-3889-38E5-1293EC3222FF}"/>
              </a:ext>
            </a:extLst>
          </p:cNvPr>
          <p:cNvCxnSpPr/>
          <p:nvPr/>
        </p:nvCxnSpPr>
        <p:spPr>
          <a:xfrm>
            <a:off x="652072" y="1217549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80111-5AF8-C4EE-D57D-8CAF656D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8CE49F-5D30-0C39-3AE6-90ABC83C99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4BA8E97-7806-6728-0D98-5F5C2500D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312820"/>
            <a:ext cx="11040256" cy="4530723"/>
          </a:xfrm>
        </p:spPr>
        <p:txBody>
          <a:bodyPr>
            <a:noAutofit/>
          </a:bodyPr>
          <a:lstStyle/>
          <a:p>
            <a:pPr algn="just"/>
            <a:r>
              <a:rPr lang="en-US" sz="2300" b="1" u="sng" dirty="0"/>
              <a:t>AdaBoost (Adaptive Boosting)</a:t>
            </a:r>
            <a:r>
              <a:rPr lang="en-US" sz="2300" dirty="0"/>
              <a:t> is a the most frequently used boosting algorithm that improves the performance of weak learners in a sequential manner</a:t>
            </a:r>
          </a:p>
          <a:p>
            <a:pPr algn="just"/>
            <a:r>
              <a:rPr lang="en-US" sz="2300" dirty="0"/>
              <a:t>Initially, it assigns equal weights to all training samples, treating each datapoint as equally important</a:t>
            </a:r>
          </a:p>
          <a:p>
            <a:pPr algn="just"/>
            <a:r>
              <a:rPr lang="en-US" sz="2300" dirty="0"/>
              <a:t>After training the first weak learner, the algorithm increases the weights of the misclassified samples</a:t>
            </a:r>
          </a:p>
          <a:p>
            <a:pPr algn="just"/>
            <a:r>
              <a:rPr lang="en-US" sz="2300" dirty="0"/>
              <a:t>This ensures that the next learner focuses more on the difficult cases that were previously misclassified</a:t>
            </a:r>
          </a:p>
          <a:p>
            <a:pPr algn="just"/>
            <a:r>
              <a:rPr lang="en-US" sz="2300" dirty="0"/>
              <a:t>The process continues iteratively, combining the outputs of multiple weak learners to form a strong classifier</a:t>
            </a:r>
          </a:p>
          <a:p>
            <a:pPr algn="just"/>
            <a:r>
              <a:rPr lang="en-US" sz="2300" dirty="0"/>
              <a:t>AdaBoost effectively reduces both bias and variance, making it suitable for various classification tasks</a:t>
            </a:r>
          </a:p>
          <a:p>
            <a:pPr algn="just"/>
            <a:r>
              <a:rPr lang="en-US" sz="2300" dirty="0"/>
              <a:t>However, it can be sensitive to noisy data and outliers, as these can receive disproportionately high weights during training</a:t>
            </a:r>
          </a:p>
        </p:txBody>
      </p:sp>
    </p:spTree>
    <p:extLst>
      <p:ext uri="{BB962C8B-B14F-4D97-AF65-F5344CB8AC3E}">
        <p14:creationId xmlns:p14="http://schemas.microsoft.com/office/powerpoint/2010/main" val="34302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F782B-3AB5-7D83-B3DE-375FF159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4721-893B-3E70-A661-EFFC5054C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AdaBoost Algorithm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8499D1-5D10-06FF-ACFC-4FE1720A6E62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F883A-5D28-41B9-CBD0-C1555213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5AE3BB-C854-18AD-366E-B87D4BE63E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6A7005D-7F46-6456-2824-B76226C20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522888"/>
            <a:ext cx="6281485" cy="5248607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Initialize sample weights equally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Train the first weak learner on the weighted dataset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Evaluate its performance and compute the error rate (weighted sum of misclassified samples)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Update the model's weight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Update the sample weights:</a:t>
            </a:r>
          </a:p>
          <a:p>
            <a:pPr lvl="1" algn="just"/>
            <a:r>
              <a:rPr lang="en-US" sz="2000" dirty="0"/>
              <a:t>Increase the weights of misclassified examples</a:t>
            </a:r>
          </a:p>
          <a:p>
            <a:pPr lvl="1" algn="just"/>
            <a:r>
              <a:rPr lang="en-US" sz="2000" dirty="0"/>
              <a:t>Decrease the weights of correctly classified ones</a:t>
            </a:r>
          </a:p>
          <a:p>
            <a:pPr lvl="1" algn="just"/>
            <a:r>
              <a:rPr lang="en-US" sz="2000" dirty="0"/>
              <a:t>Normalize the sample weights so they sum to 1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Repeat steps 2–6 for the next learner using the updated sample weights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28F9B9-A5F5-A901-6367-40E76DAAF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557" y="2490110"/>
            <a:ext cx="5258443" cy="229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3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C1A88-8F8D-8F4C-9BBA-D50FA1A92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EF2C-CB44-D980-8CC7-284693B7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Python Code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BF9A56-ABC7-9892-4D4B-C00A4ACC1A73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A1E74-E3AD-BF88-9682-EE9923C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F281B7-192F-DB54-1D44-E8C100FD8E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D156D8-53C0-70EE-0C71-5E5C4EDE6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18763" y="1588566"/>
            <a:ext cx="6236020" cy="280684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3CC941-ECC6-B2B7-D815-76D0FFFA8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63" y="4556358"/>
            <a:ext cx="4115011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77022-72F8-2BDD-5DF9-71D4481E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82BBB8A-B4F4-008F-CFCE-C84EB3421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4114165"/>
            <a:ext cx="4725328" cy="26324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EAD990-1559-E9AE-3CA4-DCC44FE2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Bagging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38DB27-89FC-0ED9-DD4C-9D7CAA8FB24B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636C4-F313-46FC-ED22-07B695CA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5E3568-3024-7DDA-DE75-9DA8EEF84A1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AD6E48-8883-C283-E546-B10339716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9077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Bagging Workflow</a:t>
            </a:r>
            <a:endParaRPr lang="en-US" dirty="0"/>
          </a:p>
          <a:p>
            <a:pPr lvl="1" algn="just"/>
            <a:r>
              <a:rPr lang="en-US" b="1" dirty="0"/>
              <a:t>Bootstrap Sampling:</a:t>
            </a:r>
            <a:r>
              <a:rPr lang="en-US" dirty="0"/>
              <a:t> Create several datasets of the </a:t>
            </a:r>
            <a:r>
              <a:rPr lang="en-US" b="1" u="sng" dirty="0"/>
              <a:t>same size</a:t>
            </a:r>
            <a:r>
              <a:rPr lang="en-US" dirty="0"/>
              <a:t> as the original by randomly drawing observations </a:t>
            </a:r>
            <a:r>
              <a:rPr lang="en-US" b="1" u="sng" dirty="0"/>
              <a:t>with replacement</a:t>
            </a:r>
          </a:p>
          <a:p>
            <a:pPr lvl="1" algn="just"/>
            <a:r>
              <a:rPr lang="en-US" b="1" dirty="0"/>
              <a:t>Model Training:</a:t>
            </a:r>
            <a:r>
              <a:rPr lang="en-US" dirty="0"/>
              <a:t> Fit an individual base learner to each bootstrap sample</a:t>
            </a:r>
          </a:p>
          <a:p>
            <a:pPr lvl="1" algn="just"/>
            <a:r>
              <a:rPr lang="en-US" b="1" dirty="0"/>
              <a:t>Parallel Learning:</a:t>
            </a:r>
            <a:r>
              <a:rPr lang="en-US" dirty="0"/>
              <a:t> Train all base models independently and simultaneously on their respective samples</a:t>
            </a:r>
          </a:p>
          <a:p>
            <a:pPr lvl="1" algn="just"/>
            <a:r>
              <a:rPr lang="en-US" b="1" dirty="0"/>
              <a:t>Prediction Aggregation:</a:t>
            </a:r>
            <a:r>
              <a:rPr lang="en-US" dirty="0"/>
              <a:t> Combine the outputs of the trained models by majority vote for classification or by averaging for regression to produce the ensemble’s final prediction</a:t>
            </a:r>
          </a:p>
        </p:txBody>
      </p:sp>
    </p:spTree>
    <p:extLst>
      <p:ext uri="{BB962C8B-B14F-4D97-AF65-F5344CB8AC3E}">
        <p14:creationId xmlns:p14="http://schemas.microsoft.com/office/powerpoint/2010/main" val="244202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24073</TotalTime>
  <Words>512</Words>
  <Application>Microsoft Office PowerPoint</Application>
  <PresentationFormat>Widescreen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Lecture 14-1: Boosting</vt:lpstr>
      <vt:lpstr>Introduction</vt:lpstr>
      <vt:lpstr>Ensemble Learning</vt:lpstr>
      <vt:lpstr>AdaBoost</vt:lpstr>
      <vt:lpstr>AdaBoost Algorithm</vt:lpstr>
      <vt:lpstr>Python Code Example</vt:lpstr>
      <vt:lpstr>Bagging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14-1: Boosting</dc:title>
  <dc:creator>Jilan Samiuddin</dc:creator>
  <cp:lastModifiedBy>Jilan Samiuddin</cp:lastModifiedBy>
  <cp:revision>312</cp:revision>
  <dcterms:created xsi:type="dcterms:W3CDTF">2025-05-01T04:50:36Z</dcterms:created>
  <dcterms:modified xsi:type="dcterms:W3CDTF">2026-08-17T02:00:01Z</dcterms:modified>
</cp:coreProperties>
</file>