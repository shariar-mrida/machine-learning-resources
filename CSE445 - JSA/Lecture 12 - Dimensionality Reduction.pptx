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83" r:id="rId3"/>
    <p:sldId id="281" r:id="rId4"/>
    <p:sldId id="282" r:id="rId5"/>
    <p:sldId id="280" r:id="rId6"/>
    <p:sldId id="284" r:id="rId7"/>
    <p:sldId id="285" r:id="rId8"/>
    <p:sldId id="286" r:id="rId9"/>
    <p:sldId id="287" r:id="rId10"/>
    <p:sldId id="289" r:id="rId11"/>
    <p:sldId id="291" r:id="rId12"/>
    <p:sldId id="292" r:id="rId13"/>
    <p:sldId id="293" r:id="rId14"/>
    <p:sldId id="290" r:id="rId15"/>
    <p:sldId id="275" r:id="rId16"/>
    <p:sldId id="276" r:id="rId17"/>
    <p:sldId id="277" r:id="rId18"/>
    <p:sldId id="278" r:id="rId19"/>
    <p:sldId id="295" r:id="rId20"/>
    <p:sldId id="294" r:id="rId21"/>
    <p:sldId id="296" r:id="rId22"/>
    <p:sldId id="299" r:id="rId23"/>
    <p:sldId id="300" r:id="rId24"/>
    <p:sldId id="301" r:id="rId25"/>
    <p:sldId id="297" r:id="rId26"/>
    <p:sldId id="298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>
        <p:scale>
          <a:sx n="100" d="100"/>
          <a:sy n="100" d="100"/>
        </p:scale>
        <p:origin x="82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08106-CFAC-2389-FA0D-453B26D6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9BC20-84B0-529B-E801-113069C68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50714-975F-5890-1F79-B8B17744D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B2D71-CD94-443F-FBA9-53B33A161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89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75F6-AB51-8709-7294-973D54A0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7DE9B-3809-72B3-DADA-DB4EC5283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9C7BC-512F-B384-F369-A9A167F26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45672-80C9-939E-3D63-6F705C331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36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8DE33-6E76-D289-D235-42928458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60951-D5C1-DFFD-D057-FEBD01E8C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6B8E9-A808-BB6E-2037-F2122631C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4140-AD43-8F29-9117-CAFFBB498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86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9049-E3CD-97FA-BDEF-F436CEA9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CD3E8-AECB-E557-D43E-30257642E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B41E2-9C4E-50DB-4354-6323DCF18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91965-5C34-651E-1E33-FF3C994C3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40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4A127-7EF0-8BA2-B6F6-B3F56CA7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104BA-E735-8612-3292-AE8BABBAA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90BDD-4B1D-F1EB-230D-D9B2148E2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85198-14EA-B68F-55C1-B23941301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89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299F-33F9-66F5-A0FD-DA31C805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7CC3F-03FF-BCE2-A37C-97AFFA9CF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F06B9-A896-0636-5694-11445811F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9D984-3A0B-D961-080D-764278BC9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2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3A28-B772-F181-8966-19825D19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BBBF0-BAB6-80AE-197D-9AAF9DFA4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76D79-E577-DEDD-6783-66CC89FB8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6FE2B-652C-171C-18A0-9B5F6AE6C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6E04-D063-78CF-8839-3AFB2FE8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F93B2-FD2C-B357-A56B-9D8B88769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3A1A2-0140-7BAA-3E4F-E87E897A2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C4D7-8268-0E3D-850C-892547440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3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D1DD-A5B9-55DC-260E-CC4F4915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ED704-B027-9748-EC4A-050233A44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D92C2-6CD8-0A70-F66B-1A6728C4A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C7445-2F89-CAC5-BB77-E4721F595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84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1495-228E-2BD4-37B5-46D4DAA6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AE1D8-BCD7-FEFA-6DF5-ABC1DB939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40E5B-4780-22F2-EAEE-2A8DC6762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7E23B-EBF1-BD2B-6838-9930EBAA1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23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200EA-EE0A-8DB9-9266-F1CA8A84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9DF8B-EF65-2169-6F52-18F305DCD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9592-9E5D-E6D4-9AB9-F76BC4E9E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FBAD8-C5B1-80FA-EE2C-711F5C94B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3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C787-DCB5-A0B2-6DFB-99EED162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4735B-CB09-2C62-F8D1-1214C3FCC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941F9-FE01-AFCB-1E76-30D5A928A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2406C-8ABF-68FC-6EE1-B35C74DA0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36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B2CB-D964-4286-4790-41E30A9A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3E9B6-D552-0E86-19E4-AC2621AC7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D46D1-4355-4F62-3DC3-5616ED77E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E2087-B824-3F03-0D28-A49E8920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61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14F1-BD4C-AE3F-2128-E8C7B468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B4BFF-8113-3A44-E69E-54BD0A0F9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8D63D-6448-8201-4D7B-EE25F9BBF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4983-DA5E-B0CF-2DEA-D55691477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4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F3F63-3482-3DA7-8BB1-28549879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537F0-19BA-F22E-5678-BCE397D0E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AC4A2-BBA2-57D1-7812-DEB6BA7D2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132B8-9FA4-E0F0-16E5-3F57C7AD6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90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EFF3-5A71-051D-6EA1-44F9DCF1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B9833-EAE3-279B-AC17-7B816A4DB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02993-8F0D-C568-944D-4E9199D0C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74661-BD8C-42C7-6805-7FC2A0368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51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4935-96C8-702F-C09B-985E43E6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E6740-C6A6-3666-DE6E-A1FDD191A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E0EC7-6A12-2F80-E4EB-3ADC175A4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CB4E7-2206-7F55-DADF-582E7A588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1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E749-D52B-8C6F-EF0B-1F62BDDB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23683-253B-BC07-1BEE-0A277BAA6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77C23-8315-E809-78CF-B351B0893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8120E-22E9-3E56-E277-C07DD30E0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2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7A6B9-B406-B04C-B3F9-43607E01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6ADED-70ED-6D98-B275-16AD6C1BE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5FF9A-E19C-5850-9762-A719E9B94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5E7C2-3F99-A796-2CF2-676FBC311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54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F7BB-105D-F970-3862-E0D21E83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1DFF3-B73B-CA46-32D0-3E3900FC1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B6BBB-1A0B-6324-9D4C-BB38B8937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C801D-815A-6C25-DA23-131B9C78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435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EB5D-97AA-0B30-7365-D926E974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CFE08-259A-8428-90ED-4830F330A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2EF40-3353-D007-BB60-81DD9EA01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C7F46-674C-FFDA-AFF1-7AF6D3D4E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474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4975-6DBE-A87F-0F76-3E9BA1BA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DD88E-0CC3-A31A-7876-818538272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B7E6B-886D-9834-8F53-7A85305E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5DEEB-0CD5-BD72-E290-C805CD0B5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71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2D4B-540D-6B7E-FA6C-81016162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4A5EB-BB32-6262-3159-E46B46297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90C10-4B7E-53FE-78F5-7768998BA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4DDBB-2888-5047-F49D-B269D972B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10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6643F-03D3-49D5-92EE-7FF08311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176E0-6AC4-3F93-AD0D-86F18BF72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83FC0-E959-EAD1-771A-1F6A91B19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BDCEF-7973-E740-B712-93599D634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75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FDA69-4F92-19EB-DF0E-D6E6831C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9BAE-696E-8B24-88C4-75F5B2514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3F5B3-C20B-5440-3D89-B0D2B87F8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50A87-D96D-E57D-74BD-AF379D506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817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E134-4135-ED21-7BD3-7A40E3BA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03BC5-0A18-4AA9-077F-F3532B0C6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FEFF0-E384-B857-B99B-6EAAFB7FC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27511-CC84-6C64-C207-E58F9832F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15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706E-C37B-113E-A8D2-E6D5F5E1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601CB-193D-7119-2EAF-1AC7C2169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B1E99-A0E7-9271-E8EA-B0430DD40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B2E31-6D0B-78AC-C125-3C79B7212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632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618A-F36B-09F5-9BAD-FF896B92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99E68-4186-0093-6ADE-B19889619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7A604-EAF4-26F6-3452-41622FB20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D60AC-E7FB-FF40-A12C-01C9A6A6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519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5613-A6CB-E61E-90D9-DE6A2112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F825C-1F2B-0D83-424A-6103ED0F1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64058-939E-8421-0238-520D4D486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5BD97-FCE6-8768-D67C-55766D3AA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0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EEE4-EF7F-F88E-3875-D44786F2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A86AC-0B41-170F-DCF8-2046262EB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9C85-1D98-5976-DC49-D0E67AC19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904A2-E16E-D5C6-2C0F-5AB633A3E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774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8ECB-2FD8-267C-6BE5-BFFB39FB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D9E5F-D885-7A62-00A0-D649A9E7A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FBE89-C204-9FD4-9EDA-3BB459AF8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62DB7-8ACF-3AF5-11E6-BB55C77D5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173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5789-A013-8C0E-1BA6-6C2C91F9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72474-CBA2-922C-582B-E2CE0678F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2B2C0-45B1-3A8D-20E8-1E3072A93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BCF5A-2806-1C50-DBE0-790187236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349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0593-DD74-67F0-16F0-77B7761F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9F2AD-652A-DAC3-D872-930B81B58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10926-589E-E44F-BFDA-6CC88111B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9ACD8-504F-FBA9-CB18-029747AA0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7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rcRect/>
          <a:stretch>
            <a:fillRect l="-36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12: Dimensionality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53CF-4997-9AE9-AF91-C19F30F7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8835-4021-1DDF-1FA3-4AD64A5E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27" y="2558449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b="1" dirty="0"/>
              <a:t>Linear Algebra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FCA6B-EB5F-216E-4C64-A8EB4CF2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D38ACC-23C7-3A1D-B90E-6DBDA501C7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5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1134-1E83-117E-B9FB-FA623197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BB6A-5C15-4BE2-17CD-7C926631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Linear Transformation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A7A616-947A-44F9-9121-9468FDBD678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8E2DA-31C8-B28B-B2DC-F19C0169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09B60-D1F0-058D-FE52-D7E7E2D398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394382-81BA-2EAE-EF5C-68100701E8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linear transformation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is a function that satisfies</a:t>
                </a:r>
              </a:p>
              <a:p>
                <a:pPr lvl="1" algn="just"/>
                <a:r>
                  <a:rPr lang="en-US" b="1" dirty="0"/>
                  <a:t>Additivity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b="1" dirty="0"/>
                  <a:t>Homogeneity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are vectors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a scalar</a:t>
                </a:r>
              </a:p>
              <a:p>
                <a:pPr marL="457200" lvl="1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Every linear transformation can be represented as a matrix multiplication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/>
              </a:p>
              <a:p>
                <a:pPr marL="0" indent="0" algn="just">
                  <a:buNone/>
                </a:pPr>
                <a:r>
                  <a:rPr lang="en-US" dirty="0"/>
                  <a:t>    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394382-81BA-2EAE-EF5C-68100701E8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41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4091-A9E9-1FDE-4026-1428B829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C0AC-5B3D-51B7-6405-D5518211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Linear Transformation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71ECF9-DC7A-FDE6-F4BC-60102E602A18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862E0-49DD-4B50-19BB-C45CCFA3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6B5838-7FE6-E45A-3B51-BEC8C674B4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67093-36A4-47EA-BC05-ECF79B4B6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Consider two square matrices: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we apply them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67093-36A4-47EA-BC05-ECF79B4B6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22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1B3B250-C2B0-805E-E106-C0D5B73BD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9132" y="2159246"/>
            <a:ext cx="2939110" cy="3772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DF4E92-AD60-FED3-59EE-5C4EC3A9B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400" y="2108126"/>
            <a:ext cx="2807774" cy="38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9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3702-9085-B39C-5CBC-09736554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0F7A-4755-04E9-35F8-6E72A97C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Determinant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44266C-C2C0-94F1-928A-6C7E487DE52A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74834-671B-0873-C933-CE534CBE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42752-7338-C71D-8466-D96E37E380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C3402-B7C8-1DFC-F1EC-91983B085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The </a:t>
                </a:r>
                <a:r>
                  <a:rPr lang="en-US" b="1" dirty="0"/>
                  <a:t>determinant of a matrix</a:t>
                </a:r>
                <a:r>
                  <a:rPr lang="en-US" dirty="0"/>
                  <a:t> is the scalar value computed for a given square matrix</a:t>
                </a:r>
              </a:p>
              <a:p>
                <a:pPr algn="just"/>
                <a:r>
                  <a:rPr lang="en-US" dirty="0"/>
                  <a:t>It is computed using the elements of a square matrix</a:t>
                </a:r>
              </a:p>
              <a:p>
                <a:pPr algn="just"/>
                <a:r>
                  <a:rPr lang="en-US" dirty="0"/>
                  <a:t>It can be considered as the scaling factor for the transformation of a matrix</a:t>
                </a:r>
              </a:p>
              <a:p>
                <a:pPr algn="just"/>
                <a:r>
                  <a:rPr lang="en-US" dirty="0"/>
                  <a:t>Consider two square matrices: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×2−1×1=3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C3402-B7C8-1DFC-F1EC-91983B085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8" t="-210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449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FB3C-4142-83BA-58A6-D76DA4A4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3895-2EE4-83B7-DAFB-535534FB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Determinant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138218-03B9-02DB-74E0-F2C715DF881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59949-FD7F-8264-2E11-42DD6DCD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ADB50-B989-3757-DC61-67C01A2138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6F9D-498F-E52E-5E86-BFD20BAE5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Determinant represents the </a:t>
            </a:r>
            <a:r>
              <a:rPr lang="en-US" b="1" u="sng" dirty="0"/>
              <a:t>factor by which the area has been scaled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4801D-6E3B-A93D-BEE6-4D70199DB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207" y="2618263"/>
            <a:ext cx="3022286" cy="4183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111070-8D59-CD88-CF27-35F2A716E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640" y="2628630"/>
            <a:ext cx="3032654" cy="4173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9AA05F-ABCD-A4AB-99EF-DDCD909655CE}"/>
                  </a:ext>
                </a:extLst>
              </p:cNvPr>
              <p:cNvSpPr txBox="1"/>
              <p:nvPr/>
            </p:nvSpPr>
            <p:spPr>
              <a:xfrm>
                <a:off x="736192" y="4252733"/>
                <a:ext cx="169102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/>
                  <a:t>, the area has been</a:t>
                </a:r>
              </a:p>
              <a:p>
                <a:r>
                  <a:rPr lang="en-US" sz="1500" dirty="0"/>
                  <a:t>scaled by 3 times (grey to blue)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9AA05F-ABCD-A4AB-99EF-DDCD90965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92" y="4252733"/>
                <a:ext cx="1691024" cy="1015663"/>
              </a:xfrm>
              <a:prstGeom prst="rect">
                <a:avLst/>
              </a:prstGeom>
              <a:blipFill>
                <a:blip r:embed="rId6"/>
                <a:stretch>
                  <a:fillRect l="-1444" t="-1205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282555-0413-7CA2-F087-7182ED8C24AF}"/>
                  </a:ext>
                </a:extLst>
              </p:cNvPr>
              <p:cNvSpPr txBox="1"/>
              <p:nvPr/>
            </p:nvSpPr>
            <p:spPr>
              <a:xfrm>
                <a:off x="8979294" y="2932606"/>
                <a:ext cx="1691024" cy="355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/>
                  <a:t>, the area has been</a:t>
                </a:r>
              </a:p>
              <a:p>
                <a:r>
                  <a:rPr lang="en-US" sz="1500" dirty="0"/>
                  <a:t>scaled by 5 times (grey to blue). However, the negative sign represents how the orientation has been inverted.</a:t>
                </a:r>
              </a:p>
              <a:p>
                <a:r>
                  <a:rPr lang="en-US" sz="1500" b="1" u="sng" dirty="0"/>
                  <a:t>Note</a:t>
                </a:r>
                <a:r>
                  <a:rPr lang="en-US" sz="1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/>
                  <a:t> was to the right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/>
                  <a:t> before transformation but afterwards,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/>
                  <a:t> is to the left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282555-0413-7CA2-F087-7182ED8C2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294" y="2932606"/>
                <a:ext cx="1691024" cy="3554819"/>
              </a:xfrm>
              <a:prstGeom prst="rect">
                <a:avLst/>
              </a:prstGeom>
              <a:blipFill>
                <a:blip r:embed="rId7"/>
                <a:stretch>
                  <a:fillRect l="-1444" t="-172" r="-722" b="-1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31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39E3-DD20-5D29-3A92-47AC90D1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610B-9EFD-6708-C6AE-5EF78415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Determinant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6F9D27-FF80-AB70-7F16-BAD0C88554C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D53D4-AD67-8082-1659-F817DD92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264BC-E8C3-7EEB-F7C0-1AF4FB83FF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ABCAC-C4DF-7B31-2F81-87BDE3A41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we used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that has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the new area would be zero, i.e., the transformation </a:t>
                </a:r>
                <a:r>
                  <a:rPr lang="en-US" b="1" dirty="0"/>
                  <a:t>flattens</a:t>
                </a:r>
                <a:r>
                  <a:rPr lang="en-US" dirty="0"/>
                  <a:t> all vectors into a </a:t>
                </a:r>
                <a:r>
                  <a:rPr lang="en-US" b="1" dirty="0"/>
                  <a:t>line</a:t>
                </a:r>
                <a:r>
                  <a:rPr lang="en-US" dirty="0"/>
                  <a:t> </a:t>
                </a:r>
              </a:p>
              <a:p>
                <a:pPr marL="0" indent="0" algn="just">
                  <a:buNone/>
                </a:pP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ABCAC-C4DF-7B31-2F81-87BDE3A41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5F91516-C659-1E3F-5787-CB0E0A31C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635" y="3001495"/>
            <a:ext cx="2505672" cy="3791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23FA52-FBC3-4399-9328-5B6A5433FBDE}"/>
                  </a:ext>
                </a:extLst>
              </p:cNvPr>
              <p:cNvSpPr txBox="1"/>
              <p:nvPr/>
            </p:nvSpPr>
            <p:spPr>
              <a:xfrm>
                <a:off x="7357764" y="4897147"/>
                <a:ext cx="2505672" cy="55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23FA52-FBC3-4399-9328-5B6A5433F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764" y="4897147"/>
                <a:ext cx="2505672" cy="552459"/>
              </a:xfrm>
              <a:prstGeom prst="rect">
                <a:avLst/>
              </a:prstGeom>
              <a:blipFill>
                <a:blip r:embed="rId6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45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E2CA9-5035-3A93-D651-05A3B6DC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4C7D-C775-C0F4-DCB0-4FBAD7E6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Eigenvectors and Eigenvalues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59BCD1-3945-8381-AB19-5129073F0589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E6CE1-AB99-AFAB-0CF3-C2D168CA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8B876-9C14-A669-3252-2761CF73E1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E4A21-13AD-5135-36A3-EDDBC9519B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When we applied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they were </a:t>
                </a:r>
                <a:r>
                  <a:rPr lang="en-US" b="1" u="sng" dirty="0"/>
                  <a:t>knocked off from their spans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E4A21-13AD-5135-36A3-EDDBC9519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014A27D-1C47-10C3-98D0-3BA27A4FB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890" y="2720453"/>
            <a:ext cx="2939110" cy="3772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6DBB1E-824D-58F9-B887-5593732B1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158" y="2669333"/>
            <a:ext cx="2807774" cy="385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90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2A62-A59C-90A2-1EAD-78CC8AA3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7246-B1C3-5818-F92D-47973C4E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Eigenvectors and Eigenvalues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B5A0F2-545E-83DF-F486-D9FAEC67D70E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5FA7C-80E1-2429-E689-16E946F0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2ECD1-1255-DE99-2678-852750132A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DA4A38-99C4-8D9D-08C0-98C784F824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58997" cy="466725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But some vectors do not get knocked off  from their spans, </a:t>
                </a:r>
                <a:r>
                  <a:rPr lang="en-US" b="1" u="sng" dirty="0"/>
                  <a:t>rather stays on their span</a:t>
                </a:r>
              </a:p>
              <a:p>
                <a:pPr algn="just"/>
                <a:r>
                  <a:rPr lang="en-US" dirty="0"/>
                  <a:t>In the example below, applying a linear transformation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did not knock them off their spans</a:t>
                </a:r>
              </a:p>
              <a:p>
                <a:pPr algn="just"/>
                <a:r>
                  <a:rPr lang="en-US" dirty="0"/>
                  <a:t>The vectors which do not get knocked off by applying linear transformation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u="sng" dirty="0"/>
                  <a:t>its eigenvectors</a:t>
                </a:r>
                <a:r>
                  <a:rPr lang="en-US" dirty="0"/>
                  <a:t>, i.e., in the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eigenvectors of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DA4A38-99C4-8D9D-08C0-98C784F82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58997" cy="4667250"/>
              </a:xfrm>
              <a:blipFill>
                <a:blip r:embed="rId4"/>
                <a:stretch>
                  <a:fillRect l="-1754" t="-2219" r="-2047" b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4527A92-B201-D894-4266-ED43B11B8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616" y="1559477"/>
            <a:ext cx="4831919" cy="466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8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892A-E963-9A84-AC88-FBE3661D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5254-9E64-EFF6-9721-727F9990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Eigenvectors and Eigenvalues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D1826B-1A51-CEA0-9FF7-95126A6BC870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8D13E-AACC-3D91-726C-59702F85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8D10D-B126-9473-ABA0-507EF340B4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4DF90C-B1DD-6BC5-DFFF-4F6970D0E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58997" cy="4667250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US" dirty="0"/>
                  <a:t>We can also see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have been scaled</a:t>
                </a:r>
              </a:p>
              <a:p>
                <a:pPr algn="just"/>
                <a:r>
                  <a:rPr lang="en-US" dirty="0"/>
                  <a:t>More particularly,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both have been scaled by a factor of 2.23 in this example</a:t>
                </a:r>
              </a:p>
              <a:p>
                <a:pPr algn="just"/>
                <a:r>
                  <a:rPr lang="en-US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has been scaled in the original direction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been scaled in the opposite direction</a:t>
                </a:r>
              </a:p>
              <a:p>
                <a:pPr algn="just"/>
                <a:r>
                  <a:rPr lang="en-US" dirty="0"/>
                  <a:t>The factors by which the vectors are scaled are their corresponding </a:t>
                </a:r>
                <a:r>
                  <a:rPr lang="en-US" b="1" u="sng" dirty="0"/>
                  <a:t>eigenvalues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) and the sign represents if the scaling occurred in the same direction or not</a:t>
                </a:r>
              </a:p>
              <a:p>
                <a:pPr algn="just"/>
                <a:r>
                  <a:rPr lang="en-US" dirty="0"/>
                  <a:t>Therefore, the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=2.23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2.23</m:t>
                    </m:r>
                  </m:oMath>
                </a14:m>
                <a:r>
                  <a:rPr lang="en-US" dirty="0"/>
                  <a:t> are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respectively</a:t>
                </a:r>
              </a:p>
              <a:p>
                <a:pPr algn="just"/>
                <a:r>
                  <a:rPr lang="en-US" dirty="0"/>
                  <a:t>We can also thus conclude: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  and,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4DF90C-B1DD-6BC5-DFFF-4F6970D0E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58997" cy="4667250"/>
              </a:xfrm>
              <a:blipFill>
                <a:blip r:embed="rId4"/>
                <a:stretch>
                  <a:fillRect l="-1170" t="-2480" r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0B61122-5787-4ECB-6BC8-7EF05F3EC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616" y="1559477"/>
            <a:ext cx="4831919" cy="466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6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8F6D-5EDB-E917-6184-2A0568B7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95DF8-FFB0-B79D-0559-43FC5554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Eigenvectors and Eigenvalues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869824-A9D1-E2D0-D9E3-96C55CC9A8B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CDF28-AF0F-0AC5-0CB6-305C40D2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406D5B-822A-945C-F6EF-634CFEF064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538602-60A3-5615-3AB9-E7B4C045E4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4128" cy="466725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In general: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  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an identity matrix</a:t>
                </a:r>
              </a:p>
              <a:p>
                <a:pPr algn="just"/>
                <a:r>
                  <a:rPr lang="en-US" dirty="0"/>
                  <a:t>The above equation implies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   which can be used to find the eigenvalues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538602-60A3-5615-3AB9-E7B4C045E4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4128" cy="4667250"/>
              </a:xfrm>
              <a:blipFill>
                <a:blip r:embed="rId4"/>
                <a:stretch>
                  <a:fillRect l="-1011" t="-2219" b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6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1931-C58B-5DC3-D2BF-14D8D9E8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AD6B52-A2E4-1B7F-D5FF-6CD3C2CEF2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US" b="1" dirty="0"/>
                  <a:t>Covariance Matrix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AD6B52-A2E4-1B7F-D5FF-6CD3C2CEF2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7FEF1A-0821-5E55-30AF-4F9084281072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1E6AD-F430-DFB6-2E02-9AF78256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F77B73-06ED-3925-6000-C9E2E2BD01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2001-EA49-9E03-8745-81B5AA16E2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4128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Covariance is a measure of how much two random variables vary together</a:t>
                </a:r>
              </a:p>
              <a:p>
                <a:pPr algn="just"/>
                <a:r>
                  <a:rPr lang="en-US" dirty="0"/>
                  <a:t>After centering your data (subtracting the mean),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dirty="0"/>
                  <a:t> captures how each feature varies with every other feature</a:t>
                </a:r>
              </a:p>
              <a:p>
                <a:pPr algn="just"/>
                <a:r>
                  <a:rPr lang="en-US" dirty="0"/>
                  <a:t>Large off‑diagonal values mean two features change together a lot</a:t>
                </a:r>
              </a:p>
              <a:p>
                <a:pPr algn="just"/>
                <a:r>
                  <a:rPr lang="en-US" dirty="0"/>
                  <a:t>Diagonal entries are variances of individual features</a:t>
                </a:r>
              </a:p>
              <a:p>
                <a:pPr algn="just"/>
                <a:r>
                  <a:rPr lang="en-US" dirty="0"/>
                  <a:t>A </a:t>
                </a:r>
                <a:r>
                  <a:rPr lang="en-US" b="1" dirty="0"/>
                  <a:t>positive value</a:t>
                </a:r>
                <a:r>
                  <a:rPr lang="en-US" dirty="0"/>
                  <a:t> of covariance indicates that both the dimensions are </a:t>
                </a:r>
                <a:r>
                  <a:rPr lang="en-US" b="1" dirty="0"/>
                  <a:t>directly proportional</a:t>
                </a:r>
                <a:r>
                  <a:rPr lang="en-US" dirty="0"/>
                  <a:t> to each other, where if one dimension increases the other dimension increases accordingly</a:t>
                </a:r>
              </a:p>
              <a:p>
                <a:pPr algn="just"/>
                <a:r>
                  <a:rPr lang="en-US" dirty="0"/>
                  <a:t>A </a:t>
                </a:r>
                <a:r>
                  <a:rPr lang="en-US" b="1" dirty="0"/>
                  <a:t>negative value </a:t>
                </a:r>
                <a:r>
                  <a:rPr lang="en-US" dirty="0"/>
                  <a:t>of covariance indicates that both the dimensions are </a:t>
                </a:r>
                <a:r>
                  <a:rPr lang="en-US" b="1" dirty="0"/>
                  <a:t>indirectly proportional</a:t>
                </a:r>
                <a:r>
                  <a:rPr lang="en-US" dirty="0"/>
                  <a:t> to each other, where if one dimension increases then other dimension decreases accordingly</a:t>
                </a:r>
              </a:p>
              <a:p>
                <a:pPr algn="just"/>
                <a:r>
                  <a:rPr lang="en-US" dirty="0"/>
                  <a:t>If in case the </a:t>
                </a:r>
                <a:r>
                  <a:rPr lang="en-US" b="1" dirty="0"/>
                  <a:t>covariance is zero</a:t>
                </a:r>
                <a:r>
                  <a:rPr lang="en-US" dirty="0"/>
                  <a:t>, then the two dimensions are </a:t>
                </a:r>
                <a:r>
                  <a:rPr lang="en-US" b="1" dirty="0"/>
                  <a:t>independent </a:t>
                </a:r>
                <a:r>
                  <a:rPr lang="en-US" dirty="0"/>
                  <a:t>of each other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2001-EA49-9E03-8745-81B5AA16E2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4128" cy="4667250"/>
              </a:xfrm>
              <a:blipFill>
                <a:blip r:embed="rId5"/>
                <a:stretch>
                  <a:fillRect l="-899" t="-3264" r="-1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440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CFCB-D857-75B0-F3AC-FDA620AC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33BA-3791-61C5-F8A3-8BC88C6A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Covariance Matrix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321AF0-44FB-2A1E-D1E9-BE721D6F1AA3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ED3B2-0C60-D9AD-F614-496777A6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3FC9F-5A87-0AE0-7395-7CABA52F14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CAD1-2C24-C122-BC38-E3BF2AAE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466725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covariance matrix is always </a:t>
            </a:r>
            <a:r>
              <a:rPr lang="en-US" b="1" u="sng" dirty="0"/>
              <a:t>symmetric</a:t>
            </a:r>
            <a:r>
              <a:rPr lang="en-US" dirty="0"/>
              <a:t>, i.e., </a:t>
            </a:r>
            <a:r>
              <a:rPr lang="en-US" b="1" u="sng" dirty="0"/>
              <a:t>the eigenvectors of the covariance matrix are perpendicular to each other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36D05E-237C-8A71-9BF7-E709E3254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775" y="3200098"/>
            <a:ext cx="4628320" cy="293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42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D594-B1CE-1DB1-E1FD-73921B3C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D416-FD5C-E7B1-444F-38BE863A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27" y="2558449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b="1" dirty="0"/>
              <a:t>Dimensionality Reduction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7788C-84D7-6112-59E3-1A2888D5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7FAB2-1FC0-DBFC-BA31-643D04B0E4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2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1BEF-FA4B-58F0-8928-E7D8CAD4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615E-F91D-48E2-CB2C-CBF336F0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8F4963-DC99-22A5-3994-7B1A9EBD5EB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81D76-4AEE-ACF1-646E-06EECD60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B5A3F-5E5F-806F-ECB3-766E996430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812EE0-50E9-E4E3-A463-CD1F04AAB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8"/>
            <a:ext cx="11040256" cy="5128811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Datasets with too many features in machine learning can lead to:</a:t>
            </a:r>
          </a:p>
          <a:p>
            <a:pPr lvl="1" algn="just"/>
            <a:r>
              <a:rPr lang="en-US" sz="1900" dirty="0"/>
              <a:t>Slow computation</a:t>
            </a:r>
          </a:p>
          <a:p>
            <a:pPr lvl="1" algn="just"/>
            <a:r>
              <a:rPr lang="en-US" sz="1900" dirty="0"/>
              <a:t>Overfitting (poor generalization to new data)</a:t>
            </a:r>
          </a:p>
          <a:p>
            <a:pPr algn="just"/>
            <a:r>
              <a:rPr lang="en-US" sz="2300" b="1" u="sng" dirty="0"/>
              <a:t>Dimensionality reduction</a:t>
            </a:r>
            <a:r>
              <a:rPr lang="en-US" sz="2300" b="1" dirty="0"/>
              <a:t> </a:t>
            </a:r>
            <a:r>
              <a:rPr lang="en-US" sz="2300" dirty="0"/>
              <a:t>is a technique used to:</a:t>
            </a:r>
          </a:p>
          <a:p>
            <a:pPr lvl="1" algn="just"/>
            <a:r>
              <a:rPr lang="en-US" sz="1900" dirty="0"/>
              <a:t>Reduce the number of input features</a:t>
            </a:r>
          </a:p>
          <a:p>
            <a:pPr lvl="1" algn="just"/>
            <a:r>
              <a:rPr lang="en-US" sz="1900" dirty="0"/>
              <a:t>Retain essential information</a:t>
            </a:r>
          </a:p>
          <a:p>
            <a:pPr lvl="1" algn="just"/>
            <a:r>
              <a:rPr lang="en-US" sz="1900" dirty="0"/>
              <a:t>Convert data into a lower-dimensional space while preserving key details</a:t>
            </a:r>
          </a:p>
          <a:p>
            <a:pPr algn="just"/>
            <a:r>
              <a:rPr lang="en-US" sz="2300" b="1" dirty="0"/>
              <a:t>Example</a:t>
            </a:r>
            <a:r>
              <a:rPr lang="en-US" sz="2300" dirty="0"/>
              <a:t>:</a:t>
            </a:r>
          </a:p>
          <a:p>
            <a:pPr lvl="1" algn="just"/>
            <a:r>
              <a:rPr lang="en-US" sz="1900" dirty="0"/>
              <a:t>Task: Predicting house prices using features like number of bedrooms, square footage, and location</a:t>
            </a:r>
          </a:p>
          <a:p>
            <a:pPr lvl="1" algn="just"/>
            <a:r>
              <a:rPr lang="en-US" sz="1900" dirty="0"/>
              <a:t>Problem: Adding too many extra features (e.g., room condition, flooring type) can make the dataset large and complex</a:t>
            </a:r>
          </a:p>
          <a:p>
            <a:pPr lvl="1" algn="just"/>
            <a:r>
              <a:rPr lang="en-US" sz="1900" dirty="0"/>
              <a:t>Solution: Use dimensionality reduction to simplify the dataset without losing important predictive power</a:t>
            </a:r>
          </a:p>
        </p:txBody>
      </p:sp>
    </p:spTree>
    <p:extLst>
      <p:ext uri="{BB962C8B-B14F-4D97-AF65-F5344CB8AC3E}">
        <p14:creationId xmlns:p14="http://schemas.microsoft.com/office/powerpoint/2010/main" val="25395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76261-3884-A5C9-EA7C-81A055B2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B730-AFFE-F703-F22E-7654A27D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Graphical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31FAF8-C147-16B6-F16B-2A768D9C11D3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9A89F-14F8-906E-22F8-A0013173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A629C-EF96-3D11-F080-C5435EB219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026AAC1-278D-EA61-9D4C-6F08544C95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656334"/>
            <a:ext cx="11039475" cy="286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99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BCC3-D5EB-E0E0-4C32-BCA2C1CB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9F40-2EF0-0417-0C6E-637165CA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Advantages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3D8788-737E-94B3-DCD5-86C9F6577E4E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36D2A-441D-68FC-2192-FC4CC7CF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F7DD4-F52C-3B47-4D81-CA156C7F39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C2E7-766E-6744-C190-89698172E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u="sng" dirty="0"/>
              <a:t>Faster Computation</a:t>
            </a:r>
            <a:r>
              <a:rPr lang="en-US" dirty="0"/>
              <a:t>: Reducing the number of features speeds up data processing, making model training and testing more efficient – especially for large datasets</a:t>
            </a:r>
          </a:p>
          <a:p>
            <a:pPr algn="just"/>
            <a:r>
              <a:rPr lang="en-US" b="1" u="sng" dirty="0"/>
              <a:t>Improved Visualization</a:t>
            </a:r>
            <a:r>
              <a:rPr lang="en-US" dirty="0"/>
              <a:t>: Lower-dimensional data is easier to plot (e.g., 2D or 3D), helping reveal patterns, trends, and clusters that are otherwise hard to detect</a:t>
            </a:r>
          </a:p>
          <a:p>
            <a:pPr algn="just"/>
            <a:r>
              <a:rPr lang="en-US" b="1" u="sng" dirty="0"/>
              <a:t>Reduced Overfitting</a:t>
            </a:r>
            <a:r>
              <a:rPr lang="en-US" dirty="0"/>
              <a:t>: Fewer features reduce the model's chance of memorizing the training data, improving generalization to unseen data and enhancing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2328298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3C2DF-2627-F7F6-CA21-21709DA0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7979-35AF-3244-C32A-1F459A40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Disadvantages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538A85-056D-A184-FCD9-70057C4A6BD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B9C9F-A99F-787A-45AE-401BE5CD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4C471-72FE-F29F-62BF-E24FEAD08A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0E11F-53BB-7D8F-C51B-CBC78C30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u="sng" dirty="0"/>
              <a:t>Potential Data Loss</a:t>
            </a:r>
            <a:r>
              <a:rPr lang="en-US" dirty="0"/>
              <a:t>: Important information may be discarded in the process, possibly reducing model accuracy</a:t>
            </a:r>
          </a:p>
          <a:p>
            <a:pPr algn="just"/>
            <a:r>
              <a:rPr lang="en-US" b="1" u="sng" dirty="0"/>
              <a:t>Difficult Component Selection</a:t>
            </a:r>
            <a:r>
              <a:rPr lang="en-US" dirty="0"/>
              <a:t>: Choosing the right number of dimensions to retain is challenging – too few may miss key data, while too many may retain noise and cause overfitting</a:t>
            </a:r>
          </a:p>
        </p:txBody>
      </p:sp>
    </p:spTree>
    <p:extLst>
      <p:ext uri="{BB962C8B-B14F-4D97-AF65-F5344CB8AC3E}">
        <p14:creationId xmlns:p14="http://schemas.microsoft.com/office/powerpoint/2010/main" val="883427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E123-4678-2FD2-9925-106A8B3D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668E-4794-949F-769B-1B1A7C25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7436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b="1" dirty="0"/>
              <a:t>Principal Component Analysis (PCA)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1951C-6E6D-F3C3-BC68-B4F97AF4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043A0-D987-0A6E-3418-A785C88652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45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CA3C-B945-294A-471A-EF42BFD1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8601-7D90-8774-7FF7-CF55B7F2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625E2A-C788-272B-F659-D72F596E0DF1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A4EBD-DF6D-7A8D-415F-4EE61870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41C10-F1B3-5C76-4F49-50DCAEDD31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2FD3-9EDA-9E83-A33E-1730CABE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274011" cy="21522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Taking picture of a group of people from different angles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05F4C4-5C25-2B79-DF56-98CAB2197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89" y="2607404"/>
            <a:ext cx="4490522" cy="379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B03C11A-6138-DB0A-275D-F89AB926B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623" y="2098784"/>
            <a:ext cx="4591153" cy="444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EFD297-F7B8-CAA2-4284-6C9BAF05A98E}"/>
              </a:ext>
            </a:extLst>
          </p:cNvPr>
          <p:cNvSpPr txBox="1"/>
          <p:nvPr/>
        </p:nvSpPr>
        <p:spPr>
          <a:xfrm>
            <a:off x="2312742" y="5299430"/>
            <a:ext cx="3242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picture taken on the left is capturing less details since the people when projected on the camera line are “close” to each other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46E4E-51C4-3DF3-977B-7862F034FE02}"/>
              </a:ext>
            </a:extLst>
          </p:cNvPr>
          <p:cNvSpPr txBox="1"/>
          <p:nvPr/>
        </p:nvSpPr>
        <p:spPr>
          <a:xfrm>
            <a:off x="5811924" y="4879022"/>
            <a:ext cx="32421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However, the picture taken on the right is capturing more details since the people when projected on the camera line are more “spread out” from each other</a:t>
            </a:r>
          </a:p>
        </p:txBody>
      </p:sp>
    </p:spTree>
    <p:extLst>
      <p:ext uri="{BB962C8B-B14F-4D97-AF65-F5344CB8AC3E}">
        <p14:creationId xmlns:p14="http://schemas.microsoft.com/office/powerpoint/2010/main" val="328532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296B-235E-1F17-5D85-51327859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8B1A-3B8A-D61E-592A-C8D18B62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7213C1-D116-B3E7-7D1B-C1DA30910F8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9EBDC-0190-F1E0-3C8B-95166B8E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EF21B-250E-3041-A7F3-392C3DAF0F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E070-07AE-E9CA-997D-2D6C288FE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u="sng" dirty="0"/>
              <a:t>PCA</a:t>
            </a:r>
            <a:r>
              <a:rPr lang="en-US" dirty="0"/>
              <a:t>: Taking a “picture” of your data from the optimal angle and try to keep as much information as possible in this “picture” of the data, i.e., </a:t>
            </a:r>
            <a:r>
              <a:rPr lang="en-US" b="1" u="sng" dirty="0"/>
              <a:t>when the data is projected onto the line, it should have high variance (more spread out)</a:t>
            </a:r>
          </a:p>
          <a:p>
            <a:pPr algn="just"/>
            <a:r>
              <a:rPr lang="en-US" dirty="0"/>
              <a:t>Therefore, PCA tries to find the line that will </a:t>
            </a:r>
            <a:r>
              <a:rPr lang="en-US" b="1" u="sng" dirty="0"/>
              <a:t>maximize the variance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2F5ECD-4320-9321-9E07-5A94BAEF1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318" y="3573021"/>
            <a:ext cx="6548395" cy="322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92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8047-4B74-1581-E502-3BED97B2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48ED-063B-FA74-014A-F25767AF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D6D79A-8EB6-00C0-83A0-7FA369426372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0C3D5-A035-ECC5-2316-C2E41170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C2AA3-959D-8140-1665-405365AA95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FD2AA-A0E8-025E-69E8-4F95E055E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7712676" cy="447632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Covariance matrix</a:t>
                </a:r>
                <a:r>
                  <a:rPr lang="en-US" dirty="0"/>
                  <a:t>: For a 2D data: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ar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Cov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Cov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u="sng" dirty="0"/>
              </a:p>
              <a:p>
                <a:pPr marL="0" indent="0" algn="just">
                  <a:buNone/>
                </a:pPr>
                <a:endParaRPr lang="en-US" b="1" u="sng" dirty="0"/>
              </a:p>
              <a:p>
                <a:pPr marL="0" indent="0" algn="just">
                  <a:buNone/>
                </a:pPr>
                <a:r>
                  <a:rPr lang="en-US" dirty="0"/>
                  <a:t>For the dataset shown: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FD2AA-A0E8-025E-69E8-4F95E055E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7712676" cy="4476321"/>
              </a:xfrm>
              <a:blipFill>
                <a:blip r:embed="rId4"/>
                <a:stretch>
                  <a:fillRect l="-1660" t="-2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06851EF-F7C5-D059-AB48-352B07A87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888" y="1946577"/>
            <a:ext cx="4213635" cy="403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86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D0B1-F1FE-17AD-37C0-1350E4DD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F3E5A-B4A7-399D-FB9E-A7ECE878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57AE-5FA0-9FDC-73F5-46E9E422D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7575" y="244884"/>
                <a:ext cx="10746259" cy="2163271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/>
                  <a:t>If we apply covariance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(linear transformation) on different points (vectors) of a unit circle:</a:t>
                </a:r>
              </a:p>
              <a:p>
                <a:pPr lvl="1" algn="just"/>
                <a:r>
                  <a:rPr lang="en-US" dirty="0"/>
                  <a:t>The unit circle is stretched into an ellipse</a:t>
                </a:r>
              </a:p>
              <a:p>
                <a:pPr lvl="1" algn="just"/>
                <a:r>
                  <a:rPr lang="en-US" dirty="0"/>
                  <a:t>While all the vectors get knocked off their spans, </a:t>
                </a:r>
                <a:r>
                  <a:rPr lang="en-US" b="1" u="sng" dirty="0"/>
                  <a:t>two vectors stay on their span – the eigenvectors!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en-US" b="1" u="sng" dirty="0"/>
              </a:p>
              <a:p>
                <a:pPr lvl="1" algn="just"/>
                <a:r>
                  <a:rPr lang="en-US" dirty="0"/>
                  <a:t>The scaling of one eigenvector is larger in magnitude than the other, i.e., </a:t>
                </a:r>
                <a:r>
                  <a:rPr lang="en-US" b="1" u="sng" dirty="0"/>
                  <a:t>eigenvalue of one eigenvector is greater than the other eigenvalue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en-US" b="1" u="sng" dirty="0"/>
              </a:p>
              <a:p>
                <a:pPr lvl="1" algn="just"/>
                <a:r>
                  <a:rPr lang="en-US" dirty="0"/>
                  <a:t>Also, the two eigenvectors are </a:t>
                </a:r>
                <a:r>
                  <a:rPr lang="en-US" b="1" u="sng" dirty="0"/>
                  <a:t>perpendicular to each other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57AE-5FA0-9FDC-73F5-46E9E422D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7575" y="244884"/>
                <a:ext cx="10746259" cy="2163271"/>
              </a:xfrm>
              <a:blipFill>
                <a:blip r:embed="rId3"/>
                <a:stretch>
                  <a:fillRect l="-737" t="-6197" r="-908" b="-4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4D348A8-0416-5BA8-F292-68DA3E4EF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31" y="2452391"/>
            <a:ext cx="4110136" cy="4335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5ABC46-9C7A-DBB7-8992-3598F9916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467" y="2490110"/>
            <a:ext cx="4077043" cy="42756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BBE677-5B03-23AC-85DE-7E662D8C2C9C}"/>
                  </a:ext>
                </a:extLst>
              </p:cNvPr>
              <p:cNvSpPr txBox="1"/>
              <p:nvPr/>
            </p:nvSpPr>
            <p:spPr>
              <a:xfrm>
                <a:off x="4999207" y="3976624"/>
                <a:ext cx="1672452" cy="503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5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2.7</m:t>
                                </m:r>
                              </m:e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BBE677-5B03-23AC-85DE-7E662D8C2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07" y="3976624"/>
                <a:ext cx="1672452" cy="503151"/>
              </a:xfrm>
              <a:prstGeom prst="rect">
                <a:avLst/>
              </a:prstGeom>
              <a:blipFill>
                <a:blip r:embed="rId6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339840-5909-6363-9149-47247FF82A7D}"/>
              </a:ext>
            </a:extLst>
          </p:cNvPr>
          <p:cNvCxnSpPr/>
          <p:nvPr/>
        </p:nvCxnSpPr>
        <p:spPr>
          <a:xfrm>
            <a:off x="5233086" y="4627910"/>
            <a:ext cx="12603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7C4FB4-6DEE-73A7-C0D5-EF8302D5DD19}"/>
              </a:ext>
            </a:extLst>
          </p:cNvPr>
          <p:cNvCxnSpPr/>
          <p:nvPr/>
        </p:nvCxnSpPr>
        <p:spPr>
          <a:xfrm flipV="1">
            <a:off x="3268362" y="4164229"/>
            <a:ext cx="315097" cy="33981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A197B9-45C1-AE53-4ADA-9027594BA52B}"/>
              </a:ext>
            </a:extLst>
          </p:cNvPr>
          <p:cNvCxnSpPr>
            <a:cxnSpLocks/>
          </p:cNvCxnSpPr>
          <p:nvPr/>
        </p:nvCxnSpPr>
        <p:spPr>
          <a:xfrm flipV="1">
            <a:off x="8914726" y="2922373"/>
            <a:ext cx="1582339" cy="159402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FAB431-D7F2-64B8-A39A-C2B6B7E514BE}"/>
              </a:ext>
            </a:extLst>
          </p:cNvPr>
          <p:cNvCxnSpPr>
            <a:cxnSpLocks/>
          </p:cNvCxnSpPr>
          <p:nvPr/>
        </p:nvCxnSpPr>
        <p:spPr>
          <a:xfrm flipH="1" flipV="1">
            <a:off x="2939970" y="4164229"/>
            <a:ext cx="328391" cy="33981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626ED8-9179-F1E2-2B52-2F2DBFC6FE9A}"/>
              </a:ext>
            </a:extLst>
          </p:cNvPr>
          <p:cNvCxnSpPr>
            <a:cxnSpLocks/>
          </p:cNvCxnSpPr>
          <p:nvPr/>
        </p:nvCxnSpPr>
        <p:spPr>
          <a:xfrm flipH="1" flipV="1">
            <a:off x="8813442" y="4404575"/>
            <a:ext cx="101284" cy="9754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277DF8-EE0E-DFC3-F8AC-D50135F3B9CF}"/>
                  </a:ext>
                </a:extLst>
              </p:cNvPr>
              <p:cNvSpPr txBox="1"/>
              <p:nvPr/>
            </p:nvSpPr>
            <p:spPr>
              <a:xfrm>
                <a:off x="2716807" y="3886859"/>
                <a:ext cx="286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277DF8-EE0E-DFC3-F8AC-D50135F3B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807" y="3886859"/>
                <a:ext cx="286360" cy="276999"/>
              </a:xfrm>
              <a:prstGeom prst="rect">
                <a:avLst/>
              </a:prstGeom>
              <a:blipFill>
                <a:blip r:embed="rId7"/>
                <a:stretch>
                  <a:fillRect l="-12766" r="-8511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1F352CA-BB47-55B2-5A35-FBBAED3DE0EF}"/>
                  </a:ext>
                </a:extLst>
              </p:cNvPr>
              <p:cNvSpPr txBox="1"/>
              <p:nvPr/>
            </p:nvSpPr>
            <p:spPr>
              <a:xfrm>
                <a:off x="3569295" y="3946241"/>
                <a:ext cx="2916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1F352CA-BB47-55B2-5A35-FBBAED3DE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295" y="3946241"/>
                <a:ext cx="291682" cy="276999"/>
              </a:xfrm>
              <a:prstGeom prst="rect">
                <a:avLst/>
              </a:prstGeom>
              <a:blipFill>
                <a:blip r:embed="rId8"/>
                <a:stretch>
                  <a:fillRect l="-12766" r="-1063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73BA01-AABF-B6EF-981C-3C5DB7476787}"/>
                  </a:ext>
                </a:extLst>
              </p:cNvPr>
              <p:cNvSpPr txBox="1"/>
              <p:nvPr/>
            </p:nvSpPr>
            <p:spPr>
              <a:xfrm>
                <a:off x="8394385" y="4127576"/>
                <a:ext cx="508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73BA01-AABF-B6EF-981C-3C5DB7476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385" y="4127576"/>
                <a:ext cx="508601" cy="276999"/>
              </a:xfrm>
              <a:prstGeom prst="rect">
                <a:avLst/>
              </a:prstGeom>
              <a:blipFill>
                <a:blip r:embed="rId9"/>
                <a:stretch>
                  <a:fillRect l="-12048" r="-602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BC24A6-BF08-FB7C-ED14-B6002F97DA44}"/>
                  </a:ext>
                </a:extLst>
              </p:cNvPr>
              <p:cNvSpPr txBox="1"/>
              <p:nvPr/>
            </p:nvSpPr>
            <p:spPr>
              <a:xfrm>
                <a:off x="9926858" y="2716828"/>
                <a:ext cx="519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BC24A6-BF08-FB7C-ED14-B6002F97D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858" y="2716828"/>
                <a:ext cx="519245" cy="276999"/>
              </a:xfrm>
              <a:prstGeom prst="rect">
                <a:avLst/>
              </a:prstGeom>
              <a:blipFill>
                <a:blip r:embed="rId10"/>
                <a:stretch>
                  <a:fillRect l="-11628" r="-348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833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074D-97F1-A29F-A880-53DFDCEA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AAC8-B001-7DA4-12F6-1E84D7C9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7AB692-DEA1-3774-317D-94C0143AFC8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73CEE-04B5-68CB-4266-0B9D1FAC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8C353-FA74-551C-BAC7-023894486E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0FE9C-31E3-B918-E704-7CB170606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607629" cy="4476321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Therefore, what we conclude is that after the transformation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, the “new” transformed information has more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represented by the magnitudes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In order to achieve a similar effect on our dataset as we did on a unit circle, we will:</a:t>
                </a:r>
              </a:p>
              <a:p>
                <a:pPr lvl="1" algn="just"/>
                <a:r>
                  <a:rPr lang="en-US" b="1" u="sng" dirty="0"/>
                  <a:t>Mean-shift the data</a:t>
                </a:r>
                <a:r>
                  <a:rPr lang="en-US" dirty="0"/>
                  <a:t> so that it is centered around the origin</a:t>
                </a:r>
              </a:p>
              <a:p>
                <a:pPr lvl="1" algn="just"/>
                <a:r>
                  <a:rPr lang="en-US" b="1" u="sng" dirty="0"/>
                  <a:t>Scale the data</a:t>
                </a:r>
                <a:r>
                  <a:rPr lang="en-US" dirty="0"/>
                  <a:t> so that the maximum and minimum magnitude of our features is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However, </a:t>
                </a:r>
                <a:r>
                  <a:rPr lang="en-US" b="1" u="sng" dirty="0"/>
                  <a:t>this step is optional based on the original scale of your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0FE9C-31E3-B918-E704-7CB170606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607629" cy="4476321"/>
              </a:xfrm>
              <a:blipFill>
                <a:blip r:embed="rId4"/>
                <a:stretch>
                  <a:fillRect l="-1477" t="-2721" r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60FD1F9-89F6-23C1-99F9-2B7D6D66E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285" y="1817679"/>
            <a:ext cx="4077043" cy="427560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EE2BC9-8DEA-5140-0CCF-1CF441E18DA7}"/>
              </a:ext>
            </a:extLst>
          </p:cNvPr>
          <p:cNvCxnSpPr>
            <a:cxnSpLocks/>
          </p:cNvCxnSpPr>
          <p:nvPr/>
        </p:nvCxnSpPr>
        <p:spPr>
          <a:xfrm flipV="1">
            <a:off x="9924544" y="2249942"/>
            <a:ext cx="1582339" cy="159402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44E12C-099E-C7B4-2E1C-B9321079F193}"/>
              </a:ext>
            </a:extLst>
          </p:cNvPr>
          <p:cNvCxnSpPr>
            <a:cxnSpLocks/>
          </p:cNvCxnSpPr>
          <p:nvPr/>
        </p:nvCxnSpPr>
        <p:spPr>
          <a:xfrm flipH="1" flipV="1">
            <a:off x="9823260" y="3732144"/>
            <a:ext cx="101284" cy="9754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618E6C-4C1B-126C-7C51-1A296CE26DAA}"/>
                  </a:ext>
                </a:extLst>
              </p:cNvPr>
              <p:cNvSpPr txBox="1"/>
              <p:nvPr/>
            </p:nvSpPr>
            <p:spPr>
              <a:xfrm>
                <a:off x="9388297" y="3458820"/>
                <a:ext cx="508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618E6C-4C1B-126C-7C51-1A296CE26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297" y="3458820"/>
                <a:ext cx="508601" cy="276999"/>
              </a:xfrm>
              <a:prstGeom prst="rect">
                <a:avLst/>
              </a:prstGeom>
              <a:blipFill>
                <a:blip r:embed="rId6"/>
                <a:stretch>
                  <a:fillRect l="-11905" r="-476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BC5693-F16A-21AA-3E5D-E6594FD76129}"/>
                  </a:ext>
                </a:extLst>
              </p:cNvPr>
              <p:cNvSpPr txBox="1"/>
              <p:nvPr/>
            </p:nvSpPr>
            <p:spPr>
              <a:xfrm>
                <a:off x="10920770" y="2048072"/>
                <a:ext cx="519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BC5693-F16A-21AA-3E5D-E6594FD76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770" y="2048072"/>
                <a:ext cx="519245" cy="276999"/>
              </a:xfrm>
              <a:prstGeom prst="rect">
                <a:avLst/>
              </a:prstGeom>
              <a:blipFill>
                <a:blip r:embed="rId7"/>
                <a:stretch>
                  <a:fillRect l="-11628" r="-348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987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E33B-7343-9FBD-66A0-BCBCACB7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FE26-26BF-C76C-338A-9D19A495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with an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EEA77F-DEF0-D707-4557-4E6001A53CF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DD13D-FD6B-4C0E-E5A5-8A4CA27D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0DAB7-4896-9AA0-43AE-0D531BCBB7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E18640-A659-5D13-01C2-43994938BF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Mean-shift the data, i.e., calculate the mean for all the features and subtract the mean of a particular feature from its feature values</a:t>
                </a:r>
              </a:p>
              <a:p>
                <a:pPr algn="just"/>
                <a:r>
                  <a:rPr lang="en-US" dirty="0"/>
                  <a:t>In the example below: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centered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centered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mean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E18640-A659-5D13-01C2-43994938BF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4"/>
                <a:stretch>
                  <a:fillRect l="-928" t="-7576" r="-986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30725EC-26E0-63DA-BEF7-79122EB79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3779" y="3495473"/>
            <a:ext cx="3182926" cy="31585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5B9AEF-5767-B1ED-7B7D-645A508A9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8534" y="3495473"/>
            <a:ext cx="3195105" cy="3117968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072C1618-9855-A019-6544-B210B20D332E}"/>
              </a:ext>
            </a:extLst>
          </p:cNvPr>
          <p:cNvSpPr/>
          <p:nvPr/>
        </p:nvSpPr>
        <p:spPr>
          <a:xfrm>
            <a:off x="5815938" y="4705105"/>
            <a:ext cx="713362" cy="36965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44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2112-02A3-2E06-A1B5-B62289B8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A42CC92-1BA0-6DB2-A891-46D48D5A9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73" y="2955897"/>
            <a:ext cx="4349974" cy="36958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85EFD7-97D4-CC4E-3DDB-AE86DD510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991" y="2953981"/>
            <a:ext cx="4419827" cy="3683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C5B9E-9AA9-C08D-1437-6447FCE3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with an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B68A3-2716-1857-07C7-B6EEC9554A70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B5287-2E0D-B71E-5474-952809D7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D4ADF-2848-24E6-657C-FE1385C715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2ED962-F0D1-D0BC-CB4F-B002C2D6C9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4128" cy="1253331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/>
                <a:r>
                  <a:rPr lang="en-US" dirty="0"/>
                  <a:t>Calculate the covariance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dirty="0"/>
                  <a:t> and apply the transformation on the dataset</a:t>
                </a:r>
              </a:p>
              <a:p>
                <a:pPr algn="just"/>
                <a:r>
                  <a:rPr lang="en-US" dirty="0"/>
                  <a:t>The dataset has more variance along the eigenvector which has larger eigenvalue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2ED962-F0D1-D0BC-CB4F-B002C2D6C9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4128" cy="1253331"/>
              </a:xfrm>
              <a:blipFill>
                <a:blip r:embed="rId6"/>
                <a:stretch>
                  <a:fillRect l="-787" t="-8738" r="-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505BD6-3CA4-AF3C-21DE-9F2FA19043F3}"/>
              </a:ext>
            </a:extLst>
          </p:cNvPr>
          <p:cNvSpPr/>
          <p:nvPr/>
        </p:nvSpPr>
        <p:spPr>
          <a:xfrm>
            <a:off x="5472774" y="4619016"/>
            <a:ext cx="713362" cy="36965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F8B1DD-2481-883B-95FB-B9F1E882D592}"/>
                  </a:ext>
                </a:extLst>
              </p:cNvPr>
              <p:cNvSpPr txBox="1"/>
              <p:nvPr/>
            </p:nvSpPr>
            <p:spPr>
              <a:xfrm>
                <a:off x="4775506" y="3987439"/>
                <a:ext cx="1763949" cy="58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F8B1DD-2481-883B-95FB-B9F1E882D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506" y="3987439"/>
                <a:ext cx="1763949" cy="585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230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8103-9649-527F-0279-EA1CE723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AF15-66EB-10BD-BF26-42D757C3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with an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4B52AF-5235-01A2-0EC1-61F14D28855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679C3-DC56-7112-D86A-D672C65F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B5445-6F06-ED7D-9373-857C9B597C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9A312-331E-5685-82DF-F678AC68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125333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Rotate the transformed data aligned to PC axes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2517CF-D655-DBF6-57AD-DB0619651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65" y="2295606"/>
            <a:ext cx="5014117" cy="44258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3C251-B005-8FBD-4126-5741BB172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540" y="2295387"/>
            <a:ext cx="4306111" cy="435631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D6B72D75-150F-8F45-77B1-B2191F748B9B}"/>
              </a:ext>
            </a:extLst>
          </p:cNvPr>
          <p:cNvSpPr/>
          <p:nvPr/>
        </p:nvSpPr>
        <p:spPr>
          <a:xfrm>
            <a:off x="5801418" y="4323714"/>
            <a:ext cx="713362" cy="36965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16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EFB9-AA3E-6769-6507-4424E548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678B-136B-5A06-8D84-E74691B0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PCA: The Idea with an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6DBE0B-17B5-3286-FEFE-70CEC4F9A6B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0B915-FB87-D8AF-3771-D0E9454B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1C317-A726-6838-7C8E-D1A1EF0FCF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3202F-D89D-A08D-5C7B-83642BB11D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3" y="1825625"/>
                <a:ext cx="7097630" cy="4895850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dirty="0"/>
                  <a:t>The rotated transformed data, called the </a:t>
                </a:r>
                <a:r>
                  <a:rPr lang="en-US" b="1" u="sng" dirty="0"/>
                  <a:t>principal components (PCs)</a:t>
                </a:r>
                <a:r>
                  <a:rPr lang="en-US" dirty="0"/>
                  <a:t> will now replace the original data to be used in the training of a model</a:t>
                </a:r>
              </a:p>
              <a:p>
                <a:pPr algn="just"/>
                <a:r>
                  <a:rPr lang="en-US" dirty="0"/>
                  <a:t>The weight of each component can be calculated as follows: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For our example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=5.7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dirty="0"/>
                  <a:t>):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5.7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0.3+5.7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0.3+5.7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This implies: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𝐏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has 95% of the data variance 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𝐏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has only 5%, allowing us to use only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𝐏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for our model training and discard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𝐏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1" dirty="0"/>
              </a:p>
              <a:p>
                <a:pPr algn="just"/>
                <a:r>
                  <a:rPr lang="en-US" dirty="0"/>
                  <a:t>Essentially, we have reduced our dimension from two to one!</a:t>
                </a:r>
              </a:p>
              <a:p>
                <a:pPr algn="just"/>
                <a:r>
                  <a:rPr lang="en-US" dirty="0"/>
                  <a:t>Note: PCs are arranged in descending order of eigenvalues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3202F-D89D-A08D-5C7B-83642BB11D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3" y="1825625"/>
                <a:ext cx="7097630" cy="4895850"/>
              </a:xfrm>
              <a:blipFill>
                <a:blip r:embed="rId4"/>
                <a:stretch>
                  <a:fillRect l="-601" t="-1866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42691398-BDB3-6C79-DE68-ADDAA34A4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047" y="1866598"/>
            <a:ext cx="3780817" cy="38248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C7206-CDFF-9985-AA52-D6F185840804}"/>
                  </a:ext>
                </a:extLst>
              </p:cNvPr>
              <p:cNvSpPr txBox="1"/>
              <p:nvPr/>
            </p:nvSpPr>
            <p:spPr>
              <a:xfrm>
                <a:off x="9828179" y="5853473"/>
                <a:ext cx="4375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𝐏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C7206-CDFF-9985-AA52-D6F185840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179" y="5853473"/>
                <a:ext cx="437556" cy="276999"/>
              </a:xfrm>
              <a:prstGeom prst="rect">
                <a:avLst/>
              </a:prstGeom>
              <a:blipFill>
                <a:blip r:embed="rId6"/>
                <a:stretch>
                  <a:fillRect l="-12500" r="-5556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8E68D0-9B55-37D4-D407-7CFAAAFE7491}"/>
                  </a:ext>
                </a:extLst>
              </p:cNvPr>
              <p:cNvSpPr txBox="1"/>
              <p:nvPr/>
            </p:nvSpPr>
            <p:spPr>
              <a:xfrm>
                <a:off x="7477328" y="3640545"/>
                <a:ext cx="4375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𝐏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8E68D0-9B55-37D4-D407-7CFAAAFE7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328" y="3640545"/>
                <a:ext cx="437556" cy="276999"/>
              </a:xfrm>
              <a:prstGeom prst="rect">
                <a:avLst/>
              </a:prstGeom>
              <a:blipFill>
                <a:blip r:embed="rId7"/>
                <a:stretch>
                  <a:fillRect l="-14085" r="-563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940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2BCE-2B5F-BBA8-978D-1D5A7E1E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456E-B8A5-8BD3-52C4-C739A102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3EC24D7-49A2-BA3A-BE46-EF7EBE7BED86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E4F84-4BBA-08D2-57D8-A9B716BD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EFFE78-4585-6E8A-5003-3C8098F386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F626518-17B7-25BD-D6C8-5D8CEEA0C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2072" y="1676310"/>
            <a:ext cx="4521432" cy="1752690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7416CA-57E4-FD4F-3035-5FBD88D2E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99" y="3635228"/>
            <a:ext cx="7029811" cy="28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44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27E7-3239-66C5-D371-7BFFDB50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3257-0AA3-9E9F-DDE9-56A37E66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230073-3A42-680D-B22A-4156C1FDDDCC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C13B2-ECBF-B2D2-53BE-19195549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D9B345-F201-B0CD-BF42-D5B9D70713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B32207D-8261-789B-669D-7A0206C52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1690688"/>
            <a:ext cx="7150467" cy="3378374"/>
          </a:xfrm>
        </p:spPr>
      </p:pic>
    </p:spTree>
    <p:extLst>
      <p:ext uri="{BB962C8B-B14F-4D97-AF65-F5344CB8AC3E}">
        <p14:creationId xmlns:p14="http://schemas.microsoft.com/office/powerpoint/2010/main" val="1848544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F907-EAD9-E411-E81E-F0A80E44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D442-38DD-3677-22F1-33722C6C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2815D9-2E18-587A-CDFB-DF50C8619942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BCBB3-80B7-6F31-75B5-73CC39B0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EC275-1F8B-50C8-0E36-D9EB0405EF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6912007-DA4A-8AFD-55DE-86F41B860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9975" y="1744333"/>
            <a:ext cx="5102842" cy="632057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51CA14-1534-7C73-368E-DF6838149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41" y="2521739"/>
            <a:ext cx="5102842" cy="23484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2F3F32-2C29-3BA6-58D8-C376072E4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9190" y="5111455"/>
            <a:ext cx="2493434" cy="3189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F3F600-4254-5E55-F74F-3020B48C62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667" y="1849513"/>
            <a:ext cx="6171960" cy="367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90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46588-4A2B-DF72-E88D-160B1ED8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423C-A107-A108-600D-F9A05FB7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369FBD-A82F-181C-87CC-8C0136B07A79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47108-235E-FA26-498C-177677C3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99A3E-3D25-B520-5D5A-C0BA540E34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519B9C-5B44-B58F-6BA3-6B07BC040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87026" y="1581545"/>
            <a:ext cx="6636091" cy="234327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C24BE9-9C85-95CE-BE06-717476785903}"/>
                  </a:ext>
                </a:extLst>
              </p:cNvPr>
              <p:cNvSpPr txBox="1"/>
              <p:nvPr/>
            </p:nvSpPr>
            <p:spPr>
              <a:xfrm>
                <a:off x="774055" y="4014393"/>
                <a:ext cx="8117025" cy="996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00" b="0" dirty="0"/>
                  <a:t>Ratio: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0.3742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0.4146</m:t>
                        </m:r>
                      </m:den>
                    </m:f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=0.903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>
                    <a:sym typeface="Wingdings" panose="05000000000000000000" pitchFamily="2" charset="2"/>
                  </a:rPr>
                  <a:t>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=0.903</m:t>
                    </m:r>
                  </m:oMath>
                </a14:m>
                <a:r>
                  <a:rPr lang="en-US" sz="1500" dirty="0">
                    <a:sym typeface="Wingdings" panose="05000000000000000000" pitchFamily="2" charset="2"/>
                  </a:rPr>
                  <a:t>, 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.903</m:t>
                              </m:r>
                            </m:e>
                          </m:mr>
                          <m:m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dirty="0"/>
              </a:p>
              <a:p>
                <a:r>
                  <a:rPr lang="en-US" sz="1500" dirty="0"/>
                  <a:t>However, it is mathematically convenient to normalize: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.903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.0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15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0.903</m:t>
                                </m:r>
                              </m:e>
                              <m:sup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.672</m:t>
                              </m:r>
                            </m:e>
                          </m:mr>
                          <m:m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0.744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C24BE9-9C85-95CE-BE06-717476785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55" y="4014393"/>
                <a:ext cx="8117025" cy="996170"/>
              </a:xfrm>
              <a:prstGeom prst="rect">
                <a:avLst/>
              </a:prstGeom>
              <a:blipFill>
                <a:blip r:embed="rId5"/>
                <a:stretch>
                  <a:fillRect l="-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5A579801-2EFA-E12E-0838-63038434D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055" y="5100141"/>
            <a:ext cx="4997707" cy="9144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C70208-6DBB-5D39-D9FE-A169E4BC4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026" y="5929926"/>
            <a:ext cx="2463927" cy="266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807403-AA0F-07FA-8CB2-501B9AFF616A}"/>
                  </a:ext>
                </a:extLst>
              </p:cNvPr>
              <p:cNvSpPr txBox="1"/>
              <p:nvPr/>
            </p:nvSpPr>
            <p:spPr>
              <a:xfrm>
                <a:off x="712447" y="6163003"/>
                <a:ext cx="9585902" cy="827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00" dirty="0"/>
                  <a:t>Ratio: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0.3742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0.3379</m:t>
                        </m:r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−1.107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>
                    <a:sym typeface="Wingdings" panose="05000000000000000000" pitchFamily="2" charset="2"/>
                  </a:rPr>
                  <a:t>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−1.107</m:t>
                    </m:r>
                  </m:oMath>
                </a14:m>
                <a:r>
                  <a:rPr lang="en-US" sz="1500" dirty="0">
                    <a:sym typeface="Wingdings" panose="05000000000000000000" pitchFamily="2" charset="2"/>
                  </a:rPr>
                  <a:t>, 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−1.107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5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1.107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1.0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−1.107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b="0" i="1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sup>
                                <m:r>
                                  <a:rPr lang="en-US" sz="15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742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671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dirty="0"/>
              </a:p>
              <a:p>
                <a:endParaRPr lang="en-US" sz="1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807403-AA0F-07FA-8CB2-501B9AFF6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47" y="6163003"/>
                <a:ext cx="9585902" cy="827086"/>
              </a:xfrm>
              <a:prstGeom prst="rect">
                <a:avLst/>
              </a:prstGeom>
              <a:blipFill>
                <a:blip r:embed="rId8"/>
                <a:stretch>
                  <a:fillRect l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708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6823-0F12-DEB3-236C-481D414D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44BC-55CC-CD3F-39FB-8F02AC22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Mathematical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885D49-A629-F0A0-A633-8DE8C75930D3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0D91F-911E-5C08-3527-2372DAC4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245EC6-A98C-55B1-D7D3-DBF8B6045A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04082A-D3B9-BA03-968F-08190368AC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653" y="1864368"/>
                <a:ext cx="11172217" cy="125148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PCA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centered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PCA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.725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0.35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−1.275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−1.35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0.425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0.85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.672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−0.742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0.744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0.671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.75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−1.85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0.91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groupCh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lim>
                        </m:limLow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0.29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0.01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27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e>
                                  </m:mr>
                                </m:m>
                              </m:e>
                            </m:groupCh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04082A-D3B9-BA03-968F-08190368A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653" y="1864368"/>
                <a:ext cx="11172217" cy="1251484"/>
              </a:xfrm>
              <a:blipFill>
                <a:blip r:embed="rId4"/>
                <a:stretch>
                  <a:fillRect t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D5078F6B-2DF9-D45E-7230-3671C84F6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944" y="3246468"/>
            <a:ext cx="9722350" cy="35244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27B6FA-897E-5BBB-EFA9-86F3F774D1CB}"/>
              </a:ext>
            </a:extLst>
          </p:cNvPr>
          <p:cNvSpPr txBox="1"/>
          <p:nvPr/>
        </p:nvSpPr>
        <p:spPr>
          <a:xfrm>
            <a:off x="6199762" y="5331764"/>
            <a:ext cx="2535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dirty="0">
                <a:solidFill>
                  <a:srgbClr val="FF0000"/>
                </a:solidFill>
              </a:rPr>
              <a:t>: The data is transformed as well as rotated directly by the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F3C31B-D7E1-FD47-A55A-46F94062CA70}"/>
                  </a:ext>
                </a:extLst>
              </p:cNvPr>
              <p:cNvSpPr txBox="1"/>
              <p:nvPr/>
            </p:nvSpPr>
            <p:spPr>
              <a:xfrm>
                <a:off x="1452664" y="5285597"/>
                <a:ext cx="280805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Note</a:t>
                </a:r>
                <a:r>
                  <a:rPr lang="en-US" b="0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they are  perpendicular to each other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F3C31B-D7E1-FD47-A55A-46F94062C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664" y="5285597"/>
                <a:ext cx="2808051" cy="923330"/>
              </a:xfrm>
              <a:prstGeom prst="rect">
                <a:avLst/>
              </a:prstGeom>
              <a:blipFill>
                <a:blip r:embed="rId6"/>
                <a:stretch>
                  <a:fillRect l="-1735" t="-3947" r="-1735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930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4912-9646-70C6-5215-94F3E0B9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C9CD-865A-4ED3-92C1-9B12AFA7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Summary (Limitations)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C0BF70-ADB6-8485-9DE5-2AE5CD6B0C6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A6970-30DC-82DD-24DC-5A1F7A5A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EDBCB-D86B-3B51-7B1B-3DD89587F0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7EF8B-C571-BCCB-B2C6-06ACC77A6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82902"/>
            <a:ext cx="11040256" cy="425838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PCA is a </a:t>
            </a:r>
            <a:r>
              <a:rPr lang="en-US" b="1" dirty="0"/>
              <a:t>linear</a:t>
            </a:r>
            <a:r>
              <a:rPr lang="en-US" dirty="0"/>
              <a:t> dimensionality reduction technique</a:t>
            </a:r>
          </a:p>
          <a:p>
            <a:pPr lvl="1" algn="just"/>
            <a:r>
              <a:rPr lang="en-US" dirty="0"/>
              <a:t>It finds directions (principal components) that </a:t>
            </a:r>
            <a:r>
              <a:rPr lang="en-US" b="1" dirty="0"/>
              <a:t>maximize linear variance</a:t>
            </a:r>
            <a:r>
              <a:rPr lang="en-US" dirty="0"/>
              <a:t> in the input features</a:t>
            </a:r>
          </a:p>
          <a:p>
            <a:pPr lvl="1" algn="just"/>
            <a:r>
              <a:rPr lang="en-US" dirty="0"/>
              <a:t>PCA transforms features to principal components, which are not guaranteed to align with the most predictive features</a:t>
            </a:r>
          </a:p>
          <a:p>
            <a:pPr lvl="1" algn="just"/>
            <a:r>
              <a:rPr lang="en-US" b="1" dirty="0"/>
              <a:t>PCA maximizes variance, not predictive power</a:t>
            </a:r>
          </a:p>
          <a:p>
            <a:pPr lvl="1" algn="just"/>
            <a:r>
              <a:rPr lang="en-US" dirty="0"/>
              <a:t>So, it may keep components that have high variance but are less relevant for prediction</a:t>
            </a:r>
          </a:p>
          <a:p>
            <a:pPr algn="just"/>
            <a:r>
              <a:rPr lang="en-US" dirty="0"/>
              <a:t>If the data lies on a </a:t>
            </a:r>
            <a:r>
              <a:rPr lang="en-US" b="1" dirty="0"/>
              <a:t>nonlinear manifold</a:t>
            </a:r>
            <a:r>
              <a:rPr lang="en-US" dirty="0"/>
              <a:t> (like a spiral, circle, or curved surface), PCA will:</a:t>
            </a:r>
          </a:p>
          <a:p>
            <a:pPr lvl="1" algn="just"/>
            <a:r>
              <a:rPr lang="en-US" b="1" dirty="0"/>
              <a:t>Fail to capture the true structure</a:t>
            </a:r>
            <a:r>
              <a:rPr lang="en-US" dirty="0"/>
              <a:t> of the data</a:t>
            </a:r>
          </a:p>
          <a:p>
            <a:pPr lvl="1" algn="just"/>
            <a:r>
              <a:rPr lang="en-US" dirty="0"/>
              <a:t>Likely discard important nonlinear information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2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27767</TotalTime>
  <Words>1967</Words>
  <Application>Microsoft Office PowerPoint</Application>
  <PresentationFormat>Widescreen</PresentationFormat>
  <Paragraphs>247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Office Theme</vt:lpstr>
      <vt:lpstr>Lecture 12: Dimensionality Reduction</vt:lpstr>
      <vt:lpstr>Linear Algebra Review</vt:lpstr>
      <vt:lpstr>Linear Transformation</vt:lpstr>
      <vt:lpstr>Linear Transformation (contd.)</vt:lpstr>
      <vt:lpstr>Determinant</vt:lpstr>
      <vt:lpstr>Determinant (contd.)</vt:lpstr>
      <vt:lpstr>Determinant (contd.)</vt:lpstr>
      <vt:lpstr>Eigenvectors and Eigenvalues</vt:lpstr>
      <vt:lpstr>Eigenvectors and Eigenvalues</vt:lpstr>
      <vt:lpstr>Eigenvectors and Eigenvalues (contd.)</vt:lpstr>
      <vt:lpstr>Eigenvectors and Eigenvalues (contd.)</vt:lpstr>
      <vt:lpstr>Covariance Matrix (Σ)</vt:lpstr>
      <vt:lpstr>Covariance Matrix (contd.)</vt:lpstr>
      <vt:lpstr>Dimensionality Reduction</vt:lpstr>
      <vt:lpstr>Introduction</vt:lpstr>
      <vt:lpstr>Graphical Example</vt:lpstr>
      <vt:lpstr>Advantages</vt:lpstr>
      <vt:lpstr>Disadvantages</vt:lpstr>
      <vt:lpstr>Principal Component Analysis (PCA)</vt:lpstr>
      <vt:lpstr>PCA: The Idea</vt:lpstr>
      <vt:lpstr>PCA: The Idea (contd.)</vt:lpstr>
      <vt:lpstr>PCA: The Idea (contd.)</vt:lpstr>
      <vt:lpstr>PowerPoint Presentation</vt:lpstr>
      <vt:lpstr>PCA: The Idea (contd.)</vt:lpstr>
      <vt:lpstr>PCA: The Idea with an example</vt:lpstr>
      <vt:lpstr>PCA: The Idea with an example (contd.)</vt:lpstr>
      <vt:lpstr>PCA: The Idea with an example (contd.)</vt:lpstr>
      <vt:lpstr>PCA: The Idea with an example (contd.)</vt:lpstr>
      <vt:lpstr>Mathematical Example</vt:lpstr>
      <vt:lpstr>Mathematical Example (contd.)</vt:lpstr>
      <vt:lpstr>Mathematical Example (contd.)</vt:lpstr>
      <vt:lpstr>Mathematical Example (contd.)</vt:lpstr>
      <vt:lpstr>Mathematical Example (contd.)</vt:lpstr>
      <vt:lpstr>Summary (Limitations)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Dimensionality Reduction</dc:title>
  <dc:creator>Jilan Samiuddin</dc:creator>
  <cp:lastModifiedBy>Jilan Samiuddin</cp:lastModifiedBy>
  <cp:revision>342</cp:revision>
  <dcterms:created xsi:type="dcterms:W3CDTF">2025-05-01T04:50:36Z</dcterms:created>
  <dcterms:modified xsi:type="dcterms:W3CDTF">2026-04-08T03:33:42Z</dcterms:modified>
</cp:coreProperties>
</file>