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 id="272" r:id="rId14"/>
    <p:sldId id="274" r:id="rId15"/>
    <p:sldId id="273" r:id="rId16"/>
    <p:sldId id="275" r:id="rId17"/>
    <p:sldId id="276" r:id="rId18"/>
    <p:sldId id="277" r:id="rId19"/>
    <p:sldId id="278" r:id="rId20"/>
    <p:sldId id="280" r:id="rId21"/>
    <p:sldId id="279" r:id="rId22"/>
    <p:sldId id="281" r:id="rId23"/>
    <p:sldId id="282" r:id="rId24"/>
    <p:sldId id="283" r:id="rId25"/>
    <p:sldId id="28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94660"/>
  </p:normalViewPr>
  <p:slideViewPr>
    <p:cSldViewPr snapToGrid="0">
      <p:cViewPr varScale="1">
        <p:scale>
          <a:sx n="101" d="100"/>
          <a:sy n="101" d="100"/>
        </p:scale>
        <p:origin x="120"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4E0159-42FF-E65A-8E4D-D784988C25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7496018-5CC2-59DE-2953-7738B98343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28FED0-F494-4C8F-803A-297D5BD08D34}" type="datetimeFigureOut">
              <a:rPr lang="en-US" smtClean="0"/>
              <a:t>4/22/2026</a:t>
            </a:fld>
            <a:endParaRPr lang="en-US"/>
          </a:p>
        </p:txBody>
      </p:sp>
      <p:sp>
        <p:nvSpPr>
          <p:cNvPr id="4" name="Footer Placeholder 3">
            <a:extLst>
              <a:ext uri="{FF2B5EF4-FFF2-40B4-BE49-F238E27FC236}">
                <a16:creationId xmlns:a16="http://schemas.microsoft.com/office/drawing/2014/main" id="{0336F1A6-4EBD-D971-0F49-66EB5F0FDB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FCC8F35-1B39-1C84-0B7A-25A637B3F2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F219B2-123C-4C18-A5D8-EB8782F74E24}" type="slidenum">
              <a:rPr lang="en-US" smtClean="0"/>
              <a:t>‹#›</a:t>
            </a:fld>
            <a:endParaRPr lang="en-US"/>
          </a:p>
        </p:txBody>
      </p:sp>
    </p:spTree>
    <p:extLst>
      <p:ext uri="{BB962C8B-B14F-4D97-AF65-F5344CB8AC3E}">
        <p14:creationId xmlns:p14="http://schemas.microsoft.com/office/powerpoint/2010/main" val="28342474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6CD510-D800-49E6-BF08-298A1FE48EE9}"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48FE62-91E1-4730-A536-75C928C6D27E}" type="slidenum">
              <a:rPr lang="en-US" smtClean="0"/>
              <a:t>‹#›</a:t>
            </a:fld>
            <a:endParaRPr lang="en-US"/>
          </a:p>
        </p:txBody>
      </p:sp>
    </p:spTree>
    <p:extLst>
      <p:ext uri="{BB962C8B-B14F-4D97-AF65-F5344CB8AC3E}">
        <p14:creationId xmlns:p14="http://schemas.microsoft.com/office/powerpoint/2010/main" val="420225415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48FE62-91E1-4730-A536-75C928C6D27E}" type="slidenum">
              <a:rPr lang="en-US" smtClean="0"/>
              <a:t>1</a:t>
            </a:fld>
            <a:endParaRPr lang="en-US" dirty="0"/>
          </a:p>
        </p:txBody>
      </p:sp>
    </p:spTree>
    <p:extLst>
      <p:ext uri="{BB962C8B-B14F-4D97-AF65-F5344CB8AC3E}">
        <p14:creationId xmlns:p14="http://schemas.microsoft.com/office/powerpoint/2010/main" val="174992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48FE62-91E1-4730-A536-75C928C6D27E}" type="slidenum">
              <a:rPr lang="en-US" smtClean="0"/>
              <a:t>4</a:t>
            </a:fld>
            <a:endParaRPr lang="en-US"/>
          </a:p>
        </p:txBody>
      </p:sp>
    </p:spTree>
    <p:extLst>
      <p:ext uri="{BB962C8B-B14F-4D97-AF65-F5344CB8AC3E}">
        <p14:creationId xmlns:p14="http://schemas.microsoft.com/office/powerpoint/2010/main" val="540800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925C0-CF38-017C-3820-F35F838F5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71785-E105-5B7F-F47F-B871303FC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61E59-F26C-B808-BE86-167959E414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02C948-8649-8113-5685-E70CE2B99375}"/>
              </a:ext>
            </a:extLst>
          </p:cNvPr>
          <p:cNvSpPr>
            <a:spLocks noGrp="1"/>
          </p:cNvSpPr>
          <p:nvPr>
            <p:ph type="sldNum" sz="quarter" idx="5"/>
          </p:nvPr>
        </p:nvSpPr>
        <p:spPr/>
        <p:txBody>
          <a:bodyPr/>
          <a:lstStyle/>
          <a:p>
            <a:fld id="{4048FE62-91E1-4730-A536-75C928C6D27E}" type="slidenum">
              <a:rPr lang="en-US" smtClean="0"/>
              <a:t>5</a:t>
            </a:fld>
            <a:endParaRPr lang="en-US"/>
          </a:p>
        </p:txBody>
      </p:sp>
    </p:spTree>
    <p:extLst>
      <p:ext uri="{BB962C8B-B14F-4D97-AF65-F5344CB8AC3E}">
        <p14:creationId xmlns:p14="http://schemas.microsoft.com/office/powerpoint/2010/main" val="1293358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E3C6F-CA5A-86BE-17D1-E331CE9F6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3FEE0-EF85-40D5-F2C4-3F7DBFA61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6E9E3-6E1A-DF09-62CB-B23E389336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B04854-EF9F-D52F-5906-8B886FB869FE}"/>
              </a:ext>
            </a:extLst>
          </p:cNvPr>
          <p:cNvSpPr>
            <a:spLocks noGrp="1"/>
          </p:cNvSpPr>
          <p:nvPr>
            <p:ph type="sldNum" sz="quarter" idx="5"/>
          </p:nvPr>
        </p:nvSpPr>
        <p:spPr/>
        <p:txBody>
          <a:bodyPr/>
          <a:lstStyle/>
          <a:p>
            <a:fld id="{4048FE62-91E1-4730-A536-75C928C6D27E}" type="slidenum">
              <a:rPr lang="en-US" smtClean="0"/>
              <a:t>6</a:t>
            </a:fld>
            <a:endParaRPr lang="en-US"/>
          </a:p>
        </p:txBody>
      </p:sp>
    </p:spTree>
    <p:extLst>
      <p:ext uri="{BB962C8B-B14F-4D97-AF65-F5344CB8AC3E}">
        <p14:creationId xmlns:p14="http://schemas.microsoft.com/office/powerpoint/2010/main" val="3286801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0B2AE-F088-814E-9978-DEB0B562AA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8B70C-11E2-ACE0-609C-8D272000E4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3AD2A8-93C5-A852-BC72-82EA1A4E1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2A0D42-ECAF-E27A-595A-627F17867AD0}"/>
              </a:ext>
            </a:extLst>
          </p:cNvPr>
          <p:cNvSpPr>
            <a:spLocks noGrp="1"/>
          </p:cNvSpPr>
          <p:nvPr>
            <p:ph type="sldNum" sz="quarter" idx="5"/>
          </p:nvPr>
        </p:nvSpPr>
        <p:spPr/>
        <p:txBody>
          <a:bodyPr/>
          <a:lstStyle/>
          <a:p>
            <a:fld id="{4048FE62-91E1-4730-A536-75C928C6D27E}" type="slidenum">
              <a:rPr lang="en-US" smtClean="0"/>
              <a:t>7</a:t>
            </a:fld>
            <a:endParaRPr lang="en-US"/>
          </a:p>
        </p:txBody>
      </p:sp>
    </p:spTree>
    <p:extLst>
      <p:ext uri="{BB962C8B-B14F-4D97-AF65-F5344CB8AC3E}">
        <p14:creationId xmlns:p14="http://schemas.microsoft.com/office/powerpoint/2010/main" val="108715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59C65-F316-4EDF-3EBE-E897D20BB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CF7B7-C85C-C8D3-FEFD-F97CEFF21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9D1CC-3479-8765-B887-EC5BF8F382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9B9824-EE76-1610-4131-9455A176E745}"/>
              </a:ext>
            </a:extLst>
          </p:cNvPr>
          <p:cNvSpPr>
            <a:spLocks noGrp="1"/>
          </p:cNvSpPr>
          <p:nvPr>
            <p:ph type="sldNum" sz="quarter" idx="5"/>
          </p:nvPr>
        </p:nvSpPr>
        <p:spPr/>
        <p:txBody>
          <a:bodyPr/>
          <a:lstStyle/>
          <a:p>
            <a:fld id="{4048FE62-91E1-4730-A536-75C928C6D27E}" type="slidenum">
              <a:rPr lang="en-US" smtClean="0"/>
              <a:t>8</a:t>
            </a:fld>
            <a:endParaRPr lang="en-US"/>
          </a:p>
        </p:txBody>
      </p:sp>
    </p:spTree>
    <p:extLst>
      <p:ext uri="{BB962C8B-B14F-4D97-AF65-F5344CB8AC3E}">
        <p14:creationId xmlns:p14="http://schemas.microsoft.com/office/powerpoint/2010/main" val="357503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099CD-0A0A-AFD5-6360-CA48CB973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535EB-F8E0-0125-205C-C4B46AE2C9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0C993-9CAC-1520-27EE-1AA884CF38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6333D-CC03-BFD6-815F-2635CE00325A}"/>
              </a:ext>
            </a:extLst>
          </p:cNvPr>
          <p:cNvSpPr>
            <a:spLocks noGrp="1"/>
          </p:cNvSpPr>
          <p:nvPr>
            <p:ph type="sldNum" sz="quarter" idx="5"/>
          </p:nvPr>
        </p:nvSpPr>
        <p:spPr/>
        <p:txBody>
          <a:bodyPr/>
          <a:lstStyle/>
          <a:p>
            <a:fld id="{4048FE62-91E1-4730-A536-75C928C6D27E}" type="slidenum">
              <a:rPr lang="en-US" smtClean="0"/>
              <a:t>9</a:t>
            </a:fld>
            <a:endParaRPr lang="en-US"/>
          </a:p>
        </p:txBody>
      </p:sp>
    </p:spTree>
    <p:extLst>
      <p:ext uri="{BB962C8B-B14F-4D97-AF65-F5344CB8AC3E}">
        <p14:creationId xmlns:p14="http://schemas.microsoft.com/office/powerpoint/2010/main" val="397363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BB1FC-9DAD-F36E-FD96-F69171D3A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A0F44-22F1-D059-A17B-9F99F4C69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B9E19-D735-5A27-FBFE-ABB21DBBAD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F05422-88E4-265E-E0DA-B3B0370D1854}"/>
              </a:ext>
            </a:extLst>
          </p:cNvPr>
          <p:cNvSpPr>
            <a:spLocks noGrp="1"/>
          </p:cNvSpPr>
          <p:nvPr>
            <p:ph type="sldNum" sz="quarter" idx="5"/>
          </p:nvPr>
        </p:nvSpPr>
        <p:spPr/>
        <p:txBody>
          <a:bodyPr/>
          <a:lstStyle/>
          <a:p>
            <a:fld id="{4048FE62-91E1-4730-A536-75C928C6D27E}" type="slidenum">
              <a:rPr lang="en-US" smtClean="0"/>
              <a:t>10</a:t>
            </a:fld>
            <a:endParaRPr lang="en-US"/>
          </a:p>
        </p:txBody>
      </p:sp>
    </p:spTree>
    <p:extLst>
      <p:ext uri="{BB962C8B-B14F-4D97-AF65-F5344CB8AC3E}">
        <p14:creationId xmlns:p14="http://schemas.microsoft.com/office/powerpoint/2010/main" val="41658128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C71DB-BC99-C67E-15FE-4B68923B9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4A584-FA94-4413-3232-0756695C4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1840F-136C-B2C4-3752-3F238B127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A0C6CD-EE89-E88F-0E79-A54707073AEE}"/>
              </a:ext>
            </a:extLst>
          </p:cNvPr>
          <p:cNvSpPr>
            <a:spLocks noGrp="1"/>
          </p:cNvSpPr>
          <p:nvPr>
            <p:ph type="sldNum" sz="quarter" idx="5"/>
          </p:nvPr>
        </p:nvSpPr>
        <p:spPr/>
        <p:txBody>
          <a:bodyPr/>
          <a:lstStyle/>
          <a:p>
            <a:fld id="{4048FE62-91E1-4730-A536-75C928C6D27E}" type="slidenum">
              <a:rPr lang="en-US" smtClean="0"/>
              <a:t>11</a:t>
            </a:fld>
            <a:endParaRPr lang="en-US"/>
          </a:p>
        </p:txBody>
      </p:sp>
    </p:spTree>
    <p:extLst>
      <p:ext uri="{BB962C8B-B14F-4D97-AF65-F5344CB8AC3E}">
        <p14:creationId xmlns:p14="http://schemas.microsoft.com/office/powerpoint/2010/main" val="4122410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468E1-6DA7-2D9F-F104-6E80EE62D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BAFDE-D97F-9FF2-E621-E68DE940A7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B4104-9586-4D6C-1145-1ECE7BB38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4623E3-5201-EE09-C7B3-D90943F9798C}"/>
              </a:ext>
            </a:extLst>
          </p:cNvPr>
          <p:cNvSpPr>
            <a:spLocks noGrp="1"/>
          </p:cNvSpPr>
          <p:nvPr>
            <p:ph type="sldNum" sz="quarter" idx="5"/>
          </p:nvPr>
        </p:nvSpPr>
        <p:spPr/>
        <p:txBody>
          <a:bodyPr/>
          <a:lstStyle/>
          <a:p>
            <a:fld id="{4048FE62-91E1-4730-A536-75C928C6D27E}" type="slidenum">
              <a:rPr lang="en-US" smtClean="0"/>
              <a:t>12</a:t>
            </a:fld>
            <a:endParaRPr lang="en-US"/>
          </a:p>
        </p:txBody>
      </p:sp>
    </p:spTree>
    <p:extLst>
      <p:ext uri="{BB962C8B-B14F-4D97-AF65-F5344CB8AC3E}">
        <p14:creationId xmlns:p14="http://schemas.microsoft.com/office/powerpoint/2010/main" val="916322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512B2-E4DA-A071-CE99-B75277763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A8A05-D9E3-17C4-21B3-38830141A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C434B-27F8-537B-8DE3-CA6335927E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9E9644-ED9B-41D0-3894-C327A77DF3F8}"/>
              </a:ext>
            </a:extLst>
          </p:cNvPr>
          <p:cNvSpPr>
            <a:spLocks noGrp="1"/>
          </p:cNvSpPr>
          <p:nvPr>
            <p:ph type="sldNum" sz="quarter" idx="5"/>
          </p:nvPr>
        </p:nvSpPr>
        <p:spPr/>
        <p:txBody>
          <a:bodyPr/>
          <a:lstStyle/>
          <a:p>
            <a:fld id="{4048FE62-91E1-4730-A536-75C928C6D27E}" type="slidenum">
              <a:rPr lang="en-US" smtClean="0"/>
              <a:t>13</a:t>
            </a:fld>
            <a:endParaRPr lang="en-US"/>
          </a:p>
        </p:txBody>
      </p:sp>
    </p:spTree>
    <p:extLst>
      <p:ext uri="{BB962C8B-B14F-4D97-AF65-F5344CB8AC3E}">
        <p14:creationId xmlns:p14="http://schemas.microsoft.com/office/powerpoint/2010/main" val="1785878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AC517-CF4C-06C5-57D7-4AEA13A25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08FE2-7B07-A297-726F-CDA60B45D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0830F-1513-B7E6-4215-EBDCFE331C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6EC758-451B-6259-DBBF-7190DFA196D3}"/>
              </a:ext>
            </a:extLst>
          </p:cNvPr>
          <p:cNvSpPr>
            <a:spLocks noGrp="1"/>
          </p:cNvSpPr>
          <p:nvPr>
            <p:ph type="sldNum" sz="quarter" idx="5"/>
          </p:nvPr>
        </p:nvSpPr>
        <p:spPr/>
        <p:txBody>
          <a:bodyPr/>
          <a:lstStyle/>
          <a:p>
            <a:fld id="{4048FE62-91E1-4730-A536-75C928C6D27E}" type="slidenum">
              <a:rPr lang="en-US" smtClean="0"/>
              <a:t>14</a:t>
            </a:fld>
            <a:endParaRPr lang="en-US"/>
          </a:p>
        </p:txBody>
      </p:sp>
    </p:spTree>
    <p:extLst>
      <p:ext uri="{BB962C8B-B14F-4D97-AF65-F5344CB8AC3E}">
        <p14:creationId xmlns:p14="http://schemas.microsoft.com/office/powerpoint/2010/main" val="19787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E414-7592-8382-96DF-0CEC617CF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F1579-59E7-62C8-A103-6BA7C5F72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AF787-35A6-7492-D81A-DBC6F793DE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A3899-7BAE-D008-F72A-E74AF9E5B015}"/>
              </a:ext>
            </a:extLst>
          </p:cNvPr>
          <p:cNvSpPr>
            <a:spLocks noGrp="1"/>
          </p:cNvSpPr>
          <p:nvPr>
            <p:ph type="sldNum" sz="quarter" idx="5"/>
          </p:nvPr>
        </p:nvSpPr>
        <p:spPr/>
        <p:txBody>
          <a:bodyPr/>
          <a:lstStyle/>
          <a:p>
            <a:fld id="{4048FE62-91E1-4730-A536-75C928C6D27E}" type="slidenum">
              <a:rPr lang="en-US" smtClean="0"/>
              <a:t>15</a:t>
            </a:fld>
            <a:endParaRPr lang="en-US"/>
          </a:p>
        </p:txBody>
      </p:sp>
    </p:spTree>
    <p:extLst>
      <p:ext uri="{BB962C8B-B14F-4D97-AF65-F5344CB8AC3E}">
        <p14:creationId xmlns:p14="http://schemas.microsoft.com/office/powerpoint/2010/main" val="3068660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575E2-037C-76E6-9757-6DFD8C1F4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52A3B-5DA3-5C13-F7B2-61117B7E1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887F4D-DDAC-BD9C-1494-049FE133EE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CECFA1-76CD-DFE4-3741-5575159EBD80}"/>
              </a:ext>
            </a:extLst>
          </p:cNvPr>
          <p:cNvSpPr>
            <a:spLocks noGrp="1"/>
          </p:cNvSpPr>
          <p:nvPr>
            <p:ph type="sldNum" sz="quarter" idx="5"/>
          </p:nvPr>
        </p:nvSpPr>
        <p:spPr/>
        <p:txBody>
          <a:bodyPr/>
          <a:lstStyle/>
          <a:p>
            <a:fld id="{4048FE62-91E1-4730-A536-75C928C6D27E}" type="slidenum">
              <a:rPr lang="en-US" smtClean="0"/>
              <a:t>16</a:t>
            </a:fld>
            <a:endParaRPr lang="en-US"/>
          </a:p>
        </p:txBody>
      </p:sp>
    </p:spTree>
    <p:extLst>
      <p:ext uri="{BB962C8B-B14F-4D97-AF65-F5344CB8AC3E}">
        <p14:creationId xmlns:p14="http://schemas.microsoft.com/office/powerpoint/2010/main" val="1005618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CF791-3337-4BE0-62CC-834CE4A74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2E98C-DAD8-4839-0AAA-DF0CD83F4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6B37A-EA01-97F7-5F94-503C3119E3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BA4052-9C05-DD7E-3F3F-DAA9E79BDF53}"/>
              </a:ext>
            </a:extLst>
          </p:cNvPr>
          <p:cNvSpPr>
            <a:spLocks noGrp="1"/>
          </p:cNvSpPr>
          <p:nvPr>
            <p:ph type="sldNum" sz="quarter" idx="5"/>
          </p:nvPr>
        </p:nvSpPr>
        <p:spPr/>
        <p:txBody>
          <a:bodyPr/>
          <a:lstStyle/>
          <a:p>
            <a:fld id="{4048FE62-91E1-4730-A536-75C928C6D27E}" type="slidenum">
              <a:rPr lang="en-US" smtClean="0"/>
              <a:t>17</a:t>
            </a:fld>
            <a:endParaRPr lang="en-US"/>
          </a:p>
        </p:txBody>
      </p:sp>
    </p:spTree>
    <p:extLst>
      <p:ext uri="{BB962C8B-B14F-4D97-AF65-F5344CB8AC3E}">
        <p14:creationId xmlns:p14="http://schemas.microsoft.com/office/powerpoint/2010/main" val="1309704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24C5A-F707-100E-64CE-BD59CEAD56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C78B2-B04F-EE80-1999-EE476B704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90BED-C0DB-5BCC-3F7A-091E765253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E2212F-17A0-53D2-F0A9-84860B2BA198}"/>
              </a:ext>
            </a:extLst>
          </p:cNvPr>
          <p:cNvSpPr>
            <a:spLocks noGrp="1"/>
          </p:cNvSpPr>
          <p:nvPr>
            <p:ph type="sldNum" sz="quarter" idx="5"/>
          </p:nvPr>
        </p:nvSpPr>
        <p:spPr/>
        <p:txBody>
          <a:bodyPr/>
          <a:lstStyle/>
          <a:p>
            <a:fld id="{4048FE62-91E1-4730-A536-75C928C6D27E}" type="slidenum">
              <a:rPr lang="en-US" smtClean="0"/>
              <a:t>18</a:t>
            </a:fld>
            <a:endParaRPr lang="en-US"/>
          </a:p>
        </p:txBody>
      </p:sp>
    </p:spTree>
    <p:extLst>
      <p:ext uri="{BB962C8B-B14F-4D97-AF65-F5344CB8AC3E}">
        <p14:creationId xmlns:p14="http://schemas.microsoft.com/office/powerpoint/2010/main" val="1609959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8287-A533-54C4-5093-E56889692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CBCBE-CD09-9301-1943-6E2872ABF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4422A7-4204-498E-7ADE-A64AAFD785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DA5090-D7E4-EC68-49BB-26CBF4BFAA07}"/>
              </a:ext>
            </a:extLst>
          </p:cNvPr>
          <p:cNvSpPr>
            <a:spLocks noGrp="1"/>
          </p:cNvSpPr>
          <p:nvPr>
            <p:ph type="sldNum" sz="quarter" idx="5"/>
          </p:nvPr>
        </p:nvSpPr>
        <p:spPr/>
        <p:txBody>
          <a:bodyPr/>
          <a:lstStyle/>
          <a:p>
            <a:fld id="{4048FE62-91E1-4730-A536-75C928C6D27E}" type="slidenum">
              <a:rPr lang="en-US" smtClean="0"/>
              <a:t>19</a:t>
            </a:fld>
            <a:endParaRPr lang="en-US"/>
          </a:p>
        </p:txBody>
      </p:sp>
    </p:spTree>
    <p:extLst>
      <p:ext uri="{BB962C8B-B14F-4D97-AF65-F5344CB8AC3E}">
        <p14:creationId xmlns:p14="http://schemas.microsoft.com/office/powerpoint/2010/main" val="6793574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ECBC5-FAE5-2078-D038-67A267457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2424F-80FE-5D72-EFA9-A2C4F6C8A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F733-C430-EC05-815B-DB085D9B48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D38368-923A-EB63-81E4-E10A025B9304}"/>
              </a:ext>
            </a:extLst>
          </p:cNvPr>
          <p:cNvSpPr>
            <a:spLocks noGrp="1"/>
          </p:cNvSpPr>
          <p:nvPr>
            <p:ph type="sldNum" sz="quarter" idx="5"/>
          </p:nvPr>
        </p:nvSpPr>
        <p:spPr/>
        <p:txBody>
          <a:bodyPr/>
          <a:lstStyle/>
          <a:p>
            <a:fld id="{4048FE62-91E1-4730-A536-75C928C6D27E}" type="slidenum">
              <a:rPr lang="en-US" smtClean="0"/>
              <a:t>20</a:t>
            </a:fld>
            <a:endParaRPr lang="en-US"/>
          </a:p>
        </p:txBody>
      </p:sp>
    </p:spTree>
    <p:extLst>
      <p:ext uri="{BB962C8B-B14F-4D97-AF65-F5344CB8AC3E}">
        <p14:creationId xmlns:p14="http://schemas.microsoft.com/office/powerpoint/2010/main" val="525854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1C7C1-D1FB-B577-BEC9-DD158B97C2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59819-70AC-16BA-94E6-FA6891F48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97D2B-0DFC-8E8E-4AFA-7125F71573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DA2729-779E-61A4-4358-FD4FB81A58B8}"/>
              </a:ext>
            </a:extLst>
          </p:cNvPr>
          <p:cNvSpPr>
            <a:spLocks noGrp="1"/>
          </p:cNvSpPr>
          <p:nvPr>
            <p:ph type="sldNum" sz="quarter" idx="5"/>
          </p:nvPr>
        </p:nvSpPr>
        <p:spPr/>
        <p:txBody>
          <a:bodyPr/>
          <a:lstStyle/>
          <a:p>
            <a:fld id="{4048FE62-91E1-4730-A536-75C928C6D27E}" type="slidenum">
              <a:rPr lang="en-US" smtClean="0"/>
              <a:t>21</a:t>
            </a:fld>
            <a:endParaRPr lang="en-US"/>
          </a:p>
        </p:txBody>
      </p:sp>
    </p:spTree>
    <p:extLst>
      <p:ext uri="{BB962C8B-B14F-4D97-AF65-F5344CB8AC3E}">
        <p14:creationId xmlns:p14="http://schemas.microsoft.com/office/powerpoint/2010/main" val="303731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4FF9A-A28D-2A77-7A68-0DCA67CCC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B50E1-E296-6DAF-13B5-274EF1D8A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03FC7-8D2C-25E9-E2F6-FF4DD62148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36453F-3CA6-DB9A-08F7-4741E3B4713A}"/>
              </a:ext>
            </a:extLst>
          </p:cNvPr>
          <p:cNvSpPr>
            <a:spLocks noGrp="1"/>
          </p:cNvSpPr>
          <p:nvPr>
            <p:ph type="sldNum" sz="quarter" idx="5"/>
          </p:nvPr>
        </p:nvSpPr>
        <p:spPr/>
        <p:txBody>
          <a:bodyPr/>
          <a:lstStyle/>
          <a:p>
            <a:fld id="{4048FE62-91E1-4730-A536-75C928C6D27E}" type="slidenum">
              <a:rPr lang="en-US" smtClean="0"/>
              <a:t>22</a:t>
            </a:fld>
            <a:endParaRPr lang="en-US"/>
          </a:p>
        </p:txBody>
      </p:sp>
    </p:spTree>
    <p:extLst>
      <p:ext uri="{BB962C8B-B14F-4D97-AF65-F5344CB8AC3E}">
        <p14:creationId xmlns:p14="http://schemas.microsoft.com/office/powerpoint/2010/main" val="2390031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DC37-6CFC-43F3-2C12-5C9DE8EF7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93B76-C860-462A-45A5-B3DA50DBB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B75D8-327B-9741-2DDB-32978E7F71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010D26-87EE-BBB4-FC32-8D73B7F1A513}"/>
              </a:ext>
            </a:extLst>
          </p:cNvPr>
          <p:cNvSpPr>
            <a:spLocks noGrp="1"/>
          </p:cNvSpPr>
          <p:nvPr>
            <p:ph type="sldNum" sz="quarter" idx="5"/>
          </p:nvPr>
        </p:nvSpPr>
        <p:spPr/>
        <p:txBody>
          <a:bodyPr/>
          <a:lstStyle/>
          <a:p>
            <a:fld id="{4048FE62-91E1-4730-A536-75C928C6D27E}" type="slidenum">
              <a:rPr lang="en-US" smtClean="0"/>
              <a:t>23</a:t>
            </a:fld>
            <a:endParaRPr lang="en-US"/>
          </a:p>
        </p:txBody>
      </p:sp>
    </p:spTree>
    <p:extLst>
      <p:ext uri="{BB962C8B-B14F-4D97-AF65-F5344CB8AC3E}">
        <p14:creationId xmlns:p14="http://schemas.microsoft.com/office/powerpoint/2010/main" val="34232290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DA6E1-658D-7641-6833-DE7004753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73A25-36D4-04BC-B57B-1491F4A57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493E-469D-9B08-1DD5-0F1569870D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1D193-A58B-4995-AFAF-0F8110B00D86}"/>
              </a:ext>
            </a:extLst>
          </p:cNvPr>
          <p:cNvSpPr>
            <a:spLocks noGrp="1"/>
          </p:cNvSpPr>
          <p:nvPr>
            <p:ph type="sldNum" sz="quarter" idx="5"/>
          </p:nvPr>
        </p:nvSpPr>
        <p:spPr/>
        <p:txBody>
          <a:bodyPr/>
          <a:lstStyle/>
          <a:p>
            <a:fld id="{4048FE62-91E1-4730-A536-75C928C6D27E}" type="slidenum">
              <a:rPr lang="en-US" smtClean="0"/>
              <a:t>24</a:t>
            </a:fld>
            <a:endParaRPr lang="en-US"/>
          </a:p>
        </p:txBody>
      </p:sp>
    </p:spTree>
    <p:extLst>
      <p:ext uri="{BB962C8B-B14F-4D97-AF65-F5344CB8AC3E}">
        <p14:creationId xmlns:p14="http://schemas.microsoft.com/office/powerpoint/2010/main" val="1580539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BD70-856C-7242-4A4C-34C23261D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3B033-C7A8-5510-5C7B-72E1C0812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BFC56-91B9-AED4-1EBF-E3D0C3852F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40E2C-AD8E-4A26-CF29-355A5AEEEB9E}"/>
              </a:ext>
            </a:extLst>
          </p:cNvPr>
          <p:cNvSpPr>
            <a:spLocks noGrp="1"/>
          </p:cNvSpPr>
          <p:nvPr>
            <p:ph type="sldNum" sz="quarter" idx="5"/>
          </p:nvPr>
        </p:nvSpPr>
        <p:spPr/>
        <p:txBody>
          <a:bodyPr/>
          <a:lstStyle/>
          <a:p>
            <a:fld id="{4048FE62-91E1-4730-A536-75C928C6D27E}" type="slidenum">
              <a:rPr lang="en-US" smtClean="0"/>
              <a:t>25</a:t>
            </a:fld>
            <a:endParaRPr lang="en-US"/>
          </a:p>
        </p:txBody>
      </p:sp>
    </p:spTree>
    <p:extLst>
      <p:ext uri="{BB962C8B-B14F-4D97-AF65-F5344CB8AC3E}">
        <p14:creationId xmlns:p14="http://schemas.microsoft.com/office/powerpoint/2010/main" val="176202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03D7-70F1-1C6F-A3B7-A8287EE256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A7E7C8-C452-803C-5FAC-14BDD1D437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FD9D17-AB94-0B7D-C590-1F7E5184640F}"/>
              </a:ext>
            </a:extLst>
          </p:cNvPr>
          <p:cNvSpPr>
            <a:spLocks noGrp="1"/>
          </p:cNvSpPr>
          <p:nvPr>
            <p:ph type="dt" sz="half" idx="10"/>
          </p:nvPr>
        </p:nvSpPr>
        <p:spPr/>
        <p:txBody>
          <a:bodyPr/>
          <a:lstStyle/>
          <a:p>
            <a:fld id="{27C370ED-970E-4212-BB35-C22C1D195CBC}" type="datetime1">
              <a:rPr lang="en-US" smtClean="0"/>
              <a:t>4/22/2026</a:t>
            </a:fld>
            <a:endParaRPr lang="en-US"/>
          </a:p>
        </p:txBody>
      </p:sp>
      <p:sp>
        <p:nvSpPr>
          <p:cNvPr id="5" name="Footer Placeholder 4">
            <a:extLst>
              <a:ext uri="{FF2B5EF4-FFF2-40B4-BE49-F238E27FC236}">
                <a16:creationId xmlns:a16="http://schemas.microsoft.com/office/drawing/2014/main" id="{D939647B-4FB4-82CC-07BE-EFD93BF43EE8}"/>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0E24B835-5F31-3FC0-10FA-FAC19E81C041}"/>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1564037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16F1-8C26-C670-B7DC-8010AD3904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8ADE1A-A059-2960-24A5-D405837CE6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D42EED-1E92-359C-10FA-4E5D3C3F9256}"/>
              </a:ext>
            </a:extLst>
          </p:cNvPr>
          <p:cNvSpPr>
            <a:spLocks noGrp="1"/>
          </p:cNvSpPr>
          <p:nvPr>
            <p:ph type="dt" sz="half" idx="10"/>
          </p:nvPr>
        </p:nvSpPr>
        <p:spPr/>
        <p:txBody>
          <a:bodyPr/>
          <a:lstStyle/>
          <a:p>
            <a:fld id="{47EBB735-82A6-4413-A653-62CE81350112}" type="datetime1">
              <a:rPr lang="en-US" smtClean="0"/>
              <a:t>4/22/2026</a:t>
            </a:fld>
            <a:endParaRPr lang="en-US"/>
          </a:p>
        </p:txBody>
      </p:sp>
      <p:sp>
        <p:nvSpPr>
          <p:cNvPr id="5" name="Footer Placeholder 4">
            <a:extLst>
              <a:ext uri="{FF2B5EF4-FFF2-40B4-BE49-F238E27FC236}">
                <a16:creationId xmlns:a16="http://schemas.microsoft.com/office/drawing/2014/main" id="{34224E15-03A2-851D-88BC-2445BB771AAA}"/>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139F4FD2-0C66-774A-A375-1089C665451E}"/>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490122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5120E-FC2F-A46F-4B09-23117B464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0862F9-9511-E32B-4BD7-47E0A71AD0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BC9156-0A2A-DB75-C8EA-248EA3DEEF0F}"/>
              </a:ext>
            </a:extLst>
          </p:cNvPr>
          <p:cNvSpPr>
            <a:spLocks noGrp="1"/>
          </p:cNvSpPr>
          <p:nvPr>
            <p:ph type="dt" sz="half" idx="10"/>
          </p:nvPr>
        </p:nvSpPr>
        <p:spPr/>
        <p:txBody>
          <a:bodyPr/>
          <a:lstStyle/>
          <a:p>
            <a:fld id="{019675B7-2148-4A9D-995D-56145ABEAE97}" type="datetime1">
              <a:rPr lang="en-US" smtClean="0"/>
              <a:t>4/22/2026</a:t>
            </a:fld>
            <a:endParaRPr lang="en-US"/>
          </a:p>
        </p:txBody>
      </p:sp>
      <p:sp>
        <p:nvSpPr>
          <p:cNvPr id="5" name="Footer Placeholder 4">
            <a:extLst>
              <a:ext uri="{FF2B5EF4-FFF2-40B4-BE49-F238E27FC236}">
                <a16:creationId xmlns:a16="http://schemas.microsoft.com/office/drawing/2014/main" id="{86ED3A95-056A-D033-22AF-CDDBE987E964}"/>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AB157329-594F-D458-6A9C-F07B09AFE79B}"/>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048353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8A64B-29CB-8665-CEC5-DF412D2F94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48CDFC-7ECF-8F07-A1A5-1C0C8B3854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FD181D-A96E-0D94-2062-16DE285411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200174-4A25-E989-7ACA-5C0B639C984C}"/>
              </a:ext>
            </a:extLst>
          </p:cNvPr>
          <p:cNvSpPr>
            <a:spLocks noGrp="1"/>
          </p:cNvSpPr>
          <p:nvPr>
            <p:ph type="dt" sz="half" idx="10"/>
          </p:nvPr>
        </p:nvSpPr>
        <p:spPr/>
        <p:txBody>
          <a:bodyPr/>
          <a:lstStyle/>
          <a:p>
            <a:fld id="{C1EFA078-0F96-4814-AF41-4D8FAE7F8A6C}" type="datetime1">
              <a:rPr lang="en-US" smtClean="0"/>
              <a:t>4/22/2026</a:t>
            </a:fld>
            <a:endParaRPr lang="en-US"/>
          </a:p>
        </p:txBody>
      </p:sp>
      <p:sp>
        <p:nvSpPr>
          <p:cNvPr id="6" name="Footer Placeholder 5">
            <a:extLst>
              <a:ext uri="{FF2B5EF4-FFF2-40B4-BE49-F238E27FC236}">
                <a16:creationId xmlns:a16="http://schemas.microsoft.com/office/drawing/2014/main" id="{0B23BD85-5B63-139B-2CE7-19610007F9E8}"/>
              </a:ext>
            </a:extLst>
          </p:cNvPr>
          <p:cNvSpPr>
            <a:spLocks noGrp="1"/>
          </p:cNvSpPr>
          <p:nvPr>
            <p:ph type="ftr" sz="quarter" idx="11"/>
          </p:nvPr>
        </p:nvSpPr>
        <p:spPr/>
        <p:txBody>
          <a:bodyPr/>
          <a:lstStyle/>
          <a:p>
            <a:r>
              <a:rPr lang="en-US"/>
              <a:t>CSE445 Machine Learning</a:t>
            </a:r>
          </a:p>
        </p:txBody>
      </p:sp>
      <p:sp>
        <p:nvSpPr>
          <p:cNvPr id="7" name="Slide Number Placeholder 6">
            <a:extLst>
              <a:ext uri="{FF2B5EF4-FFF2-40B4-BE49-F238E27FC236}">
                <a16:creationId xmlns:a16="http://schemas.microsoft.com/office/drawing/2014/main" id="{103ABD13-EDE6-69F9-8590-026CFFF13586}"/>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3594269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F3A3-B693-9109-7927-708691AAD3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BC4F7D-CCD8-33A2-D7D0-35E5380DDB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AD8A8-2AB0-25CD-201F-ED952A4CDC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E13444-B5AF-C486-4E0A-7F2108ACDF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42FB4-090B-A58C-DF43-EA43DA1F16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708DE3-3255-6046-EE31-0C14E35324FC}"/>
              </a:ext>
            </a:extLst>
          </p:cNvPr>
          <p:cNvSpPr>
            <a:spLocks noGrp="1"/>
          </p:cNvSpPr>
          <p:nvPr>
            <p:ph type="dt" sz="half" idx="10"/>
          </p:nvPr>
        </p:nvSpPr>
        <p:spPr/>
        <p:txBody>
          <a:bodyPr/>
          <a:lstStyle/>
          <a:p>
            <a:fld id="{517CFAE0-6AEA-4322-8961-61818A5C4CC4}" type="datetime1">
              <a:rPr lang="en-US" smtClean="0"/>
              <a:t>4/22/2026</a:t>
            </a:fld>
            <a:endParaRPr lang="en-US"/>
          </a:p>
        </p:txBody>
      </p:sp>
      <p:sp>
        <p:nvSpPr>
          <p:cNvPr id="8" name="Footer Placeholder 7">
            <a:extLst>
              <a:ext uri="{FF2B5EF4-FFF2-40B4-BE49-F238E27FC236}">
                <a16:creationId xmlns:a16="http://schemas.microsoft.com/office/drawing/2014/main" id="{6EA5004F-5259-2B42-1938-FA9CAA92CA9B}"/>
              </a:ext>
            </a:extLst>
          </p:cNvPr>
          <p:cNvSpPr>
            <a:spLocks noGrp="1"/>
          </p:cNvSpPr>
          <p:nvPr>
            <p:ph type="ftr" sz="quarter" idx="11"/>
          </p:nvPr>
        </p:nvSpPr>
        <p:spPr/>
        <p:txBody>
          <a:bodyPr/>
          <a:lstStyle/>
          <a:p>
            <a:r>
              <a:rPr lang="en-US"/>
              <a:t>CSE445 Machine Learning</a:t>
            </a:r>
          </a:p>
        </p:txBody>
      </p:sp>
      <p:sp>
        <p:nvSpPr>
          <p:cNvPr id="9" name="Slide Number Placeholder 8">
            <a:extLst>
              <a:ext uri="{FF2B5EF4-FFF2-40B4-BE49-F238E27FC236}">
                <a16:creationId xmlns:a16="http://schemas.microsoft.com/office/drawing/2014/main" id="{1CD354AB-D64D-E84A-BA76-66DBB6E453EC}"/>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493354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9BCC-F36B-F141-B6AC-0F2466147F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7B0912-EE39-228C-9255-704DBA8C2967}"/>
              </a:ext>
            </a:extLst>
          </p:cNvPr>
          <p:cNvSpPr>
            <a:spLocks noGrp="1"/>
          </p:cNvSpPr>
          <p:nvPr>
            <p:ph type="dt" sz="half" idx="10"/>
          </p:nvPr>
        </p:nvSpPr>
        <p:spPr/>
        <p:txBody>
          <a:bodyPr/>
          <a:lstStyle/>
          <a:p>
            <a:fld id="{0C51CC14-615A-40E5-878F-B7968E69ACA9}" type="datetime1">
              <a:rPr lang="en-US" smtClean="0"/>
              <a:t>4/22/2026</a:t>
            </a:fld>
            <a:endParaRPr lang="en-US"/>
          </a:p>
        </p:txBody>
      </p:sp>
      <p:sp>
        <p:nvSpPr>
          <p:cNvPr id="4" name="Footer Placeholder 3">
            <a:extLst>
              <a:ext uri="{FF2B5EF4-FFF2-40B4-BE49-F238E27FC236}">
                <a16:creationId xmlns:a16="http://schemas.microsoft.com/office/drawing/2014/main" id="{C9ECFC76-DAA8-A15C-4AC4-93D299980EB1}"/>
              </a:ext>
            </a:extLst>
          </p:cNvPr>
          <p:cNvSpPr>
            <a:spLocks noGrp="1"/>
          </p:cNvSpPr>
          <p:nvPr>
            <p:ph type="ftr" sz="quarter" idx="11"/>
          </p:nvPr>
        </p:nvSpPr>
        <p:spPr/>
        <p:txBody>
          <a:bodyPr/>
          <a:lstStyle/>
          <a:p>
            <a:r>
              <a:rPr lang="en-US"/>
              <a:t>CSE445 Machine Learning</a:t>
            </a:r>
          </a:p>
        </p:txBody>
      </p:sp>
      <p:sp>
        <p:nvSpPr>
          <p:cNvPr id="5" name="Slide Number Placeholder 4">
            <a:extLst>
              <a:ext uri="{FF2B5EF4-FFF2-40B4-BE49-F238E27FC236}">
                <a16:creationId xmlns:a16="http://schemas.microsoft.com/office/drawing/2014/main" id="{F05AFFAA-E646-0DDF-64A0-A28BAC96E972}"/>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230007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8BE16B-802E-3074-11D1-8DE9C32B0176}"/>
              </a:ext>
            </a:extLst>
          </p:cNvPr>
          <p:cNvSpPr>
            <a:spLocks noGrp="1"/>
          </p:cNvSpPr>
          <p:nvPr>
            <p:ph type="dt" sz="half" idx="10"/>
          </p:nvPr>
        </p:nvSpPr>
        <p:spPr/>
        <p:txBody>
          <a:bodyPr/>
          <a:lstStyle/>
          <a:p>
            <a:fld id="{54F13215-DB23-4892-8F9A-91431A502CD2}" type="datetime1">
              <a:rPr lang="en-US" smtClean="0"/>
              <a:t>4/22/2026</a:t>
            </a:fld>
            <a:endParaRPr lang="en-US"/>
          </a:p>
        </p:txBody>
      </p:sp>
      <p:sp>
        <p:nvSpPr>
          <p:cNvPr id="3" name="Footer Placeholder 2">
            <a:extLst>
              <a:ext uri="{FF2B5EF4-FFF2-40B4-BE49-F238E27FC236}">
                <a16:creationId xmlns:a16="http://schemas.microsoft.com/office/drawing/2014/main" id="{FC670A2E-3D38-5D1E-AF19-F063247E7355}"/>
              </a:ext>
            </a:extLst>
          </p:cNvPr>
          <p:cNvSpPr>
            <a:spLocks noGrp="1"/>
          </p:cNvSpPr>
          <p:nvPr>
            <p:ph type="ftr" sz="quarter" idx="11"/>
          </p:nvPr>
        </p:nvSpPr>
        <p:spPr/>
        <p:txBody>
          <a:bodyPr/>
          <a:lstStyle/>
          <a:p>
            <a:r>
              <a:rPr lang="en-US"/>
              <a:t>CSE445 Machine Learning</a:t>
            </a:r>
          </a:p>
        </p:txBody>
      </p:sp>
      <p:sp>
        <p:nvSpPr>
          <p:cNvPr id="4" name="Slide Number Placeholder 3">
            <a:extLst>
              <a:ext uri="{FF2B5EF4-FFF2-40B4-BE49-F238E27FC236}">
                <a16:creationId xmlns:a16="http://schemas.microsoft.com/office/drawing/2014/main" id="{C0331207-BFA9-21E9-A865-318F13DA4D02}"/>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947701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605C-FA05-25DE-15F4-805A8CF099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A4B131-EC7F-BFD9-E7B6-AB3137F4F1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2959E2-E99B-EDA1-628E-184C643D5E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DE0DFE-327E-11B6-BD8C-0F41386E782D}"/>
              </a:ext>
            </a:extLst>
          </p:cNvPr>
          <p:cNvSpPr>
            <a:spLocks noGrp="1"/>
          </p:cNvSpPr>
          <p:nvPr>
            <p:ph type="dt" sz="half" idx="10"/>
          </p:nvPr>
        </p:nvSpPr>
        <p:spPr/>
        <p:txBody>
          <a:bodyPr/>
          <a:lstStyle/>
          <a:p>
            <a:fld id="{21D3BCFA-E3E0-4FF4-BACA-FCF5C255E5DE}" type="datetime1">
              <a:rPr lang="en-US" smtClean="0"/>
              <a:t>4/22/2026</a:t>
            </a:fld>
            <a:endParaRPr lang="en-US"/>
          </a:p>
        </p:txBody>
      </p:sp>
      <p:sp>
        <p:nvSpPr>
          <p:cNvPr id="6" name="Footer Placeholder 5">
            <a:extLst>
              <a:ext uri="{FF2B5EF4-FFF2-40B4-BE49-F238E27FC236}">
                <a16:creationId xmlns:a16="http://schemas.microsoft.com/office/drawing/2014/main" id="{8B088662-BCB8-828C-9BDF-DD1D1A56A189}"/>
              </a:ext>
            </a:extLst>
          </p:cNvPr>
          <p:cNvSpPr>
            <a:spLocks noGrp="1"/>
          </p:cNvSpPr>
          <p:nvPr>
            <p:ph type="ftr" sz="quarter" idx="11"/>
          </p:nvPr>
        </p:nvSpPr>
        <p:spPr/>
        <p:txBody>
          <a:bodyPr/>
          <a:lstStyle/>
          <a:p>
            <a:r>
              <a:rPr lang="en-US"/>
              <a:t>CSE445 Machine Learning</a:t>
            </a:r>
          </a:p>
        </p:txBody>
      </p:sp>
      <p:sp>
        <p:nvSpPr>
          <p:cNvPr id="7" name="Slide Number Placeholder 6">
            <a:extLst>
              <a:ext uri="{FF2B5EF4-FFF2-40B4-BE49-F238E27FC236}">
                <a16:creationId xmlns:a16="http://schemas.microsoft.com/office/drawing/2014/main" id="{E940129B-382F-9101-9ED5-631C3B88FCBE}"/>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3756216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04D93-D5ED-C785-80CB-7CF60D10AA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39CBA7-CE7D-C187-B782-CA09C95AF8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D639DC-D960-C20C-EDEF-4E282D5FC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D0A177-05FD-4F3A-55CF-3EEB7E4E8F5C}"/>
              </a:ext>
            </a:extLst>
          </p:cNvPr>
          <p:cNvSpPr>
            <a:spLocks noGrp="1"/>
          </p:cNvSpPr>
          <p:nvPr>
            <p:ph type="dt" sz="half" idx="10"/>
          </p:nvPr>
        </p:nvSpPr>
        <p:spPr/>
        <p:txBody>
          <a:bodyPr/>
          <a:lstStyle/>
          <a:p>
            <a:fld id="{AE08EC14-2B3B-4EE3-949A-779D533E8478}" type="datetime1">
              <a:rPr lang="en-US" smtClean="0"/>
              <a:t>4/22/2026</a:t>
            </a:fld>
            <a:endParaRPr lang="en-US"/>
          </a:p>
        </p:txBody>
      </p:sp>
      <p:sp>
        <p:nvSpPr>
          <p:cNvPr id="6" name="Footer Placeholder 5">
            <a:extLst>
              <a:ext uri="{FF2B5EF4-FFF2-40B4-BE49-F238E27FC236}">
                <a16:creationId xmlns:a16="http://schemas.microsoft.com/office/drawing/2014/main" id="{CA599E7E-8ECE-4DE4-A26C-C2CAB09788A6}"/>
              </a:ext>
            </a:extLst>
          </p:cNvPr>
          <p:cNvSpPr>
            <a:spLocks noGrp="1"/>
          </p:cNvSpPr>
          <p:nvPr>
            <p:ph type="ftr" sz="quarter" idx="11"/>
          </p:nvPr>
        </p:nvSpPr>
        <p:spPr/>
        <p:txBody>
          <a:bodyPr/>
          <a:lstStyle/>
          <a:p>
            <a:r>
              <a:rPr lang="en-US"/>
              <a:t>CSE445 Machine Learning</a:t>
            </a:r>
          </a:p>
        </p:txBody>
      </p:sp>
      <p:sp>
        <p:nvSpPr>
          <p:cNvPr id="7" name="Slide Number Placeholder 6">
            <a:extLst>
              <a:ext uri="{FF2B5EF4-FFF2-40B4-BE49-F238E27FC236}">
                <a16:creationId xmlns:a16="http://schemas.microsoft.com/office/drawing/2014/main" id="{515AEDC0-BC10-677B-FFB3-DD53581A8454}"/>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2312678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9DC3-0DF6-0743-E644-4A7AC5421D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7E063F-D43E-FD0C-D76B-188F3B7212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91BACC-50F2-51B8-0376-B959E5C69EFE}"/>
              </a:ext>
            </a:extLst>
          </p:cNvPr>
          <p:cNvSpPr>
            <a:spLocks noGrp="1"/>
          </p:cNvSpPr>
          <p:nvPr>
            <p:ph type="dt" sz="half" idx="10"/>
          </p:nvPr>
        </p:nvSpPr>
        <p:spPr/>
        <p:txBody>
          <a:bodyPr/>
          <a:lstStyle/>
          <a:p>
            <a:fld id="{B63BC18E-A90B-4B22-BF53-42EC149F08BB}" type="datetime1">
              <a:rPr lang="en-US" smtClean="0"/>
              <a:t>4/22/2026</a:t>
            </a:fld>
            <a:endParaRPr lang="en-US"/>
          </a:p>
        </p:txBody>
      </p:sp>
      <p:sp>
        <p:nvSpPr>
          <p:cNvPr id="5" name="Footer Placeholder 4">
            <a:extLst>
              <a:ext uri="{FF2B5EF4-FFF2-40B4-BE49-F238E27FC236}">
                <a16:creationId xmlns:a16="http://schemas.microsoft.com/office/drawing/2014/main" id="{F51CC8EC-0CE8-F103-3FD7-ED00AEDD2402}"/>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9490F038-A502-BA4A-633C-2C8924FA2075}"/>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949340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D0902E-7688-3814-1155-474461F4BE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262A82-7CD6-0470-0AF6-CCA98D9EF6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BDE9E-FAFF-63E1-22C0-33E9AE7F246E}"/>
              </a:ext>
            </a:extLst>
          </p:cNvPr>
          <p:cNvSpPr>
            <a:spLocks noGrp="1"/>
          </p:cNvSpPr>
          <p:nvPr>
            <p:ph type="dt" sz="half" idx="10"/>
          </p:nvPr>
        </p:nvSpPr>
        <p:spPr/>
        <p:txBody>
          <a:bodyPr/>
          <a:lstStyle/>
          <a:p>
            <a:fld id="{C3D84F7D-5048-4108-88DC-972512EB713E}" type="datetime1">
              <a:rPr lang="en-US" smtClean="0"/>
              <a:t>4/22/2026</a:t>
            </a:fld>
            <a:endParaRPr lang="en-US"/>
          </a:p>
        </p:txBody>
      </p:sp>
      <p:sp>
        <p:nvSpPr>
          <p:cNvPr id="5" name="Footer Placeholder 4">
            <a:extLst>
              <a:ext uri="{FF2B5EF4-FFF2-40B4-BE49-F238E27FC236}">
                <a16:creationId xmlns:a16="http://schemas.microsoft.com/office/drawing/2014/main" id="{BE385A15-7E8B-01A9-927C-5655A07066D2}"/>
              </a:ext>
            </a:extLst>
          </p:cNvPr>
          <p:cNvSpPr>
            <a:spLocks noGrp="1"/>
          </p:cNvSpPr>
          <p:nvPr>
            <p:ph type="ftr" sz="quarter" idx="11"/>
          </p:nvPr>
        </p:nvSpPr>
        <p:spPr/>
        <p:txBody>
          <a:bodyPr/>
          <a:lstStyle/>
          <a:p>
            <a:r>
              <a:rPr lang="en-US"/>
              <a:t>CSE445 Machine Learning</a:t>
            </a:r>
          </a:p>
        </p:txBody>
      </p:sp>
      <p:sp>
        <p:nvSpPr>
          <p:cNvPr id="6" name="Slide Number Placeholder 5">
            <a:extLst>
              <a:ext uri="{FF2B5EF4-FFF2-40B4-BE49-F238E27FC236}">
                <a16:creationId xmlns:a16="http://schemas.microsoft.com/office/drawing/2014/main" id="{7E8D3DFA-2B27-BC65-59BF-B29EA1A362AD}"/>
              </a:ext>
            </a:extLst>
          </p:cNvPr>
          <p:cNvSpPr>
            <a:spLocks noGrp="1"/>
          </p:cNvSpPr>
          <p:nvPr>
            <p:ph type="sldNum" sz="quarter" idx="12"/>
          </p:nvPr>
        </p:nvSpPr>
        <p:spPr/>
        <p:txBody>
          <a:bodyPr/>
          <a:lstStyle/>
          <a:p>
            <a:fld id="{B645EB31-1C62-4062-9511-C82C6CC02C60}" type="slidenum">
              <a:rPr lang="en-US" smtClean="0"/>
              <a:t>‹#›</a:t>
            </a:fld>
            <a:endParaRPr lang="en-US"/>
          </a:p>
        </p:txBody>
      </p:sp>
    </p:spTree>
    <p:extLst>
      <p:ext uri="{BB962C8B-B14F-4D97-AF65-F5344CB8AC3E}">
        <p14:creationId xmlns:p14="http://schemas.microsoft.com/office/powerpoint/2010/main" val="394338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9CAD65-4AD5-02F3-7FA3-E760BBE79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2EEE9E-8A03-0343-4D11-0133E5C0B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760B93-A586-42A5-0F99-907C968479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F7581B-AB8F-4D43-BDE7-8F5E2E8E8856}" type="datetime1">
              <a:rPr lang="en-US" smtClean="0"/>
              <a:t>4/22/2026</a:t>
            </a:fld>
            <a:endParaRPr lang="en-US"/>
          </a:p>
        </p:txBody>
      </p:sp>
      <p:sp>
        <p:nvSpPr>
          <p:cNvPr id="5" name="Footer Placeholder 4">
            <a:extLst>
              <a:ext uri="{FF2B5EF4-FFF2-40B4-BE49-F238E27FC236}">
                <a16:creationId xmlns:a16="http://schemas.microsoft.com/office/drawing/2014/main" id="{B0C50782-3D97-A485-DC22-453A9166F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CSE445 Machine Learning</a:t>
            </a:r>
          </a:p>
        </p:txBody>
      </p:sp>
      <p:sp>
        <p:nvSpPr>
          <p:cNvPr id="6" name="Slide Number Placeholder 5">
            <a:extLst>
              <a:ext uri="{FF2B5EF4-FFF2-40B4-BE49-F238E27FC236}">
                <a16:creationId xmlns:a16="http://schemas.microsoft.com/office/drawing/2014/main" id="{510A4F32-3929-476D-213C-0F9E358D25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45EB31-1C62-4062-9511-C82C6CC02C60}" type="slidenum">
              <a:rPr lang="en-US" smtClean="0"/>
              <a:t>‹#›</a:t>
            </a:fld>
            <a:endParaRPr lang="en-US"/>
          </a:p>
        </p:txBody>
      </p:sp>
    </p:spTree>
    <p:extLst>
      <p:ext uri="{BB962C8B-B14F-4D97-AF65-F5344CB8AC3E}">
        <p14:creationId xmlns:p14="http://schemas.microsoft.com/office/powerpoint/2010/main" val="455481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00.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6000"/>
            <a:lum/>
            <a:extLst>
              <a:ext uri="{BEBA8EAE-BF5A-486C-A8C5-ECC9F3942E4B}">
                <a14:imgProps xmlns:a14="http://schemas.microsoft.com/office/drawing/2010/main">
                  <a14:imgLayer r:embed="rId4">
                    <a14:imgEffect>
                      <a14:artisticChalkSketch trans="43000"/>
                    </a14:imgEffect>
                  </a14:imgLayer>
                </a14:imgProps>
              </a:ext>
            </a:extLst>
          </a:blip>
          <a:srcRect/>
          <a:stretch>
            <a:fillRect l="2000" r="-14000"/>
          </a:stretch>
        </a:blipFill>
        <a:effectLst/>
      </p:bgPr>
    </p:bg>
    <p:spTree>
      <p:nvGrpSpPr>
        <p:cNvPr id="1" name=""/>
        <p:cNvGrpSpPr/>
        <p:nvPr/>
      </p:nvGrpSpPr>
      <p:grpSpPr>
        <a:xfrm>
          <a:off x="0" y="0"/>
          <a:ext cx="0" cy="0"/>
          <a:chOff x="0" y="0"/>
          <a:chExt cx="0" cy="0"/>
        </a:xfrm>
      </p:grpSpPr>
      <p:sp useBgFill="1">
        <p:nvSpPr>
          <p:cNvPr id="2078" name="Rectangle 2077">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E115A1-643A-7BF3-3A4B-2A7AF1AE9C09}"/>
              </a:ext>
            </a:extLst>
          </p:cNvPr>
          <p:cNvSpPr>
            <a:spLocks noGrp="1"/>
          </p:cNvSpPr>
          <p:nvPr>
            <p:ph type="ctrTitle"/>
          </p:nvPr>
        </p:nvSpPr>
        <p:spPr>
          <a:xfrm>
            <a:off x="952228" y="743447"/>
            <a:ext cx="4552707" cy="3692028"/>
          </a:xfrm>
          <a:noFill/>
        </p:spPr>
        <p:txBody>
          <a:bodyPr>
            <a:normAutofit/>
          </a:bodyPr>
          <a:lstStyle/>
          <a:p>
            <a:pPr algn="l"/>
            <a:r>
              <a:rPr lang="en-US" sz="5200" b="1" dirty="0"/>
              <a:t>Lecture 15: </a:t>
            </a:r>
            <a:br>
              <a:rPr lang="en-US" sz="5200" b="1" dirty="0"/>
            </a:br>
            <a:r>
              <a:rPr lang="en-US" sz="5200" b="1" dirty="0"/>
              <a:t>RNN &amp; LSTM</a:t>
            </a:r>
          </a:p>
        </p:txBody>
      </p:sp>
      <p:sp>
        <p:nvSpPr>
          <p:cNvPr id="3" name="Subtitle 2">
            <a:extLst>
              <a:ext uri="{FF2B5EF4-FFF2-40B4-BE49-F238E27FC236}">
                <a16:creationId xmlns:a16="http://schemas.microsoft.com/office/drawing/2014/main" id="{9A31FF77-E09E-52C0-CD84-03CBD6D988AD}"/>
              </a:ext>
            </a:extLst>
          </p:cNvPr>
          <p:cNvSpPr>
            <a:spLocks noGrp="1"/>
          </p:cNvSpPr>
          <p:nvPr>
            <p:ph type="subTitle" idx="1"/>
          </p:nvPr>
        </p:nvSpPr>
        <p:spPr>
          <a:xfrm>
            <a:off x="952229" y="4629234"/>
            <a:ext cx="3973386" cy="1485319"/>
          </a:xfrm>
          <a:noFill/>
        </p:spPr>
        <p:txBody>
          <a:bodyPr>
            <a:normAutofit/>
          </a:bodyPr>
          <a:lstStyle/>
          <a:p>
            <a:pPr algn="l"/>
            <a:r>
              <a:rPr lang="en-US" b="1" i="1" dirty="0"/>
              <a:t>Dr. Jilan Samiuddin (JSA)</a:t>
            </a:r>
          </a:p>
          <a:p>
            <a:pPr algn="l"/>
            <a:r>
              <a:rPr lang="en-US" dirty="0"/>
              <a:t>Assistant Professor</a:t>
            </a:r>
          </a:p>
          <a:p>
            <a:pPr algn="l"/>
            <a:r>
              <a:rPr lang="en-US" dirty="0"/>
              <a:t>North South University</a:t>
            </a:r>
          </a:p>
        </p:txBody>
      </p:sp>
      <p:sp>
        <p:nvSpPr>
          <p:cNvPr id="4" name="TextBox 3">
            <a:extLst>
              <a:ext uri="{FF2B5EF4-FFF2-40B4-BE49-F238E27FC236}">
                <a16:creationId xmlns:a16="http://schemas.microsoft.com/office/drawing/2014/main" id="{935C301A-7024-8616-AFF2-7263B1346FFF}"/>
              </a:ext>
            </a:extLst>
          </p:cNvPr>
          <p:cNvSpPr txBox="1"/>
          <p:nvPr/>
        </p:nvSpPr>
        <p:spPr>
          <a:xfrm>
            <a:off x="952227" y="1199214"/>
            <a:ext cx="2610010" cy="369332"/>
          </a:xfrm>
          <a:prstGeom prst="rect">
            <a:avLst/>
          </a:prstGeom>
          <a:noFill/>
        </p:spPr>
        <p:txBody>
          <a:bodyPr wrap="none" rtlCol="0">
            <a:spAutoFit/>
          </a:bodyPr>
          <a:lstStyle/>
          <a:p>
            <a:r>
              <a:rPr lang="en-US" dirty="0"/>
              <a:t>CSE445 Machine Learning</a:t>
            </a:r>
          </a:p>
        </p:txBody>
      </p:sp>
      <p:pic>
        <p:nvPicPr>
          <p:cNvPr id="5" name="Picture 4">
            <a:extLst>
              <a:ext uri="{FF2B5EF4-FFF2-40B4-BE49-F238E27FC236}">
                <a16:creationId xmlns:a16="http://schemas.microsoft.com/office/drawing/2014/main" id="{B31CA6BF-0DE8-9E57-6E92-74A6BC63A17A}"/>
              </a:ext>
            </a:extLst>
          </p:cNvPr>
          <p:cNvPicPr>
            <a:picLocks noChangeAspect="1"/>
          </p:cNvPicPr>
          <p:nvPr/>
        </p:nvPicPr>
        <p:blipFill>
          <a:blip r:embed="rId5">
            <a:alphaModFix amt="18000"/>
          </a:blip>
          <a:stretch>
            <a:fillRect/>
          </a:stretch>
        </p:blipFill>
        <p:spPr>
          <a:xfrm>
            <a:off x="392975" y="260715"/>
            <a:ext cx="559252" cy="677784"/>
          </a:xfrm>
          <a:prstGeom prst="rect">
            <a:avLst/>
          </a:prstGeom>
        </p:spPr>
      </p:pic>
    </p:spTree>
    <p:extLst>
      <p:ext uri="{BB962C8B-B14F-4D97-AF65-F5344CB8AC3E}">
        <p14:creationId xmlns:p14="http://schemas.microsoft.com/office/powerpoint/2010/main" val="896640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D7B2-5AC7-06A4-EC6E-C98361C94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90EBF-1D62-D059-41A9-07C69DA72E7D}"/>
              </a:ext>
            </a:extLst>
          </p:cNvPr>
          <p:cNvSpPr>
            <a:spLocks noGrp="1"/>
          </p:cNvSpPr>
          <p:nvPr>
            <p:ph type="title"/>
          </p:nvPr>
        </p:nvSpPr>
        <p:spPr/>
        <p:txBody>
          <a:bodyPr/>
          <a:lstStyle/>
          <a:p>
            <a:pPr fontAlgn="base"/>
            <a:r>
              <a:rPr lang="en-US" b="1" dirty="0"/>
              <a:t>Introduction: Process Sequences</a:t>
            </a:r>
          </a:p>
        </p:txBody>
      </p:sp>
      <p:pic>
        <p:nvPicPr>
          <p:cNvPr id="6" name="Content Placeholder 5">
            <a:extLst>
              <a:ext uri="{FF2B5EF4-FFF2-40B4-BE49-F238E27FC236}">
                <a16:creationId xmlns:a16="http://schemas.microsoft.com/office/drawing/2014/main" id="{F361047C-A6C7-2A9A-8101-B6AABB39A4E5}"/>
              </a:ext>
            </a:extLst>
          </p:cNvPr>
          <p:cNvPicPr>
            <a:picLocks noGrp="1" noChangeAspect="1"/>
          </p:cNvPicPr>
          <p:nvPr>
            <p:ph idx="1"/>
          </p:nvPr>
        </p:nvPicPr>
        <p:blipFill>
          <a:blip r:embed="rId2"/>
          <a:stretch>
            <a:fillRect/>
          </a:stretch>
        </p:blipFill>
        <p:spPr>
          <a:xfrm>
            <a:off x="1730146" y="1690688"/>
            <a:ext cx="8884107" cy="2806844"/>
          </a:xfrm>
          <a:prstGeom prst="rect">
            <a:avLst/>
          </a:prstGeom>
        </p:spPr>
      </p:pic>
      <p:cxnSp>
        <p:nvCxnSpPr>
          <p:cNvPr id="4" name="Straight Connector 3">
            <a:extLst>
              <a:ext uri="{FF2B5EF4-FFF2-40B4-BE49-F238E27FC236}">
                <a16:creationId xmlns:a16="http://schemas.microsoft.com/office/drawing/2014/main" id="{A32AF9C3-86BF-C1E8-076B-A95B1586665C}"/>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5516F021-D75C-363D-3B08-54BCA73B10BF}"/>
              </a:ext>
            </a:extLst>
          </p:cNvPr>
          <p:cNvSpPr>
            <a:spLocks noGrp="1"/>
          </p:cNvSpPr>
          <p:nvPr>
            <p:ph type="sldNum" sz="quarter" idx="12"/>
          </p:nvPr>
        </p:nvSpPr>
        <p:spPr/>
        <p:txBody>
          <a:bodyPr/>
          <a:lstStyle/>
          <a:p>
            <a:fld id="{B645EB31-1C62-4062-9511-C82C6CC02C60}" type="slidenum">
              <a:rPr lang="en-US" smtClean="0"/>
              <a:t>2</a:t>
            </a:fld>
            <a:endParaRPr lang="en-US" dirty="0"/>
          </a:p>
        </p:txBody>
      </p:sp>
      <p:pic>
        <p:nvPicPr>
          <p:cNvPr id="7" name="Picture 6">
            <a:extLst>
              <a:ext uri="{FF2B5EF4-FFF2-40B4-BE49-F238E27FC236}">
                <a16:creationId xmlns:a16="http://schemas.microsoft.com/office/drawing/2014/main" id="{1AA86381-B03F-CD2F-4DA9-BF885FD3C631}"/>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11" name="TextBox 10">
            <a:extLst>
              <a:ext uri="{FF2B5EF4-FFF2-40B4-BE49-F238E27FC236}">
                <a16:creationId xmlns:a16="http://schemas.microsoft.com/office/drawing/2014/main" id="{07EDACDD-8565-17BE-B826-FE7B34343A3C}"/>
              </a:ext>
            </a:extLst>
          </p:cNvPr>
          <p:cNvSpPr txBox="1"/>
          <p:nvPr/>
        </p:nvSpPr>
        <p:spPr>
          <a:xfrm>
            <a:off x="3123577" y="4544064"/>
            <a:ext cx="1500889" cy="1246495"/>
          </a:xfrm>
          <a:prstGeom prst="rect">
            <a:avLst/>
          </a:prstGeom>
          <a:noFill/>
        </p:spPr>
        <p:txBody>
          <a:bodyPr wrap="square">
            <a:spAutoFit/>
          </a:bodyPr>
          <a:lstStyle/>
          <a:p>
            <a:r>
              <a:rPr lang="en-US" sz="1500" dirty="0"/>
              <a:t>e.g. Image Captioning;</a:t>
            </a:r>
          </a:p>
          <a:p>
            <a:r>
              <a:rPr lang="en-US" sz="1500" dirty="0"/>
              <a:t>Image -&gt; sequence of words</a:t>
            </a:r>
          </a:p>
        </p:txBody>
      </p:sp>
      <p:sp>
        <p:nvSpPr>
          <p:cNvPr id="12" name="TextBox 11">
            <a:extLst>
              <a:ext uri="{FF2B5EF4-FFF2-40B4-BE49-F238E27FC236}">
                <a16:creationId xmlns:a16="http://schemas.microsoft.com/office/drawing/2014/main" id="{BFA5569C-7ED7-C701-4998-FFD0C246C4E4}"/>
              </a:ext>
            </a:extLst>
          </p:cNvPr>
          <p:cNvSpPr txBox="1"/>
          <p:nvPr/>
        </p:nvSpPr>
        <p:spPr>
          <a:xfrm>
            <a:off x="4879924" y="4544063"/>
            <a:ext cx="1500889" cy="1323439"/>
          </a:xfrm>
          <a:prstGeom prst="rect">
            <a:avLst/>
          </a:prstGeom>
          <a:noFill/>
        </p:spPr>
        <p:txBody>
          <a:bodyPr wrap="square">
            <a:spAutoFit/>
          </a:bodyPr>
          <a:lstStyle/>
          <a:p>
            <a:r>
              <a:rPr lang="en-US" sz="1500" dirty="0"/>
              <a:t>e.g. </a:t>
            </a:r>
            <a:r>
              <a:rPr lang="en-US" sz="1600" dirty="0"/>
              <a:t>action prediction sequence of video frames </a:t>
            </a:r>
            <a:br>
              <a:rPr lang="en-US" sz="1600" dirty="0"/>
            </a:br>
            <a:r>
              <a:rPr lang="en-US" sz="1600" dirty="0"/>
              <a:t>-&gt; action class</a:t>
            </a:r>
            <a:endParaRPr lang="en-US" sz="1500" dirty="0"/>
          </a:p>
        </p:txBody>
      </p:sp>
      <p:sp>
        <p:nvSpPr>
          <p:cNvPr id="13" name="TextBox 12">
            <a:extLst>
              <a:ext uri="{FF2B5EF4-FFF2-40B4-BE49-F238E27FC236}">
                <a16:creationId xmlns:a16="http://schemas.microsoft.com/office/drawing/2014/main" id="{F5D7670E-DEBC-4B2A-5863-BEDDEC1D9248}"/>
              </a:ext>
            </a:extLst>
          </p:cNvPr>
          <p:cNvSpPr txBox="1"/>
          <p:nvPr/>
        </p:nvSpPr>
        <p:spPr>
          <a:xfrm>
            <a:off x="6508856" y="4544063"/>
            <a:ext cx="2101744" cy="830997"/>
          </a:xfrm>
          <a:prstGeom prst="rect">
            <a:avLst/>
          </a:prstGeom>
          <a:noFill/>
        </p:spPr>
        <p:txBody>
          <a:bodyPr wrap="square">
            <a:spAutoFit/>
          </a:bodyPr>
          <a:lstStyle/>
          <a:p>
            <a:r>
              <a:rPr lang="en-US" sz="1500" dirty="0"/>
              <a:t>e.g. </a:t>
            </a:r>
            <a:r>
              <a:rPr lang="en-US" sz="1600" dirty="0"/>
              <a:t>Video Captioning Sequence of video frames -&gt; caption</a:t>
            </a:r>
            <a:endParaRPr lang="en-US" sz="1500" dirty="0"/>
          </a:p>
        </p:txBody>
      </p:sp>
      <p:sp>
        <p:nvSpPr>
          <p:cNvPr id="15" name="TextBox 14">
            <a:extLst>
              <a:ext uri="{FF2B5EF4-FFF2-40B4-BE49-F238E27FC236}">
                <a16:creationId xmlns:a16="http://schemas.microsoft.com/office/drawing/2014/main" id="{0CCDDB37-BF78-19D4-53DD-CE231B931F58}"/>
              </a:ext>
            </a:extLst>
          </p:cNvPr>
          <p:cNvSpPr txBox="1"/>
          <p:nvPr/>
        </p:nvSpPr>
        <p:spPr>
          <a:xfrm>
            <a:off x="8910996" y="4497896"/>
            <a:ext cx="1703257" cy="923330"/>
          </a:xfrm>
          <a:prstGeom prst="rect">
            <a:avLst/>
          </a:prstGeom>
          <a:noFill/>
        </p:spPr>
        <p:txBody>
          <a:bodyPr wrap="square">
            <a:spAutoFit/>
          </a:bodyPr>
          <a:lstStyle/>
          <a:p>
            <a:r>
              <a:rPr lang="en-US" dirty="0"/>
              <a:t>e.g. Video classification on frame level</a:t>
            </a:r>
          </a:p>
        </p:txBody>
      </p:sp>
    </p:spTree>
    <p:extLst>
      <p:ext uri="{BB962C8B-B14F-4D97-AF65-F5344CB8AC3E}">
        <p14:creationId xmlns:p14="http://schemas.microsoft.com/office/powerpoint/2010/main" val="915298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9998-4B68-FE83-0228-E29394BAA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292DE-C603-976D-6676-ED41CEF2CA4D}"/>
              </a:ext>
            </a:extLst>
          </p:cNvPr>
          <p:cNvSpPr>
            <a:spLocks noGrp="1"/>
          </p:cNvSpPr>
          <p:nvPr>
            <p:ph type="title"/>
          </p:nvPr>
        </p:nvSpPr>
        <p:spPr/>
        <p:txBody>
          <a:bodyPr/>
          <a:lstStyle/>
          <a:p>
            <a:pPr fontAlgn="base"/>
            <a:r>
              <a:rPr lang="en-US" b="1" dirty="0"/>
              <a:t>Recurrent Neural Networks (RNNs)</a:t>
            </a:r>
          </a:p>
        </p:txBody>
      </p:sp>
      <p:cxnSp>
        <p:nvCxnSpPr>
          <p:cNvPr id="4" name="Straight Connector 3">
            <a:extLst>
              <a:ext uri="{FF2B5EF4-FFF2-40B4-BE49-F238E27FC236}">
                <a16:creationId xmlns:a16="http://schemas.microsoft.com/office/drawing/2014/main" id="{9764E54B-375D-2A40-BEF0-9D90791E5167}"/>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C432A1F2-CA56-5040-5949-FFCAED3B30C9}"/>
              </a:ext>
            </a:extLst>
          </p:cNvPr>
          <p:cNvSpPr>
            <a:spLocks noGrp="1"/>
          </p:cNvSpPr>
          <p:nvPr>
            <p:ph type="sldNum" sz="quarter" idx="12"/>
          </p:nvPr>
        </p:nvSpPr>
        <p:spPr/>
        <p:txBody>
          <a:bodyPr/>
          <a:lstStyle/>
          <a:p>
            <a:fld id="{B645EB31-1C62-4062-9511-C82C6CC02C60}" type="slidenum">
              <a:rPr lang="en-US" smtClean="0"/>
              <a:t>3</a:t>
            </a:fld>
            <a:endParaRPr lang="en-US" dirty="0"/>
          </a:p>
        </p:txBody>
      </p:sp>
      <p:pic>
        <p:nvPicPr>
          <p:cNvPr id="7" name="Picture 6">
            <a:extLst>
              <a:ext uri="{FF2B5EF4-FFF2-40B4-BE49-F238E27FC236}">
                <a16:creationId xmlns:a16="http://schemas.microsoft.com/office/drawing/2014/main" id="{4B897167-D576-79D0-69B0-CABBFB704CF5}"/>
              </a:ext>
            </a:extLst>
          </p:cNvPr>
          <p:cNvPicPr>
            <a:picLocks noChangeAspect="1"/>
          </p:cNvPicPr>
          <p:nvPr/>
        </p:nvPicPr>
        <p:blipFill>
          <a:blip r:embed="rId2">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E2B81B21-F18E-EF28-D29F-E42EBD974384}"/>
              </a:ext>
            </a:extLst>
          </p:cNvPr>
          <p:cNvSpPr>
            <a:spLocks noGrp="1"/>
          </p:cNvSpPr>
          <p:nvPr>
            <p:ph idx="1"/>
          </p:nvPr>
        </p:nvSpPr>
        <p:spPr>
          <a:xfrm>
            <a:off x="838200" y="1825625"/>
            <a:ext cx="10515600" cy="4667250"/>
          </a:xfrm>
        </p:spPr>
        <p:txBody>
          <a:bodyPr>
            <a:normAutofit fontScale="92500" lnSpcReduction="10000"/>
          </a:bodyPr>
          <a:lstStyle/>
          <a:p>
            <a:pPr algn="just"/>
            <a:r>
              <a:rPr lang="en-US" b="1" dirty="0"/>
              <a:t>How RNNs Differ from Regular Neural Networks</a:t>
            </a:r>
          </a:p>
          <a:p>
            <a:pPr lvl="1" algn="just"/>
            <a:r>
              <a:rPr lang="en-US" dirty="0"/>
              <a:t>Standard neural networks process data </a:t>
            </a:r>
            <a:r>
              <a:rPr lang="en-US" b="1" dirty="0"/>
              <a:t>only forward</a:t>
            </a:r>
            <a:r>
              <a:rPr lang="en-US" dirty="0"/>
              <a:t>, from input → output.</a:t>
            </a:r>
          </a:p>
          <a:p>
            <a:pPr lvl="1" algn="just"/>
            <a:r>
              <a:rPr lang="en-US" dirty="0"/>
              <a:t>Recurrent Neural Networks (RNNs) introduce </a:t>
            </a:r>
            <a:r>
              <a:rPr lang="en-US" b="1" dirty="0"/>
              <a:t>feedback connections</a:t>
            </a:r>
            <a:r>
              <a:rPr lang="en-US" dirty="0"/>
              <a:t>, allowing information to cycle back into the network.</a:t>
            </a:r>
          </a:p>
          <a:p>
            <a:pPr lvl="1" algn="just"/>
            <a:r>
              <a:rPr lang="en-US" dirty="0"/>
              <a:t>At each time step, an RNN takes </a:t>
            </a:r>
            <a:r>
              <a:rPr lang="en-US" b="1" dirty="0"/>
              <a:t>current input + hidden state (memory)</a:t>
            </a:r>
            <a:r>
              <a:rPr lang="en-US" dirty="0"/>
              <a:t> from the previous step.</a:t>
            </a:r>
          </a:p>
          <a:p>
            <a:pPr algn="just"/>
            <a:r>
              <a:rPr lang="en-US" b="1" dirty="0"/>
              <a:t>Intuition (Example: Predicting the Next Word)</a:t>
            </a:r>
          </a:p>
          <a:p>
            <a:pPr lvl="1" algn="just"/>
            <a:r>
              <a:rPr lang="en-US" dirty="0"/>
              <a:t>When reading a sentence, you rely on </a:t>
            </a:r>
            <a:r>
              <a:rPr lang="en-US" b="1" dirty="0"/>
              <a:t>previous words</a:t>
            </a:r>
            <a:r>
              <a:rPr lang="en-US" dirty="0"/>
              <a:t> to predict the next one.</a:t>
            </a:r>
          </a:p>
          <a:p>
            <a:pPr lvl="1" algn="just"/>
            <a:r>
              <a:rPr lang="en-US" dirty="0"/>
              <a:t>RNNs mimic this behavior by </a:t>
            </a:r>
            <a:r>
              <a:rPr lang="en-US" b="1" dirty="0"/>
              <a:t>“remembering” past inputs</a:t>
            </a:r>
            <a:r>
              <a:rPr lang="en-US" dirty="0"/>
              <a:t> through their hidden state.</a:t>
            </a:r>
          </a:p>
          <a:p>
            <a:pPr lvl="1" algn="just"/>
            <a:r>
              <a:rPr lang="en-US" dirty="0"/>
              <a:t>The output of one step becomes part of the input for the next step, enabling </a:t>
            </a:r>
            <a:r>
              <a:rPr lang="en-US" b="1" dirty="0"/>
              <a:t>context-aware predictions</a:t>
            </a:r>
            <a:r>
              <a:rPr lang="en-US" dirty="0"/>
              <a:t>.</a:t>
            </a:r>
          </a:p>
          <a:p>
            <a:pPr lvl="1" algn="just"/>
            <a:r>
              <a:rPr lang="en-US" dirty="0"/>
              <a:t>This ability to use information from earlier steps helps RNNs understand </a:t>
            </a:r>
            <a:r>
              <a:rPr lang="en-US" b="1" dirty="0"/>
              <a:t>sequence structure and context</a:t>
            </a:r>
            <a:r>
              <a:rPr lang="en-US" dirty="0"/>
              <a:t>.</a:t>
            </a:r>
          </a:p>
        </p:txBody>
      </p:sp>
    </p:spTree>
    <p:extLst>
      <p:ext uri="{BB962C8B-B14F-4D97-AF65-F5344CB8AC3E}">
        <p14:creationId xmlns:p14="http://schemas.microsoft.com/office/powerpoint/2010/main" val="3534273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D579-F449-AE0A-A2B5-99849CAD4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BB7A66-3DD4-609E-5580-DCD0CAD6638E}"/>
              </a:ext>
            </a:extLst>
          </p:cNvPr>
          <p:cNvSpPr>
            <a:spLocks noGrp="1"/>
          </p:cNvSpPr>
          <p:nvPr>
            <p:ph type="title"/>
          </p:nvPr>
        </p:nvSpPr>
        <p:spPr/>
        <p:txBody>
          <a:bodyPr/>
          <a:lstStyle/>
          <a:p>
            <a:pPr fontAlgn="base"/>
            <a:r>
              <a:rPr lang="en-US" b="1" dirty="0"/>
              <a:t>Recurrent Neurons in RNNs</a:t>
            </a:r>
          </a:p>
        </p:txBody>
      </p:sp>
      <p:cxnSp>
        <p:nvCxnSpPr>
          <p:cNvPr id="4" name="Straight Connector 3">
            <a:extLst>
              <a:ext uri="{FF2B5EF4-FFF2-40B4-BE49-F238E27FC236}">
                <a16:creationId xmlns:a16="http://schemas.microsoft.com/office/drawing/2014/main" id="{9A06F5E8-89B4-D843-C36D-E9DD6D9B5A5C}"/>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FFF66D80-1E1C-DA12-72C6-9B314B3A53FF}"/>
              </a:ext>
            </a:extLst>
          </p:cNvPr>
          <p:cNvSpPr>
            <a:spLocks noGrp="1"/>
          </p:cNvSpPr>
          <p:nvPr>
            <p:ph type="sldNum" sz="quarter" idx="12"/>
          </p:nvPr>
        </p:nvSpPr>
        <p:spPr/>
        <p:txBody>
          <a:bodyPr/>
          <a:lstStyle/>
          <a:p>
            <a:fld id="{B645EB31-1C62-4062-9511-C82C6CC02C60}" type="slidenum">
              <a:rPr lang="en-US" smtClean="0"/>
              <a:t>4</a:t>
            </a:fld>
            <a:endParaRPr lang="en-US" dirty="0"/>
          </a:p>
        </p:txBody>
      </p:sp>
      <p:pic>
        <p:nvPicPr>
          <p:cNvPr id="7" name="Picture 6">
            <a:extLst>
              <a:ext uri="{FF2B5EF4-FFF2-40B4-BE49-F238E27FC236}">
                <a16:creationId xmlns:a16="http://schemas.microsoft.com/office/drawing/2014/main" id="{12E1E7C1-9BBC-582F-BBC4-3F64D6196141}"/>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5FA178E5-2AE5-2EF6-A38A-151701061A08}"/>
              </a:ext>
            </a:extLst>
          </p:cNvPr>
          <p:cNvSpPr>
            <a:spLocks noGrp="1"/>
          </p:cNvSpPr>
          <p:nvPr>
            <p:ph idx="1"/>
          </p:nvPr>
        </p:nvSpPr>
        <p:spPr>
          <a:xfrm>
            <a:off x="838200" y="1825625"/>
            <a:ext cx="10515600" cy="4667250"/>
          </a:xfrm>
        </p:spPr>
        <p:txBody>
          <a:bodyPr>
            <a:normAutofit/>
          </a:bodyPr>
          <a:lstStyle/>
          <a:p>
            <a:pPr algn="just"/>
            <a:r>
              <a:rPr lang="en-US" dirty="0"/>
              <a:t>The core building block of an RNN is the </a:t>
            </a:r>
            <a:r>
              <a:rPr lang="en-US" b="1" u="sng" dirty="0"/>
              <a:t>Recurrent Unit</a:t>
            </a:r>
            <a:r>
              <a:rPr lang="en-US" dirty="0"/>
              <a:t>.</a:t>
            </a:r>
          </a:p>
          <a:p>
            <a:pPr algn="just"/>
            <a:r>
              <a:rPr lang="en-US" dirty="0"/>
              <a:t>It maintains a hidden state that stores information from earlier inputs in the sequence.</a:t>
            </a:r>
          </a:p>
          <a:p>
            <a:pPr algn="just"/>
            <a:r>
              <a:rPr lang="en-US" dirty="0"/>
              <a:t>By feeding this hidden state back at each time step, the unit can retain and use past information, enabling the model to capture temporal dependencies.</a:t>
            </a:r>
          </a:p>
        </p:txBody>
      </p:sp>
      <p:pic>
        <p:nvPicPr>
          <p:cNvPr id="1028" name="Picture 4" descr="recurrent-neuron">
            <a:extLst>
              <a:ext uri="{FF2B5EF4-FFF2-40B4-BE49-F238E27FC236}">
                <a16:creationId xmlns:a16="http://schemas.microsoft.com/office/drawing/2014/main" id="{7663AB6E-CE96-574C-404F-09F6509170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3255" y="4521487"/>
            <a:ext cx="1685925" cy="1905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22E5A1A-505E-EC44-5F89-FBF5FE914D71}"/>
              </a:ext>
            </a:extLst>
          </p:cNvPr>
          <p:cNvSpPr txBox="1"/>
          <p:nvPr/>
        </p:nvSpPr>
        <p:spPr>
          <a:xfrm>
            <a:off x="4691922" y="6582975"/>
            <a:ext cx="2387513" cy="276999"/>
          </a:xfrm>
          <a:prstGeom prst="rect">
            <a:avLst/>
          </a:prstGeom>
          <a:noFill/>
        </p:spPr>
        <p:txBody>
          <a:bodyPr wrap="none" rtlCol="0">
            <a:spAutoFit/>
          </a:bodyPr>
          <a:lstStyle/>
          <a:p>
            <a:r>
              <a:rPr lang="en-US" sz="1200" dirty="0"/>
              <a:t>Image credit: GeeksForGeeks.org</a:t>
            </a:r>
          </a:p>
        </p:txBody>
      </p:sp>
    </p:spTree>
    <p:extLst>
      <p:ext uri="{BB962C8B-B14F-4D97-AF65-F5344CB8AC3E}">
        <p14:creationId xmlns:p14="http://schemas.microsoft.com/office/powerpoint/2010/main" val="612477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308E1-99D8-9799-C26A-58D66E6951E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03E39CB-4DEC-FC30-CC4B-96512BBE261F}"/>
              </a:ext>
            </a:extLst>
          </p:cNvPr>
          <p:cNvPicPr>
            <a:picLocks noChangeAspect="1"/>
          </p:cNvPicPr>
          <p:nvPr/>
        </p:nvPicPr>
        <p:blipFill>
          <a:blip r:embed="rId3"/>
          <a:stretch>
            <a:fillRect/>
          </a:stretch>
        </p:blipFill>
        <p:spPr>
          <a:xfrm>
            <a:off x="3465058" y="4207363"/>
            <a:ext cx="4660300" cy="2408173"/>
          </a:xfrm>
          <a:prstGeom prst="rect">
            <a:avLst/>
          </a:prstGeom>
        </p:spPr>
      </p:pic>
      <p:sp>
        <p:nvSpPr>
          <p:cNvPr id="2" name="Title 1">
            <a:extLst>
              <a:ext uri="{FF2B5EF4-FFF2-40B4-BE49-F238E27FC236}">
                <a16:creationId xmlns:a16="http://schemas.microsoft.com/office/drawing/2014/main" id="{C66D2394-58BD-E4CC-D8BD-EFC523FEEE11}"/>
              </a:ext>
            </a:extLst>
          </p:cNvPr>
          <p:cNvSpPr>
            <a:spLocks noGrp="1"/>
          </p:cNvSpPr>
          <p:nvPr>
            <p:ph type="title"/>
          </p:nvPr>
        </p:nvSpPr>
        <p:spPr/>
        <p:txBody>
          <a:bodyPr/>
          <a:lstStyle/>
          <a:p>
            <a:pPr fontAlgn="base"/>
            <a:r>
              <a:rPr lang="en-US" b="1" dirty="0"/>
              <a:t>Unrolled RNN</a:t>
            </a:r>
          </a:p>
        </p:txBody>
      </p:sp>
      <p:cxnSp>
        <p:nvCxnSpPr>
          <p:cNvPr id="4" name="Straight Connector 3">
            <a:extLst>
              <a:ext uri="{FF2B5EF4-FFF2-40B4-BE49-F238E27FC236}">
                <a16:creationId xmlns:a16="http://schemas.microsoft.com/office/drawing/2014/main" id="{ABD588F8-B5EB-E6B3-5B33-0CEA38A3CA85}"/>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9301F102-1FB0-F15F-6323-3FB48400397E}"/>
              </a:ext>
            </a:extLst>
          </p:cNvPr>
          <p:cNvSpPr>
            <a:spLocks noGrp="1"/>
          </p:cNvSpPr>
          <p:nvPr>
            <p:ph type="sldNum" sz="quarter" idx="12"/>
          </p:nvPr>
        </p:nvSpPr>
        <p:spPr/>
        <p:txBody>
          <a:bodyPr/>
          <a:lstStyle/>
          <a:p>
            <a:fld id="{B645EB31-1C62-4062-9511-C82C6CC02C60}" type="slidenum">
              <a:rPr lang="en-US" smtClean="0"/>
              <a:t>5</a:t>
            </a:fld>
            <a:endParaRPr lang="en-US" dirty="0"/>
          </a:p>
        </p:txBody>
      </p:sp>
      <p:pic>
        <p:nvPicPr>
          <p:cNvPr id="7" name="Picture 6">
            <a:extLst>
              <a:ext uri="{FF2B5EF4-FFF2-40B4-BE49-F238E27FC236}">
                <a16:creationId xmlns:a16="http://schemas.microsoft.com/office/drawing/2014/main" id="{8BE978A1-970F-96C2-EA6C-DF4AB6A144F5}"/>
              </a:ext>
            </a:extLst>
          </p:cNvPr>
          <p:cNvPicPr>
            <a:picLocks noChangeAspect="1"/>
          </p:cNvPicPr>
          <p:nvPr/>
        </p:nvPicPr>
        <p:blipFill>
          <a:blip r:embed="rId4">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3E4BF3B6-A737-F4C9-3613-B048529F57D7}"/>
              </a:ext>
            </a:extLst>
          </p:cNvPr>
          <p:cNvSpPr>
            <a:spLocks noGrp="1"/>
          </p:cNvSpPr>
          <p:nvPr>
            <p:ph idx="1"/>
          </p:nvPr>
        </p:nvSpPr>
        <p:spPr>
          <a:xfrm>
            <a:off x="838200" y="1825625"/>
            <a:ext cx="10515600" cy="2695862"/>
          </a:xfrm>
        </p:spPr>
        <p:txBody>
          <a:bodyPr>
            <a:normAutofit fontScale="85000" lnSpcReduction="20000"/>
          </a:bodyPr>
          <a:lstStyle/>
          <a:p>
            <a:pPr algn="just"/>
            <a:r>
              <a:rPr lang="en-US" dirty="0"/>
              <a:t>Unfolding expands the recurrent structure across time steps, showing each step as a separate copy of the network.</a:t>
            </a:r>
          </a:p>
          <a:p>
            <a:pPr algn="just"/>
            <a:r>
              <a:rPr lang="en-US" dirty="0"/>
              <a:t>This representation illustrates how information flows from one time step to the next.</a:t>
            </a:r>
          </a:p>
          <a:p>
            <a:pPr algn="just"/>
            <a:r>
              <a:rPr lang="en-US" dirty="0"/>
              <a:t>Unrolling allows </a:t>
            </a:r>
            <a:r>
              <a:rPr lang="en-US" b="1" u="sng" dirty="0"/>
              <a:t>Backpropagation Through Time</a:t>
            </a:r>
            <a:r>
              <a:rPr lang="en-US" dirty="0"/>
              <a:t> (BPTT), where errors are propagated across all time steps.</a:t>
            </a:r>
          </a:p>
          <a:p>
            <a:pPr algn="just"/>
            <a:r>
              <a:rPr lang="en-US" dirty="0"/>
              <a:t>BPTT updates the weights using information from the entire sequence, helping the RNN learn temporal dependencies.</a:t>
            </a:r>
          </a:p>
        </p:txBody>
      </p:sp>
      <p:sp>
        <p:nvSpPr>
          <p:cNvPr id="9" name="TextBox 8">
            <a:extLst>
              <a:ext uri="{FF2B5EF4-FFF2-40B4-BE49-F238E27FC236}">
                <a16:creationId xmlns:a16="http://schemas.microsoft.com/office/drawing/2014/main" id="{B3EC42A6-8523-7C50-7F85-DED29C076209}"/>
              </a:ext>
            </a:extLst>
          </p:cNvPr>
          <p:cNvSpPr txBox="1"/>
          <p:nvPr/>
        </p:nvSpPr>
        <p:spPr>
          <a:xfrm>
            <a:off x="5029197" y="6582975"/>
            <a:ext cx="1685205" cy="276999"/>
          </a:xfrm>
          <a:prstGeom prst="rect">
            <a:avLst/>
          </a:prstGeom>
          <a:noFill/>
        </p:spPr>
        <p:txBody>
          <a:bodyPr wrap="none" rtlCol="0">
            <a:spAutoFit/>
          </a:bodyPr>
          <a:lstStyle/>
          <a:p>
            <a:r>
              <a:rPr lang="en-US" sz="1200" dirty="0"/>
              <a:t>Image credit: Stanford</a:t>
            </a:r>
          </a:p>
        </p:txBody>
      </p:sp>
    </p:spTree>
    <p:extLst>
      <p:ext uri="{BB962C8B-B14F-4D97-AF65-F5344CB8AC3E}">
        <p14:creationId xmlns:p14="http://schemas.microsoft.com/office/powerpoint/2010/main" val="2338316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67502-2292-4C4E-8F8A-DD9F349BC48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DE12DE7-4C3C-9996-0835-AA869E108F65}"/>
              </a:ext>
            </a:extLst>
          </p:cNvPr>
          <p:cNvPicPr>
            <a:picLocks noChangeAspect="1"/>
          </p:cNvPicPr>
          <p:nvPr/>
        </p:nvPicPr>
        <p:blipFill>
          <a:blip r:embed="rId3"/>
          <a:stretch>
            <a:fillRect/>
          </a:stretch>
        </p:blipFill>
        <p:spPr>
          <a:xfrm>
            <a:off x="3465058" y="4207363"/>
            <a:ext cx="4660300" cy="2408173"/>
          </a:xfrm>
          <a:prstGeom prst="rect">
            <a:avLst/>
          </a:prstGeom>
        </p:spPr>
      </p:pic>
      <p:sp>
        <p:nvSpPr>
          <p:cNvPr id="2" name="Title 1">
            <a:extLst>
              <a:ext uri="{FF2B5EF4-FFF2-40B4-BE49-F238E27FC236}">
                <a16:creationId xmlns:a16="http://schemas.microsoft.com/office/drawing/2014/main" id="{16EF936D-8F86-191B-88DD-EEA20D9C4D3C}"/>
              </a:ext>
            </a:extLst>
          </p:cNvPr>
          <p:cNvSpPr>
            <a:spLocks noGrp="1"/>
          </p:cNvSpPr>
          <p:nvPr>
            <p:ph type="title"/>
          </p:nvPr>
        </p:nvSpPr>
        <p:spPr/>
        <p:txBody>
          <a:bodyPr/>
          <a:lstStyle/>
          <a:p>
            <a:pPr fontAlgn="base"/>
            <a:r>
              <a:rPr lang="en-US" b="1" dirty="0"/>
              <a:t>Unrolled RNN (contd.)</a:t>
            </a:r>
          </a:p>
        </p:txBody>
      </p:sp>
      <p:cxnSp>
        <p:nvCxnSpPr>
          <p:cNvPr id="4" name="Straight Connector 3">
            <a:extLst>
              <a:ext uri="{FF2B5EF4-FFF2-40B4-BE49-F238E27FC236}">
                <a16:creationId xmlns:a16="http://schemas.microsoft.com/office/drawing/2014/main" id="{452BEB28-9E67-7A1F-2092-077BA8DCB8D8}"/>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24B7D178-BF5A-10C1-7194-774090C8E8F7}"/>
              </a:ext>
            </a:extLst>
          </p:cNvPr>
          <p:cNvSpPr>
            <a:spLocks noGrp="1"/>
          </p:cNvSpPr>
          <p:nvPr>
            <p:ph type="sldNum" sz="quarter" idx="12"/>
          </p:nvPr>
        </p:nvSpPr>
        <p:spPr/>
        <p:txBody>
          <a:bodyPr/>
          <a:lstStyle/>
          <a:p>
            <a:fld id="{B645EB31-1C62-4062-9511-C82C6CC02C60}" type="slidenum">
              <a:rPr lang="en-US" smtClean="0"/>
              <a:t>6</a:t>
            </a:fld>
            <a:endParaRPr lang="en-US" dirty="0"/>
          </a:p>
        </p:txBody>
      </p:sp>
      <p:pic>
        <p:nvPicPr>
          <p:cNvPr id="7" name="Picture 6">
            <a:extLst>
              <a:ext uri="{FF2B5EF4-FFF2-40B4-BE49-F238E27FC236}">
                <a16:creationId xmlns:a16="http://schemas.microsoft.com/office/drawing/2014/main" id="{AFC4D5C4-F771-5960-6A18-482C027F4C4A}"/>
              </a:ext>
            </a:extLst>
          </p:cNvPr>
          <p:cNvPicPr>
            <a:picLocks noChangeAspect="1"/>
          </p:cNvPicPr>
          <p:nvPr/>
        </p:nvPicPr>
        <p:blipFill>
          <a:blip r:embed="rId4">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358CEF7C-18A7-FFC7-646F-E72BD1218EF3}"/>
                  </a:ext>
                </a:extLst>
              </p:cNvPr>
              <p:cNvSpPr>
                <a:spLocks noGrp="1"/>
              </p:cNvSpPr>
              <p:nvPr>
                <p:ph idx="1"/>
              </p:nvPr>
            </p:nvSpPr>
            <p:spPr>
              <a:xfrm>
                <a:off x="838200" y="1825625"/>
                <a:ext cx="10515600" cy="2695862"/>
              </a:xfrm>
            </p:spPr>
            <p:txBody>
              <a:bodyPr>
                <a:normAutofit fontScale="85000" lnSpcReduction="20000"/>
              </a:bodyPr>
              <a:lstStyle/>
              <a:p>
                <a:r>
                  <a:rPr lang="en-US" b="1" dirty="0"/>
                  <a:t>Shared Weights in RNNs</a:t>
                </a:r>
              </a:p>
              <a:p>
                <a:pPr lvl="1"/>
                <a:r>
                  <a:rPr lang="en-US" dirty="0"/>
                  <a:t>Unlike regular deep networks where each layer has its </a:t>
                </a:r>
                <a:r>
                  <a:rPr lang="en-US" b="1" dirty="0"/>
                  <a:t>own</a:t>
                </a:r>
                <a:r>
                  <a:rPr lang="en-US" dirty="0"/>
                  <a:t> weight matrix, RNNs </a:t>
                </a:r>
                <a:r>
                  <a:rPr lang="en-US" b="1" dirty="0"/>
                  <a:t>share the same weights across all time steps</a:t>
                </a:r>
                <a:r>
                  <a:rPr lang="en-US" dirty="0"/>
                  <a:t>.</a:t>
                </a:r>
              </a:p>
              <a:p>
                <a:pPr lvl="1"/>
                <a:r>
                  <a:rPr lang="en-US" dirty="0"/>
                  <a:t>This weight sharing enables the model to </a:t>
                </a:r>
                <a:r>
                  <a:rPr lang="en-US" b="1" dirty="0"/>
                  <a:t>store and reuse information</a:t>
                </a:r>
                <a:r>
                  <a:rPr lang="en-US" dirty="0"/>
                  <a:t> throughout the sequence.</a:t>
                </a:r>
              </a:p>
              <a:p>
                <a:r>
                  <a:rPr lang="en-US" b="1" dirty="0"/>
                  <a:t>Hidden State Computation</a:t>
                </a:r>
              </a:p>
              <a:p>
                <a:pPr lvl="1"/>
                <a:r>
                  <a:rPr lang="en-US" dirty="0"/>
                  <a:t>For each input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𝑋</m:t>
                        </m:r>
                      </m:e>
                      <m:sub>
                        <m:r>
                          <a:rPr lang="ar-AE" i="1">
                            <a:latin typeface="Cambria Math" panose="02040503050406030204" pitchFamily="18" charset="0"/>
                          </a:rPr>
                          <m:t>𝑖</m:t>
                        </m:r>
                      </m:sub>
                    </m:sSub>
                  </m:oMath>
                </a14:m>
                <a:r>
                  <a:rPr lang="ar-AE" dirty="0"/>
                  <a:t>, </a:t>
                </a:r>
                <a:r>
                  <a:rPr lang="en-US" dirty="0"/>
                  <a:t>the RNN computes a </a:t>
                </a:r>
                <a:r>
                  <a:rPr lang="en-US" b="1" dirty="0"/>
                  <a:t>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1">
                            <a:latin typeface="Cambria Math" panose="02040503050406030204" pitchFamily="18" charset="0"/>
                          </a:rPr>
                          <m:t>𝑖</m:t>
                        </m:r>
                      </m:sub>
                    </m:sSub>
                  </m:oMath>
                </a14:m>
                <a:r>
                  <a:rPr lang="ar-AE" dirty="0"/>
                  <a:t>.</a:t>
                </a:r>
              </a:p>
              <a:p>
                <a:pPr lvl="1"/>
                <a:r>
                  <a:rPr lang="en-US" dirty="0"/>
                  <a:t>This hidden state carries information from previous steps, allowing the network to </a:t>
                </a:r>
                <a:r>
                  <a:rPr lang="en-US" b="1" dirty="0"/>
                  <a:t>capture sequential dependencies</a:t>
                </a:r>
                <a:r>
                  <a:rPr lang="en-US" dirty="0"/>
                  <a:t>.</a:t>
                </a:r>
              </a:p>
            </p:txBody>
          </p:sp>
        </mc:Choice>
        <mc:Fallback xmlns="">
          <p:sp>
            <p:nvSpPr>
              <p:cNvPr id="8" name="Content Placeholder 7">
                <a:extLst>
                  <a:ext uri="{FF2B5EF4-FFF2-40B4-BE49-F238E27FC236}">
                    <a16:creationId xmlns:a16="http://schemas.microsoft.com/office/drawing/2014/main" id="{358CEF7C-18A7-FFC7-646F-E72BD1218EF3}"/>
                  </a:ext>
                </a:extLst>
              </p:cNvPr>
              <p:cNvSpPr>
                <a:spLocks noGrp="1" noRot="1" noChangeAspect="1" noMove="1" noResize="1" noEditPoints="1" noAdjustHandles="1" noChangeArrowheads="1" noChangeShapeType="1" noTextEdit="1"/>
              </p:cNvSpPr>
              <p:nvPr>
                <p:ph idx="1"/>
              </p:nvPr>
            </p:nvSpPr>
            <p:spPr>
              <a:xfrm>
                <a:off x="838200" y="1825625"/>
                <a:ext cx="10515600" cy="2695862"/>
              </a:xfrm>
              <a:blipFill>
                <a:blip r:embed="rId5"/>
                <a:stretch>
                  <a:fillRect l="-812" t="-496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1074993-2814-76FC-C5BA-6499FB45BE4C}"/>
              </a:ext>
            </a:extLst>
          </p:cNvPr>
          <p:cNvSpPr txBox="1"/>
          <p:nvPr/>
        </p:nvSpPr>
        <p:spPr>
          <a:xfrm>
            <a:off x="8554994" y="4973594"/>
            <a:ext cx="3436069" cy="646331"/>
          </a:xfrm>
          <a:prstGeom prst="rect">
            <a:avLst/>
          </a:prstGeom>
          <a:noFill/>
        </p:spPr>
        <p:txBody>
          <a:bodyPr wrap="none" rtlCol="0">
            <a:spAutoFit/>
          </a:bodyPr>
          <a:lstStyle/>
          <a:p>
            <a:r>
              <a:rPr lang="en-US" b="1" u="sng" dirty="0">
                <a:solidFill>
                  <a:srgbClr val="FF0000"/>
                </a:solidFill>
              </a:rPr>
              <a:t>NOTE</a:t>
            </a:r>
            <a:r>
              <a:rPr lang="en-US" dirty="0">
                <a:solidFill>
                  <a:srgbClr val="FF0000"/>
                </a:solidFill>
              </a:rPr>
              <a:t>: All RNNs shown share the</a:t>
            </a:r>
            <a:br>
              <a:rPr lang="en-US" dirty="0">
                <a:solidFill>
                  <a:srgbClr val="FF0000"/>
                </a:solidFill>
              </a:rPr>
            </a:br>
            <a:r>
              <a:rPr lang="en-US" dirty="0">
                <a:solidFill>
                  <a:srgbClr val="FF0000"/>
                </a:solidFill>
              </a:rPr>
              <a:t>same weights.</a:t>
            </a:r>
          </a:p>
        </p:txBody>
      </p:sp>
    </p:spTree>
    <p:extLst>
      <p:ext uri="{BB962C8B-B14F-4D97-AF65-F5344CB8AC3E}">
        <p14:creationId xmlns:p14="http://schemas.microsoft.com/office/powerpoint/2010/main" val="2604179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3737F-7846-550E-F03C-53C8AC66F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05B93-AD80-66A8-FFA8-559F5DFCB5C0}"/>
              </a:ext>
            </a:extLst>
          </p:cNvPr>
          <p:cNvSpPr>
            <a:spLocks noGrp="1"/>
          </p:cNvSpPr>
          <p:nvPr>
            <p:ph type="title"/>
          </p:nvPr>
        </p:nvSpPr>
        <p:spPr/>
        <p:txBody>
          <a:bodyPr/>
          <a:lstStyle/>
          <a:p>
            <a:pPr fontAlgn="base"/>
            <a:r>
              <a:rPr lang="en-US" b="1" dirty="0"/>
              <a:t>Hidden State Calculation</a:t>
            </a:r>
          </a:p>
        </p:txBody>
      </p:sp>
      <p:cxnSp>
        <p:nvCxnSpPr>
          <p:cNvPr id="4" name="Straight Connector 3">
            <a:extLst>
              <a:ext uri="{FF2B5EF4-FFF2-40B4-BE49-F238E27FC236}">
                <a16:creationId xmlns:a16="http://schemas.microsoft.com/office/drawing/2014/main" id="{02CF08EE-3A1F-6EF9-45C6-9A49E9BE279C}"/>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30706711-C2E5-64BA-C5CD-BAC5C45AA2A0}"/>
              </a:ext>
            </a:extLst>
          </p:cNvPr>
          <p:cNvSpPr>
            <a:spLocks noGrp="1"/>
          </p:cNvSpPr>
          <p:nvPr>
            <p:ph type="sldNum" sz="quarter" idx="12"/>
          </p:nvPr>
        </p:nvSpPr>
        <p:spPr/>
        <p:txBody>
          <a:bodyPr/>
          <a:lstStyle/>
          <a:p>
            <a:fld id="{B645EB31-1C62-4062-9511-C82C6CC02C60}" type="slidenum">
              <a:rPr lang="en-US" smtClean="0"/>
              <a:t>7</a:t>
            </a:fld>
            <a:endParaRPr lang="en-US" dirty="0"/>
          </a:p>
        </p:txBody>
      </p:sp>
      <p:pic>
        <p:nvPicPr>
          <p:cNvPr id="7" name="Picture 6">
            <a:extLst>
              <a:ext uri="{FF2B5EF4-FFF2-40B4-BE49-F238E27FC236}">
                <a16:creationId xmlns:a16="http://schemas.microsoft.com/office/drawing/2014/main" id="{977DDE61-272D-1079-582A-1040BAFC9F14}"/>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81AF2628-000E-62AF-1137-E171E7C8D5ED}"/>
                  </a:ext>
                </a:extLst>
              </p:cNvPr>
              <p:cNvSpPr>
                <a:spLocks noGrp="1"/>
              </p:cNvSpPr>
              <p:nvPr>
                <p:ph idx="1"/>
              </p:nvPr>
            </p:nvSpPr>
            <p:spPr>
              <a:xfrm>
                <a:off x="838200" y="1825625"/>
                <a:ext cx="10515600" cy="3117078"/>
              </a:xfrm>
            </p:spPr>
            <p:txBody>
              <a:bodyPr>
                <a:normAutofit fontScale="85000" lnSpcReduction="20000"/>
              </a:bodyPr>
              <a:lstStyle/>
              <a:p>
                <a:pPr marL="0" indent="0" algn="just">
                  <a:buNone/>
                </a:pPr>
                <a:r>
                  <a:rPr lang="en-US" dirty="0"/>
                  <a:t>We can process a sequence of input vectors </a:t>
                </a:r>
                <a14:m>
                  <m:oMath xmlns:m="http://schemas.openxmlformats.org/officeDocument/2006/math">
                    <m:r>
                      <a:rPr lang="en-US" i="1" dirty="0" smtClean="0">
                        <a:latin typeface="Cambria Math" panose="02040503050406030204" pitchFamily="18" charset="0"/>
                      </a:rPr>
                      <m:t>𝑋</m:t>
                    </m:r>
                  </m:oMath>
                </a14:m>
                <a:r>
                  <a:rPr lang="en-US" dirty="0"/>
                  <a:t> by applying a recurrence formula at every time step:</a:t>
                </a:r>
              </a:p>
              <a:p>
                <a:pPr marL="0" indent="0" algn="just">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h</m:t>
                          </m:r>
                        </m:sup>
                      </m:sSubSup>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oMath>
                  </m:oMathPara>
                </a14:m>
                <a:endParaRPr lang="en-US" dirty="0"/>
              </a:p>
              <a:p>
                <a:pPr marL="0" indent="0" algn="just">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d>
                        <m:dPr>
                          <m:ctrlPr>
                            <a:rPr lang="en-US" i="1">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e>
                      </m:d>
                    </m:oMath>
                  </m:oMathPara>
                </a14:m>
                <a:endParaRPr lang="en-US" dirty="0"/>
              </a:p>
              <a:p>
                <a:pPr marL="0" indent="0" algn="just">
                  <a:buNone/>
                </a:pPr>
                <a:r>
                  <a:rPr lang="en-US" dirty="0"/>
                  <a:t>where, </a:t>
                </a:r>
                <a14:m>
                  <m:oMath xmlns:m="http://schemas.openxmlformats.org/officeDocument/2006/math">
                    <m:r>
                      <a:rPr lang="en-US" i="1">
                        <a:latin typeface="Cambria Math" panose="02040503050406030204" pitchFamily="18" charset="0"/>
                      </a:rPr>
                      <m:t>h</m:t>
                    </m:r>
                  </m:oMath>
                </a14:m>
                <a:r>
                  <a:rPr lang="en-US" dirty="0"/>
                  <a:t> represents the hidden state, </a:t>
                </a:r>
                <a14:m>
                  <m:oMath xmlns:m="http://schemas.openxmlformats.org/officeDocument/2006/math">
                    <m:r>
                      <a:rPr lang="en-US" i="1">
                        <a:latin typeface="Cambria Math" panose="02040503050406030204" pitchFamily="18" charset="0"/>
                      </a:rPr>
                      <m:t>𝑈</m:t>
                    </m:r>
                  </m:oMath>
                </a14:m>
                <a:r>
                  <a:rPr lang="en-US" dirty="0"/>
                  <a:t> and </a:t>
                </a:r>
                <a14:m>
                  <m:oMath xmlns:m="http://schemas.openxmlformats.org/officeDocument/2006/math">
                    <m:r>
                      <a:rPr lang="en-US" i="1">
                        <a:latin typeface="Cambria Math" panose="02040503050406030204" pitchFamily="18" charset="0"/>
                      </a:rPr>
                      <m:t>𝑊</m:t>
                    </m:r>
                  </m:oMath>
                </a14:m>
                <a:r>
                  <a:rPr lang="en-US" dirty="0"/>
                  <a:t> are weight matrices, </a:t>
                </a:r>
                <a14:m>
                  <m:oMath xmlns:m="http://schemas.openxmlformats.org/officeDocument/2006/math">
                    <m:r>
                      <a:rPr lang="en-US" b="0" i="1" smtClean="0">
                        <a:latin typeface="Cambria Math" panose="02040503050406030204" pitchFamily="18" charset="0"/>
                      </a:rPr>
                      <m:t>𝐵</m:t>
                    </m:r>
                  </m:oMath>
                </a14:m>
                <a:r>
                  <a:rPr lang="en-US" dirty="0"/>
                  <a:t> is the bias, and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is an activation function.</a:t>
                </a:r>
              </a:p>
              <a:p>
                <a:pPr marL="0" indent="0" algn="just">
                  <a:buNone/>
                </a:pPr>
                <a:r>
                  <a:rPr lang="en-US" b="1" u="sng" dirty="0"/>
                  <a:t>Note</a:t>
                </a:r>
                <a:r>
                  <a:rPr lang="en-US" dirty="0"/>
                  <a:t>: the same function and the same set of parameters are used at every time step.</a:t>
                </a:r>
              </a:p>
            </p:txBody>
          </p:sp>
        </mc:Choice>
        <mc:Fallback xmlns="">
          <p:sp>
            <p:nvSpPr>
              <p:cNvPr id="8" name="Content Placeholder 7">
                <a:extLst>
                  <a:ext uri="{FF2B5EF4-FFF2-40B4-BE49-F238E27FC236}">
                    <a16:creationId xmlns:a16="http://schemas.microsoft.com/office/drawing/2014/main" id="{81AF2628-000E-62AF-1137-E171E7C8D5ED}"/>
                  </a:ext>
                </a:extLst>
              </p:cNvPr>
              <p:cNvSpPr>
                <a:spLocks noGrp="1" noRot="1" noChangeAspect="1" noMove="1" noResize="1" noEditPoints="1" noAdjustHandles="1" noChangeArrowheads="1" noChangeShapeType="1" noTextEdit="1"/>
              </p:cNvSpPr>
              <p:nvPr>
                <p:ph idx="1"/>
              </p:nvPr>
            </p:nvSpPr>
            <p:spPr>
              <a:xfrm>
                <a:off x="838200" y="1825625"/>
                <a:ext cx="10515600" cy="3117078"/>
              </a:xfrm>
              <a:blipFill>
                <a:blip r:embed="rId4"/>
                <a:stretch>
                  <a:fillRect l="-928" t="-4297" r="-870" b="-58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FAE96A0D-01E6-91AD-7CD9-B83637358284}"/>
              </a:ext>
            </a:extLst>
          </p:cNvPr>
          <p:cNvSpPr txBox="1"/>
          <p:nvPr/>
        </p:nvSpPr>
        <p:spPr>
          <a:xfrm>
            <a:off x="5029197" y="6582975"/>
            <a:ext cx="2387513" cy="276999"/>
          </a:xfrm>
          <a:prstGeom prst="rect">
            <a:avLst/>
          </a:prstGeom>
          <a:noFill/>
        </p:spPr>
        <p:txBody>
          <a:bodyPr wrap="none" rtlCol="0">
            <a:spAutoFit/>
          </a:bodyPr>
          <a:lstStyle/>
          <a:p>
            <a:r>
              <a:rPr lang="en-US" sz="1200" dirty="0"/>
              <a:t>Image credit: GeeksForGeeks.org</a:t>
            </a:r>
          </a:p>
        </p:txBody>
      </p:sp>
      <p:pic>
        <p:nvPicPr>
          <p:cNvPr id="6" name="Picture 5">
            <a:extLst>
              <a:ext uri="{FF2B5EF4-FFF2-40B4-BE49-F238E27FC236}">
                <a16:creationId xmlns:a16="http://schemas.microsoft.com/office/drawing/2014/main" id="{8AAAA22D-9A7F-606F-BA41-BC26109FB034}"/>
              </a:ext>
            </a:extLst>
          </p:cNvPr>
          <p:cNvPicPr>
            <a:picLocks noChangeAspect="1"/>
          </p:cNvPicPr>
          <p:nvPr/>
        </p:nvPicPr>
        <p:blipFill>
          <a:blip r:embed="rId5"/>
          <a:stretch>
            <a:fillRect/>
          </a:stretch>
        </p:blipFill>
        <p:spPr>
          <a:xfrm>
            <a:off x="3745451" y="4656424"/>
            <a:ext cx="4083260" cy="1924149"/>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627CA95-853F-6E3F-8828-1BD14D483CC8}"/>
                  </a:ext>
                </a:extLst>
              </p:cNvPr>
              <p:cNvSpPr txBox="1"/>
              <p:nvPr/>
            </p:nvSpPr>
            <p:spPr>
              <a:xfrm>
                <a:off x="8921335" y="4748754"/>
                <a:ext cx="1339841" cy="1972720"/>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𝑥</m:t>
                              </m:r>
                            </m:sub>
                          </m:sSub>
                        </m:sup>
                      </m:sSup>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h</m:t>
                          </m:r>
                        </m:e>
                        <m:sub>
                          <m:r>
                            <a:rPr lang="en-US" i="1">
                              <a:latin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h</m:t>
                              </m:r>
                            </m:sub>
                          </m:sSub>
                        </m:sup>
                      </m:sSup>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h</m:t>
                              </m:r>
                            </m:sub>
                          </m:sSub>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𝑥</m:t>
                              </m:r>
                            </m:sub>
                          </m:sSub>
                        </m:sup>
                      </m:sSup>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h</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h</m:t>
                              </m:r>
                            </m:sub>
                          </m:sSub>
                        </m:sup>
                      </m:sSup>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𝐵</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h</m:t>
                              </m:r>
                            </m:sub>
                          </m:sSub>
                        </m:sup>
                      </m:sSup>
                    </m:oMath>
                  </m:oMathPara>
                </a14:m>
                <a:endParaRPr lang="en-US" dirty="0"/>
              </a:p>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h</m:t>
                              </m:r>
                            </m:sub>
                          </m:sSub>
                        </m:sup>
                      </m:sSup>
                    </m:oMath>
                  </m:oMathPara>
                </a14:m>
                <a:endParaRPr lang="en-US" dirty="0"/>
              </a:p>
              <a:p>
                <a:endParaRPr lang="en-US" dirty="0"/>
              </a:p>
            </p:txBody>
          </p:sp>
        </mc:Choice>
        <mc:Fallback xmlns="">
          <p:sp>
            <p:nvSpPr>
              <p:cNvPr id="3" name="TextBox 2">
                <a:extLst>
                  <a:ext uri="{FF2B5EF4-FFF2-40B4-BE49-F238E27FC236}">
                    <a16:creationId xmlns:a16="http://schemas.microsoft.com/office/drawing/2014/main" id="{1627CA95-853F-6E3F-8828-1BD14D483CC8}"/>
                  </a:ext>
                </a:extLst>
              </p:cNvPr>
              <p:cNvSpPr txBox="1">
                <a:spLocks noRot="1" noChangeAspect="1" noMove="1" noResize="1" noEditPoints="1" noAdjustHandles="1" noChangeArrowheads="1" noChangeShapeType="1" noTextEdit="1"/>
              </p:cNvSpPr>
              <p:nvPr/>
            </p:nvSpPr>
            <p:spPr>
              <a:xfrm>
                <a:off x="8921335" y="4748754"/>
                <a:ext cx="1339841" cy="1972720"/>
              </a:xfrm>
              <a:prstGeom prst="rect">
                <a:avLst/>
              </a:prstGeom>
              <a:blipFill>
                <a:blip r:embed="rId6"/>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847585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624E7-57E8-B614-A72E-DF0996EBB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8FD1E-1C3F-A36C-4EA8-011EE2AD943A}"/>
              </a:ext>
            </a:extLst>
          </p:cNvPr>
          <p:cNvSpPr>
            <a:spLocks noGrp="1"/>
          </p:cNvSpPr>
          <p:nvPr>
            <p:ph type="title"/>
          </p:nvPr>
        </p:nvSpPr>
        <p:spPr/>
        <p:txBody>
          <a:bodyPr/>
          <a:lstStyle/>
          <a:p>
            <a:pPr fontAlgn="base"/>
            <a:r>
              <a:rPr lang="en-US" b="1" dirty="0"/>
              <a:t>Output Calculation</a:t>
            </a:r>
          </a:p>
        </p:txBody>
      </p:sp>
      <p:cxnSp>
        <p:nvCxnSpPr>
          <p:cNvPr id="4" name="Straight Connector 3">
            <a:extLst>
              <a:ext uri="{FF2B5EF4-FFF2-40B4-BE49-F238E27FC236}">
                <a16:creationId xmlns:a16="http://schemas.microsoft.com/office/drawing/2014/main" id="{6EAC131B-1689-3EF6-7C56-5891728D30D2}"/>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A2079144-C549-1E21-5623-59D4ED91DFC4}"/>
              </a:ext>
            </a:extLst>
          </p:cNvPr>
          <p:cNvSpPr>
            <a:spLocks noGrp="1"/>
          </p:cNvSpPr>
          <p:nvPr>
            <p:ph type="sldNum" sz="quarter" idx="12"/>
          </p:nvPr>
        </p:nvSpPr>
        <p:spPr/>
        <p:txBody>
          <a:bodyPr/>
          <a:lstStyle/>
          <a:p>
            <a:fld id="{B645EB31-1C62-4062-9511-C82C6CC02C60}" type="slidenum">
              <a:rPr lang="en-US" smtClean="0"/>
              <a:t>8</a:t>
            </a:fld>
            <a:endParaRPr lang="en-US" dirty="0"/>
          </a:p>
        </p:txBody>
      </p:sp>
      <p:pic>
        <p:nvPicPr>
          <p:cNvPr id="7" name="Picture 6">
            <a:extLst>
              <a:ext uri="{FF2B5EF4-FFF2-40B4-BE49-F238E27FC236}">
                <a16:creationId xmlns:a16="http://schemas.microsoft.com/office/drawing/2014/main" id="{48AA066E-DA58-D622-20A8-EE1B31E5C45D}"/>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14DFDDFE-3696-28F7-D9F0-1FAFB8757B58}"/>
                  </a:ext>
                </a:extLst>
              </p:cNvPr>
              <p:cNvSpPr>
                <a:spLocks noGrp="1"/>
              </p:cNvSpPr>
              <p:nvPr>
                <p:ph idx="1"/>
              </p:nvPr>
            </p:nvSpPr>
            <p:spPr>
              <a:xfrm>
                <a:off x="838200" y="1825625"/>
                <a:ext cx="10515600" cy="2610451"/>
              </a:xfrm>
            </p:spPr>
            <p:txBody>
              <a:bodyPr>
                <a:normAutofit fontScale="62500" lnSpcReduction="20000"/>
              </a:bodyPr>
              <a:lstStyle/>
              <a:p>
                <a:pPr marL="0" indent="0" algn="just">
                  <a:buNone/>
                </a:pPr>
                <a:r>
                  <a:rPr lang="en-US" dirty="0"/>
                  <a:t>The output </a:t>
                </a:r>
                <a14:m>
                  <m:oMath xmlns:m="http://schemas.openxmlformats.org/officeDocument/2006/math">
                    <m:r>
                      <a:rPr lang="en-US" i="1">
                        <a:latin typeface="Cambria Math" panose="02040503050406030204" pitchFamily="18" charset="0"/>
                      </a:rPr>
                      <m:t>𝑌</m:t>
                    </m:r>
                  </m:oMath>
                </a14:m>
                <a:r>
                  <a:rPr lang="en-US" dirty="0"/>
                  <a:t> is calculated by applying </a:t>
                </a:r>
                <a14:m>
                  <m:oMath xmlns:m="http://schemas.openxmlformats.org/officeDocument/2006/math">
                    <m:r>
                      <a:rPr lang="en-US" i="1">
                        <a:latin typeface="Cambria Math" panose="02040503050406030204" pitchFamily="18" charset="0"/>
                      </a:rPr>
                      <m:t>𝑂</m:t>
                    </m:r>
                  </m:oMath>
                </a14:m>
                <a:r>
                  <a:rPr lang="en-US" dirty="0"/>
                  <a:t> an activation function to the weighted hidden state where </a:t>
                </a:r>
                <a14:m>
                  <m:oMath xmlns:m="http://schemas.openxmlformats.org/officeDocument/2006/math">
                    <m:r>
                      <a:rPr lang="en-US" b="0" i="1" smtClean="0">
                        <a:latin typeface="Cambria Math" panose="02040503050406030204" pitchFamily="18" charset="0"/>
                      </a:rPr>
                      <m:t>𝑊</m:t>
                    </m:r>
                  </m:oMath>
                </a14:m>
                <a:r>
                  <a:rPr lang="en-US" dirty="0"/>
                  <a:t> represent weight and </a:t>
                </a:r>
                <a14:m>
                  <m:oMath xmlns:m="http://schemas.openxmlformats.org/officeDocument/2006/math">
                    <m:r>
                      <a:rPr lang="en-US" b="0" i="1" smtClean="0">
                        <a:latin typeface="Cambria Math" panose="02040503050406030204" pitchFamily="18" charset="0"/>
                      </a:rPr>
                      <m:t>𝐶</m:t>
                    </m:r>
                  </m:oMath>
                </a14:m>
                <a:r>
                  <a:rPr lang="en-US" dirty="0"/>
                  <a:t> is the bias.</a:t>
                </a:r>
              </a:p>
              <a:p>
                <a:pPr marL="0" indent="0" algn="just">
                  <a:buNone/>
                </a:pPr>
                <a:endParaRPr lang="en-US" dirty="0"/>
              </a:p>
              <a:p>
                <a:pPr marL="0" indent="0" algn="just">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𝑦</m:t>
                          </m:r>
                        </m:sup>
                      </m:sSubSup>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𝐶</m:t>
                      </m:r>
                    </m:oMath>
                  </m:oMathPara>
                </a14:m>
                <a:endParaRPr lang="en-US" dirty="0"/>
              </a:p>
              <a:p>
                <a:pPr marL="0" indent="0" algn="just">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e>
                      </m:d>
                    </m:oMath>
                  </m:oMathPara>
                </a14:m>
                <a:endParaRPr lang="en-US" dirty="0"/>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Loss</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d>
                      <m:r>
                        <a:rPr lang="en-US" b="0" i="1" smtClean="0">
                          <a:latin typeface="Cambria Math" panose="02040503050406030204" pitchFamily="18" charset="0"/>
                        </a:rPr>
                        <m:t>,   </m:t>
                      </m:r>
                      <m:r>
                        <a:rPr lang="en-US" b="0" i="1" smtClean="0">
                          <a:latin typeface="Cambria Math" panose="02040503050406030204" pitchFamily="18" charset="0"/>
                        </a:rPr>
                        <m:t>𝐿</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e>
                      </m:nary>
                    </m:oMath>
                  </m:oMathPara>
                </a14:m>
                <a:endParaRPr lang="en-US" dirty="0"/>
              </a:p>
            </p:txBody>
          </p:sp>
        </mc:Choice>
        <mc:Fallback xmlns="">
          <p:sp>
            <p:nvSpPr>
              <p:cNvPr id="8" name="Content Placeholder 7">
                <a:extLst>
                  <a:ext uri="{FF2B5EF4-FFF2-40B4-BE49-F238E27FC236}">
                    <a16:creationId xmlns:a16="http://schemas.microsoft.com/office/drawing/2014/main" id="{14DFDDFE-3696-28F7-D9F0-1FAFB8757B58}"/>
                  </a:ext>
                </a:extLst>
              </p:cNvPr>
              <p:cNvSpPr>
                <a:spLocks noGrp="1" noRot="1" noChangeAspect="1" noMove="1" noResize="1" noEditPoints="1" noAdjustHandles="1" noChangeArrowheads="1" noChangeShapeType="1" noTextEdit="1"/>
              </p:cNvSpPr>
              <p:nvPr>
                <p:ph idx="1"/>
              </p:nvPr>
            </p:nvSpPr>
            <p:spPr>
              <a:xfrm>
                <a:off x="838200" y="1825625"/>
                <a:ext cx="10515600" cy="2610451"/>
              </a:xfrm>
              <a:blipFill>
                <a:blip r:embed="rId4"/>
                <a:stretch>
                  <a:fillRect l="-522" t="-349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00B79A6-E2FC-775E-0A71-59C8A38E41B2}"/>
              </a:ext>
            </a:extLst>
          </p:cNvPr>
          <p:cNvPicPr>
            <a:picLocks noChangeAspect="1"/>
          </p:cNvPicPr>
          <p:nvPr/>
        </p:nvPicPr>
        <p:blipFill>
          <a:blip r:embed="rId5"/>
          <a:stretch>
            <a:fillRect/>
          </a:stretch>
        </p:blipFill>
        <p:spPr>
          <a:xfrm>
            <a:off x="3745451" y="4656424"/>
            <a:ext cx="4083260" cy="1924149"/>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96D43C-7667-847C-21A8-6A8FD63DFE61}"/>
                  </a:ext>
                </a:extLst>
              </p:cNvPr>
              <p:cNvSpPr txBox="1"/>
              <p:nvPr/>
            </p:nvSpPr>
            <p:spPr>
              <a:xfrm>
                <a:off x="9344282" y="3033339"/>
                <a:ext cx="1275836" cy="1156920"/>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𝑦</m:t>
                              </m:r>
                            </m:sub>
                          </m:sSub>
                        </m:sup>
                      </m:sSup>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𝑦</m:t>
                              </m:r>
                            </m:sub>
                          </m:sSub>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h</m:t>
                              </m:r>
                            </m:sub>
                          </m:sSub>
                        </m:sup>
                      </m:sSup>
                    </m:oMath>
                  </m:oMathPara>
                </a14:m>
                <a:endParaRPr lang="en-US"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𝑦</m:t>
                              </m:r>
                            </m:sub>
                          </m:sSub>
                        </m:sup>
                      </m:sSup>
                    </m:oMath>
                  </m:oMathPara>
                </a14:m>
                <a:endParaRPr lang="en-US"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𝑦</m:t>
                              </m:r>
                            </m:sub>
                          </m:sSub>
                        </m:sup>
                      </m:sSup>
                    </m:oMath>
                  </m:oMathPara>
                </a14:m>
                <a:endParaRPr lang="en-US" b="0" dirty="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5C96D43C-7667-847C-21A8-6A8FD63DFE61}"/>
                  </a:ext>
                </a:extLst>
              </p:cNvPr>
              <p:cNvSpPr txBox="1">
                <a:spLocks noRot="1" noChangeAspect="1" noMove="1" noResize="1" noEditPoints="1" noAdjustHandles="1" noChangeArrowheads="1" noChangeShapeType="1" noTextEdit="1"/>
              </p:cNvSpPr>
              <p:nvPr/>
            </p:nvSpPr>
            <p:spPr>
              <a:xfrm>
                <a:off x="9344282" y="3033339"/>
                <a:ext cx="1275836" cy="1156920"/>
              </a:xfrm>
              <a:prstGeom prst="rect">
                <a:avLst/>
              </a:prstGeom>
              <a:blipFill>
                <a:blip r:embed="rId6"/>
                <a:stretch>
                  <a:fillRect l="-3318" t="-4712" b="-4188"/>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853327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B5C2C-D952-433C-498A-6BD793D87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CE845-049D-66BE-2C8F-9E19F11B18DF}"/>
              </a:ext>
            </a:extLst>
          </p:cNvPr>
          <p:cNvSpPr>
            <a:spLocks noGrp="1"/>
          </p:cNvSpPr>
          <p:nvPr>
            <p:ph type="title"/>
          </p:nvPr>
        </p:nvSpPr>
        <p:spPr/>
        <p:txBody>
          <a:bodyPr/>
          <a:lstStyle/>
          <a:p>
            <a:pPr fontAlgn="base"/>
            <a:r>
              <a:rPr lang="en-US" b="1" dirty="0"/>
              <a:t>Calculation Summary</a:t>
            </a:r>
          </a:p>
        </p:txBody>
      </p:sp>
      <p:cxnSp>
        <p:nvCxnSpPr>
          <p:cNvPr id="4" name="Straight Connector 3">
            <a:extLst>
              <a:ext uri="{FF2B5EF4-FFF2-40B4-BE49-F238E27FC236}">
                <a16:creationId xmlns:a16="http://schemas.microsoft.com/office/drawing/2014/main" id="{276F963D-80F7-F55E-13CE-2DBFA3548E64}"/>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722DD0E6-4244-BB0E-B763-B79B9C28F2EE}"/>
              </a:ext>
            </a:extLst>
          </p:cNvPr>
          <p:cNvSpPr>
            <a:spLocks noGrp="1"/>
          </p:cNvSpPr>
          <p:nvPr>
            <p:ph type="sldNum" sz="quarter" idx="12"/>
          </p:nvPr>
        </p:nvSpPr>
        <p:spPr/>
        <p:txBody>
          <a:bodyPr/>
          <a:lstStyle/>
          <a:p>
            <a:fld id="{B645EB31-1C62-4062-9511-C82C6CC02C60}" type="slidenum">
              <a:rPr lang="en-US" smtClean="0"/>
              <a:t>9</a:t>
            </a:fld>
            <a:endParaRPr lang="en-US" dirty="0"/>
          </a:p>
        </p:txBody>
      </p:sp>
      <p:pic>
        <p:nvPicPr>
          <p:cNvPr id="7" name="Picture 6">
            <a:extLst>
              <a:ext uri="{FF2B5EF4-FFF2-40B4-BE49-F238E27FC236}">
                <a16:creationId xmlns:a16="http://schemas.microsoft.com/office/drawing/2014/main" id="{F2811E6C-24D9-FF34-EA24-0F1589F9C1F6}"/>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5B06EE12-C35B-9D04-6ED6-8248F9717AD5}"/>
              </a:ext>
            </a:extLst>
          </p:cNvPr>
          <p:cNvSpPr>
            <a:spLocks noGrp="1"/>
          </p:cNvSpPr>
          <p:nvPr>
            <p:ph idx="1"/>
          </p:nvPr>
        </p:nvSpPr>
        <p:spPr>
          <a:xfrm>
            <a:off x="838200" y="1825625"/>
            <a:ext cx="10515600" cy="3117078"/>
          </a:xfrm>
        </p:spPr>
        <p:txBody>
          <a:bodyPr>
            <a:normAutofit/>
          </a:bodyPr>
          <a:lstStyle/>
          <a:p>
            <a:pPr algn="just"/>
            <a:r>
              <a:rPr lang="en-US" dirty="0"/>
              <a:t>Use the same computational function and parameters across different time steps of the sequence</a:t>
            </a:r>
          </a:p>
          <a:p>
            <a:pPr algn="just"/>
            <a:r>
              <a:rPr lang="en-US" dirty="0"/>
              <a:t>Each time step: takes the input entry and the previous hidden state to compute the output entry </a:t>
            </a:r>
          </a:p>
          <a:p>
            <a:pPr algn="just"/>
            <a:r>
              <a:rPr lang="en-US" dirty="0"/>
              <a:t>Loss: typically computed every time step</a:t>
            </a:r>
          </a:p>
        </p:txBody>
      </p:sp>
      <p:pic>
        <p:nvPicPr>
          <p:cNvPr id="6" name="Picture 5">
            <a:extLst>
              <a:ext uri="{FF2B5EF4-FFF2-40B4-BE49-F238E27FC236}">
                <a16:creationId xmlns:a16="http://schemas.microsoft.com/office/drawing/2014/main" id="{8FB92850-3EF6-70D3-45C2-1B74848B591D}"/>
              </a:ext>
            </a:extLst>
          </p:cNvPr>
          <p:cNvPicPr>
            <a:picLocks noChangeAspect="1"/>
          </p:cNvPicPr>
          <p:nvPr/>
        </p:nvPicPr>
        <p:blipFill>
          <a:blip r:embed="rId4"/>
          <a:stretch>
            <a:fillRect/>
          </a:stretch>
        </p:blipFill>
        <p:spPr>
          <a:xfrm>
            <a:off x="3745451" y="4656424"/>
            <a:ext cx="4083260" cy="1924149"/>
          </a:xfrm>
          <a:prstGeom prst="rect">
            <a:avLst/>
          </a:prstGeom>
        </p:spPr>
      </p:pic>
    </p:spTree>
    <p:extLst>
      <p:ext uri="{BB962C8B-B14F-4D97-AF65-F5344CB8AC3E}">
        <p14:creationId xmlns:p14="http://schemas.microsoft.com/office/powerpoint/2010/main" val="2133973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6878B-831C-2A2C-B8F0-231F44EDA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55628-196A-C034-B40A-A2A5712FBF30}"/>
              </a:ext>
            </a:extLst>
          </p:cNvPr>
          <p:cNvSpPr>
            <a:spLocks noGrp="1"/>
          </p:cNvSpPr>
          <p:nvPr>
            <p:ph type="title"/>
          </p:nvPr>
        </p:nvSpPr>
        <p:spPr/>
        <p:txBody>
          <a:bodyPr/>
          <a:lstStyle/>
          <a:p>
            <a:pPr fontAlgn="base"/>
            <a:r>
              <a:rPr lang="en-US" b="1" dirty="0"/>
              <a:t>Training RNN</a:t>
            </a:r>
          </a:p>
        </p:txBody>
      </p:sp>
      <p:cxnSp>
        <p:nvCxnSpPr>
          <p:cNvPr id="4" name="Straight Connector 3">
            <a:extLst>
              <a:ext uri="{FF2B5EF4-FFF2-40B4-BE49-F238E27FC236}">
                <a16:creationId xmlns:a16="http://schemas.microsoft.com/office/drawing/2014/main" id="{A0C20590-E09B-7804-FBA8-F4B79758B96C}"/>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AF6322D4-C79B-DB52-0E81-9632BF180472}"/>
              </a:ext>
            </a:extLst>
          </p:cNvPr>
          <p:cNvSpPr>
            <a:spLocks noGrp="1"/>
          </p:cNvSpPr>
          <p:nvPr>
            <p:ph type="sldNum" sz="quarter" idx="12"/>
          </p:nvPr>
        </p:nvSpPr>
        <p:spPr/>
        <p:txBody>
          <a:bodyPr/>
          <a:lstStyle/>
          <a:p>
            <a:fld id="{B645EB31-1C62-4062-9511-C82C6CC02C60}" type="slidenum">
              <a:rPr lang="en-US" smtClean="0"/>
              <a:t>10</a:t>
            </a:fld>
            <a:endParaRPr lang="en-US" dirty="0"/>
          </a:p>
        </p:txBody>
      </p:sp>
      <p:pic>
        <p:nvPicPr>
          <p:cNvPr id="7" name="Picture 6">
            <a:extLst>
              <a:ext uri="{FF2B5EF4-FFF2-40B4-BE49-F238E27FC236}">
                <a16:creationId xmlns:a16="http://schemas.microsoft.com/office/drawing/2014/main" id="{5ED69381-00FC-FE61-B666-74139BF3F7D3}"/>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B7710027-7A27-4823-736D-D215849878FD}"/>
              </a:ext>
            </a:extLst>
          </p:cNvPr>
          <p:cNvSpPr>
            <a:spLocks noGrp="1"/>
          </p:cNvSpPr>
          <p:nvPr>
            <p:ph idx="1"/>
          </p:nvPr>
        </p:nvSpPr>
        <p:spPr>
          <a:xfrm>
            <a:off x="838200" y="1825625"/>
            <a:ext cx="10515600" cy="3117078"/>
          </a:xfrm>
        </p:spPr>
        <p:txBody>
          <a:bodyPr>
            <a:normAutofit/>
          </a:bodyPr>
          <a:lstStyle/>
          <a:p>
            <a:pPr algn="just"/>
            <a:r>
              <a:rPr lang="en-US" dirty="0"/>
              <a:t>Principle: unfold the computational graph, and use backpropagation called back-propagation through time (BPTT) algorithm</a:t>
            </a:r>
          </a:p>
          <a:p>
            <a:pPr algn="just"/>
            <a:r>
              <a:rPr lang="en-US" dirty="0"/>
              <a:t>Can then apply any general-purpose gradient-based techniques</a:t>
            </a:r>
          </a:p>
        </p:txBody>
      </p:sp>
      <p:pic>
        <p:nvPicPr>
          <p:cNvPr id="6" name="Picture 5">
            <a:extLst>
              <a:ext uri="{FF2B5EF4-FFF2-40B4-BE49-F238E27FC236}">
                <a16:creationId xmlns:a16="http://schemas.microsoft.com/office/drawing/2014/main" id="{3113B4F5-76C6-21C4-0D52-7A9A896C5EC1}"/>
              </a:ext>
            </a:extLst>
          </p:cNvPr>
          <p:cNvPicPr>
            <a:picLocks noChangeAspect="1"/>
          </p:cNvPicPr>
          <p:nvPr/>
        </p:nvPicPr>
        <p:blipFill>
          <a:blip r:embed="rId4"/>
          <a:stretch>
            <a:fillRect/>
          </a:stretch>
        </p:blipFill>
        <p:spPr>
          <a:xfrm>
            <a:off x="3745451" y="4656424"/>
            <a:ext cx="4083260" cy="1924149"/>
          </a:xfrm>
          <a:prstGeom prst="rect">
            <a:avLst/>
          </a:prstGeom>
        </p:spPr>
      </p:pic>
    </p:spTree>
    <p:extLst>
      <p:ext uri="{BB962C8B-B14F-4D97-AF65-F5344CB8AC3E}">
        <p14:creationId xmlns:p14="http://schemas.microsoft.com/office/powerpoint/2010/main" val="3722665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5D186-31F4-FFAF-7A8B-94D56656C8C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CC54A1C-8DF6-04DE-63F6-1F3172D060B3}"/>
              </a:ext>
            </a:extLst>
          </p:cNvPr>
          <p:cNvPicPr>
            <a:picLocks noChangeAspect="1"/>
          </p:cNvPicPr>
          <p:nvPr/>
        </p:nvPicPr>
        <p:blipFill>
          <a:blip r:embed="rId3"/>
          <a:stretch>
            <a:fillRect/>
          </a:stretch>
        </p:blipFill>
        <p:spPr>
          <a:xfrm>
            <a:off x="8048339" y="4432200"/>
            <a:ext cx="4083260" cy="1924149"/>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037F103-A757-6596-3D14-EEBF124AD2D2}"/>
                  </a:ext>
                </a:extLst>
              </p:cNvPr>
              <p:cNvSpPr>
                <a:spLocks noGrp="1"/>
              </p:cNvSpPr>
              <p:nvPr>
                <p:ph type="title"/>
              </p:nvPr>
            </p:nvSpPr>
            <p:spPr/>
            <p:txBody>
              <a:bodyPr>
                <a:normAutofit/>
              </a:bodyPr>
              <a:lstStyle/>
              <a:p>
                <a:pPr fontAlgn="base"/>
                <a:r>
                  <a:rPr lang="en-US" sz="4000" b="1" dirty="0"/>
                  <a:t>Gradients </a:t>
                </a:r>
                <a:r>
                  <a:rPr lang="en-US" sz="4000" b="1" dirty="0" err="1"/>
                  <a:t>w.r.t.</a:t>
                </a:r>
                <a:r>
                  <a:rPr lang="en-US" sz="4000" b="1" dirty="0"/>
                  <a:t> </a:t>
                </a:r>
                <a14:m>
                  <m:oMath xmlns:m="http://schemas.openxmlformats.org/officeDocument/2006/math">
                    <m:r>
                      <a:rPr lang="en-US" sz="4000" b="1" i="1" dirty="0" smtClean="0">
                        <a:latin typeface="Cambria Math" panose="02040503050406030204" pitchFamily="18" charset="0"/>
                      </a:rPr>
                      <m:t>𝑾</m:t>
                    </m:r>
                  </m:oMath>
                </a14:m>
                <a:endParaRPr lang="en-US" sz="4000" b="1" dirty="0"/>
              </a:p>
            </p:txBody>
          </p:sp>
        </mc:Choice>
        <mc:Fallback xmlns="">
          <p:sp>
            <p:nvSpPr>
              <p:cNvPr id="2" name="Title 1">
                <a:extLst>
                  <a:ext uri="{FF2B5EF4-FFF2-40B4-BE49-F238E27FC236}">
                    <a16:creationId xmlns:a16="http://schemas.microsoft.com/office/drawing/2014/main" id="{3037F103-A757-6596-3D14-EEBF124AD2D2}"/>
                  </a:ext>
                </a:extLst>
              </p:cNvPr>
              <p:cNvSpPr>
                <a:spLocks noGrp="1" noRot="1" noChangeAspect="1" noMove="1" noResize="1" noEditPoints="1" noAdjustHandles="1" noChangeArrowheads="1" noChangeShapeType="1" noTextEdit="1"/>
              </p:cNvSpPr>
              <p:nvPr>
                <p:ph type="title"/>
              </p:nvPr>
            </p:nvSpPr>
            <p:spPr>
              <a:blipFill>
                <a:blip r:embed="rId4"/>
                <a:stretch>
                  <a:fillRect l="-2087"/>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F4775A64-FF44-CCDA-63FA-4C34F0A6E4F8}"/>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4CBE8808-000E-4351-8130-D8B9EAEC04F5}"/>
              </a:ext>
            </a:extLst>
          </p:cNvPr>
          <p:cNvSpPr>
            <a:spLocks noGrp="1"/>
          </p:cNvSpPr>
          <p:nvPr>
            <p:ph type="sldNum" sz="quarter" idx="12"/>
          </p:nvPr>
        </p:nvSpPr>
        <p:spPr/>
        <p:txBody>
          <a:bodyPr/>
          <a:lstStyle/>
          <a:p>
            <a:fld id="{B645EB31-1C62-4062-9511-C82C6CC02C60}" type="slidenum">
              <a:rPr lang="en-US" smtClean="0"/>
              <a:t>11</a:t>
            </a:fld>
            <a:endParaRPr lang="en-US" dirty="0"/>
          </a:p>
        </p:txBody>
      </p:sp>
      <p:pic>
        <p:nvPicPr>
          <p:cNvPr id="7" name="Picture 6">
            <a:extLst>
              <a:ext uri="{FF2B5EF4-FFF2-40B4-BE49-F238E27FC236}">
                <a16:creationId xmlns:a16="http://schemas.microsoft.com/office/drawing/2014/main" id="{AA73E16B-EBD9-9B47-9F79-80DA0C514A75}"/>
              </a:ext>
            </a:extLst>
          </p:cNvPr>
          <p:cNvPicPr>
            <a:picLocks noChangeAspect="1"/>
          </p:cNvPicPr>
          <p:nvPr/>
        </p:nvPicPr>
        <p:blipFill>
          <a:blip r:embed="rId5">
            <a:alphaModFix amt="18000"/>
          </a:blip>
          <a:stretch>
            <a:fillRect/>
          </a:stretch>
        </p:blipFill>
        <p:spPr>
          <a:xfrm>
            <a:off x="10794548" y="206301"/>
            <a:ext cx="559252" cy="677784"/>
          </a:xfrm>
          <a:prstGeom prst="rect">
            <a:avLst/>
          </a:prstGeom>
        </p:spPr>
      </p:pic>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337681C7-0D56-B665-70EB-022B427D60AE}"/>
                  </a:ext>
                </a:extLst>
              </p:cNvPr>
              <p:cNvSpPr>
                <a:spLocks noGrp="1"/>
              </p:cNvSpPr>
              <p:nvPr>
                <p:ph idx="1"/>
              </p:nvPr>
            </p:nvSpPr>
            <p:spPr>
              <a:xfrm>
                <a:off x="838200" y="1825624"/>
                <a:ext cx="10515600" cy="4530725"/>
              </a:xfrm>
            </p:spPr>
            <p:txBody>
              <a:bodyPr>
                <a:normAutofit fontScale="62500" lnSpcReduction="20000"/>
              </a:bodyPr>
              <a:lstStyle/>
              <a:p>
                <a:pPr marL="0" indent="0" algn="just">
                  <a:buNone/>
                </a:pPr>
                <a:r>
                  <a:rPr lang="en-US" dirty="0">
                    <a:latin typeface="Calibri" panose="020F0502020204030204" pitchFamily="34" charset="0"/>
                    <a:ea typeface="Calibri" panose="020F0502020204030204" pitchFamily="34" charset="0"/>
                    <a:cs typeface="Calibri" panose="020F0502020204030204" pitchFamily="34" charset="0"/>
                  </a:rPr>
                  <a:t>First</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m:oMathPara>
                </a14:m>
                <a:endParaRPr lang="en-US" dirty="0"/>
              </a:p>
              <a:p>
                <a:pPr marL="0" indent="0" algn="just">
                  <a:buNone/>
                </a:pPr>
                <a:r>
                  <a:rPr lang="en-US" dirty="0"/>
                  <a:t>Compute error at output pre-activation:</a:t>
                </a:r>
              </a:p>
              <a:p>
                <a:pPr algn="just"/>
                <a:endParaRPr lang="en-US" dirty="0"/>
              </a:p>
              <a:p>
                <a:pPr marL="0" indent="0" algn="ctr">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𝑦</m:t>
                          </m:r>
                        </m:sup>
                      </m:sSub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𝑡</m:t>
                              </m:r>
                            </m:sub>
                          </m:sSub>
                        </m:num>
                        <m:den>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𝑦</m:t>
                              </m:r>
                            </m:sup>
                          </m:sSubSup>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den>
                      </m:f>
                      <m:r>
                        <a:rPr lang="en-US"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𝑡</m:t>
                              </m:r>
                            </m:sub>
                            <m:sup>
                              <m:r>
                                <a:rPr lang="en-US" b="0" i="1" smtClean="0">
                                  <a:latin typeface="Cambria Math" panose="02040503050406030204" pitchFamily="18" charset="0"/>
                                </a:rPr>
                                <m:t>𝑦</m:t>
                              </m:r>
                            </m:sup>
                          </m:sSubSup>
                        </m:den>
                      </m:f>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den>
                      </m:f>
                      <m:r>
                        <a:rPr lang="en-US"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𝑂</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𝑦</m:t>
                              </m:r>
                            </m:sup>
                          </m:sSubSup>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𝑦</m:t>
                              </m:r>
                            </m:sub>
                          </m:sSub>
                        </m:sup>
                      </m:sSup>
                    </m:oMath>
                  </m:oMathPara>
                </a14:m>
                <a:endParaRPr lang="en-US" dirty="0"/>
              </a:p>
              <a:p>
                <a:pPr marL="0" indent="0" algn="just">
                  <a:buNone/>
                </a:pPr>
                <a:r>
                  <a:rPr lang="en-US" dirty="0"/>
                  <a:t>Now,</a:t>
                </a:r>
              </a:p>
              <a:p>
                <a:pPr marL="0" indent="0" algn="ctr">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oMath>
                  </m:oMathPara>
                </a14:m>
                <a:endParaRPr lang="en-US" dirty="0"/>
              </a:p>
              <a:p>
                <a:pPr marL="0" indent="0" algn="just">
                  <a:buNone/>
                </a:pPr>
                <a:r>
                  <a:rPr lang="en-US" dirty="0"/>
                  <a:t>​Hence,</a:t>
                </a:r>
              </a:p>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i="1">
                                  <a:latin typeface="Cambria Math" panose="02040503050406030204" pitchFamily="18" charset="0"/>
                                </a:rPr>
                                <m:t>𝑡</m:t>
                              </m:r>
                            </m:sub>
                            <m:sup>
                              <m:r>
                                <a:rPr lang="en-US" i="1">
                                  <a:latin typeface="Cambria Math" panose="02040503050406030204" pitchFamily="18" charset="0"/>
                                </a:rPr>
                                <m:t>𝑦</m:t>
                              </m:r>
                            </m:sup>
                          </m:sSubSup>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sSubSup>
                        <m:sSubSupPr>
                          <m:ctrlPr>
                            <a:rPr lang="en-US" b="0"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sub>
                        <m:sup>
                          <m:r>
                            <m:rPr>
                              <m:sty m:val="p"/>
                            </m:rPr>
                            <a:rPr lang="en-US" b="0" i="0" smtClean="0">
                              <a:latin typeface="Cambria Math" panose="02040503050406030204" pitchFamily="18" charset="0"/>
                              <a:ea typeface="Cambria Math" panose="02040503050406030204" pitchFamily="18" charset="0"/>
                            </a:rPr>
                            <m:t>T</m:t>
                          </m:r>
                        </m:sup>
                      </m:sSub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𝑦</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h</m:t>
                              </m:r>
                            </m:sub>
                          </m:sSub>
                        </m:sup>
                      </m:sSup>
                    </m:oMath>
                  </m:oMathPara>
                </a14:m>
                <a:endParaRPr lang="en-US" dirty="0"/>
              </a:p>
              <a:p>
                <a:pPr marL="0" indent="0" algn="just">
                  <a:buNone/>
                </a:pPr>
                <a:r>
                  <a:rPr lang="en-US" dirty="0"/>
                  <a:t>Finally, gradient w.r.t </a:t>
                </a:r>
                <a14:m>
                  <m:oMath xmlns:m="http://schemas.openxmlformats.org/officeDocument/2006/math">
                    <m:r>
                      <a:rPr lang="en-US" b="0" i="1" smtClean="0">
                        <a:latin typeface="Cambria Math" panose="02040503050406030204" pitchFamily="18" charset="0"/>
                      </a:rPr>
                      <m:t>𝑊</m:t>
                    </m:r>
                  </m:oMath>
                </a14:m>
                <a:r>
                  <a:rPr lang="en-US" dirty="0"/>
                  <a:t>:</a:t>
                </a:r>
              </a:p>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𝑊</m:t>
                          </m:r>
                        </m:den>
                      </m:f>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𝑡</m:t>
                          </m:r>
                        </m:sub>
                        <m:sup/>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sSubSup>
                            <m:sSubSupPr>
                              <m:ctrlPr>
                                <a:rPr lang="en-US" b="0"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sub>
                            <m:sup>
                              <m:r>
                                <m:rPr>
                                  <m:sty m:val="p"/>
                                </m:rPr>
                                <a:rPr lang="en-US" b="0" i="0" smtClean="0">
                                  <a:latin typeface="Cambria Math" panose="02040503050406030204" pitchFamily="18" charset="0"/>
                                  <a:ea typeface="Cambria Math" panose="02040503050406030204" pitchFamily="18" charset="0"/>
                                </a:rPr>
                                <m:t>T</m:t>
                              </m:r>
                            </m:sup>
                          </m:sSubSup>
                        </m:e>
                      </m:nary>
                    </m:oMath>
                  </m:oMathPara>
                </a14:m>
                <a:endParaRPr lang="en-US" dirty="0"/>
              </a:p>
            </p:txBody>
          </p:sp>
        </mc:Choice>
        <mc:Fallback>
          <p:sp>
            <p:nvSpPr>
              <p:cNvPr id="8" name="Content Placeholder 7">
                <a:extLst>
                  <a:ext uri="{FF2B5EF4-FFF2-40B4-BE49-F238E27FC236}">
                    <a16:creationId xmlns:a16="http://schemas.microsoft.com/office/drawing/2014/main" id="{337681C7-0D56-B665-70EB-022B427D60AE}"/>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6"/>
                <a:stretch>
                  <a:fillRect l="-522" t="-215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804BBB5D-AE8A-3A49-DA63-B95DAC10EF17}"/>
              </a:ext>
            </a:extLst>
          </p:cNvPr>
          <p:cNvSpPr/>
          <p:nvPr/>
        </p:nvSpPr>
        <p:spPr>
          <a:xfrm>
            <a:off x="4968445" y="5439167"/>
            <a:ext cx="2255109" cy="83806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4383838-E54B-4975-9E54-FF8F2832FAD1}"/>
                  </a:ext>
                </a:extLst>
              </p:cNvPr>
              <p:cNvSpPr txBox="1"/>
              <p:nvPr/>
            </p:nvSpPr>
            <p:spPr>
              <a:xfrm>
                <a:off x="9001125" y="1653720"/>
                <a:ext cx="2942775" cy="2212144"/>
              </a:xfrm>
              <a:prstGeom prst="rect">
                <a:avLst/>
              </a:prstGeom>
              <a:noFill/>
              <a:ln w="19050">
                <a:solidFill>
                  <a:schemeClr val="tx1"/>
                </a:solidFill>
              </a:ln>
            </p:spPr>
            <p:txBody>
              <a:bodyPr wrap="square">
                <a:spAutoFit/>
              </a:bodyPr>
              <a:lstStyle/>
              <a:p>
                <a:pPr marL="0" indent="0" algn="just">
                  <a:buNone/>
                </a:pPr>
                <a:endParaRPr lang="en-US" dirty="0"/>
              </a:p>
              <a:p>
                <a:pPr marL="0" indent="0" algn="just">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𝑦</m:t>
                          </m:r>
                        </m:sup>
                      </m:sSubSup>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𝐶</m:t>
                      </m:r>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e>
                      </m:d>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Loss</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d>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e>
                      </m:nary>
                    </m:oMath>
                  </m:oMathPara>
                </a14:m>
                <a:endParaRPr lang="en-US" dirty="0"/>
              </a:p>
              <a:p>
                <a:pPr marL="0" indent="0" algn="ctr">
                  <a:buNone/>
                </a:pPr>
                <a:endParaRPr lang="en-US" dirty="0"/>
              </a:p>
            </p:txBody>
          </p:sp>
        </mc:Choice>
        <mc:Fallback>
          <p:sp>
            <p:nvSpPr>
              <p:cNvPr id="10" name="TextBox 9">
                <a:extLst>
                  <a:ext uri="{FF2B5EF4-FFF2-40B4-BE49-F238E27FC236}">
                    <a16:creationId xmlns:a16="http://schemas.microsoft.com/office/drawing/2014/main" id="{44383838-E54B-4975-9E54-FF8F2832FAD1}"/>
                  </a:ext>
                </a:extLst>
              </p:cNvPr>
              <p:cNvSpPr txBox="1">
                <a:spLocks noRot="1" noChangeAspect="1" noMove="1" noResize="1" noEditPoints="1" noAdjustHandles="1" noChangeArrowheads="1" noChangeShapeType="1" noTextEdit="1"/>
              </p:cNvSpPr>
              <p:nvPr/>
            </p:nvSpPr>
            <p:spPr>
              <a:xfrm>
                <a:off x="9001125" y="1653720"/>
                <a:ext cx="2942775" cy="2212144"/>
              </a:xfrm>
              <a:prstGeom prst="rect">
                <a:avLst/>
              </a:prstGeom>
              <a:blipFill>
                <a:blip r:embed="rId7"/>
                <a:stretch>
                  <a:fillRect/>
                </a:stretch>
              </a:blipFill>
              <a:ln w="1905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036824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AE908-9004-9B39-A5C7-AA82ECB3648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D8D96C1-395E-546D-53E8-BDD2A37ACFC3}"/>
                  </a:ext>
                </a:extLst>
              </p:cNvPr>
              <p:cNvSpPr>
                <a:spLocks noGrp="1"/>
              </p:cNvSpPr>
              <p:nvPr>
                <p:ph type="title"/>
              </p:nvPr>
            </p:nvSpPr>
            <p:spPr/>
            <p:txBody>
              <a:bodyPr>
                <a:normAutofit/>
              </a:bodyPr>
              <a:lstStyle/>
              <a:p>
                <a:pPr fontAlgn="base"/>
                <a:r>
                  <a:rPr lang="en-US" b="1" dirty="0"/>
                  <a:t>Gradients </a:t>
                </a:r>
                <a:r>
                  <a:rPr lang="en-US" b="1" dirty="0" err="1"/>
                  <a:t>w.r.t.</a:t>
                </a:r>
                <a:r>
                  <a:rPr lang="en-US" b="1" dirty="0"/>
                  <a:t> </a:t>
                </a:r>
                <a14:m>
                  <m:oMath xmlns:m="http://schemas.openxmlformats.org/officeDocument/2006/math">
                    <m:r>
                      <a:rPr lang="en-US" b="1" i="1" dirty="0" smtClean="0">
                        <a:latin typeface="Cambria Math" panose="02040503050406030204" pitchFamily="18" charset="0"/>
                      </a:rPr>
                      <m:t>𝑼</m:t>
                    </m:r>
                  </m:oMath>
                </a14:m>
                <a:endParaRPr lang="en-US" sz="4100" b="1" dirty="0"/>
              </a:p>
            </p:txBody>
          </p:sp>
        </mc:Choice>
        <mc:Fallback xmlns="">
          <p:sp>
            <p:nvSpPr>
              <p:cNvPr id="2" name="Title 1">
                <a:extLst>
                  <a:ext uri="{FF2B5EF4-FFF2-40B4-BE49-F238E27FC236}">
                    <a16:creationId xmlns:a16="http://schemas.microsoft.com/office/drawing/2014/main" id="{2D8D96C1-395E-546D-53E8-BDD2A37ACFC3}"/>
                  </a:ext>
                </a:extLst>
              </p:cNvPr>
              <p:cNvSpPr>
                <a:spLocks noGrp="1" noRot="1" noChangeAspect="1" noMove="1" noResize="1" noEditPoints="1" noAdjustHandles="1" noChangeArrowheads="1" noChangeShapeType="1" noTextEdit="1"/>
              </p:cNvSpPr>
              <p:nvPr>
                <p:ph type="title"/>
              </p:nvPr>
            </p:nvSpPr>
            <p:spPr>
              <a:blipFill>
                <a:blip r:embed="rId3"/>
                <a:stretch>
                  <a:fillRect l="-2377"/>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D57ECE7E-24AD-EE30-94FF-E2FB363D0858}"/>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109D62CC-CE97-7380-FBBE-2C1B594A5299}"/>
              </a:ext>
            </a:extLst>
          </p:cNvPr>
          <p:cNvSpPr>
            <a:spLocks noGrp="1"/>
          </p:cNvSpPr>
          <p:nvPr>
            <p:ph type="sldNum" sz="quarter" idx="12"/>
          </p:nvPr>
        </p:nvSpPr>
        <p:spPr/>
        <p:txBody>
          <a:bodyPr/>
          <a:lstStyle/>
          <a:p>
            <a:fld id="{B645EB31-1C62-4062-9511-C82C6CC02C60}" type="slidenum">
              <a:rPr lang="en-US" smtClean="0"/>
              <a:t>12</a:t>
            </a:fld>
            <a:endParaRPr lang="en-US" dirty="0"/>
          </a:p>
        </p:txBody>
      </p:sp>
      <p:pic>
        <p:nvPicPr>
          <p:cNvPr id="7" name="Picture 6">
            <a:extLst>
              <a:ext uri="{FF2B5EF4-FFF2-40B4-BE49-F238E27FC236}">
                <a16:creationId xmlns:a16="http://schemas.microsoft.com/office/drawing/2014/main" id="{A63EB3E7-C14F-9AAB-05A0-C4202B3C228C}"/>
              </a:ext>
            </a:extLst>
          </p:cNvPr>
          <p:cNvPicPr>
            <a:picLocks noChangeAspect="1"/>
          </p:cNvPicPr>
          <p:nvPr/>
        </p:nvPicPr>
        <p:blipFill>
          <a:blip r:embed="rId4">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99762096-292D-3A49-8F64-C4151BA0D174}"/>
                  </a:ext>
                </a:extLst>
              </p:cNvPr>
              <p:cNvSpPr>
                <a:spLocks noGrp="1"/>
              </p:cNvSpPr>
              <p:nvPr>
                <p:ph idx="1"/>
              </p:nvPr>
            </p:nvSpPr>
            <p:spPr>
              <a:xfrm>
                <a:off x="838200" y="1825624"/>
                <a:ext cx="10515600" cy="4530725"/>
              </a:xfrm>
            </p:spPr>
            <p:txBody>
              <a:bodyPr>
                <a:normAutofit fontScale="62500" lnSpcReduction="20000"/>
              </a:bodyPr>
              <a:lstStyle/>
              <a:p>
                <a:pPr algn="just"/>
                <a:r>
                  <a:rPr lang="en-US" dirty="0"/>
                  <a:t>First:</a:t>
                </a:r>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w</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r</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and</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𝐿</m:t>
                      </m:r>
                    </m:oMath>
                  </m:oMathPara>
                </a14:m>
                <a:endParaRPr lang="en-US" dirty="0"/>
              </a:p>
              <a:p>
                <a:pPr marL="0" indent="0" algn="just">
                  <a:buNone/>
                </a:pPr>
                <a:r>
                  <a:rPr lang="en-US" dirty="0"/>
                  <a:t>Then, define</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den>
                      </m:f>
                      <m:r>
                        <a:rPr lang="en-US" b="0" i="1" smtClean="0">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𝐿</m:t>
                              </m:r>
                            </m:e>
                            <m:sub>
                              <m:r>
                                <a:rPr lang="en-US" i="1">
                                  <a:solidFill>
                                    <a:srgbClr val="FF0000"/>
                                  </a:solidFill>
                                  <a:latin typeface="Cambria Math" panose="02040503050406030204" pitchFamily="18" charset="0"/>
                                  <a:ea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𝑎</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𝑎</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h</m:t>
                              </m:r>
                            </m:e>
                            <m:sub>
                              <m:r>
                                <a:rPr lang="en-US" i="1">
                                  <a:solidFill>
                                    <a:srgbClr val="FF0000"/>
                                  </a:solidFill>
                                  <a:latin typeface="Cambria Math" panose="02040503050406030204" pitchFamily="18" charset="0"/>
                                  <a:ea typeface="Cambria Math" panose="02040503050406030204" pitchFamily="18" charset="0"/>
                                </a:rPr>
                                <m:t>𝑡</m:t>
                              </m:r>
                            </m:sub>
                          </m:sSub>
                        </m:den>
                      </m:f>
                      <m:r>
                        <a:rPr lang="en-US" i="1">
                          <a:latin typeface="Cambria Math" panose="02040503050406030204" pitchFamily="18" charset="0"/>
                          <a:ea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h</m:t>
                              </m:r>
                            </m:e>
                            <m:sub>
                              <m:r>
                                <a:rPr lang="en-US" i="1">
                                  <a:solidFill>
                                    <a:schemeClr val="tx1"/>
                                  </a:solidFill>
                                  <a:latin typeface="Cambria Math" panose="02040503050406030204" pitchFamily="18" charset="0"/>
                                  <a:ea typeface="Cambria Math" panose="02040503050406030204" pitchFamily="18" charset="0"/>
                                </a:rPr>
                                <m:t>𝑡</m:t>
                              </m:r>
                            </m:sub>
                          </m:sSub>
                        </m:num>
                        <m:den>
                          <m:r>
                            <a:rPr lang="en-US" i="1">
                              <a:solidFill>
                                <a:schemeClr val="tx1"/>
                              </a:solidFill>
                              <a:latin typeface="Cambria Math" panose="02040503050406030204" pitchFamily="18" charset="0"/>
                              <a:ea typeface="Cambria Math" panose="02040503050406030204" pitchFamily="18" charset="0"/>
                            </a:rPr>
                            <m:t>𝜕</m:t>
                          </m:r>
                          <m:sSubSup>
                            <m:sSubSupPr>
                              <m:ctrlPr>
                                <a:rPr lang="en-US" i="1">
                                  <a:solidFill>
                                    <a:schemeClr val="tx1"/>
                                  </a:solidFill>
                                  <a:latin typeface="Cambria Math" panose="02040503050406030204" pitchFamily="18" charset="0"/>
                                  <a:ea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𝑎</m:t>
                              </m:r>
                            </m:e>
                            <m:sub>
                              <m:r>
                                <a:rPr lang="en-US" i="1">
                                  <a:solidFill>
                                    <a:schemeClr val="tx1"/>
                                  </a:solidFill>
                                  <a:latin typeface="Cambria Math" panose="02040503050406030204" pitchFamily="18" charset="0"/>
                                  <a:ea typeface="Cambria Math" panose="02040503050406030204" pitchFamily="18" charset="0"/>
                                </a:rPr>
                                <m:t>𝑡</m:t>
                              </m:r>
                            </m:sub>
                            <m:sup>
                              <m:r>
                                <a:rPr lang="en-US" i="1">
                                  <a:solidFill>
                                    <a:schemeClr val="tx1"/>
                                  </a:solidFill>
                                  <a:latin typeface="Cambria Math" panose="02040503050406030204" pitchFamily="18" charset="0"/>
                                  <a:ea typeface="Cambria Math" panose="02040503050406030204" pitchFamily="18" charset="0"/>
                                </a:rPr>
                                <m:t>h</m:t>
                              </m:r>
                            </m:sup>
                          </m:sSubSup>
                        </m:den>
                      </m:f>
                    </m:oMath>
                  </m:oMathPara>
                </a14:m>
                <a:endParaRPr lang="en-US" dirty="0"/>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𝐿</m:t>
                              </m:r>
                            </m:e>
                            <m:sub>
                              <m:r>
                                <a:rPr lang="en-US" i="1">
                                  <a:solidFill>
                                    <a:srgbClr val="FF0000"/>
                                  </a:solidFill>
                                  <a:latin typeface="Cambria Math" panose="02040503050406030204" pitchFamily="18" charset="0"/>
                                  <a:ea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𝑎</m:t>
                              </m:r>
                            </m:e>
                            <m:sub>
                              <m:r>
                                <a:rPr lang="en-US" i="1">
                                  <a:solidFill>
                                    <a:srgbClr val="FF0000"/>
                                  </a:solidFill>
                                  <a:latin typeface="Cambria Math" panose="02040503050406030204" pitchFamily="18" charset="0"/>
                                </a:rPr>
                                <m:t>𝑡</m:t>
                              </m:r>
                            </m:sub>
                            <m:sup>
                              <m:r>
                                <a:rPr lang="en-US" i="1">
                                  <a:solidFill>
                                    <a:srgbClr val="FF0000"/>
                                  </a:solidFill>
                                  <a:latin typeface="Cambria Math" panose="02040503050406030204" pitchFamily="18" charset="0"/>
                                </a:rPr>
                                <m:t>𝑦</m:t>
                              </m:r>
                            </m:sup>
                          </m:sSubSup>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𝑎</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h</m:t>
                              </m:r>
                            </m:e>
                            <m:sub>
                              <m:r>
                                <a:rPr lang="en-US" i="1">
                                  <a:solidFill>
                                    <a:srgbClr val="FF0000"/>
                                  </a:solidFill>
                                  <a:latin typeface="Cambria Math" panose="02040503050406030204" pitchFamily="18" charset="0"/>
                                  <a:ea typeface="Cambria Math" panose="02040503050406030204" pitchFamily="18" charset="0"/>
                                </a:rPr>
                                <m:t>𝑡</m:t>
                              </m:r>
                            </m:sub>
                          </m:sSub>
                        </m:den>
                      </m:f>
                      <m:r>
                        <a:rPr lang="en-US" i="1">
                          <a:solidFill>
                            <a:srgbClr val="FF0000"/>
                          </a:solidFill>
                          <a:latin typeface="Cambria Math" panose="02040503050406030204" pitchFamily="18" charset="0"/>
                          <a:ea typeface="Cambria Math" panose="02040503050406030204" pitchFamily="18" charset="0"/>
                        </a:rPr>
                        <m:t>=</m:t>
                      </m:r>
                      <m:sSup>
                        <m:sSupPr>
                          <m:ctrlPr>
                            <a:rPr lang="en-US" i="1">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𝑊</m:t>
                          </m:r>
                        </m:e>
                        <m:sup>
                          <m:r>
                            <m:rPr>
                              <m:sty m:val="p"/>
                            </m:rPr>
                            <a:rPr lang="en-US">
                              <a:solidFill>
                                <a:srgbClr val="FF0000"/>
                              </a:solidFill>
                              <a:latin typeface="Cambria Math" panose="02040503050406030204" pitchFamily="18" charset="0"/>
                              <a:ea typeface="Cambria Math" panose="02040503050406030204" pitchFamily="18" charset="0"/>
                            </a:rPr>
                            <m:t>T</m:t>
                          </m:r>
                        </m:sup>
                      </m:sSup>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𝛿</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oMath>
                  </m:oMathPara>
                </a14:m>
                <a:endParaRPr lang="en-US" dirty="0"/>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𝑡</m:t>
                              </m:r>
                            </m:sub>
                          </m:sSub>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den>
                      </m:f>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den>
                      </m:f>
                      <m:r>
                        <a:rPr lang="en-US" i="1">
                          <a:latin typeface="Cambria Math" panose="02040503050406030204" pitchFamily="18" charset="0"/>
                          <a:ea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Sup>
                            <m:sSubSupPr>
                              <m:ctrlPr>
                                <a:rPr lang="en-US" i="1">
                                  <a:solidFill>
                                    <a:schemeClr val="tx1"/>
                                  </a:solidFill>
                                  <a:latin typeface="Cambria Math" panose="02040503050406030204" pitchFamily="18" charset="0"/>
                                  <a:ea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𝑎</m:t>
                              </m:r>
                            </m:e>
                            <m:sub>
                              <m:r>
                                <a:rPr lang="en-US" i="1">
                                  <a:solidFill>
                                    <a:schemeClr val="tx1"/>
                                  </a:solidFill>
                                  <a:latin typeface="Cambria Math" panose="02040503050406030204" pitchFamily="18" charset="0"/>
                                  <a:ea typeface="Cambria Math" panose="02040503050406030204" pitchFamily="18" charset="0"/>
                                </a:rPr>
                                <m:t>𝑡</m:t>
                              </m:r>
                            </m:sub>
                            <m:sup>
                              <m:r>
                                <a:rPr lang="en-US" i="1">
                                  <a:solidFill>
                                    <a:schemeClr val="tx1"/>
                                  </a:solidFill>
                                  <a:latin typeface="Cambria Math" panose="02040503050406030204" pitchFamily="18" charset="0"/>
                                  <a:ea typeface="Cambria Math" panose="02040503050406030204" pitchFamily="18" charset="0"/>
                                </a:rPr>
                                <m:t>h</m:t>
                              </m:r>
                            </m:sup>
                          </m:sSubSup>
                        </m:num>
                        <m:den>
                          <m:r>
                            <a:rPr lang="en-US"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𝑈</m:t>
                          </m:r>
                        </m:den>
                      </m:f>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sSubSup>
                        <m:sSubSupPr>
                          <m:ctrlPr>
                            <a:rPr lang="en-US" b="0" i="1" smtClean="0">
                              <a:solidFill>
                                <a:schemeClr val="tx1"/>
                              </a:solidFill>
                              <a:latin typeface="Cambria Math" panose="02040503050406030204" pitchFamily="18" charset="0"/>
                              <a:ea typeface="Cambria Math" panose="02040503050406030204" pitchFamily="18" charset="0"/>
                            </a:rPr>
                          </m:ctrlPr>
                        </m:sSubSupPr>
                        <m:e>
                          <m:r>
                            <a:rPr lang="en-US" b="0" i="1" smtClean="0">
                              <a:solidFill>
                                <a:schemeClr val="tx1"/>
                              </a:solidFill>
                              <a:latin typeface="Cambria Math" panose="02040503050406030204" pitchFamily="18" charset="0"/>
                              <a:ea typeface="Cambria Math" panose="02040503050406030204" pitchFamily="18" charset="0"/>
                            </a:rPr>
                            <m:t>𝑋</m:t>
                          </m:r>
                        </m:e>
                        <m:sub>
                          <m:r>
                            <a:rPr lang="en-US" b="0" i="1" smtClean="0">
                              <a:solidFill>
                                <a:schemeClr val="tx1"/>
                              </a:solidFill>
                              <a:latin typeface="Cambria Math" panose="02040503050406030204" pitchFamily="18" charset="0"/>
                              <a:ea typeface="Cambria Math" panose="02040503050406030204" pitchFamily="18" charset="0"/>
                            </a:rPr>
                            <m:t>𝑡</m:t>
                          </m:r>
                        </m:sub>
                        <m:sup>
                          <m:r>
                            <m:rPr>
                              <m:sty m:val="p"/>
                            </m:rPr>
                            <a:rPr lang="en-US" b="0" i="0" smtClean="0">
                              <a:solidFill>
                                <a:schemeClr val="tx1"/>
                              </a:solidFill>
                              <a:latin typeface="Cambria Math" panose="02040503050406030204" pitchFamily="18" charset="0"/>
                              <a:ea typeface="Cambria Math" panose="02040503050406030204" pitchFamily="18" charset="0"/>
                            </a:rPr>
                            <m:t>T</m:t>
                          </m:r>
                        </m:sup>
                      </m:sSub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h</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𝑥</m:t>
                              </m:r>
                            </m:sub>
                          </m:sSub>
                        </m:sup>
                      </m:sSup>
                    </m:oMath>
                  </m:oMathPara>
                </a14:m>
                <a:endParaRPr lang="en-US" dirty="0"/>
              </a:p>
              <a:p>
                <a:pPr marL="0" indent="0" algn="just">
                  <a:buNone/>
                </a:pPr>
                <a:r>
                  <a:rPr lang="en-US" dirty="0"/>
                  <a:t>Finally,</a:t>
                </a:r>
              </a:p>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den>
                      </m:f>
                      <m:r>
                        <a:rPr lang="en-US" i="1">
                          <a:latin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𝑡</m:t>
                          </m:r>
                        </m:sub>
                        <m:sup/>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h</m:t>
                              </m:r>
                            </m:sup>
                          </m:sSubSup>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𝑡</m:t>
                              </m:r>
                            </m:sub>
                            <m:sup>
                              <m:r>
                                <m:rPr>
                                  <m:sty m:val="p"/>
                                </m:rPr>
                                <a:rPr lang="en-US" b="0" i="0" smtClean="0">
                                  <a:latin typeface="Cambria Math" panose="02040503050406030204" pitchFamily="18" charset="0"/>
                                  <a:ea typeface="Cambria Math" panose="02040503050406030204" pitchFamily="18" charset="0"/>
                                </a:rPr>
                                <m:t>T</m:t>
                              </m:r>
                            </m:sup>
                          </m:sSubSup>
                        </m:e>
                      </m:nary>
                    </m:oMath>
                  </m:oMathPara>
                </a14:m>
                <a:endParaRPr lang="en-US" dirty="0"/>
              </a:p>
              <a:p>
                <a:pPr marL="0" indent="0" algn="ctr">
                  <a:buNone/>
                </a:pPr>
                <a:endParaRPr lang="en-US" dirty="0"/>
              </a:p>
              <a:p>
                <a:pPr marL="0" indent="0" algn="ctr">
                  <a:buNone/>
                </a:pPr>
                <a:endParaRPr lang="en-US" dirty="0"/>
              </a:p>
              <a:p>
                <a:pPr marL="0" indent="0" algn="ctr">
                  <a:buNone/>
                </a:pPr>
                <a:endParaRPr lang="en-US" dirty="0"/>
              </a:p>
            </p:txBody>
          </p:sp>
        </mc:Choice>
        <mc:Fallback xmlns="">
          <p:sp>
            <p:nvSpPr>
              <p:cNvPr id="8" name="Content Placeholder 7">
                <a:extLst>
                  <a:ext uri="{FF2B5EF4-FFF2-40B4-BE49-F238E27FC236}">
                    <a16:creationId xmlns:a16="http://schemas.microsoft.com/office/drawing/2014/main" id="{99762096-292D-3A49-8F64-C4151BA0D174}"/>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5"/>
                <a:stretch>
                  <a:fillRect l="-522" t="-2016"/>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AA5D65DA-C519-2280-EC88-39136CB19B82}"/>
              </a:ext>
            </a:extLst>
          </p:cNvPr>
          <p:cNvSpPr/>
          <p:nvPr/>
        </p:nvSpPr>
        <p:spPr>
          <a:xfrm>
            <a:off x="4831492" y="5418438"/>
            <a:ext cx="2421924" cy="10008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772FD09-DBBD-47A9-AA59-D6B6C33BFF1C}"/>
              </a:ext>
            </a:extLst>
          </p:cNvPr>
          <p:cNvPicPr>
            <a:picLocks noChangeAspect="1"/>
          </p:cNvPicPr>
          <p:nvPr/>
        </p:nvPicPr>
        <p:blipFill>
          <a:blip r:embed="rId6"/>
          <a:stretch>
            <a:fillRect/>
          </a:stretch>
        </p:blipFill>
        <p:spPr>
          <a:xfrm>
            <a:off x="8020374" y="4567136"/>
            <a:ext cx="4083260" cy="1924149"/>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630B7D51-E10C-4EB6-9ACC-944B024027CE}"/>
                  </a:ext>
                </a:extLst>
              </p:cNvPr>
              <p:cNvSpPr txBox="1"/>
              <p:nvPr/>
            </p:nvSpPr>
            <p:spPr>
              <a:xfrm>
                <a:off x="9039225" y="1690688"/>
                <a:ext cx="2942775" cy="2533835"/>
              </a:xfrm>
              <a:prstGeom prst="rect">
                <a:avLst/>
              </a:prstGeom>
              <a:noFill/>
              <a:ln w="19050">
                <a:solidFill>
                  <a:schemeClr val="tx1"/>
                </a:solidFill>
              </a:ln>
            </p:spPr>
            <p:txBody>
              <a:bodyPr wrap="square">
                <a:spAutoFit/>
              </a:bodyPr>
              <a:lstStyle/>
              <a:p>
                <a:pPr marL="0" indent="0" algn="just">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h</m:t>
                          </m:r>
                        </m:sup>
                      </m:sSubSup>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d>
                        <m:dPr>
                          <m:ctrlPr>
                            <a:rPr lang="en-US" i="1">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e>
                      </m:d>
                    </m:oMath>
                  </m:oMathPara>
                </a14:m>
                <a:endParaRPr lang="en-US" dirty="0"/>
              </a:p>
              <a:p>
                <a:pPr marL="0" indent="0" algn="just">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𝑦</m:t>
                          </m:r>
                        </m:sup>
                      </m:sSubSup>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𝐶</m:t>
                      </m:r>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e>
                      </m:d>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Loss</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d>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e>
                      </m:nary>
                    </m:oMath>
                  </m:oMathPara>
                </a14:m>
                <a:endParaRPr lang="en-US" dirty="0"/>
              </a:p>
              <a:p>
                <a:pPr marL="0" indent="0" algn="ctr">
                  <a:buNone/>
                </a:pPr>
                <a:endParaRPr lang="en-US" dirty="0"/>
              </a:p>
            </p:txBody>
          </p:sp>
        </mc:Choice>
        <mc:Fallback>
          <p:sp>
            <p:nvSpPr>
              <p:cNvPr id="11" name="TextBox 10">
                <a:extLst>
                  <a:ext uri="{FF2B5EF4-FFF2-40B4-BE49-F238E27FC236}">
                    <a16:creationId xmlns:a16="http://schemas.microsoft.com/office/drawing/2014/main" id="{630B7D51-E10C-4EB6-9ACC-944B024027CE}"/>
                  </a:ext>
                </a:extLst>
              </p:cNvPr>
              <p:cNvSpPr txBox="1">
                <a:spLocks noRot="1" noChangeAspect="1" noMove="1" noResize="1" noEditPoints="1" noAdjustHandles="1" noChangeArrowheads="1" noChangeShapeType="1" noTextEdit="1"/>
              </p:cNvSpPr>
              <p:nvPr/>
            </p:nvSpPr>
            <p:spPr>
              <a:xfrm>
                <a:off x="9039225" y="1690688"/>
                <a:ext cx="2942775" cy="2533835"/>
              </a:xfrm>
              <a:prstGeom prst="rect">
                <a:avLst/>
              </a:prstGeom>
              <a:blipFill>
                <a:blip r:embed="rId7"/>
                <a:stretch>
                  <a:fillRect/>
                </a:stretch>
              </a:blipFill>
              <a:ln w="1905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704336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3897A-10D6-1542-18B1-9F4E560E61E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B8A9DCF-C8F2-3236-A258-50BB722461F2}"/>
                  </a:ext>
                </a:extLst>
              </p:cNvPr>
              <p:cNvSpPr>
                <a:spLocks noGrp="1"/>
              </p:cNvSpPr>
              <p:nvPr>
                <p:ph type="title"/>
              </p:nvPr>
            </p:nvSpPr>
            <p:spPr/>
            <p:txBody>
              <a:bodyPr>
                <a:normAutofit/>
              </a:bodyPr>
              <a:lstStyle/>
              <a:p>
                <a:pPr fontAlgn="base"/>
                <a:r>
                  <a:rPr lang="en-US" b="1" dirty="0"/>
                  <a:t>Gradients </a:t>
                </a:r>
                <a:r>
                  <a:rPr lang="en-US" b="1" dirty="0" err="1"/>
                  <a:t>w.r.t.</a:t>
                </a:r>
                <a:r>
                  <a:rPr lang="en-US" b="1" dirty="0"/>
                  <a:t> </a:t>
                </a:r>
                <a14:m>
                  <m:oMath xmlns:m="http://schemas.openxmlformats.org/officeDocument/2006/math">
                    <m:r>
                      <a:rPr lang="en-US" b="1" i="1" dirty="0" smtClean="0">
                        <a:latin typeface="Cambria Math" panose="02040503050406030204" pitchFamily="18" charset="0"/>
                      </a:rPr>
                      <m:t>𝑽</m:t>
                    </m:r>
                  </m:oMath>
                </a14:m>
                <a:endParaRPr lang="en-US" sz="4100" b="1" dirty="0"/>
              </a:p>
            </p:txBody>
          </p:sp>
        </mc:Choice>
        <mc:Fallback xmlns="">
          <p:sp>
            <p:nvSpPr>
              <p:cNvPr id="2" name="Title 1">
                <a:extLst>
                  <a:ext uri="{FF2B5EF4-FFF2-40B4-BE49-F238E27FC236}">
                    <a16:creationId xmlns:a16="http://schemas.microsoft.com/office/drawing/2014/main" id="{4B8A9DCF-C8F2-3236-A258-50BB722461F2}"/>
                  </a:ext>
                </a:extLst>
              </p:cNvPr>
              <p:cNvSpPr>
                <a:spLocks noGrp="1" noRot="1" noChangeAspect="1" noMove="1" noResize="1" noEditPoints="1" noAdjustHandles="1" noChangeArrowheads="1" noChangeShapeType="1" noTextEdit="1"/>
              </p:cNvSpPr>
              <p:nvPr>
                <p:ph type="title"/>
              </p:nvPr>
            </p:nvSpPr>
            <p:spPr>
              <a:blipFill>
                <a:blip r:embed="rId3"/>
                <a:stretch>
                  <a:fillRect l="-2377"/>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C3107FC8-C39D-8E93-CB5B-D6A961E3FEA8}"/>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92D46A3A-B829-44F2-82C3-B4F4604C8982}"/>
              </a:ext>
            </a:extLst>
          </p:cNvPr>
          <p:cNvSpPr>
            <a:spLocks noGrp="1"/>
          </p:cNvSpPr>
          <p:nvPr>
            <p:ph type="sldNum" sz="quarter" idx="12"/>
          </p:nvPr>
        </p:nvSpPr>
        <p:spPr/>
        <p:txBody>
          <a:bodyPr/>
          <a:lstStyle/>
          <a:p>
            <a:fld id="{B645EB31-1C62-4062-9511-C82C6CC02C60}" type="slidenum">
              <a:rPr lang="en-US" smtClean="0"/>
              <a:t>13</a:t>
            </a:fld>
            <a:endParaRPr lang="en-US" dirty="0"/>
          </a:p>
        </p:txBody>
      </p:sp>
      <p:pic>
        <p:nvPicPr>
          <p:cNvPr id="7" name="Picture 6">
            <a:extLst>
              <a:ext uri="{FF2B5EF4-FFF2-40B4-BE49-F238E27FC236}">
                <a16:creationId xmlns:a16="http://schemas.microsoft.com/office/drawing/2014/main" id="{F6D8CE4D-E166-E9B1-9125-3217943E9C2C}"/>
              </a:ext>
            </a:extLst>
          </p:cNvPr>
          <p:cNvPicPr>
            <a:picLocks noChangeAspect="1"/>
          </p:cNvPicPr>
          <p:nvPr/>
        </p:nvPicPr>
        <p:blipFill>
          <a:blip r:embed="rId4">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1C35B330-C9C1-7D8B-0026-F4BEAFEFDC83}"/>
                  </a:ext>
                </a:extLst>
              </p:cNvPr>
              <p:cNvSpPr>
                <a:spLocks noGrp="1"/>
              </p:cNvSpPr>
              <p:nvPr>
                <p:ph idx="1"/>
              </p:nvPr>
            </p:nvSpPr>
            <p:spPr>
              <a:xfrm>
                <a:off x="838200" y="1825624"/>
                <a:ext cx="10515600" cy="4530725"/>
              </a:xfrm>
            </p:spPr>
            <p:txBody>
              <a:bodyPr>
                <a:normAutofit fontScale="62500" lnSpcReduction="20000"/>
              </a:bodyPr>
              <a:lstStyle/>
              <a:p>
                <a:pPr algn="just"/>
                <a:r>
                  <a:rPr lang="en-US" dirty="0"/>
                  <a:t>First:</a:t>
                </a:r>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w</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r</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and</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𝐿</m:t>
                      </m:r>
                    </m:oMath>
                  </m:oMathPara>
                </a14:m>
                <a:endParaRPr lang="en-US" dirty="0"/>
              </a:p>
              <a:p>
                <a:pPr marL="0" indent="0" algn="just">
                  <a:buNone/>
                </a:pPr>
                <a:r>
                  <a:rPr lang="en-US" dirty="0"/>
                  <a:t>Then, define</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den>
                      </m:f>
                      <m:r>
                        <a:rPr lang="en-US" b="0" i="1" smtClean="0">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𝐿</m:t>
                              </m:r>
                            </m:e>
                            <m:sub>
                              <m:r>
                                <a:rPr lang="en-US" i="1">
                                  <a:solidFill>
                                    <a:srgbClr val="FF0000"/>
                                  </a:solidFill>
                                  <a:latin typeface="Cambria Math" panose="02040503050406030204" pitchFamily="18" charset="0"/>
                                  <a:ea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𝑎</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𝑎</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h</m:t>
                              </m:r>
                            </m:e>
                            <m:sub>
                              <m:r>
                                <a:rPr lang="en-US" i="1">
                                  <a:solidFill>
                                    <a:srgbClr val="FF0000"/>
                                  </a:solidFill>
                                  <a:latin typeface="Cambria Math" panose="02040503050406030204" pitchFamily="18" charset="0"/>
                                  <a:ea typeface="Cambria Math" panose="02040503050406030204" pitchFamily="18" charset="0"/>
                                </a:rPr>
                                <m:t>𝑡</m:t>
                              </m:r>
                            </m:sub>
                          </m:sSub>
                        </m:den>
                      </m:f>
                      <m:r>
                        <a:rPr lang="en-US" i="1">
                          <a:latin typeface="Cambria Math" panose="02040503050406030204" pitchFamily="18" charset="0"/>
                          <a:ea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h</m:t>
                              </m:r>
                            </m:e>
                            <m:sub>
                              <m:r>
                                <a:rPr lang="en-US" i="1">
                                  <a:solidFill>
                                    <a:schemeClr val="tx1"/>
                                  </a:solidFill>
                                  <a:latin typeface="Cambria Math" panose="02040503050406030204" pitchFamily="18" charset="0"/>
                                  <a:ea typeface="Cambria Math" panose="02040503050406030204" pitchFamily="18" charset="0"/>
                                </a:rPr>
                                <m:t>𝑡</m:t>
                              </m:r>
                            </m:sub>
                          </m:sSub>
                        </m:num>
                        <m:den>
                          <m:r>
                            <a:rPr lang="en-US" i="1">
                              <a:solidFill>
                                <a:schemeClr val="tx1"/>
                              </a:solidFill>
                              <a:latin typeface="Cambria Math" panose="02040503050406030204" pitchFamily="18" charset="0"/>
                              <a:ea typeface="Cambria Math" panose="02040503050406030204" pitchFamily="18" charset="0"/>
                            </a:rPr>
                            <m:t>𝜕</m:t>
                          </m:r>
                          <m:sSubSup>
                            <m:sSubSupPr>
                              <m:ctrlPr>
                                <a:rPr lang="en-US" i="1">
                                  <a:solidFill>
                                    <a:schemeClr val="tx1"/>
                                  </a:solidFill>
                                  <a:latin typeface="Cambria Math" panose="02040503050406030204" pitchFamily="18" charset="0"/>
                                  <a:ea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𝑎</m:t>
                              </m:r>
                            </m:e>
                            <m:sub>
                              <m:r>
                                <a:rPr lang="en-US" i="1">
                                  <a:solidFill>
                                    <a:schemeClr val="tx1"/>
                                  </a:solidFill>
                                  <a:latin typeface="Cambria Math" panose="02040503050406030204" pitchFamily="18" charset="0"/>
                                  <a:ea typeface="Cambria Math" panose="02040503050406030204" pitchFamily="18" charset="0"/>
                                </a:rPr>
                                <m:t>𝑡</m:t>
                              </m:r>
                            </m:sub>
                            <m:sup>
                              <m:r>
                                <a:rPr lang="en-US" i="1">
                                  <a:solidFill>
                                    <a:schemeClr val="tx1"/>
                                  </a:solidFill>
                                  <a:latin typeface="Cambria Math" panose="02040503050406030204" pitchFamily="18" charset="0"/>
                                  <a:ea typeface="Cambria Math" panose="02040503050406030204" pitchFamily="18" charset="0"/>
                                </a:rPr>
                                <m:t>h</m:t>
                              </m:r>
                            </m:sup>
                          </m:sSubSup>
                        </m:den>
                      </m:f>
                    </m:oMath>
                  </m:oMathPara>
                </a14:m>
                <a:endParaRPr lang="en-US" dirty="0"/>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𝐿</m:t>
                              </m:r>
                            </m:e>
                            <m:sub>
                              <m:r>
                                <a:rPr lang="en-US" i="1">
                                  <a:solidFill>
                                    <a:srgbClr val="FF0000"/>
                                  </a:solidFill>
                                  <a:latin typeface="Cambria Math" panose="02040503050406030204" pitchFamily="18" charset="0"/>
                                  <a:ea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a:solidFill>
                                    <a:srgbClr val="FF0000"/>
                                  </a:solidFill>
                                  <a:latin typeface="Cambria Math" panose="02040503050406030204" pitchFamily="18" charset="0"/>
                                </a:rPr>
                                <m:t>𝑡</m:t>
                              </m:r>
                            </m:sub>
                          </m:sSub>
                        </m:num>
                        <m:den>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𝑎</m:t>
                              </m:r>
                            </m:e>
                            <m:sub>
                              <m:r>
                                <a:rPr lang="en-US" i="1">
                                  <a:solidFill>
                                    <a:srgbClr val="FF0000"/>
                                  </a:solidFill>
                                  <a:latin typeface="Cambria Math" panose="02040503050406030204" pitchFamily="18" charset="0"/>
                                </a:rPr>
                                <m:t>𝑡</m:t>
                              </m:r>
                            </m:sub>
                            <m:sup>
                              <m:r>
                                <a:rPr lang="en-US" i="1">
                                  <a:solidFill>
                                    <a:srgbClr val="FF0000"/>
                                  </a:solidFill>
                                  <a:latin typeface="Cambria Math" panose="02040503050406030204" pitchFamily="18" charset="0"/>
                                </a:rPr>
                                <m:t>𝑦</m:t>
                              </m:r>
                            </m:sup>
                          </m:sSubSup>
                        </m:den>
                      </m:f>
                      <m:r>
                        <a:rPr lang="en-US" i="1">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m:t>
                          </m:r>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𝑎</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num>
                        <m:den>
                          <m:r>
                            <a:rPr lang="en-US" i="1">
                              <a:solidFill>
                                <a:srgbClr val="FF0000"/>
                              </a:solidFill>
                              <a:latin typeface="Cambria Math" panose="02040503050406030204" pitchFamily="18" charset="0"/>
                              <a:ea typeface="Cambria Math" panose="02040503050406030204" pitchFamily="18" charset="0"/>
                            </a:rPr>
                            <m:t>𝜕</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h</m:t>
                              </m:r>
                            </m:e>
                            <m:sub>
                              <m:r>
                                <a:rPr lang="en-US" i="1">
                                  <a:solidFill>
                                    <a:srgbClr val="FF0000"/>
                                  </a:solidFill>
                                  <a:latin typeface="Cambria Math" panose="02040503050406030204" pitchFamily="18" charset="0"/>
                                  <a:ea typeface="Cambria Math" panose="02040503050406030204" pitchFamily="18" charset="0"/>
                                </a:rPr>
                                <m:t>𝑡</m:t>
                              </m:r>
                            </m:sub>
                          </m:sSub>
                        </m:den>
                      </m:f>
                      <m:r>
                        <a:rPr lang="en-US" i="1">
                          <a:solidFill>
                            <a:srgbClr val="FF0000"/>
                          </a:solidFill>
                          <a:latin typeface="Cambria Math" panose="02040503050406030204" pitchFamily="18" charset="0"/>
                          <a:ea typeface="Cambria Math" panose="02040503050406030204" pitchFamily="18" charset="0"/>
                        </a:rPr>
                        <m:t>=</m:t>
                      </m:r>
                      <m:sSup>
                        <m:sSupPr>
                          <m:ctrlPr>
                            <a:rPr lang="en-US" i="1">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𝑊</m:t>
                          </m:r>
                        </m:e>
                        <m:sup>
                          <m:r>
                            <m:rPr>
                              <m:sty m:val="p"/>
                            </m:rPr>
                            <a:rPr lang="en-US">
                              <a:solidFill>
                                <a:srgbClr val="FF0000"/>
                              </a:solidFill>
                              <a:latin typeface="Cambria Math" panose="02040503050406030204" pitchFamily="18" charset="0"/>
                              <a:ea typeface="Cambria Math" panose="02040503050406030204" pitchFamily="18" charset="0"/>
                            </a:rPr>
                            <m:t>T</m:t>
                          </m:r>
                        </m:sup>
                      </m:sSup>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𝛿</m:t>
                          </m:r>
                        </m:e>
                        <m:sub>
                          <m:r>
                            <a:rPr lang="en-US" i="1">
                              <a:solidFill>
                                <a:srgbClr val="FF0000"/>
                              </a:solidFill>
                              <a:latin typeface="Cambria Math" panose="02040503050406030204" pitchFamily="18" charset="0"/>
                              <a:ea typeface="Cambria Math" panose="02040503050406030204" pitchFamily="18" charset="0"/>
                            </a:rPr>
                            <m:t>𝑡</m:t>
                          </m:r>
                        </m:sub>
                        <m:sup>
                          <m:r>
                            <a:rPr lang="en-US" i="1">
                              <a:solidFill>
                                <a:srgbClr val="FF0000"/>
                              </a:solidFill>
                              <a:latin typeface="Cambria Math" panose="02040503050406030204" pitchFamily="18" charset="0"/>
                              <a:ea typeface="Cambria Math" panose="02040503050406030204" pitchFamily="18" charset="0"/>
                            </a:rPr>
                            <m:t>𝑦</m:t>
                          </m:r>
                        </m:sup>
                      </m:sSubSup>
                    </m:oMath>
                  </m:oMathPara>
                </a14:m>
                <a:endParaRPr lang="en-US" dirty="0"/>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𝑡</m:t>
                              </m:r>
                            </m:sub>
                          </m:sSub>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den>
                      </m:f>
                      <m:r>
                        <a:rPr lang="en-US" i="1">
                          <a:latin typeface="Cambria Math" panose="02040503050406030204" pitchFamily="18" charset="0"/>
                          <a:ea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m:t>
                          </m:r>
                          <m:sSubSup>
                            <m:sSubSupPr>
                              <m:ctrlPr>
                                <a:rPr lang="en-US" i="1">
                                  <a:solidFill>
                                    <a:schemeClr val="tx1"/>
                                  </a:solidFill>
                                  <a:latin typeface="Cambria Math" panose="02040503050406030204" pitchFamily="18" charset="0"/>
                                  <a:ea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𝑎</m:t>
                              </m:r>
                            </m:e>
                            <m:sub>
                              <m:r>
                                <a:rPr lang="en-US" i="1">
                                  <a:solidFill>
                                    <a:schemeClr val="tx1"/>
                                  </a:solidFill>
                                  <a:latin typeface="Cambria Math" panose="02040503050406030204" pitchFamily="18" charset="0"/>
                                  <a:ea typeface="Cambria Math" panose="02040503050406030204" pitchFamily="18" charset="0"/>
                                </a:rPr>
                                <m:t>𝑡</m:t>
                              </m:r>
                            </m:sub>
                            <m:sup>
                              <m:r>
                                <a:rPr lang="en-US" i="1">
                                  <a:solidFill>
                                    <a:schemeClr val="tx1"/>
                                  </a:solidFill>
                                  <a:latin typeface="Cambria Math" panose="02040503050406030204" pitchFamily="18" charset="0"/>
                                  <a:ea typeface="Cambria Math" panose="02040503050406030204" pitchFamily="18" charset="0"/>
                                </a:rPr>
                                <m:t>h</m:t>
                              </m:r>
                            </m:sup>
                          </m:sSubSup>
                        </m:num>
                        <m:den>
                          <m:r>
                            <a:rPr lang="en-US"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sSubSup>
                        <m:sSubSupPr>
                          <m:ctrlPr>
                            <a:rPr lang="en-US" b="0" i="1" smtClean="0">
                              <a:solidFill>
                                <a:schemeClr val="tx1"/>
                              </a:solidFill>
                              <a:latin typeface="Cambria Math" panose="02040503050406030204" pitchFamily="18" charset="0"/>
                              <a:ea typeface="Cambria Math" panose="02040503050406030204" pitchFamily="18" charset="0"/>
                            </a:rPr>
                          </m:ctrlPr>
                        </m:sSubSupPr>
                        <m:e>
                          <m:r>
                            <a:rPr lang="en-US" b="0" i="1" smtClean="0">
                              <a:solidFill>
                                <a:schemeClr val="tx1"/>
                              </a:solidFill>
                              <a:latin typeface="Cambria Math" panose="02040503050406030204" pitchFamily="18" charset="0"/>
                              <a:ea typeface="Cambria Math" panose="02040503050406030204" pitchFamily="18" charset="0"/>
                            </a:rPr>
                            <m:t>h</m:t>
                          </m:r>
                        </m:e>
                        <m:sub>
                          <m:r>
                            <a:rPr lang="en-US" b="0" i="1" smtClean="0">
                              <a:solidFill>
                                <a:schemeClr val="tx1"/>
                              </a:solidFill>
                              <a:latin typeface="Cambria Math" panose="02040503050406030204" pitchFamily="18" charset="0"/>
                              <a:ea typeface="Cambria Math" panose="02040503050406030204" pitchFamily="18" charset="0"/>
                            </a:rPr>
                            <m:t>𝑡</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1</m:t>
                          </m:r>
                        </m:sub>
                        <m:sup>
                          <m:r>
                            <m:rPr>
                              <m:sty m:val="p"/>
                            </m:rPr>
                            <a:rPr lang="en-US" b="0" i="0" smtClean="0">
                              <a:solidFill>
                                <a:schemeClr val="tx1"/>
                              </a:solidFill>
                              <a:latin typeface="Cambria Math" panose="02040503050406030204" pitchFamily="18" charset="0"/>
                              <a:ea typeface="Cambria Math" panose="02040503050406030204" pitchFamily="18" charset="0"/>
                            </a:rPr>
                            <m:t>T</m:t>
                          </m:r>
                        </m:sup>
                      </m:sSub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b="0" i="1" smtClean="0">
                                  <a:latin typeface="Cambria Math" panose="02040503050406030204" pitchFamily="18" charset="0"/>
                                  <a:ea typeface="Cambria Math" panose="02040503050406030204" pitchFamily="18" charset="0"/>
                                </a:rPr>
                                <m:t>h</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h</m:t>
                              </m:r>
                            </m:sub>
                          </m:sSub>
                        </m:sup>
                      </m:sSup>
                    </m:oMath>
                  </m:oMathPara>
                </a14:m>
                <a:endParaRPr lang="en-US" dirty="0"/>
              </a:p>
              <a:p>
                <a:pPr marL="0" indent="0" algn="just">
                  <a:buNone/>
                </a:pPr>
                <a:r>
                  <a:rPr lang="en-US" dirty="0"/>
                  <a:t>Finally,</a:t>
                </a:r>
              </a:p>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den>
                      </m:f>
                      <m:r>
                        <a:rPr lang="en-US" i="1">
                          <a:latin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𝑡</m:t>
                          </m:r>
                        </m:sub>
                        <m:sup/>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h</m:t>
                              </m:r>
                            </m:sup>
                          </m:sSubSup>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up>
                              <m:r>
                                <m:rPr>
                                  <m:sty m:val="p"/>
                                </m:rPr>
                                <a:rPr lang="en-US" b="0" i="0" smtClean="0">
                                  <a:latin typeface="Cambria Math" panose="02040503050406030204" pitchFamily="18" charset="0"/>
                                  <a:ea typeface="Cambria Math" panose="02040503050406030204" pitchFamily="18" charset="0"/>
                                </a:rPr>
                                <m:t>T</m:t>
                              </m:r>
                            </m:sup>
                          </m:sSubSup>
                        </m:e>
                      </m:nary>
                    </m:oMath>
                  </m:oMathPara>
                </a14:m>
                <a:endParaRPr lang="en-US" dirty="0"/>
              </a:p>
              <a:p>
                <a:pPr marL="0" indent="0" algn="ctr">
                  <a:buNone/>
                </a:pPr>
                <a:endParaRPr lang="en-US" dirty="0"/>
              </a:p>
              <a:p>
                <a:pPr marL="0" indent="0" algn="ctr">
                  <a:buNone/>
                </a:pPr>
                <a:endParaRPr lang="en-US" dirty="0"/>
              </a:p>
              <a:p>
                <a:pPr marL="0" indent="0" algn="ctr">
                  <a:buNone/>
                </a:pPr>
                <a:endParaRPr lang="en-US" dirty="0"/>
              </a:p>
            </p:txBody>
          </p:sp>
        </mc:Choice>
        <mc:Fallback xmlns="">
          <p:sp>
            <p:nvSpPr>
              <p:cNvPr id="8" name="Content Placeholder 7">
                <a:extLst>
                  <a:ext uri="{FF2B5EF4-FFF2-40B4-BE49-F238E27FC236}">
                    <a16:creationId xmlns:a16="http://schemas.microsoft.com/office/drawing/2014/main" id="{1C35B330-C9C1-7D8B-0026-F4BEAFEFDC83}"/>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5"/>
                <a:stretch>
                  <a:fillRect l="-522" t="-2016"/>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8B9B549E-9E4E-831A-5B40-15617AAA4221}"/>
              </a:ext>
            </a:extLst>
          </p:cNvPr>
          <p:cNvSpPr/>
          <p:nvPr/>
        </p:nvSpPr>
        <p:spPr>
          <a:xfrm>
            <a:off x="4831492" y="5529647"/>
            <a:ext cx="2421924" cy="90204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B30AE89-B00D-4FC1-A860-0D150E0A5997}"/>
              </a:ext>
            </a:extLst>
          </p:cNvPr>
          <p:cNvPicPr>
            <a:picLocks noChangeAspect="1"/>
          </p:cNvPicPr>
          <p:nvPr/>
        </p:nvPicPr>
        <p:blipFill>
          <a:blip r:embed="rId6"/>
          <a:stretch>
            <a:fillRect/>
          </a:stretch>
        </p:blipFill>
        <p:spPr>
          <a:xfrm>
            <a:off x="8108740" y="4361091"/>
            <a:ext cx="4083260" cy="1924149"/>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EEF682E-AFB6-4218-86D9-7F8194431904}"/>
                  </a:ext>
                </a:extLst>
              </p:cNvPr>
              <p:cNvSpPr txBox="1"/>
              <p:nvPr/>
            </p:nvSpPr>
            <p:spPr>
              <a:xfrm>
                <a:off x="9039225" y="1690688"/>
                <a:ext cx="2942775" cy="2533835"/>
              </a:xfrm>
              <a:prstGeom prst="rect">
                <a:avLst/>
              </a:prstGeom>
              <a:noFill/>
              <a:ln w="19050">
                <a:solidFill>
                  <a:schemeClr val="tx1"/>
                </a:solidFill>
              </a:ln>
            </p:spPr>
            <p:txBody>
              <a:bodyPr wrap="square">
                <a:spAutoFit/>
              </a:bodyPr>
              <a:lstStyle/>
              <a:p>
                <a:pPr marL="0" indent="0" algn="just">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h</m:t>
                          </m:r>
                        </m:sup>
                      </m:sSubSup>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𝑈</m:t>
                      </m:r>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𝑉</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𝐵</m:t>
                      </m:r>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h</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d>
                        <m:dPr>
                          <m:ctrlPr>
                            <a:rPr lang="en-US" i="1">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h</m:t>
                              </m:r>
                            </m:sup>
                          </m:sSubSup>
                        </m:e>
                      </m:d>
                    </m:oMath>
                  </m:oMathPara>
                </a14:m>
                <a:endParaRPr lang="en-US" dirty="0"/>
              </a:p>
              <a:p>
                <a:pPr marL="0" indent="0" algn="just">
                  <a:buNone/>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𝑦</m:t>
                          </m:r>
                        </m:sup>
                      </m:sSubSup>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rPr>
                        <m:t>𝑊</m:t>
                      </m:r>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𝐶</m:t>
                      </m:r>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𝑦</m:t>
                              </m:r>
                            </m:sup>
                          </m:sSubSup>
                        </m:e>
                      </m:d>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Loss</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𝑦</m:t>
                                  </m:r>
                                </m:e>
                              </m:acc>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𝑡</m:t>
                              </m:r>
                            </m:sub>
                          </m:sSub>
                        </m:e>
                      </m:d>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𝑡</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e>
                      </m:nary>
                    </m:oMath>
                  </m:oMathPara>
                </a14:m>
                <a:endParaRPr lang="en-US" dirty="0"/>
              </a:p>
              <a:p>
                <a:pPr marL="0" indent="0" algn="ctr">
                  <a:buNone/>
                </a:pPr>
                <a:endParaRPr lang="en-US" dirty="0"/>
              </a:p>
            </p:txBody>
          </p:sp>
        </mc:Choice>
        <mc:Fallback>
          <p:sp>
            <p:nvSpPr>
              <p:cNvPr id="10" name="TextBox 9">
                <a:extLst>
                  <a:ext uri="{FF2B5EF4-FFF2-40B4-BE49-F238E27FC236}">
                    <a16:creationId xmlns:a16="http://schemas.microsoft.com/office/drawing/2014/main" id="{4EEF682E-AFB6-4218-86D9-7F8194431904}"/>
                  </a:ext>
                </a:extLst>
              </p:cNvPr>
              <p:cNvSpPr txBox="1">
                <a:spLocks noRot="1" noChangeAspect="1" noMove="1" noResize="1" noEditPoints="1" noAdjustHandles="1" noChangeArrowheads="1" noChangeShapeType="1" noTextEdit="1"/>
              </p:cNvSpPr>
              <p:nvPr/>
            </p:nvSpPr>
            <p:spPr>
              <a:xfrm>
                <a:off x="9039225" y="1690688"/>
                <a:ext cx="2942775" cy="2533835"/>
              </a:xfrm>
              <a:prstGeom prst="rect">
                <a:avLst/>
              </a:prstGeom>
              <a:blipFill>
                <a:blip r:embed="rId3"/>
                <a:stretch>
                  <a:fillRect/>
                </a:stretch>
              </a:blipFill>
              <a:ln w="1905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240236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07547-DC26-50E5-D888-66112F9D0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54137-C573-3731-0439-6F5C04B45D40}"/>
              </a:ext>
            </a:extLst>
          </p:cNvPr>
          <p:cNvSpPr>
            <a:spLocks noGrp="1"/>
          </p:cNvSpPr>
          <p:nvPr>
            <p:ph type="title"/>
          </p:nvPr>
        </p:nvSpPr>
        <p:spPr/>
        <p:txBody>
          <a:bodyPr>
            <a:normAutofit/>
          </a:bodyPr>
          <a:lstStyle/>
          <a:p>
            <a:pPr fontAlgn="base"/>
            <a:r>
              <a:rPr lang="en-US" b="1" dirty="0"/>
              <a:t>Vanishing &amp; Exploding Gradients</a:t>
            </a:r>
            <a:endParaRPr lang="en-US" sz="4100" b="1" dirty="0"/>
          </a:p>
        </p:txBody>
      </p:sp>
      <p:cxnSp>
        <p:nvCxnSpPr>
          <p:cNvPr id="4" name="Straight Connector 3">
            <a:extLst>
              <a:ext uri="{FF2B5EF4-FFF2-40B4-BE49-F238E27FC236}">
                <a16:creationId xmlns:a16="http://schemas.microsoft.com/office/drawing/2014/main" id="{8E8CF901-0F3F-3C7B-E13A-62CBFAFBD7AC}"/>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58265267-CD4C-1781-E27B-C87FBA28615F}"/>
              </a:ext>
            </a:extLst>
          </p:cNvPr>
          <p:cNvSpPr>
            <a:spLocks noGrp="1"/>
          </p:cNvSpPr>
          <p:nvPr>
            <p:ph type="sldNum" sz="quarter" idx="12"/>
          </p:nvPr>
        </p:nvSpPr>
        <p:spPr/>
        <p:txBody>
          <a:bodyPr/>
          <a:lstStyle/>
          <a:p>
            <a:fld id="{B645EB31-1C62-4062-9511-C82C6CC02C60}" type="slidenum">
              <a:rPr lang="en-US" smtClean="0"/>
              <a:t>14</a:t>
            </a:fld>
            <a:endParaRPr lang="en-US" dirty="0"/>
          </a:p>
        </p:txBody>
      </p:sp>
      <p:pic>
        <p:nvPicPr>
          <p:cNvPr id="7" name="Picture 6">
            <a:extLst>
              <a:ext uri="{FF2B5EF4-FFF2-40B4-BE49-F238E27FC236}">
                <a16:creationId xmlns:a16="http://schemas.microsoft.com/office/drawing/2014/main" id="{4BC5FF0B-186E-3A90-E70E-F5A876D71B87}"/>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BBEA6F33-0CEA-69AE-9CC2-4B3F2C5D52A4}"/>
              </a:ext>
            </a:extLst>
          </p:cNvPr>
          <p:cNvSpPr>
            <a:spLocks noGrp="1"/>
          </p:cNvSpPr>
          <p:nvPr>
            <p:ph idx="1"/>
          </p:nvPr>
        </p:nvSpPr>
        <p:spPr>
          <a:xfrm>
            <a:off x="838200" y="1825624"/>
            <a:ext cx="10515600" cy="4530725"/>
          </a:xfrm>
        </p:spPr>
        <p:txBody>
          <a:bodyPr>
            <a:normAutofit fontScale="85000" lnSpcReduction="20000"/>
          </a:bodyPr>
          <a:lstStyle/>
          <a:p>
            <a:pPr algn="just"/>
            <a:r>
              <a:rPr lang="en-US" dirty="0"/>
              <a:t>During backpropagation, gradients are computed by </a:t>
            </a:r>
            <a:r>
              <a:rPr lang="en-US" b="1" i="1" dirty="0"/>
              <a:t>multiplying many derivative terms</a:t>
            </a:r>
            <a:r>
              <a:rPr lang="en-US" dirty="0"/>
              <a:t> across layers. These repeated multiplications can cause gradients to become very small (</a:t>
            </a:r>
            <a:r>
              <a:rPr lang="en-US" b="1" u="sng" dirty="0"/>
              <a:t>vanish</a:t>
            </a:r>
            <a:r>
              <a:rPr lang="en-US" dirty="0"/>
              <a:t>) or very large (</a:t>
            </a:r>
            <a:r>
              <a:rPr lang="en-US" b="1" u="sng" dirty="0"/>
              <a:t>explode</a:t>
            </a:r>
            <a:r>
              <a:rPr lang="en-US" dirty="0"/>
              <a:t>).</a:t>
            </a:r>
          </a:p>
          <a:p>
            <a:pPr lvl="1" algn="just"/>
            <a:r>
              <a:rPr lang="en-US" dirty="0"/>
              <a:t>If these derivatives have magnitudes less than 1 → gradients shrink exponentially</a:t>
            </a:r>
          </a:p>
          <a:p>
            <a:pPr lvl="1" algn="just"/>
            <a:r>
              <a:rPr lang="en-US" dirty="0"/>
              <a:t>If these derivatives have magnitudes more than 1 → gradients grow exponentially</a:t>
            </a:r>
          </a:p>
          <a:p>
            <a:pPr lvl="1" algn="just"/>
            <a:r>
              <a:rPr lang="en-US" dirty="0"/>
              <a:t>Deep networks have long chains → stronger effect</a:t>
            </a:r>
          </a:p>
          <a:p>
            <a:r>
              <a:rPr lang="en-US" b="1" dirty="0"/>
              <a:t>Vanishing Gradients</a:t>
            </a:r>
          </a:p>
          <a:p>
            <a:pPr lvl="1"/>
            <a:r>
              <a:rPr lang="en-US" dirty="0"/>
              <a:t>Gradients become </a:t>
            </a:r>
            <a:r>
              <a:rPr lang="en-US" b="1" dirty="0"/>
              <a:t>near zero</a:t>
            </a:r>
            <a:r>
              <a:rPr lang="en-US" dirty="0"/>
              <a:t> in early layers</a:t>
            </a:r>
          </a:p>
          <a:p>
            <a:pPr lvl="1"/>
            <a:r>
              <a:rPr lang="en-US" dirty="0"/>
              <a:t>Earlier layers learn </a:t>
            </a:r>
            <a:r>
              <a:rPr lang="en-US" b="1" dirty="0"/>
              <a:t>very slowly</a:t>
            </a:r>
            <a:r>
              <a:rPr lang="en-US" dirty="0"/>
              <a:t> or not at all</a:t>
            </a:r>
          </a:p>
          <a:p>
            <a:r>
              <a:rPr lang="en-US" b="1" dirty="0"/>
              <a:t>Exploding Gradients</a:t>
            </a:r>
          </a:p>
          <a:p>
            <a:pPr lvl="1"/>
            <a:r>
              <a:rPr lang="en-US" dirty="0"/>
              <a:t>Gradients become </a:t>
            </a:r>
            <a:r>
              <a:rPr lang="en-US" b="1" dirty="0"/>
              <a:t>very large</a:t>
            </a:r>
            <a:endParaRPr lang="en-US" dirty="0"/>
          </a:p>
          <a:p>
            <a:pPr lvl="1"/>
            <a:r>
              <a:rPr lang="en-US" dirty="0"/>
              <a:t>Leads to </a:t>
            </a:r>
            <a:r>
              <a:rPr lang="en-US" b="1" dirty="0"/>
              <a:t>unstable training</a:t>
            </a:r>
            <a:r>
              <a:rPr lang="en-US" dirty="0"/>
              <a:t>, weight blow-up, and divergence</a:t>
            </a:r>
          </a:p>
          <a:p>
            <a:r>
              <a:rPr lang="en-US" b="1" dirty="0"/>
              <a:t>Impact</a:t>
            </a:r>
          </a:p>
          <a:p>
            <a:pPr lvl="1"/>
            <a:r>
              <a:rPr lang="en-US" dirty="0"/>
              <a:t>Difficult optimization</a:t>
            </a:r>
          </a:p>
          <a:p>
            <a:pPr lvl="1"/>
            <a:r>
              <a:rPr lang="en-US" dirty="0"/>
              <a:t>Poor convergence</a:t>
            </a:r>
          </a:p>
          <a:p>
            <a:endParaRPr lang="en-US" dirty="0"/>
          </a:p>
          <a:p>
            <a:endParaRPr lang="en-US" dirty="0"/>
          </a:p>
          <a:p>
            <a:pPr algn="just"/>
            <a:endParaRPr lang="en-US" dirty="0"/>
          </a:p>
        </p:txBody>
      </p:sp>
    </p:spTree>
    <p:extLst>
      <p:ext uri="{BB962C8B-B14F-4D97-AF65-F5344CB8AC3E}">
        <p14:creationId xmlns:p14="http://schemas.microsoft.com/office/powerpoint/2010/main" val="1822169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E5DB5-3030-0BC0-4EE3-58196270A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ACD8D-5ABE-2A3A-F7C9-ACC92409BDD9}"/>
              </a:ext>
            </a:extLst>
          </p:cNvPr>
          <p:cNvSpPr>
            <a:spLocks noGrp="1"/>
          </p:cNvSpPr>
          <p:nvPr>
            <p:ph type="title"/>
          </p:nvPr>
        </p:nvSpPr>
        <p:spPr/>
        <p:txBody>
          <a:bodyPr>
            <a:normAutofit/>
          </a:bodyPr>
          <a:lstStyle/>
          <a:p>
            <a:pPr fontAlgn="base"/>
            <a:r>
              <a:rPr lang="en-US" b="1" dirty="0"/>
              <a:t>Variants of RNN</a:t>
            </a:r>
            <a:endParaRPr lang="en-US" sz="4100" b="1" dirty="0"/>
          </a:p>
        </p:txBody>
      </p:sp>
      <p:cxnSp>
        <p:nvCxnSpPr>
          <p:cNvPr id="4" name="Straight Connector 3">
            <a:extLst>
              <a:ext uri="{FF2B5EF4-FFF2-40B4-BE49-F238E27FC236}">
                <a16:creationId xmlns:a16="http://schemas.microsoft.com/office/drawing/2014/main" id="{35FB9C39-6C46-0A73-AB0F-5FCF5EAF602D}"/>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F687B2FE-B08A-2C33-91DD-3AB615EF0CD9}"/>
              </a:ext>
            </a:extLst>
          </p:cNvPr>
          <p:cNvSpPr>
            <a:spLocks noGrp="1"/>
          </p:cNvSpPr>
          <p:nvPr>
            <p:ph type="sldNum" sz="quarter" idx="12"/>
          </p:nvPr>
        </p:nvSpPr>
        <p:spPr/>
        <p:txBody>
          <a:bodyPr/>
          <a:lstStyle/>
          <a:p>
            <a:fld id="{B645EB31-1C62-4062-9511-C82C6CC02C60}" type="slidenum">
              <a:rPr lang="en-US" smtClean="0"/>
              <a:t>15</a:t>
            </a:fld>
            <a:endParaRPr lang="en-US" dirty="0"/>
          </a:p>
        </p:txBody>
      </p:sp>
      <p:pic>
        <p:nvPicPr>
          <p:cNvPr id="7" name="Picture 6">
            <a:extLst>
              <a:ext uri="{FF2B5EF4-FFF2-40B4-BE49-F238E27FC236}">
                <a16:creationId xmlns:a16="http://schemas.microsoft.com/office/drawing/2014/main" id="{6CA7726F-3F22-F01B-AF86-FF54AC5B79A9}"/>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292982B1-3B6E-08FC-AE6F-E939B1E55DD4}"/>
                  </a:ext>
                </a:extLst>
              </p:cNvPr>
              <p:cNvSpPr>
                <a:spLocks noGrp="1"/>
              </p:cNvSpPr>
              <p:nvPr>
                <p:ph idx="1"/>
              </p:nvPr>
            </p:nvSpPr>
            <p:spPr>
              <a:xfrm>
                <a:off x="838200" y="1825624"/>
                <a:ext cx="10515600" cy="4530725"/>
              </a:xfrm>
            </p:spPr>
            <p:txBody>
              <a:bodyPr>
                <a:normAutofit/>
              </a:bodyPr>
              <a:lstStyle/>
              <a:p>
                <a:pPr marL="514350" indent="-514350" algn="just">
                  <a:buFont typeface="+mj-lt"/>
                  <a:buAutoNum type="arabicPeriod"/>
                </a:pPr>
                <a:r>
                  <a:rPr lang="en-US" b="1" u="sng" dirty="0"/>
                  <a:t>Vanilla RNN</a:t>
                </a:r>
                <a:r>
                  <a:rPr lang="en-US" dirty="0"/>
                  <a:t>:</a:t>
                </a:r>
              </a:p>
              <a:p>
                <a:pPr lvl="1" algn="just"/>
                <a:r>
                  <a:rPr lang="en-US" dirty="0"/>
                  <a:t> A </a:t>
                </a:r>
                <a:r>
                  <a:rPr lang="en-US" b="1" dirty="0"/>
                  <a:t>vanilla RNN</a:t>
                </a:r>
                <a:r>
                  <a:rPr lang="en-US" dirty="0"/>
                  <a:t> is the </a:t>
                </a:r>
                <a:r>
                  <a:rPr lang="en-US" b="1" dirty="0"/>
                  <a:t>standard</a:t>
                </a:r>
                <a:r>
                  <a:rPr lang="en-US" dirty="0"/>
                  <a:t>, </a:t>
                </a:r>
                <a:r>
                  <a:rPr lang="en-US" b="1" dirty="0"/>
                  <a:t>plain</a:t>
                </a:r>
                <a:r>
                  <a:rPr lang="en-US" dirty="0"/>
                  <a:t> RNN that uses the basic recurrence (which was discussed in the previous slides)</a:t>
                </a:r>
              </a:p>
              <a:p>
                <a:pPr lvl="1" algn="just"/>
                <a:r>
                  <a:rPr lang="en-US" dirty="0"/>
                  <a:t>Processes sequences one step at a time while sharing weights across time</a:t>
                </a:r>
              </a:p>
              <a:p>
                <a:pPr lvl="1" algn="just"/>
                <a:r>
                  <a:rPr lang="en-US" dirty="0"/>
                  <a:t>Maintains a hidden state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h</m:t>
                        </m:r>
                      </m:e>
                      <m:sub>
                        <m:r>
                          <a:rPr lang="en-US" b="0" i="1" dirty="0" smtClean="0">
                            <a:latin typeface="Cambria Math" panose="02040503050406030204" pitchFamily="18" charset="0"/>
                          </a:rPr>
                          <m:t>𝑡</m:t>
                        </m:r>
                      </m:sub>
                    </m:sSub>
                  </m:oMath>
                </a14:m>
                <a:r>
                  <a:rPr lang="en-US" dirty="0"/>
                  <a:t> to store past information</a:t>
                </a:r>
              </a:p>
              <a:p>
                <a:pPr lvl="1" algn="just"/>
                <a:r>
                  <a:rPr lang="en-US" dirty="0"/>
                  <a:t>It </a:t>
                </a:r>
                <a:r>
                  <a:rPr lang="en-US" b="1" dirty="0"/>
                  <a:t>does not</a:t>
                </a:r>
                <a:r>
                  <a:rPr lang="en-US" dirty="0"/>
                  <a:t> include </a:t>
                </a:r>
                <a:r>
                  <a:rPr lang="en-US" i="1" dirty="0"/>
                  <a:t>gates</a:t>
                </a:r>
                <a:r>
                  <a:rPr lang="en-US" dirty="0"/>
                  <a:t>, </a:t>
                </a:r>
                <a:r>
                  <a:rPr lang="en-US" i="1" dirty="0"/>
                  <a:t>memory cells</a:t>
                </a:r>
                <a:r>
                  <a:rPr lang="en-US" dirty="0"/>
                  <a:t>, or advanced mechanisms</a:t>
                </a:r>
              </a:p>
              <a:p>
                <a:pPr lvl="1" algn="just"/>
                <a:r>
                  <a:rPr lang="en-US" dirty="0"/>
                  <a:t>Suffers from </a:t>
                </a:r>
                <a:r>
                  <a:rPr lang="en-US" b="1" dirty="0"/>
                  <a:t>vanishing/exploding gradients</a:t>
                </a:r>
                <a:r>
                  <a:rPr lang="en-US" dirty="0"/>
                  <a:t> for long sequences</a:t>
                </a:r>
              </a:p>
            </p:txBody>
          </p:sp>
        </mc:Choice>
        <mc:Fallback xmlns="">
          <p:sp>
            <p:nvSpPr>
              <p:cNvPr id="8" name="Content Placeholder 7">
                <a:extLst>
                  <a:ext uri="{FF2B5EF4-FFF2-40B4-BE49-F238E27FC236}">
                    <a16:creationId xmlns:a16="http://schemas.microsoft.com/office/drawing/2014/main" id="{292982B1-3B6E-08FC-AE6F-E939B1E55DD4}"/>
                  </a:ext>
                </a:extLst>
              </p:cNvPr>
              <p:cNvSpPr>
                <a:spLocks noGrp="1" noRot="1" noChangeAspect="1" noMove="1" noResize="1" noEditPoints="1" noAdjustHandles="1" noChangeArrowheads="1" noChangeShapeType="1" noTextEdit="1"/>
              </p:cNvSpPr>
              <p:nvPr>
                <p:ph idx="1"/>
              </p:nvPr>
            </p:nvSpPr>
            <p:spPr>
              <a:xfrm>
                <a:off x="838200" y="1825624"/>
                <a:ext cx="10515600" cy="4530725"/>
              </a:xfrm>
              <a:blipFill>
                <a:blip r:embed="rId4"/>
                <a:stretch>
                  <a:fillRect l="-1217" t="-2285" r="-870"/>
                </a:stretch>
              </a:blipFill>
            </p:spPr>
            <p:txBody>
              <a:bodyPr/>
              <a:lstStyle/>
              <a:p>
                <a:r>
                  <a:rPr lang="en-US">
                    <a:noFill/>
                  </a:rPr>
                  <a:t> </a:t>
                </a:r>
              </a:p>
            </p:txBody>
          </p:sp>
        </mc:Fallback>
      </mc:AlternateContent>
    </p:spTree>
    <p:extLst>
      <p:ext uri="{BB962C8B-B14F-4D97-AF65-F5344CB8AC3E}">
        <p14:creationId xmlns:p14="http://schemas.microsoft.com/office/powerpoint/2010/main" val="1524092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C71EC-596E-E0C6-D2B2-FA47F65DFBAC}"/>
            </a:ext>
          </a:extLst>
        </p:cNvPr>
        <p:cNvGrpSpPr/>
        <p:nvPr/>
      </p:nvGrpSpPr>
      <p:grpSpPr>
        <a:xfrm>
          <a:off x="0" y="0"/>
          <a:ext cx="0" cy="0"/>
          <a:chOff x="0" y="0"/>
          <a:chExt cx="0" cy="0"/>
        </a:xfrm>
      </p:grpSpPr>
      <p:pic>
        <p:nvPicPr>
          <p:cNvPr id="3074" name="Picture 2" descr="Bi-directional Recurrent Neural Network">
            <a:extLst>
              <a:ext uri="{FF2B5EF4-FFF2-40B4-BE49-F238E27FC236}">
                <a16:creationId xmlns:a16="http://schemas.microsoft.com/office/drawing/2014/main" id="{6ABFCE69-4C59-471E-E7D4-2777326659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9941" y="2348869"/>
            <a:ext cx="4718872" cy="310005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B69D821-6287-41E9-662B-8E6418032DAB}"/>
              </a:ext>
            </a:extLst>
          </p:cNvPr>
          <p:cNvSpPr>
            <a:spLocks noGrp="1"/>
          </p:cNvSpPr>
          <p:nvPr>
            <p:ph type="title"/>
          </p:nvPr>
        </p:nvSpPr>
        <p:spPr/>
        <p:txBody>
          <a:bodyPr>
            <a:normAutofit/>
          </a:bodyPr>
          <a:lstStyle/>
          <a:p>
            <a:pPr fontAlgn="base"/>
            <a:r>
              <a:rPr lang="en-US" b="1" dirty="0"/>
              <a:t>Variants of RNN (contd.)</a:t>
            </a:r>
            <a:endParaRPr lang="en-US" sz="4100" b="1" dirty="0"/>
          </a:p>
        </p:txBody>
      </p:sp>
      <p:cxnSp>
        <p:nvCxnSpPr>
          <p:cNvPr id="4" name="Straight Connector 3">
            <a:extLst>
              <a:ext uri="{FF2B5EF4-FFF2-40B4-BE49-F238E27FC236}">
                <a16:creationId xmlns:a16="http://schemas.microsoft.com/office/drawing/2014/main" id="{F3E4CEA7-AC81-49C2-D504-4AE4539C7CFE}"/>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78D4F842-1BCE-76F5-1FED-455A50CEE26E}"/>
              </a:ext>
            </a:extLst>
          </p:cNvPr>
          <p:cNvSpPr>
            <a:spLocks noGrp="1"/>
          </p:cNvSpPr>
          <p:nvPr>
            <p:ph type="sldNum" sz="quarter" idx="12"/>
          </p:nvPr>
        </p:nvSpPr>
        <p:spPr/>
        <p:txBody>
          <a:bodyPr/>
          <a:lstStyle/>
          <a:p>
            <a:fld id="{B645EB31-1C62-4062-9511-C82C6CC02C60}" type="slidenum">
              <a:rPr lang="en-US" smtClean="0"/>
              <a:t>16</a:t>
            </a:fld>
            <a:endParaRPr lang="en-US" dirty="0"/>
          </a:p>
        </p:txBody>
      </p:sp>
      <p:pic>
        <p:nvPicPr>
          <p:cNvPr id="7" name="Picture 6">
            <a:extLst>
              <a:ext uri="{FF2B5EF4-FFF2-40B4-BE49-F238E27FC236}">
                <a16:creationId xmlns:a16="http://schemas.microsoft.com/office/drawing/2014/main" id="{85F01474-AA7B-A466-655E-39B21EB0EEFB}"/>
              </a:ext>
            </a:extLst>
          </p:cNvPr>
          <p:cNvPicPr>
            <a:picLocks noChangeAspect="1"/>
          </p:cNvPicPr>
          <p:nvPr/>
        </p:nvPicPr>
        <p:blipFill>
          <a:blip r:embed="rId4">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75CA0B0C-A2BF-3F1B-C1F3-59E724B4994C}"/>
              </a:ext>
            </a:extLst>
          </p:cNvPr>
          <p:cNvSpPr>
            <a:spLocks noGrp="1"/>
          </p:cNvSpPr>
          <p:nvPr>
            <p:ph idx="1"/>
          </p:nvPr>
        </p:nvSpPr>
        <p:spPr>
          <a:xfrm>
            <a:off x="838200" y="1825624"/>
            <a:ext cx="6569676" cy="4530725"/>
          </a:xfrm>
        </p:spPr>
        <p:txBody>
          <a:bodyPr>
            <a:normAutofit/>
          </a:bodyPr>
          <a:lstStyle/>
          <a:p>
            <a:pPr marL="514350" indent="-514350" algn="just">
              <a:buFont typeface="+mj-lt"/>
              <a:buAutoNum type="arabicPeriod" startAt="2"/>
            </a:pPr>
            <a:r>
              <a:rPr lang="en-US" b="1" dirty="0"/>
              <a:t>Bidirectional Recurrent Neural Networks (BRNNs)</a:t>
            </a:r>
            <a:r>
              <a:rPr lang="en-US" dirty="0"/>
              <a:t>:</a:t>
            </a:r>
          </a:p>
          <a:p>
            <a:pPr lvl="1" algn="just"/>
            <a:r>
              <a:rPr lang="en-US" dirty="0"/>
              <a:t> A BRNN processes a sequence </a:t>
            </a:r>
            <a:r>
              <a:rPr lang="en-US" b="1" dirty="0"/>
              <a:t>in both directions</a:t>
            </a:r>
          </a:p>
          <a:p>
            <a:pPr lvl="1" algn="just"/>
            <a:r>
              <a:rPr lang="en-US" dirty="0"/>
              <a:t>The final representation at each time step combines </a:t>
            </a:r>
            <a:r>
              <a:rPr lang="en-US" b="1" dirty="0"/>
              <a:t>past</a:t>
            </a:r>
            <a:r>
              <a:rPr lang="en-US" dirty="0"/>
              <a:t> and </a:t>
            </a:r>
            <a:r>
              <a:rPr lang="en-US" b="1" dirty="0"/>
              <a:t>future</a:t>
            </a:r>
            <a:r>
              <a:rPr lang="en-US" dirty="0"/>
              <a:t> context</a:t>
            </a:r>
          </a:p>
          <a:p>
            <a:pPr lvl="1"/>
            <a:r>
              <a:rPr lang="en-US" dirty="0"/>
              <a:t>Imagine reading a sentence where a word’s meaning depends on </a:t>
            </a:r>
            <a:r>
              <a:rPr lang="en-US" b="1" dirty="0"/>
              <a:t>both previous and upcoming words</a:t>
            </a:r>
            <a:r>
              <a:rPr lang="en-US" dirty="0"/>
              <a:t>.</a:t>
            </a:r>
          </a:p>
          <a:p>
            <a:pPr lvl="2"/>
            <a:r>
              <a:rPr lang="en-US" dirty="0"/>
              <a:t>Example: </a:t>
            </a:r>
            <a:r>
              <a:rPr lang="en-US" i="1" dirty="0"/>
              <a:t>“They </a:t>
            </a:r>
            <a:r>
              <a:rPr lang="en-US" b="1" i="1" dirty="0"/>
              <a:t>went to the bank</a:t>
            </a:r>
            <a:r>
              <a:rPr lang="en-US" i="1" dirty="0"/>
              <a:t> to fish.”</a:t>
            </a:r>
            <a:endParaRPr lang="en-US" dirty="0"/>
          </a:p>
          <a:p>
            <a:pPr lvl="2"/>
            <a:r>
              <a:rPr lang="en-US" dirty="0"/>
              <a:t>The word </a:t>
            </a:r>
            <a:r>
              <a:rPr lang="en-US" b="1" dirty="0"/>
              <a:t>bank</a:t>
            </a:r>
            <a:r>
              <a:rPr lang="en-US" dirty="0"/>
              <a:t> becomes clear only when you see </a:t>
            </a:r>
            <a:r>
              <a:rPr lang="en-US" b="1" dirty="0"/>
              <a:t>what comes after</a:t>
            </a:r>
            <a:r>
              <a:rPr lang="en-US" dirty="0"/>
              <a:t> it.</a:t>
            </a:r>
          </a:p>
          <a:p>
            <a:pPr lvl="1" algn="just"/>
            <a:endParaRPr lang="en-US" dirty="0"/>
          </a:p>
        </p:txBody>
      </p:sp>
      <p:sp>
        <p:nvSpPr>
          <p:cNvPr id="3" name="TextBox 2">
            <a:extLst>
              <a:ext uri="{FF2B5EF4-FFF2-40B4-BE49-F238E27FC236}">
                <a16:creationId xmlns:a16="http://schemas.microsoft.com/office/drawing/2014/main" id="{5BA64039-8A9F-707A-74BB-852DFDEF56E4}"/>
              </a:ext>
            </a:extLst>
          </p:cNvPr>
          <p:cNvSpPr txBox="1"/>
          <p:nvPr/>
        </p:nvSpPr>
        <p:spPr>
          <a:xfrm>
            <a:off x="8788443" y="5625637"/>
            <a:ext cx="2387513" cy="276999"/>
          </a:xfrm>
          <a:prstGeom prst="rect">
            <a:avLst/>
          </a:prstGeom>
          <a:noFill/>
        </p:spPr>
        <p:txBody>
          <a:bodyPr wrap="none" rtlCol="0">
            <a:spAutoFit/>
          </a:bodyPr>
          <a:lstStyle/>
          <a:p>
            <a:r>
              <a:rPr lang="en-US" sz="1200" dirty="0"/>
              <a:t>Image credit: GeeksForGeeks.org</a:t>
            </a:r>
          </a:p>
        </p:txBody>
      </p:sp>
    </p:spTree>
    <p:extLst>
      <p:ext uri="{BB962C8B-B14F-4D97-AF65-F5344CB8AC3E}">
        <p14:creationId xmlns:p14="http://schemas.microsoft.com/office/powerpoint/2010/main" val="695612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50A5C-B944-2E4B-2C49-F9C6949DF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745AD-6BD5-A13F-E888-30F6C49DABA1}"/>
              </a:ext>
            </a:extLst>
          </p:cNvPr>
          <p:cNvSpPr>
            <a:spLocks noGrp="1"/>
          </p:cNvSpPr>
          <p:nvPr>
            <p:ph type="title"/>
          </p:nvPr>
        </p:nvSpPr>
        <p:spPr/>
        <p:txBody>
          <a:bodyPr>
            <a:normAutofit/>
          </a:bodyPr>
          <a:lstStyle/>
          <a:p>
            <a:pPr fontAlgn="base"/>
            <a:r>
              <a:rPr lang="en-US" b="1" dirty="0"/>
              <a:t>Variants of RNN (contd.)</a:t>
            </a:r>
            <a:endParaRPr lang="en-US" sz="4100" b="1" dirty="0"/>
          </a:p>
        </p:txBody>
      </p:sp>
      <p:cxnSp>
        <p:nvCxnSpPr>
          <p:cNvPr id="4" name="Straight Connector 3">
            <a:extLst>
              <a:ext uri="{FF2B5EF4-FFF2-40B4-BE49-F238E27FC236}">
                <a16:creationId xmlns:a16="http://schemas.microsoft.com/office/drawing/2014/main" id="{B690B35B-0BA7-B7BF-1C46-14CF38D9ABBB}"/>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F689A1C9-DBC9-9D76-4BFD-644CAE759817}"/>
              </a:ext>
            </a:extLst>
          </p:cNvPr>
          <p:cNvSpPr>
            <a:spLocks noGrp="1"/>
          </p:cNvSpPr>
          <p:nvPr>
            <p:ph type="sldNum" sz="quarter" idx="12"/>
          </p:nvPr>
        </p:nvSpPr>
        <p:spPr/>
        <p:txBody>
          <a:bodyPr/>
          <a:lstStyle/>
          <a:p>
            <a:fld id="{B645EB31-1C62-4062-9511-C82C6CC02C60}" type="slidenum">
              <a:rPr lang="en-US" smtClean="0"/>
              <a:t>17</a:t>
            </a:fld>
            <a:endParaRPr lang="en-US" dirty="0"/>
          </a:p>
        </p:txBody>
      </p:sp>
      <p:pic>
        <p:nvPicPr>
          <p:cNvPr id="7" name="Picture 6">
            <a:extLst>
              <a:ext uri="{FF2B5EF4-FFF2-40B4-BE49-F238E27FC236}">
                <a16:creationId xmlns:a16="http://schemas.microsoft.com/office/drawing/2014/main" id="{F7D4BD83-0147-96A7-F02F-563874888C73}"/>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8" name="Content Placeholder 7">
            <a:extLst>
              <a:ext uri="{FF2B5EF4-FFF2-40B4-BE49-F238E27FC236}">
                <a16:creationId xmlns:a16="http://schemas.microsoft.com/office/drawing/2014/main" id="{E53E77EB-A75B-01BB-4DFF-D1DFE79C7F34}"/>
              </a:ext>
            </a:extLst>
          </p:cNvPr>
          <p:cNvSpPr>
            <a:spLocks noGrp="1"/>
          </p:cNvSpPr>
          <p:nvPr>
            <p:ph idx="1"/>
          </p:nvPr>
        </p:nvSpPr>
        <p:spPr>
          <a:xfrm>
            <a:off x="838199" y="1825624"/>
            <a:ext cx="10515599" cy="4530725"/>
          </a:xfrm>
        </p:spPr>
        <p:txBody>
          <a:bodyPr>
            <a:normAutofit lnSpcReduction="10000"/>
          </a:bodyPr>
          <a:lstStyle/>
          <a:p>
            <a:pPr marL="514350" indent="-514350" algn="just">
              <a:buFont typeface="+mj-lt"/>
              <a:buAutoNum type="arabicPeriod" startAt="3"/>
            </a:pPr>
            <a:r>
              <a:rPr lang="en-US" b="1" dirty="0"/>
              <a:t>Long Short-Term Memory Networks (LSTMs)</a:t>
            </a:r>
            <a:r>
              <a:rPr lang="en-US" dirty="0"/>
              <a:t>:</a:t>
            </a:r>
          </a:p>
          <a:p>
            <a:pPr algn="just"/>
            <a:r>
              <a:rPr lang="en-US" dirty="0"/>
              <a:t>LSTMs introduce a </a:t>
            </a:r>
            <a:r>
              <a:rPr lang="en-US" b="1" dirty="0"/>
              <a:t>dedicated memory cell</a:t>
            </a:r>
            <a:r>
              <a:rPr lang="en-US" dirty="0"/>
              <a:t> that helps mitigate the vanishing gradient problem</a:t>
            </a:r>
          </a:p>
          <a:p>
            <a:pPr algn="just"/>
            <a:r>
              <a:rPr lang="en-US" dirty="0"/>
              <a:t>Each LSTM cell uses </a:t>
            </a:r>
            <a:r>
              <a:rPr lang="en-US" b="1" dirty="0"/>
              <a:t>three gating units</a:t>
            </a:r>
            <a:r>
              <a:rPr lang="en-US" dirty="0"/>
              <a:t> to control information flow:</a:t>
            </a:r>
          </a:p>
          <a:p>
            <a:pPr lvl="1" algn="just"/>
            <a:r>
              <a:rPr lang="en-US" b="1" dirty="0"/>
              <a:t>Input Gate:</a:t>
            </a:r>
            <a:r>
              <a:rPr lang="en-US" dirty="0"/>
              <a:t> Determines how much new information is written into the cell state</a:t>
            </a:r>
          </a:p>
          <a:p>
            <a:pPr lvl="1" algn="just"/>
            <a:r>
              <a:rPr lang="en-US" b="1" dirty="0"/>
              <a:t>Forget Gate:</a:t>
            </a:r>
            <a:r>
              <a:rPr lang="en-US" dirty="0"/>
              <a:t> Selectively removes information no longer needed from the past</a:t>
            </a:r>
          </a:p>
          <a:p>
            <a:pPr lvl="1" algn="just"/>
            <a:r>
              <a:rPr lang="en-US" b="1" dirty="0"/>
              <a:t>Output Gate:</a:t>
            </a:r>
            <a:r>
              <a:rPr lang="en-US" dirty="0"/>
              <a:t> Decides what part of the cell state is exposed as the current output</a:t>
            </a:r>
          </a:p>
          <a:p>
            <a:pPr algn="just"/>
            <a:r>
              <a:rPr lang="en-US" dirty="0"/>
              <a:t>This controlled memory system allows LSTMs to </a:t>
            </a:r>
            <a:r>
              <a:rPr lang="en-US" b="1" dirty="0"/>
              <a:t>retain important information over long sequences</a:t>
            </a:r>
            <a:r>
              <a:rPr lang="en-US" dirty="0"/>
              <a:t>, making them effective for tasks requiring long-range context</a:t>
            </a:r>
          </a:p>
          <a:p>
            <a:pPr lvl="1" algn="just"/>
            <a:endParaRPr lang="en-US" dirty="0"/>
          </a:p>
        </p:txBody>
      </p:sp>
    </p:spTree>
    <p:extLst>
      <p:ext uri="{BB962C8B-B14F-4D97-AF65-F5344CB8AC3E}">
        <p14:creationId xmlns:p14="http://schemas.microsoft.com/office/powerpoint/2010/main" val="3082040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F1091-79A4-95FA-4802-434AC5F11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1BB5A-FB48-80F4-2BE7-6BBDD0830E32}"/>
              </a:ext>
            </a:extLst>
          </p:cNvPr>
          <p:cNvSpPr>
            <a:spLocks noGrp="1"/>
          </p:cNvSpPr>
          <p:nvPr>
            <p:ph type="title"/>
          </p:nvPr>
        </p:nvSpPr>
        <p:spPr>
          <a:xfrm>
            <a:off x="988541" y="2651125"/>
            <a:ext cx="10818341" cy="1325563"/>
          </a:xfrm>
        </p:spPr>
        <p:txBody>
          <a:bodyPr>
            <a:normAutofit/>
          </a:bodyPr>
          <a:lstStyle/>
          <a:p>
            <a:pPr fontAlgn="base"/>
            <a:r>
              <a:rPr lang="en-US" b="1" dirty="0"/>
              <a:t>Long Short-Term Memory Network (LSTM)</a:t>
            </a:r>
            <a:endParaRPr lang="en-US" sz="4100" b="1" dirty="0"/>
          </a:p>
        </p:txBody>
      </p:sp>
      <p:sp>
        <p:nvSpPr>
          <p:cNvPr id="5" name="Slide Number Placeholder 4">
            <a:extLst>
              <a:ext uri="{FF2B5EF4-FFF2-40B4-BE49-F238E27FC236}">
                <a16:creationId xmlns:a16="http://schemas.microsoft.com/office/drawing/2014/main" id="{1FEDA1A8-0EA7-9910-D848-7B1E5A3CC1D6}"/>
              </a:ext>
            </a:extLst>
          </p:cNvPr>
          <p:cNvSpPr>
            <a:spLocks noGrp="1"/>
          </p:cNvSpPr>
          <p:nvPr>
            <p:ph type="sldNum" sz="quarter" idx="12"/>
          </p:nvPr>
        </p:nvSpPr>
        <p:spPr/>
        <p:txBody>
          <a:bodyPr/>
          <a:lstStyle/>
          <a:p>
            <a:fld id="{B645EB31-1C62-4062-9511-C82C6CC02C60}" type="slidenum">
              <a:rPr lang="en-US" smtClean="0"/>
              <a:t>18</a:t>
            </a:fld>
            <a:endParaRPr lang="en-US" dirty="0"/>
          </a:p>
        </p:txBody>
      </p:sp>
      <p:pic>
        <p:nvPicPr>
          <p:cNvPr id="7" name="Picture 6">
            <a:extLst>
              <a:ext uri="{FF2B5EF4-FFF2-40B4-BE49-F238E27FC236}">
                <a16:creationId xmlns:a16="http://schemas.microsoft.com/office/drawing/2014/main" id="{DB601FDA-5408-6D6F-AA69-DB040BD3F839}"/>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Tree>
    <p:extLst>
      <p:ext uri="{BB962C8B-B14F-4D97-AF65-F5344CB8AC3E}">
        <p14:creationId xmlns:p14="http://schemas.microsoft.com/office/powerpoint/2010/main" val="2627336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6B082-FB7B-B59A-3F2B-9409E53BB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E71AB-42B7-A809-3095-1C87AC5B96B6}"/>
              </a:ext>
            </a:extLst>
          </p:cNvPr>
          <p:cNvSpPr>
            <a:spLocks noGrp="1"/>
          </p:cNvSpPr>
          <p:nvPr>
            <p:ph type="title"/>
          </p:nvPr>
        </p:nvSpPr>
        <p:spPr/>
        <p:txBody>
          <a:bodyPr>
            <a:normAutofit/>
          </a:bodyPr>
          <a:lstStyle/>
          <a:p>
            <a:pPr fontAlgn="base"/>
            <a:r>
              <a:rPr lang="en-US" b="1" dirty="0"/>
              <a:t>Architecture</a:t>
            </a:r>
            <a:endParaRPr lang="en-US" sz="4100" b="1" dirty="0"/>
          </a:p>
        </p:txBody>
      </p:sp>
      <p:cxnSp>
        <p:nvCxnSpPr>
          <p:cNvPr id="4" name="Straight Connector 3">
            <a:extLst>
              <a:ext uri="{FF2B5EF4-FFF2-40B4-BE49-F238E27FC236}">
                <a16:creationId xmlns:a16="http://schemas.microsoft.com/office/drawing/2014/main" id="{FFA3FAE4-2DF4-E106-432E-7DF6CD3750A7}"/>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76FED62A-B3AF-370C-F094-748EC1B8B9E8}"/>
              </a:ext>
            </a:extLst>
          </p:cNvPr>
          <p:cNvSpPr>
            <a:spLocks noGrp="1"/>
          </p:cNvSpPr>
          <p:nvPr>
            <p:ph type="sldNum" sz="quarter" idx="12"/>
          </p:nvPr>
        </p:nvSpPr>
        <p:spPr/>
        <p:txBody>
          <a:bodyPr/>
          <a:lstStyle/>
          <a:p>
            <a:fld id="{B645EB31-1C62-4062-9511-C82C6CC02C60}" type="slidenum">
              <a:rPr lang="en-US" smtClean="0"/>
              <a:t>19</a:t>
            </a:fld>
            <a:endParaRPr lang="en-US" dirty="0"/>
          </a:p>
        </p:txBody>
      </p:sp>
      <p:pic>
        <p:nvPicPr>
          <p:cNvPr id="7" name="Picture 6">
            <a:extLst>
              <a:ext uri="{FF2B5EF4-FFF2-40B4-BE49-F238E27FC236}">
                <a16:creationId xmlns:a16="http://schemas.microsoft.com/office/drawing/2014/main" id="{24B5F4F5-B2CC-665A-DC38-08B32F2BF04B}"/>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pic>
        <p:nvPicPr>
          <p:cNvPr id="11" name="Content Placeholder 10">
            <a:extLst>
              <a:ext uri="{FF2B5EF4-FFF2-40B4-BE49-F238E27FC236}">
                <a16:creationId xmlns:a16="http://schemas.microsoft.com/office/drawing/2014/main" id="{C20B31C2-28CA-AF4D-8F38-7EBBEDC4D79B}"/>
              </a:ext>
            </a:extLst>
          </p:cNvPr>
          <p:cNvPicPr>
            <a:picLocks noGrp="1" noChangeAspect="1"/>
          </p:cNvPicPr>
          <p:nvPr>
            <p:ph idx="1"/>
          </p:nvPr>
        </p:nvPicPr>
        <p:blipFill>
          <a:blip r:embed="rId4"/>
          <a:stretch>
            <a:fillRect/>
          </a:stretch>
        </p:blipFill>
        <p:spPr>
          <a:xfrm>
            <a:off x="1953775" y="1934066"/>
            <a:ext cx="7757227" cy="3858433"/>
          </a:xfrm>
          <a:prstGeom prst="rect">
            <a:avLst/>
          </a:prstGeom>
        </p:spPr>
      </p:pic>
      <p:pic>
        <p:nvPicPr>
          <p:cNvPr id="19" name="Picture 18">
            <a:extLst>
              <a:ext uri="{FF2B5EF4-FFF2-40B4-BE49-F238E27FC236}">
                <a16:creationId xmlns:a16="http://schemas.microsoft.com/office/drawing/2014/main" id="{96CD3B24-5B56-E484-7262-172E66C40EB5}"/>
              </a:ext>
            </a:extLst>
          </p:cNvPr>
          <p:cNvPicPr>
            <a:picLocks noChangeAspect="1"/>
          </p:cNvPicPr>
          <p:nvPr/>
        </p:nvPicPr>
        <p:blipFill>
          <a:blip r:embed="rId5"/>
          <a:stretch>
            <a:fillRect/>
          </a:stretch>
        </p:blipFill>
        <p:spPr>
          <a:xfrm>
            <a:off x="4986075" y="3929111"/>
            <a:ext cx="136532" cy="60328"/>
          </a:xfrm>
          <a:prstGeom prst="rect">
            <a:avLst/>
          </a:prstGeom>
        </p:spPr>
      </p:pic>
      <p:sp>
        <p:nvSpPr>
          <p:cNvPr id="20" name="TextBox 19">
            <a:extLst>
              <a:ext uri="{FF2B5EF4-FFF2-40B4-BE49-F238E27FC236}">
                <a16:creationId xmlns:a16="http://schemas.microsoft.com/office/drawing/2014/main" id="{2E526849-45B5-7257-C148-CAFCD1540EB1}"/>
              </a:ext>
            </a:extLst>
          </p:cNvPr>
          <p:cNvSpPr txBox="1"/>
          <p:nvPr/>
        </p:nvSpPr>
        <p:spPr>
          <a:xfrm>
            <a:off x="4638631" y="6079351"/>
            <a:ext cx="2387513" cy="276999"/>
          </a:xfrm>
          <a:prstGeom prst="rect">
            <a:avLst/>
          </a:prstGeom>
          <a:noFill/>
        </p:spPr>
        <p:txBody>
          <a:bodyPr wrap="none" rtlCol="0">
            <a:spAutoFit/>
          </a:bodyPr>
          <a:lstStyle/>
          <a:p>
            <a:r>
              <a:rPr lang="en-US" sz="1200" dirty="0"/>
              <a:t>Image credit: GeeksForGeeks.org</a:t>
            </a:r>
          </a:p>
        </p:txBody>
      </p:sp>
    </p:spTree>
    <p:extLst>
      <p:ext uri="{BB962C8B-B14F-4D97-AF65-F5344CB8AC3E}">
        <p14:creationId xmlns:p14="http://schemas.microsoft.com/office/powerpoint/2010/main" val="1511211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4A9E3-F932-8630-19F2-3A51B1093A7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F54C9CA-F0A2-5F45-FF56-F07F140078EA}"/>
                  </a:ext>
                </a:extLst>
              </p:cNvPr>
              <p:cNvSpPr>
                <a:spLocks noGrp="1"/>
              </p:cNvSpPr>
              <p:nvPr>
                <p:ph type="title"/>
              </p:nvPr>
            </p:nvSpPr>
            <p:spPr/>
            <p:txBody>
              <a:bodyPr>
                <a:normAutofit/>
              </a:bodyPr>
              <a:lstStyle/>
              <a:p>
                <a:pPr fontAlgn="base"/>
                <a:r>
                  <a:rPr lang="en-US" b="1" dirty="0"/>
                  <a:t>Cell State </a:t>
                </a:r>
                <a14:m>
                  <m:oMath xmlns:m="http://schemas.openxmlformats.org/officeDocument/2006/math">
                    <m:r>
                      <a:rPr lang="en-US" b="0" i="1" smtClean="0">
                        <a:latin typeface="Cambria Math" panose="02040503050406030204" pitchFamily="18" charset="0"/>
                      </a:rPr>
                      <m:t>𝐶</m:t>
                    </m:r>
                  </m:oMath>
                </a14:m>
                <a:endParaRPr lang="en-US" sz="4100" dirty="0"/>
              </a:p>
            </p:txBody>
          </p:sp>
        </mc:Choice>
        <mc:Fallback xmlns="">
          <p:sp>
            <p:nvSpPr>
              <p:cNvPr id="2" name="Title 1">
                <a:extLst>
                  <a:ext uri="{FF2B5EF4-FFF2-40B4-BE49-F238E27FC236}">
                    <a16:creationId xmlns:a16="http://schemas.microsoft.com/office/drawing/2014/main" id="{FF54C9CA-F0A2-5F45-FF56-F07F140078EA}"/>
                  </a:ext>
                </a:extLst>
              </p:cNvPr>
              <p:cNvSpPr>
                <a:spLocks noGrp="1" noRot="1" noChangeAspect="1" noMove="1" noResize="1" noEditPoints="1" noAdjustHandles="1" noChangeArrowheads="1" noChangeShapeType="1" noTextEdit="1"/>
              </p:cNvSpPr>
              <p:nvPr>
                <p:ph type="title"/>
              </p:nvPr>
            </p:nvSpPr>
            <p:spPr>
              <a:blipFill>
                <a:blip r:embed="rId3"/>
                <a:stretch>
                  <a:fillRect l="-2377"/>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B1BAF5AE-E64D-7DB3-91B9-5DB25EEE4576}"/>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EB102252-50C0-0523-2D6C-89BEADF560B9}"/>
              </a:ext>
            </a:extLst>
          </p:cNvPr>
          <p:cNvSpPr>
            <a:spLocks noGrp="1"/>
          </p:cNvSpPr>
          <p:nvPr>
            <p:ph type="sldNum" sz="quarter" idx="12"/>
          </p:nvPr>
        </p:nvSpPr>
        <p:spPr/>
        <p:txBody>
          <a:bodyPr/>
          <a:lstStyle/>
          <a:p>
            <a:fld id="{B645EB31-1C62-4062-9511-C82C6CC02C60}" type="slidenum">
              <a:rPr lang="en-US" smtClean="0"/>
              <a:t>20</a:t>
            </a:fld>
            <a:endParaRPr lang="en-US" dirty="0"/>
          </a:p>
        </p:txBody>
      </p:sp>
      <p:pic>
        <p:nvPicPr>
          <p:cNvPr id="7" name="Picture 6">
            <a:extLst>
              <a:ext uri="{FF2B5EF4-FFF2-40B4-BE49-F238E27FC236}">
                <a16:creationId xmlns:a16="http://schemas.microsoft.com/office/drawing/2014/main" id="{B8476CAD-759B-0306-AB78-3579643D7C65}"/>
              </a:ext>
            </a:extLst>
          </p:cNvPr>
          <p:cNvPicPr>
            <a:picLocks noChangeAspect="1"/>
          </p:cNvPicPr>
          <p:nvPr/>
        </p:nvPicPr>
        <p:blipFill>
          <a:blip r:embed="rId4">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C9DC3B86-ECCB-F583-348E-7971198421F4}"/>
                  </a:ext>
                </a:extLst>
              </p:cNvPr>
              <p:cNvSpPr>
                <a:spLocks noGrp="1"/>
              </p:cNvSpPr>
              <p:nvPr>
                <p:ph idx="1"/>
              </p:nvPr>
            </p:nvSpPr>
            <p:spPr>
              <a:xfrm>
                <a:off x="838200" y="1825625"/>
                <a:ext cx="10854128" cy="4351338"/>
              </a:xfrm>
            </p:spPr>
            <p:txBody>
              <a:bodyPr>
                <a:normAutofit/>
              </a:bodyPr>
              <a:lstStyle/>
              <a:p>
                <a:pPr algn="just"/>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𝑡</m:t>
                        </m:r>
                      </m:sub>
                    </m:sSub>
                  </m:oMath>
                </a14:m>
                <a:r>
                  <a:rPr lang="en-US" dirty="0"/>
                  <a:t> the LSTM’s internal memory, designed to store long-term dependencies </a:t>
                </a:r>
              </a:p>
              <a:p>
                <a:pPr algn="just"/>
                <a:r>
                  <a:rPr lang="en-US" dirty="0"/>
                  <a:t>It carries information across many time steps with minimal modification</a:t>
                </a:r>
              </a:p>
              <a:p>
                <a:pPr algn="just"/>
                <a:r>
                  <a:rPr lang="en-US" dirty="0"/>
                  <a:t>Gates (input, forget, output) add, remove, or expose parts of this memory</a:t>
                </a:r>
              </a:p>
              <a:p>
                <a:pPr algn="just"/>
                <a:r>
                  <a:rPr lang="en-US" b="1" i="1" dirty="0"/>
                  <a:t>Forget Gate </a:t>
                </a:r>
                <a:r>
                  <a:rPr lang="en-US" dirty="0"/>
                  <a:t>decides what portion of the previous cell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oMath>
                </a14:m>
                <a:r>
                  <a:rPr lang="en-US" dirty="0"/>
                  <a:t> 	​ should be kept</a:t>
                </a:r>
              </a:p>
              <a:p>
                <a:pPr algn="just"/>
                <a:r>
                  <a:rPr lang="en-US" b="1" i="1" dirty="0"/>
                  <a:t>Input Gate </a:t>
                </a:r>
                <a:r>
                  <a:rPr lang="en-US" dirty="0"/>
                  <a:t>decides how much new information should be added</a:t>
                </a:r>
              </a:p>
              <a:p>
                <a:pPr algn="just"/>
                <a:r>
                  <a:rPr lang="en-US" b="1" dirty="0"/>
                  <a:t>Output Gate</a:t>
                </a:r>
                <a:r>
                  <a:rPr lang="en-US" dirty="0"/>
                  <a:t> uses the cell state to determine the hidden state</a:t>
                </a:r>
              </a:p>
            </p:txBody>
          </p:sp>
        </mc:Choice>
        <mc:Fallback xmlns="">
          <p:sp>
            <p:nvSpPr>
              <p:cNvPr id="6" name="Content Placeholder 5">
                <a:extLst>
                  <a:ext uri="{FF2B5EF4-FFF2-40B4-BE49-F238E27FC236}">
                    <a16:creationId xmlns:a16="http://schemas.microsoft.com/office/drawing/2014/main" id="{C9DC3B86-ECCB-F583-348E-7971198421F4}"/>
                  </a:ext>
                </a:extLst>
              </p:cNvPr>
              <p:cNvSpPr>
                <a:spLocks noGrp="1" noRot="1" noChangeAspect="1" noMove="1" noResize="1" noEditPoints="1" noAdjustHandles="1" noChangeArrowheads="1" noChangeShapeType="1" noTextEdit="1"/>
              </p:cNvSpPr>
              <p:nvPr>
                <p:ph idx="1"/>
              </p:nvPr>
            </p:nvSpPr>
            <p:spPr>
              <a:xfrm>
                <a:off x="838200" y="1825625"/>
                <a:ext cx="10854128" cy="4351338"/>
              </a:xfrm>
              <a:blipFill>
                <a:blip r:embed="rId5"/>
                <a:stretch>
                  <a:fillRect l="-1011" t="-2241" r="-1180" b="-140"/>
                </a:stretch>
              </a:blipFill>
            </p:spPr>
            <p:txBody>
              <a:bodyPr/>
              <a:lstStyle/>
              <a:p>
                <a:r>
                  <a:rPr lang="en-US">
                    <a:noFill/>
                  </a:rPr>
                  <a:t> </a:t>
                </a:r>
              </a:p>
            </p:txBody>
          </p:sp>
        </mc:Fallback>
      </mc:AlternateContent>
    </p:spTree>
    <p:extLst>
      <p:ext uri="{BB962C8B-B14F-4D97-AF65-F5344CB8AC3E}">
        <p14:creationId xmlns:p14="http://schemas.microsoft.com/office/powerpoint/2010/main" val="724993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9F2C-E671-DCD6-634A-D64342BF9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AAFEC-E389-5924-78A9-5A3BE1B4FA28}"/>
              </a:ext>
            </a:extLst>
          </p:cNvPr>
          <p:cNvSpPr>
            <a:spLocks noGrp="1"/>
          </p:cNvSpPr>
          <p:nvPr>
            <p:ph type="title"/>
          </p:nvPr>
        </p:nvSpPr>
        <p:spPr/>
        <p:txBody>
          <a:bodyPr>
            <a:normAutofit/>
          </a:bodyPr>
          <a:lstStyle/>
          <a:p>
            <a:pPr fontAlgn="base"/>
            <a:r>
              <a:rPr lang="en-US" b="1" dirty="0"/>
              <a:t>Forget Gate</a:t>
            </a:r>
            <a:endParaRPr lang="en-US" sz="4100" b="1" dirty="0"/>
          </a:p>
        </p:txBody>
      </p:sp>
      <p:cxnSp>
        <p:nvCxnSpPr>
          <p:cNvPr id="4" name="Straight Connector 3">
            <a:extLst>
              <a:ext uri="{FF2B5EF4-FFF2-40B4-BE49-F238E27FC236}">
                <a16:creationId xmlns:a16="http://schemas.microsoft.com/office/drawing/2014/main" id="{083AA247-7497-4FB3-38C5-961919513D0F}"/>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EFA7C513-B7F9-6A63-804B-F38143FC2DB4}"/>
              </a:ext>
            </a:extLst>
          </p:cNvPr>
          <p:cNvSpPr>
            <a:spLocks noGrp="1"/>
          </p:cNvSpPr>
          <p:nvPr>
            <p:ph type="sldNum" sz="quarter" idx="12"/>
          </p:nvPr>
        </p:nvSpPr>
        <p:spPr/>
        <p:txBody>
          <a:bodyPr/>
          <a:lstStyle/>
          <a:p>
            <a:fld id="{B645EB31-1C62-4062-9511-C82C6CC02C60}" type="slidenum">
              <a:rPr lang="en-US" smtClean="0"/>
              <a:t>21</a:t>
            </a:fld>
            <a:endParaRPr lang="en-US" dirty="0"/>
          </a:p>
        </p:txBody>
      </p:sp>
      <p:pic>
        <p:nvPicPr>
          <p:cNvPr id="7" name="Picture 6">
            <a:extLst>
              <a:ext uri="{FF2B5EF4-FFF2-40B4-BE49-F238E27FC236}">
                <a16:creationId xmlns:a16="http://schemas.microsoft.com/office/drawing/2014/main" id="{1640166C-7F8D-DA02-A09B-F7D9B385BEE5}"/>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2B9796AD-0094-021C-017F-9BB3DCF7DCFD}"/>
                  </a:ext>
                </a:extLst>
              </p:cNvPr>
              <p:cNvSpPr>
                <a:spLocks noGrp="1"/>
              </p:cNvSpPr>
              <p:nvPr>
                <p:ph idx="1"/>
              </p:nvPr>
            </p:nvSpPr>
            <p:spPr>
              <a:xfrm>
                <a:off x="838200" y="1825625"/>
                <a:ext cx="9406254" cy="4351338"/>
              </a:xfrm>
            </p:spPr>
            <p:txBody>
              <a:bodyPr>
                <a:normAutofit fontScale="92500" lnSpcReduction="20000"/>
              </a:bodyPr>
              <a:lstStyle/>
              <a:p>
                <a:pPr algn="just"/>
                <a:r>
                  <a:rPr lang="en-US" b="1" dirty="0"/>
                  <a:t>Forget Gate: “</a:t>
                </a:r>
                <a:r>
                  <a:rPr lang="en-US" b="1" i="1" dirty="0"/>
                  <a:t>What old info should be erased?</a:t>
                </a:r>
                <a:r>
                  <a:rPr lang="en-US" b="1" dirty="0"/>
                  <a:t>”</a:t>
                </a:r>
              </a:p>
              <a:p>
                <a:pPr lvl="1" algn="just"/>
                <a:r>
                  <a:rPr lang="en-US" dirty="0"/>
                  <a:t>Works like a </a:t>
                </a:r>
                <a:r>
                  <a:rPr lang="en-US" b="1" dirty="0"/>
                  <a:t>cleanup tool</a:t>
                </a:r>
                <a:r>
                  <a:rPr lang="en-US" dirty="0"/>
                  <a:t> that routinely removes outdated or irrelevant memories</a:t>
                </a:r>
              </a:p>
              <a:p>
                <a:pPr lvl="1" algn="just"/>
                <a:r>
                  <a:rPr lang="en-US" dirty="0"/>
                  <a:t>If past information is no longer useful, this gate reduces its influence</a:t>
                </a:r>
              </a:p>
              <a:p>
                <a:pPr lvl="1" algn="just"/>
                <a:r>
                  <a:rPr lang="en-US" dirty="0"/>
                  <a:t>Prevents the memory from being cluttered with unnecessary details</a:t>
                </a:r>
              </a:p>
              <a:p>
                <a:pPr algn="just"/>
                <a:r>
                  <a:rPr lang="en-US" dirty="0"/>
                  <a:t>Two inputs: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en-US" dirty="0"/>
                  <a:t> input at the particular time 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ar-AE" dirty="0"/>
                  <a:t> </a:t>
                </a:r>
                <a:r>
                  <a:rPr lang="en-US" dirty="0"/>
                  <a:t>previous cell output are fed to the gate and multiplied with weight matrices followed by the addition of bias. The resultant is passed through sigmoid activation function which gives output in range of [0,1]</a:t>
                </a:r>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𝜎</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𝑊</m:t>
                              </m:r>
                            </m:e>
                            <m:sub>
                              <m:r>
                                <a:rPr lang="en-US" i="1">
                                  <a:latin typeface="Cambria Math" panose="02040503050406030204" pitchFamily="18" charset="0"/>
                                  <a:ea typeface="Cambria Math" panose="02040503050406030204" pitchFamily="18" charset="0"/>
                                </a:rPr>
                                <m:t>𝑓</m:t>
                              </m:r>
                            </m:sub>
                          </m:sSub>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𝑓</m:t>
                              </m:r>
                            </m:sub>
                          </m:sSub>
                        </m:e>
                      </m:d>
                    </m:oMath>
                  </m:oMathPara>
                </a14:m>
                <a:endParaRPr lang="en-US" dirty="0"/>
              </a:p>
              <a:p>
                <a:pPr algn="just"/>
                <a:r>
                  <a:rPr lang="en-US" dirty="0"/>
                  <a:t>If for a particular cell state the output is 0 or near to 0, the piece of information is forgotten and for output of 1 or near to 1, the information is retained for future use. </a:t>
                </a:r>
              </a:p>
              <a:p>
                <a:pPr algn="just"/>
                <a:endParaRPr lang="en-US" dirty="0"/>
              </a:p>
            </p:txBody>
          </p:sp>
        </mc:Choice>
        <mc:Fallback xmlns="">
          <p:sp>
            <p:nvSpPr>
              <p:cNvPr id="6" name="Content Placeholder 5">
                <a:extLst>
                  <a:ext uri="{FF2B5EF4-FFF2-40B4-BE49-F238E27FC236}">
                    <a16:creationId xmlns:a16="http://schemas.microsoft.com/office/drawing/2014/main" id="{2B9796AD-0094-021C-017F-9BB3DCF7DCFD}"/>
                  </a:ext>
                </a:extLst>
              </p:cNvPr>
              <p:cNvSpPr>
                <a:spLocks noGrp="1" noRot="1" noChangeAspect="1" noMove="1" noResize="1" noEditPoints="1" noAdjustHandles="1" noChangeArrowheads="1" noChangeShapeType="1" noTextEdit="1"/>
              </p:cNvSpPr>
              <p:nvPr>
                <p:ph idx="1"/>
              </p:nvPr>
            </p:nvSpPr>
            <p:spPr>
              <a:xfrm>
                <a:off x="838200" y="1825625"/>
                <a:ext cx="9406254" cy="4351338"/>
              </a:xfrm>
              <a:blipFill>
                <a:blip r:embed="rId4"/>
                <a:stretch>
                  <a:fillRect l="-1037" t="-3501" r="-1102"/>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A07210DF-8FE1-D660-0BFA-03F8462186AD}"/>
              </a:ext>
            </a:extLst>
          </p:cNvPr>
          <p:cNvPicPr>
            <a:picLocks noChangeAspect="1"/>
          </p:cNvPicPr>
          <p:nvPr/>
        </p:nvPicPr>
        <p:blipFill>
          <a:blip r:embed="rId5"/>
          <a:stretch>
            <a:fillRect/>
          </a:stretch>
        </p:blipFill>
        <p:spPr>
          <a:xfrm>
            <a:off x="10503946" y="1588463"/>
            <a:ext cx="1447874" cy="3029106"/>
          </a:xfrm>
          <a:prstGeom prst="rect">
            <a:avLst/>
          </a:prstGeom>
        </p:spPr>
      </p:pic>
    </p:spTree>
    <p:extLst>
      <p:ext uri="{BB962C8B-B14F-4D97-AF65-F5344CB8AC3E}">
        <p14:creationId xmlns:p14="http://schemas.microsoft.com/office/powerpoint/2010/main" val="4278467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461A-2AA6-548D-1114-C2CFCD982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96C89-BC6E-68D0-1FC9-2076A0BBF64F}"/>
              </a:ext>
            </a:extLst>
          </p:cNvPr>
          <p:cNvSpPr>
            <a:spLocks noGrp="1"/>
          </p:cNvSpPr>
          <p:nvPr>
            <p:ph type="title"/>
          </p:nvPr>
        </p:nvSpPr>
        <p:spPr/>
        <p:txBody>
          <a:bodyPr>
            <a:normAutofit/>
          </a:bodyPr>
          <a:lstStyle/>
          <a:p>
            <a:pPr fontAlgn="base"/>
            <a:r>
              <a:rPr lang="en-US" b="1" dirty="0"/>
              <a:t>Input Gate</a:t>
            </a:r>
            <a:endParaRPr lang="en-US" sz="4100" b="1" dirty="0"/>
          </a:p>
        </p:txBody>
      </p:sp>
      <p:cxnSp>
        <p:nvCxnSpPr>
          <p:cNvPr id="4" name="Straight Connector 3">
            <a:extLst>
              <a:ext uri="{FF2B5EF4-FFF2-40B4-BE49-F238E27FC236}">
                <a16:creationId xmlns:a16="http://schemas.microsoft.com/office/drawing/2014/main" id="{CA0B5A9D-4281-BF0F-823D-F6B38DF59C10}"/>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D1B37633-39B9-D031-8FFC-BDE40522AB64}"/>
              </a:ext>
            </a:extLst>
          </p:cNvPr>
          <p:cNvSpPr>
            <a:spLocks noGrp="1"/>
          </p:cNvSpPr>
          <p:nvPr>
            <p:ph type="sldNum" sz="quarter" idx="12"/>
          </p:nvPr>
        </p:nvSpPr>
        <p:spPr/>
        <p:txBody>
          <a:bodyPr/>
          <a:lstStyle/>
          <a:p>
            <a:fld id="{B645EB31-1C62-4062-9511-C82C6CC02C60}" type="slidenum">
              <a:rPr lang="en-US" smtClean="0"/>
              <a:t>22</a:t>
            </a:fld>
            <a:endParaRPr lang="en-US" dirty="0"/>
          </a:p>
        </p:txBody>
      </p:sp>
      <p:pic>
        <p:nvPicPr>
          <p:cNvPr id="7" name="Picture 6">
            <a:extLst>
              <a:ext uri="{FF2B5EF4-FFF2-40B4-BE49-F238E27FC236}">
                <a16:creationId xmlns:a16="http://schemas.microsoft.com/office/drawing/2014/main" id="{92A1D1C3-D0E0-ED48-AC35-32B89C7C949C}"/>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A6C61D7-6AAC-C07E-5254-2A7ADD2997B6}"/>
                  </a:ext>
                </a:extLst>
              </p:cNvPr>
              <p:cNvSpPr>
                <a:spLocks noGrp="1"/>
              </p:cNvSpPr>
              <p:nvPr>
                <p:ph idx="1"/>
              </p:nvPr>
            </p:nvSpPr>
            <p:spPr>
              <a:xfrm>
                <a:off x="838200" y="1825625"/>
                <a:ext cx="9406254" cy="4351338"/>
              </a:xfrm>
            </p:spPr>
            <p:txBody>
              <a:bodyPr>
                <a:normAutofit fontScale="92500" lnSpcReduction="20000"/>
              </a:bodyPr>
              <a:lstStyle/>
              <a:p>
                <a:r>
                  <a:rPr lang="en-US" b="1" dirty="0"/>
                  <a:t>Input Gate: “</a:t>
                </a:r>
                <a:r>
                  <a:rPr lang="en-US" b="1" i="1" dirty="0"/>
                  <a:t>What new info should be stored?</a:t>
                </a:r>
                <a:r>
                  <a:rPr lang="en-US" b="1" dirty="0"/>
                  <a:t>”</a:t>
                </a:r>
              </a:p>
              <a:p>
                <a:pPr lvl="1"/>
                <a:r>
                  <a:rPr lang="en-US" dirty="0"/>
                  <a:t>Think of it like a </a:t>
                </a:r>
                <a:r>
                  <a:rPr lang="en-US" b="1" dirty="0"/>
                  <a:t>filter</a:t>
                </a:r>
                <a:r>
                  <a:rPr lang="en-US" dirty="0"/>
                  <a:t> deciding whether new information is important enough to remember</a:t>
                </a:r>
              </a:p>
              <a:p>
                <a:pPr lvl="1"/>
                <a:r>
                  <a:rPr lang="en-US" dirty="0"/>
                  <a:t>If the current input is meaningful, the input gate “opens” to let it into memory</a:t>
                </a:r>
              </a:p>
              <a:p>
                <a:pPr lvl="1"/>
                <a:r>
                  <a:rPr lang="en-US" dirty="0"/>
                  <a:t>If not, it “closes” to prevent noise from entering the cell state</a:t>
                </a:r>
              </a:p>
              <a:p>
                <a:pPr algn="just"/>
                <a:r>
                  <a:rPr lang="en-US" dirty="0"/>
                  <a:t>The information is regulated using the sigmoid function and filter the values to be remembered similar to the forget gate using inputs </a:t>
                </a:r>
                <a14:m>
                  <m:oMath xmlns:m="http://schemas.openxmlformats.org/officeDocument/2006/math">
                    <m:sSub>
                      <m:sSubPr>
                        <m:ctrlPr>
                          <a:rPr lang="ar-AE" i="1">
                            <a:latin typeface="Cambria Math" panose="02040503050406030204" pitchFamily="18" charset="0"/>
                          </a:rPr>
                        </m:ctrlPr>
                      </m:sSubPr>
                      <m:e>
                        <m:r>
                          <a:rPr lang="en-US" b="0" i="1" smtClean="0">
                            <a:latin typeface="Cambria Math" panose="02040503050406030204" pitchFamily="18" charset="0"/>
                          </a:rPr>
                          <m:t>𝑥</m:t>
                        </m:r>
                      </m:e>
                      <m:sub>
                        <m:r>
                          <a:rPr lang="ar-AE" i="1">
                            <a:latin typeface="Cambria Math" panose="02040503050406030204" pitchFamily="18" charset="0"/>
                          </a:rPr>
                          <m:t>𝑡</m:t>
                        </m:r>
                      </m:sub>
                    </m:sSub>
                  </m:oMath>
                </a14:m>
                <a:r>
                  <a:rPr lang="ar-AE" dirty="0"/>
                  <a:t> </a:t>
                </a:r>
                <a:r>
                  <a:rPr lang="en-US" dirty="0"/>
                  <a:t> 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endParaRPr lang="en-US" dirty="0"/>
              </a:p>
              <a:p>
                <a:pPr algn="just"/>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𝑖</m:t>
                              </m:r>
                            </m:sub>
                          </m:sSub>
                        </m:e>
                      </m:d>
                    </m:oMath>
                  </m:oMathPara>
                </a14:m>
                <a:endParaRPr lang="en-US" dirty="0"/>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𝐶</m:t>
                              </m:r>
                            </m:e>
                          </m:acc>
                        </m:e>
                        <m:sub>
                          <m:r>
                            <a:rPr lang="en-US" i="1">
                              <a:latin typeface="Cambria Math" panose="02040503050406030204" pitchFamily="18" charset="0"/>
                            </a:rPr>
                            <m:t>𝑡</m:t>
                          </m:r>
                        </m:sub>
                      </m:sSub>
                      <m:r>
                        <a:rPr lang="en-US" i="1">
                          <a:latin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tanh</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𝑐</m:t>
                              </m:r>
                            </m:sub>
                          </m:sSub>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h</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𝑐</m:t>
                              </m:r>
                            </m:sub>
                          </m:sSub>
                        </m:e>
                      </m:d>
                    </m:oMath>
                  </m:oMathPara>
                </a14:m>
                <a:endParaRPr lang="en-US" dirty="0"/>
              </a:p>
            </p:txBody>
          </p:sp>
        </mc:Choice>
        <mc:Fallback xmlns="">
          <p:sp>
            <p:nvSpPr>
              <p:cNvPr id="6" name="Content Placeholder 5">
                <a:extLst>
                  <a:ext uri="{FF2B5EF4-FFF2-40B4-BE49-F238E27FC236}">
                    <a16:creationId xmlns:a16="http://schemas.microsoft.com/office/drawing/2014/main" id="{9A6C61D7-6AAC-C07E-5254-2A7ADD2997B6}"/>
                  </a:ext>
                </a:extLst>
              </p:cNvPr>
              <p:cNvSpPr>
                <a:spLocks noGrp="1" noRot="1" noChangeAspect="1" noMove="1" noResize="1" noEditPoints="1" noAdjustHandles="1" noChangeArrowheads="1" noChangeShapeType="1" noTextEdit="1"/>
              </p:cNvSpPr>
              <p:nvPr>
                <p:ph idx="1"/>
              </p:nvPr>
            </p:nvSpPr>
            <p:spPr>
              <a:xfrm>
                <a:off x="838200" y="1825625"/>
                <a:ext cx="9406254" cy="4351338"/>
              </a:xfrm>
              <a:blipFill>
                <a:blip r:embed="rId4"/>
                <a:stretch>
                  <a:fillRect l="-1037" t="-3501" r="-1102"/>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4064BA6-9126-07C0-A692-478D19FA109F}"/>
              </a:ext>
            </a:extLst>
          </p:cNvPr>
          <p:cNvPicPr>
            <a:picLocks noChangeAspect="1"/>
          </p:cNvPicPr>
          <p:nvPr/>
        </p:nvPicPr>
        <p:blipFill>
          <a:blip r:embed="rId5"/>
          <a:stretch>
            <a:fillRect/>
          </a:stretch>
        </p:blipFill>
        <p:spPr>
          <a:xfrm>
            <a:off x="10400999" y="1588463"/>
            <a:ext cx="1695537" cy="2902099"/>
          </a:xfrm>
          <a:prstGeom prst="rect">
            <a:avLst/>
          </a:prstGeom>
        </p:spPr>
      </p:pic>
      <p:pic>
        <p:nvPicPr>
          <p:cNvPr id="11" name="Picture 10">
            <a:extLst>
              <a:ext uri="{FF2B5EF4-FFF2-40B4-BE49-F238E27FC236}">
                <a16:creationId xmlns:a16="http://schemas.microsoft.com/office/drawing/2014/main" id="{5CCB1C37-090D-A887-E6C7-C52392C2DF00}"/>
              </a:ext>
            </a:extLst>
          </p:cNvPr>
          <p:cNvPicPr>
            <a:picLocks noChangeAspect="1"/>
          </p:cNvPicPr>
          <p:nvPr/>
        </p:nvPicPr>
        <p:blipFill>
          <a:blip r:embed="rId6"/>
          <a:stretch>
            <a:fillRect/>
          </a:stretch>
        </p:blipFill>
        <p:spPr>
          <a:xfrm>
            <a:off x="11353800" y="3000133"/>
            <a:ext cx="136532" cy="60328"/>
          </a:xfrm>
          <a:prstGeom prst="rect">
            <a:avLst/>
          </a:prstGeom>
        </p:spPr>
      </p:pic>
    </p:spTree>
    <p:extLst>
      <p:ext uri="{BB962C8B-B14F-4D97-AF65-F5344CB8AC3E}">
        <p14:creationId xmlns:p14="http://schemas.microsoft.com/office/powerpoint/2010/main" val="992719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BAF74-3B4A-BD6A-71DE-3A1C6300D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1ED88-5AF9-22BA-F5D3-4E3B885E8288}"/>
              </a:ext>
            </a:extLst>
          </p:cNvPr>
          <p:cNvSpPr>
            <a:spLocks noGrp="1"/>
          </p:cNvSpPr>
          <p:nvPr>
            <p:ph type="title"/>
          </p:nvPr>
        </p:nvSpPr>
        <p:spPr/>
        <p:txBody>
          <a:bodyPr>
            <a:normAutofit/>
          </a:bodyPr>
          <a:lstStyle/>
          <a:p>
            <a:pPr fontAlgn="base"/>
            <a:r>
              <a:rPr lang="en-US" b="1" dirty="0"/>
              <a:t>Output Gate</a:t>
            </a:r>
            <a:endParaRPr lang="en-US" sz="4100" b="1" dirty="0"/>
          </a:p>
        </p:txBody>
      </p:sp>
      <p:cxnSp>
        <p:nvCxnSpPr>
          <p:cNvPr id="4" name="Straight Connector 3">
            <a:extLst>
              <a:ext uri="{FF2B5EF4-FFF2-40B4-BE49-F238E27FC236}">
                <a16:creationId xmlns:a16="http://schemas.microsoft.com/office/drawing/2014/main" id="{082650EA-8235-E6A5-E25B-F68C19EB8C4D}"/>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F3E96E7A-E315-7035-EF57-3F9F17EA41DF}"/>
              </a:ext>
            </a:extLst>
          </p:cNvPr>
          <p:cNvSpPr>
            <a:spLocks noGrp="1"/>
          </p:cNvSpPr>
          <p:nvPr>
            <p:ph type="sldNum" sz="quarter" idx="12"/>
          </p:nvPr>
        </p:nvSpPr>
        <p:spPr/>
        <p:txBody>
          <a:bodyPr/>
          <a:lstStyle/>
          <a:p>
            <a:fld id="{B645EB31-1C62-4062-9511-C82C6CC02C60}" type="slidenum">
              <a:rPr lang="en-US" smtClean="0"/>
              <a:t>23</a:t>
            </a:fld>
            <a:endParaRPr lang="en-US" dirty="0"/>
          </a:p>
        </p:txBody>
      </p:sp>
      <p:pic>
        <p:nvPicPr>
          <p:cNvPr id="7" name="Picture 6">
            <a:extLst>
              <a:ext uri="{FF2B5EF4-FFF2-40B4-BE49-F238E27FC236}">
                <a16:creationId xmlns:a16="http://schemas.microsoft.com/office/drawing/2014/main" id="{9B43F2B8-ACA3-CE29-2306-499E02D2C104}"/>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8F26198-7A25-5717-473F-EE95781FB76E}"/>
                  </a:ext>
                </a:extLst>
              </p:cNvPr>
              <p:cNvSpPr>
                <a:spLocks noGrp="1"/>
              </p:cNvSpPr>
              <p:nvPr>
                <p:ph idx="1"/>
              </p:nvPr>
            </p:nvSpPr>
            <p:spPr>
              <a:xfrm>
                <a:off x="838200" y="1825625"/>
                <a:ext cx="9406254" cy="4799350"/>
              </a:xfrm>
            </p:spPr>
            <p:txBody>
              <a:bodyPr>
                <a:normAutofit fontScale="70000" lnSpcReduction="20000"/>
              </a:bodyPr>
              <a:lstStyle/>
              <a:p>
                <a:r>
                  <a:rPr lang="en-US" b="1" dirty="0"/>
                  <a:t>Output Gate: “</a:t>
                </a:r>
                <a:r>
                  <a:rPr lang="en-US" b="1" i="1" dirty="0"/>
                  <a:t>What should be revealed right now?</a:t>
                </a:r>
                <a:r>
                  <a:rPr lang="en-US" b="1" dirty="0"/>
                  <a:t>”</a:t>
                </a:r>
              </a:p>
              <a:p>
                <a:pPr lvl="1" algn="just"/>
                <a:r>
                  <a:rPr lang="en-US" dirty="0"/>
                  <a:t>Functions like a spotlight deciding which part of the stored memory is relevant for the current step</a:t>
                </a:r>
              </a:p>
              <a:p>
                <a:pPr lvl="1" algn="just"/>
                <a:r>
                  <a:rPr lang="en-US" dirty="0"/>
                  <a:t>It selects the information that should influence the output at this moment</a:t>
                </a:r>
              </a:p>
              <a:p>
                <a:pPr lvl="1" algn="just"/>
                <a:r>
                  <a:rPr lang="en-US" dirty="0"/>
                  <a:t>Keeps internal memory and final output appropriately aligned.</a:t>
                </a:r>
              </a:p>
              <a:p>
                <a:pPr algn="just"/>
                <a:r>
                  <a:rPr lang="en-US" dirty="0"/>
                  <a:t>First, the gate uses a sigmoid function to determine which information from the current cell state will be output. This is done using the previous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oMath>
                </a14:m>
                <a:r>
                  <a:rPr lang="ar-AE" dirty="0"/>
                  <a:t>​ </a:t>
                </a:r>
                <a:r>
                  <a:rPr lang="en-US" dirty="0"/>
                  <a:t>and the current input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endParaRPr lang="en-US" dirty="0"/>
              </a:p>
              <a:p>
                <a:pPr algn="just"/>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𝑊</m:t>
                              </m:r>
                            </m:e>
                            <m:sub>
                              <m:r>
                                <a:rPr lang="en-US" b="0" i="1" smtClean="0">
                                  <a:latin typeface="Cambria Math" panose="02040503050406030204" pitchFamily="18" charset="0"/>
                                  <a:ea typeface="Cambria Math" panose="02040503050406030204" pitchFamily="18" charset="0"/>
                                </a:rPr>
                                <m:t>𝑜</m:t>
                              </m:r>
                            </m:sub>
                          </m:sSub>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h</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𝑜</m:t>
                              </m:r>
                            </m:sub>
                          </m:sSub>
                        </m:e>
                      </m:d>
                    </m:oMath>
                  </m:oMathPara>
                </a14:m>
                <a:endParaRPr lang="en-US" b="0" dirty="0">
                  <a:ea typeface="Cambria Math" panose="02040503050406030204" pitchFamily="18" charset="0"/>
                </a:endParaRPr>
              </a:p>
              <a:p>
                <a:pPr marL="0" indent="0" algn="ctr">
                  <a:buNone/>
                </a:pPr>
                <a:endParaRPr lang="en-US" dirty="0"/>
              </a:p>
              <a:p>
                <a:pPr algn="just"/>
                <a:r>
                  <a:rPr lang="en-US" dirty="0"/>
                  <a:t>Next, the current cell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𝑡</m:t>
                        </m:r>
                      </m:sub>
                    </m:sSub>
                  </m:oMath>
                </a14:m>
                <a:r>
                  <a:rPr lang="ar-AE" dirty="0"/>
                  <a:t>​ </a:t>
                </a:r>
                <a:r>
                  <a:rPr lang="en-US" dirty="0"/>
                  <a:t>is passed through a </a:t>
                </a:r>
                <a:r>
                  <a:rPr lang="en-US" b="1" i="1" dirty="0"/>
                  <a:t>tanh</a:t>
                </a:r>
                <a:r>
                  <a:rPr lang="en-US" dirty="0"/>
                  <a:t> activation to scale its values between </a:t>
                </a:r>
                <a14:m>
                  <m:oMath xmlns:m="http://schemas.openxmlformats.org/officeDocument/2006/math">
                    <m:r>
                      <a:rPr lang="en-US">
                        <a:latin typeface="Cambria Math" panose="02040503050406030204" pitchFamily="18" charset="0"/>
                      </a:rPr>
                      <m:t>−</m:t>
                    </m:r>
                    <m:r>
                      <a:rPr lang="en-US">
                        <a:latin typeface="Cambria Math" panose="02040503050406030204" pitchFamily="18" charset="0"/>
                      </a:rPr>
                      <m:t>1</m:t>
                    </m:r>
                  </m:oMath>
                </a14:m>
                <a:r>
                  <a:rPr lang="en-US" dirty="0"/>
                  <a:t> and </a:t>
                </a:r>
                <a14:m>
                  <m:oMath xmlns:m="http://schemas.openxmlformats.org/officeDocument/2006/math">
                    <m:r>
                      <a:rPr lang="en-US">
                        <a:latin typeface="Cambria Math" panose="02040503050406030204" pitchFamily="18" charset="0"/>
                      </a:rPr>
                      <m:t>+</m:t>
                    </m:r>
                    <m:r>
                      <a:rPr lang="en-US">
                        <a:latin typeface="Cambria Math" panose="02040503050406030204" pitchFamily="18" charset="0"/>
                      </a:rPr>
                      <m:t>1</m:t>
                    </m:r>
                  </m:oMath>
                </a14:m>
                <a:r>
                  <a:rPr lang="en-US" dirty="0"/>
                  <a:t>. Finally, this transformed cell state is multiplied element-wise with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𝑜</m:t>
                        </m:r>
                      </m:e>
                      <m:sub>
                        <m:r>
                          <a:rPr lang="ar-AE" i="1">
                            <a:latin typeface="Cambria Math" panose="02040503050406030204" pitchFamily="18" charset="0"/>
                          </a:rPr>
                          <m:t>𝑡</m:t>
                        </m:r>
                      </m:sub>
                    </m:sSub>
                  </m:oMath>
                </a14:m>
                <a:r>
                  <a:rPr lang="ar-AE" dirty="0"/>
                  <a:t>​ </a:t>
                </a:r>
                <a:r>
                  <a:rPr lang="en-US" dirty="0"/>
                  <a:t>to produce the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r>
                  <a:rPr lang="en-US" dirty="0"/>
                  <a:t> (</a:t>
                </a:r>
                <a:r>
                  <a:rPr lang="en-US" b="1" dirty="0"/>
                  <a:t>this is also the output for this LSTM cell</a:t>
                </a:r>
                <a:r>
                  <a:rPr lang="en-US" dirty="0"/>
                  <a:t>)</a:t>
                </a:r>
                <a:r>
                  <a:rPr lang="ar-AE" dirty="0"/>
                  <a:t>:</a:t>
                </a:r>
                <a:endParaRPr lang="en-US" dirty="0"/>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sz="2900" i="1">
                              <a:latin typeface="Cambria Math" panose="02040503050406030204" pitchFamily="18" charset="0"/>
                            </a:rPr>
                          </m:ctrlPr>
                        </m:sSubPr>
                        <m:e>
                          <m:r>
                            <a:rPr lang="en-US" sz="2900" i="1" smtClean="0">
                              <a:latin typeface="Cambria Math" panose="02040503050406030204" pitchFamily="18" charset="0"/>
                            </a:rPr>
                            <m:t>h</m:t>
                          </m:r>
                        </m:e>
                        <m:sub>
                          <m:r>
                            <a:rPr lang="en-US" sz="2900" i="1">
                              <a:latin typeface="Cambria Math" panose="02040503050406030204" pitchFamily="18" charset="0"/>
                            </a:rPr>
                            <m:t>𝑡</m:t>
                          </m:r>
                        </m:sub>
                      </m:sSub>
                      <m:r>
                        <a:rPr lang="en-US" sz="2900" i="1">
                          <a:latin typeface="Cambria Math" panose="02040503050406030204" pitchFamily="18" charset="0"/>
                        </a:rPr>
                        <m:t>=</m:t>
                      </m:r>
                      <m:sSub>
                        <m:sSubPr>
                          <m:ctrlPr>
                            <a:rPr lang="en-US" sz="2900" i="1">
                              <a:latin typeface="Cambria Math" panose="02040503050406030204" pitchFamily="18" charset="0"/>
                            </a:rPr>
                          </m:ctrlPr>
                        </m:sSubPr>
                        <m:e>
                          <m:r>
                            <a:rPr lang="en-US" sz="2900" i="1">
                              <a:latin typeface="Cambria Math" panose="02040503050406030204" pitchFamily="18" charset="0"/>
                            </a:rPr>
                            <m:t>𝑜</m:t>
                          </m:r>
                        </m:e>
                        <m:sub>
                          <m:r>
                            <a:rPr lang="en-US" sz="2900" i="1">
                              <a:latin typeface="Cambria Math" panose="02040503050406030204" pitchFamily="18" charset="0"/>
                            </a:rPr>
                            <m:t>𝑡</m:t>
                          </m:r>
                        </m:sub>
                      </m:sSub>
                      <m:r>
                        <a:rPr lang="en-US" sz="2900" b="0" i="1" smtClean="0">
                          <a:latin typeface="Cambria Math" panose="02040503050406030204" pitchFamily="18" charset="0"/>
                        </a:rPr>
                        <m:t> </m:t>
                      </m:r>
                      <m:r>
                        <a:rPr lang="en-US" sz="2900" b="0" i="1" smtClean="0">
                          <a:latin typeface="Cambria Math" panose="02040503050406030204" pitchFamily="18" charset="0"/>
                          <a:ea typeface="Cambria Math" panose="02040503050406030204" pitchFamily="18" charset="0"/>
                        </a:rPr>
                        <m:t>⨀</m:t>
                      </m:r>
                      <m:r>
                        <a:rPr lang="en-US" sz="2900" b="0" i="0" smtClean="0">
                          <a:latin typeface="Cambria Math" panose="02040503050406030204" pitchFamily="18" charset="0"/>
                        </a:rPr>
                        <m:t> </m:t>
                      </m:r>
                      <m:r>
                        <m:rPr>
                          <m:sty m:val="p"/>
                        </m:rPr>
                        <a:rPr lang="en-US" sz="2900" b="0" i="0" smtClean="0">
                          <a:latin typeface="Cambria Math" panose="02040503050406030204" pitchFamily="18" charset="0"/>
                          <a:ea typeface="Cambria Math" panose="02040503050406030204" pitchFamily="18" charset="0"/>
                        </a:rPr>
                        <m:t>tanh</m:t>
                      </m:r>
                      <m:d>
                        <m:dPr>
                          <m:ctrlPr>
                            <a:rPr lang="en-US" sz="2900" b="0" i="1" smtClean="0">
                              <a:latin typeface="Cambria Math" panose="02040503050406030204" pitchFamily="18" charset="0"/>
                              <a:ea typeface="Cambria Math" panose="02040503050406030204" pitchFamily="18" charset="0"/>
                            </a:rPr>
                          </m:ctrlPr>
                        </m:dPr>
                        <m:e>
                          <m:sSub>
                            <m:sSubPr>
                              <m:ctrlPr>
                                <a:rPr lang="en-US" sz="2900" b="0" i="1" smtClean="0">
                                  <a:latin typeface="Cambria Math" panose="02040503050406030204" pitchFamily="18" charset="0"/>
                                  <a:ea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𝐶</m:t>
                              </m:r>
                            </m:e>
                            <m:sub>
                              <m:r>
                                <a:rPr lang="en-US" sz="2900" b="0" i="1" smtClean="0">
                                  <a:latin typeface="Cambria Math" panose="02040503050406030204" pitchFamily="18" charset="0"/>
                                  <a:ea typeface="Cambria Math" panose="02040503050406030204" pitchFamily="18" charset="0"/>
                                </a:rPr>
                                <m:t>𝑡</m:t>
                              </m:r>
                            </m:sub>
                          </m:sSub>
                        </m:e>
                      </m:d>
                    </m:oMath>
                  </m:oMathPara>
                </a14:m>
                <a:endParaRPr lang="en-US" sz="2900" dirty="0"/>
              </a:p>
            </p:txBody>
          </p:sp>
        </mc:Choice>
        <mc:Fallback xmlns="">
          <p:sp>
            <p:nvSpPr>
              <p:cNvPr id="6" name="Content Placeholder 5">
                <a:extLst>
                  <a:ext uri="{FF2B5EF4-FFF2-40B4-BE49-F238E27FC236}">
                    <a16:creationId xmlns:a16="http://schemas.microsoft.com/office/drawing/2014/main" id="{F8F26198-7A25-5717-473F-EE95781FB76E}"/>
                  </a:ext>
                </a:extLst>
              </p:cNvPr>
              <p:cNvSpPr>
                <a:spLocks noGrp="1" noRot="1" noChangeAspect="1" noMove="1" noResize="1" noEditPoints="1" noAdjustHandles="1" noChangeArrowheads="1" noChangeShapeType="1" noTextEdit="1"/>
              </p:cNvSpPr>
              <p:nvPr>
                <p:ph idx="1"/>
              </p:nvPr>
            </p:nvSpPr>
            <p:spPr>
              <a:xfrm>
                <a:off x="838200" y="1825625"/>
                <a:ext cx="9406254" cy="4799350"/>
              </a:xfrm>
              <a:blipFill>
                <a:blip r:embed="rId4"/>
                <a:stretch>
                  <a:fillRect l="-583" t="-2157" r="-648"/>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9648829D-5C6A-6EE0-8A13-F9B536E2BC7C}"/>
              </a:ext>
            </a:extLst>
          </p:cNvPr>
          <p:cNvPicPr>
            <a:picLocks noChangeAspect="1"/>
          </p:cNvPicPr>
          <p:nvPr/>
        </p:nvPicPr>
        <p:blipFill>
          <a:blip r:embed="rId5"/>
          <a:stretch>
            <a:fillRect/>
          </a:stretch>
        </p:blipFill>
        <p:spPr>
          <a:xfrm>
            <a:off x="10244454" y="1646238"/>
            <a:ext cx="1720938" cy="3010055"/>
          </a:xfrm>
          <a:prstGeom prst="rect">
            <a:avLst/>
          </a:prstGeom>
        </p:spPr>
      </p:pic>
    </p:spTree>
    <p:extLst>
      <p:ext uri="{BB962C8B-B14F-4D97-AF65-F5344CB8AC3E}">
        <p14:creationId xmlns:p14="http://schemas.microsoft.com/office/powerpoint/2010/main" val="3814944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AF08-A178-7896-A4A5-D855F96B4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EC009-9046-7D3F-70D7-29D1EE54EB0B}"/>
              </a:ext>
            </a:extLst>
          </p:cNvPr>
          <p:cNvSpPr>
            <a:spLocks noGrp="1"/>
          </p:cNvSpPr>
          <p:nvPr>
            <p:ph type="title"/>
          </p:nvPr>
        </p:nvSpPr>
        <p:spPr/>
        <p:txBody>
          <a:bodyPr>
            <a:normAutofit/>
          </a:bodyPr>
          <a:lstStyle/>
          <a:p>
            <a:pPr fontAlgn="base"/>
            <a:r>
              <a:rPr lang="en-US" sz="4100" b="1" dirty="0"/>
              <a:t>Vanishing/Exploding Gradient Control in LSTM</a:t>
            </a:r>
          </a:p>
        </p:txBody>
      </p:sp>
      <p:cxnSp>
        <p:nvCxnSpPr>
          <p:cNvPr id="4" name="Straight Connector 3">
            <a:extLst>
              <a:ext uri="{FF2B5EF4-FFF2-40B4-BE49-F238E27FC236}">
                <a16:creationId xmlns:a16="http://schemas.microsoft.com/office/drawing/2014/main" id="{2764F102-7958-079B-B71D-C7697D02E959}"/>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363B3B75-E025-238A-C90B-540A1242646C}"/>
              </a:ext>
            </a:extLst>
          </p:cNvPr>
          <p:cNvSpPr>
            <a:spLocks noGrp="1"/>
          </p:cNvSpPr>
          <p:nvPr>
            <p:ph type="sldNum" sz="quarter" idx="12"/>
          </p:nvPr>
        </p:nvSpPr>
        <p:spPr/>
        <p:txBody>
          <a:bodyPr/>
          <a:lstStyle/>
          <a:p>
            <a:fld id="{B645EB31-1C62-4062-9511-C82C6CC02C60}" type="slidenum">
              <a:rPr lang="en-US" smtClean="0"/>
              <a:t>24</a:t>
            </a:fld>
            <a:endParaRPr lang="en-US" dirty="0"/>
          </a:p>
        </p:txBody>
      </p:sp>
      <p:pic>
        <p:nvPicPr>
          <p:cNvPr id="7" name="Picture 6">
            <a:extLst>
              <a:ext uri="{FF2B5EF4-FFF2-40B4-BE49-F238E27FC236}">
                <a16:creationId xmlns:a16="http://schemas.microsoft.com/office/drawing/2014/main" id="{1B6290DB-65D0-5C70-83D5-D3BDE954F5F7}"/>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6" name="Content Placeholder 5">
            <a:extLst>
              <a:ext uri="{FF2B5EF4-FFF2-40B4-BE49-F238E27FC236}">
                <a16:creationId xmlns:a16="http://schemas.microsoft.com/office/drawing/2014/main" id="{6F12BD98-F48F-5920-D926-BB0401915B3A}"/>
              </a:ext>
            </a:extLst>
          </p:cNvPr>
          <p:cNvSpPr>
            <a:spLocks noGrp="1"/>
          </p:cNvSpPr>
          <p:nvPr>
            <p:ph idx="1"/>
          </p:nvPr>
        </p:nvSpPr>
        <p:spPr>
          <a:xfrm>
            <a:off x="838200" y="1640024"/>
            <a:ext cx="10854128" cy="5081444"/>
          </a:xfrm>
        </p:spPr>
        <p:txBody>
          <a:bodyPr>
            <a:normAutofit lnSpcReduction="10000"/>
          </a:bodyPr>
          <a:lstStyle/>
          <a:p>
            <a:r>
              <a:rPr lang="en-US" b="1" dirty="0"/>
              <a:t>Gating Mechanisms Control Information Flow</a:t>
            </a:r>
          </a:p>
          <a:p>
            <a:pPr lvl="1"/>
            <a:r>
              <a:rPr lang="en-US" b="1" dirty="0"/>
              <a:t>Forget Gate (Prevents exploding)</a:t>
            </a:r>
          </a:p>
          <a:p>
            <a:pPr lvl="2"/>
            <a:r>
              <a:rPr lang="en-US" dirty="0"/>
              <a:t>The forget gate decides </a:t>
            </a:r>
            <a:r>
              <a:rPr lang="en-US" b="1" dirty="0"/>
              <a:t>how much of the previous memory to keep</a:t>
            </a:r>
            <a:endParaRPr lang="en-US" dirty="0"/>
          </a:p>
          <a:p>
            <a:pPr lvl="2"/>
            <a:r>
              <a:rPr lang="en-US" dirty="0"/>
              <a:t>If old information is not needed, the forget gate reduces its influence</a:t>
            </a:r>
          </a:p>
          <a:p>
            <a:pPr lvl="2"/>
            <a:r>
              <a:rPr lang="en-US" b="1" u="sng" dirty="0"/>
              <a:t>This prevents the memory from accumulating too much useless information</a:t>
            </a:r>
            <a:r>
              <a:rPr lang="en-US" dirty="0"/>
              <a:t> that would make gradients explode</a:t>
            </a:r>
          </a:p>
          <a:p>
            <a:pPr lvl="1"/>
            <a:r>
              <a:rPr lang="en-US" b="1" dirty="0"/>
              <a:t>Input Gate (Prevents vanishing)</a:t>
            </a:r>
          </a:p>
          <a:p>
            <a:pPr lvl="2"/>
            <a:r>
              <a:rPr lang="en-US" dirty="0"/>
              <a:t>The input gate controls </a:t>
            </a:r>
            <a:r>
              <a:rPr lang="en-US" b="1" dirty="0"/>
              <a:t>how much new information</a:t>
            </a:r>
            <a:r>
              <a:rPr lang="en-US" dirty="0"/>
              <a:t> is allowed into the memory</a:t>
            </a:r>
          </a:p>
          <a:p>
            <a:pPr lvl="2"/>
            <a:r>
              <a:rPr lang="en-US" dirty="0"/>
              <a:t>Important information is allowed in strongly; unimportant info is weakened</a:t>
            </a:r>
          </a:p>
          <a:p>
            <a:pPr lvl="2"/>
            <a:r>
              <a:rPr lang="en-US" b="1" u="sng" dirty="0"/>
              <a:t>This keeps meaningful signals strong enough</a:t>
            </a:r>
            <a:r>
              <a:rPr lang="en-US" dirty="0"/>
              <a:t> so they do not fade away (vanish)</a:t>
            </a:r>
          </a:p>
          <a:p>
            <a:pPr lvl="2"/>
            <a:endParaRPr lang="en-US" dirty="0"/>
          </a:p>
          <a:p>
            <a:r>
              <a:rPr lang="en-US" b="1" dirty="0"/>
              <a:t>Controlled Gradient Flow Through Gates</a:t>
            </a:r>
          </a:p>
          <a:p>
            <a:pPr lvl="1"/>
            <a:r>
              <a:rPr lang="en-US" dirty="0"/>
              <a:t>Gates use </a:t>
            </a:r>
            <a:r>
              <a:rPr lang="en-US" b="1" dirty="0"/>
              <a:t>sigmoid and tanh</a:t>
            </a:r>
            <a:r>
              <a:rPr lang="en-US" dirty="0"/>
              <a:t> to bound values.</a:t>
            </a:r>
          </a:p>
          <a:p>
            <a:pPr lvl="1"/>
            <a:r>
              <a:rPr lang="en-US" dirty="0"/>
              <a:t>Ensures gradients remain within stable ranges.</a:t>
            </a:r>
          </a:p>
          <a:p>
            <a:endParaRPr lang="en-US" dirty="0"/>
          </a:p>
          <a:p>
            <a:pPr lvl="1"/>
            <a:endParaRPr lang="en-US" dirty="0"/>
          </a:p>
        </p:txBody>
      </p:sp>
    </p:spTree>
    <p:extLst>
      <p:ext uri="{BB962C8B-B14F-4D97-AF65-F5344CB8AC3E}">
        <p14:creationId xmlns:p14="http://schemas.microsoft.com/office/powerpoint/2010/main" val="2270042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3C2A8-2737-33FE-CCD0-8C330C351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B5BFA-94FD-7A71-3443-0521B55168FC}"/>
              </a:ext>
            </a:extLst>
          </p:cNvPr>
          <p:cNvSpPr>
            <a:spLocks noGrp="1"/>
          </p:cNvSpPr>
          <p:nvPr>
            <p:ph type="title"/>
          </p:nvPr>
        </p:nvSpPr>
        <p:spPr/>
        <p:txBody>
          <a:bodyPr>
            <a:normAutofit/>
          </a:bodyPr>
          <a:lstStyle/>
          <a:p>
            <a:pPr fontAlgn="base"/>
            <a:r>
              <a:rPr lang="en-US" sz="4100" b="1" dirty="0"/>
              <a:t>Vanilla RNN vs LSTM</a:t>
            </a:r>
          </a:p>
        </p:txBody>
      </p:sp>
      <p:cxnSp>
        <p:nvCxnSpPr>
          <p:cNvPr id="4" name="Straight Connector 3">
            <a:extLst>
              <a:ext uri="{FF2B5EF4-FFF2-40B4-BE49-F238E27FC236}">
                <a16:creationId xmlns:a16="http://schemas.microsoft.com/office/drawing/2014/main" id="{8D8C086B-03ED-AFAF-54F5-902B160411FC}"/>
              </a:ext>
            </a:extLst>
          </p:cNvPr>
          <p:cNvCxnSpPr/>
          <p:nvPr/>
        </p:nvCxnSpPr>
        <p:spPr>
          <a:xfrm>
            <a:off x="652072" y="1409075"/>
            <a:ext cx="11040256" cy="0"/>
          </a:xfrm>
          <a:prstGeom prst="line">
            <a:avLst/>
          </a:prstGeom>
          <a:ln>
            <a:solidFill>
              <a:schemeClr val="tx2">
                <a:lumMod val="90000"/>
                <a:lumOff val="10000"/>
              </a:schemeClr>
            </a:solidFill>
          </a:ln>
        </p:spPr>
        <p:style>
          <a:lnRef idx="2">
            <a:schemeClr val="accent4"/>
          </a:lnRef>
          <a:fillRef idx="0">
            <a:schemeClr val="accent4"/>
          </a:fillRef>
          <a:effectRef idx="1">
            <a:schemeClr val="accent4"/>
          </a:effectRef>
          <a:fontRef idx="minor">
            <a:schemeClr val="tx1"/>
          </a:fontRef>
        </p:style>
      </p:cxnSp>
      <p:sp>
        <p:nvSpPr>
          <p:cNvPr id="5" name="Slide Number Placeholder 4">
            <a:extLst>
              <a:ext uri="{FF2B5EF4-FFF2-40B4-BE49-F238E27FC236}">
                <a16:creationId xmlns:a16="http://schemas.microsoft.com/office/drawing/2014/main" id="{5A2681F0-2AD5-A75B-E978-9BF22FBE3CFD}"/>
              </a:ext>
            </a:extLst>
          </p:cNvPr>
          <p:cNvSpPr>
            <a:spLocks noGrp="1"/>
          </p:cNvSpPr>
          <p:nvPr>
            <p:ph type="sldNum" sz="quarter" idx="12"/>
          </p:nvPr>
        </p:nvSpPr>
        <p:spPr/>
        <p:txBody>
          <a:bodyPr/>
          <a:lstStyle/>
          <a:p>
            <a:fld id="{B645EB31-1C62-4062-9511-C82C6CC02C60}" type="slidenum">
              <a:rPr lang="en-US" smtClean="0"/>
              <a:t>25</a:t>
            </a:fld>
            <a:endParaRPr lang="en-US" dirty="0"/>
          </a:p>
        </p:txBody>
      </p:sp>
      <p:pic>
        <p:nvPicPr>
          <p:cNvPr id="7" name="Picture 6">
            <a:extLst>
              <a:ext uri="{FF2B5EF4-FFF2-40B4-BE49-F238E27FC236}">
                <a16:creationId xmlns:a16="http://schemas.microsoft.com/office/drawing/2014/main" id="{F769B045-5995-8951-8E7A-7D2AE9FE7355}"/>
              </a:ext>
            </a:extLst>
          </p:cNvPr>
          <p:cNvPicPr>
            <a:picLocks noChangeAspect="1"/>
          </p:cNvPicPr>
          <p:nvPr/>
        </p:nvPicPr>
        <p:blipFill>
          <a:blip r:embed="rId3">
            <a:alphaModFix amt="18000"/>
          </a:blip>
          <a:stretch>
            <a:fillRect/>
          </a:stretch>
        </p:blipFill>
        <p:spPr>
          <a:xfrm>
            <a:off x="10794548" y="206301"/>
            <a:ext cx="559252" cy="677784"/>
          </a:xfrm>
          <a:prstGeom prst="rect">
            <a:avLst/>
          </a:prstGeom>
        </p:spPr>
      </p:pic>
      <p:sp>
        <p:nvSpPr>
          <p:cNvPr id="6" name="Content Placeholder 5">
            <a:extLst>
              <a:ext uri="{FF2B5EF4-FFF2-40B4-BE49-F238E27FC236}">
                <a16:creationId xmlns:a16="http://schemas.microsoft.com/office/drawing/2014/main" id="{360C83C9-4827-8DF0-51FF-CF4BAC61E26C}"/>
              </a:ext>
            </a:extLst>
          </p:cNvPr>
          <p:cNvSpPr>
            <a:spLocks noGrp="1"/>
          </p:cNvSpPr>
          <p:nvPr>
            <p:ph idx="1"/>
          </p:nvPr>
        </p:nvSpPr>
        <p:spPr>
          <a:xfrm>
            <a:off x="838200" y="1640024"/>
            <a:ext cx="10854128" cy="5081444"/>
          </a:xfrm>
        </p:spPr>
        <p:txBody>
          <a:bodyPr>
            <a:normAutofit/>
          </a:bodyPr>
          <a:lstStyle/>
          <a:p>
            <a:pPr algn="just"/>
            <a:r>
              <a:rPr lang="en-US" dirty="0"/>
              <a:t>RNNs remember the recent past; LSTMs remember what truly matters</a:t>
            </a:r>
          </a:p>
          <a:p>
            <a:pPr algn="just"/>
            <a:r>
              <a:rPr lang="en-US" dirty="0"/>
              <a:t>RNNs forget quickly; LSTMs know what to keep and what to throw away</a:t>
            </a:r>
          </a:p>
          <a:p>
            <a:pPr algn="just"/>
            <a:r>
              <a:rPr lang="en-US" dirty="0"/>
              <a:t>RNNs have short-term memory; LSTMs have short-term </a:t>
            </a:r>
            <a:r>
              <a:rPr lang="en-US" i="1" dirty="0"/>
              <a:t>and</a:t>
            </a:r>
            <a:r>
              <a:rPr lang="en-US" dirty="0"/>
              <a:t> long-term memory</a:t>
            </a:r>
          </a:p>
          <a:p>
            <a:pPr algn="just"/>
            <a:r>
              <a:rPr lang="en-US" dirty="0"/>
              <a:t>RNNs react to the moment; LSTMs understand the story</a:t>
            </a:r>
          </a:p>
          <a:p>
            <a:pPr algn="just"/>
            <a:r>
              <a:rPr lang="en-US" dirty="0"/>
              <a:t>RNNs recall yesterday; LSTMs recall the whole timeline</a:t>
            </a:r>
          </a:p>
          <a:p>
            <a:pPr algn="just"/>
            <a:r>
              <a:rPr lang="en-US" dirty="0"/>
              <a:t>RNNs struggle with long sequences; LSTMs carry important information forward</a:t>
            </a:r>
          </a:p>
        </p:txBody>
      </p:sp>
    </p:spTree>
    <p:extLst>
      <p:ext uri="{BB962C8B-B14F-4D97-AF65-F5344CB8AC3E}">
        <p14:creationId xmlns:p14="http://schemas.microsoft.com/office/powerpoint/2010/main" val="2272557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20198</TotalTime>
  <Words>2056</Words>
  <Application>Microsoft Office PowerPoint</Application>
  <PresentationFormat>Widescreen</PresentationFormat>
  <Paragraphs>274</Paragraphs>
  <Slides>25</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Cambria Math</vt:lpstr>
      <vt:lpstr>Office Theme</vt:lpstr>
      <vt:lpstr>Lecture 15:  RNN &amp; LSTM</vt:lpstr>
      <vt:lpstr>Introduction: Process Sequences</vt:lpstr>
      <vt:lpstr>Recurrent Neural Networks (RNNs)</vt:lpstr>
      <vt:lpstr>Recurrent Neurons in RNNs</vt:lpstr>
      <vt:lpstr>Unrolled RNN</vt:lpstr>
      <vt:lpstr>Unrolled RNN (contd.)</vt:lpstr>
      <vt:lpstr>Hidden State Calculation</vt:lpstr>
      <vt:lpstr>Output Calculation</vt:lpstr>
      <vt:lpstr>Calculation Summary</vt:lpstr>
      <vt:lpstr>Training RNN</vt:lpstr>
      <vt:lpstr>Gradients w.r.t. W</vt:lpstr>
      <vt:lpstr>Gradients w.r.t. U</vt:lpstr>
      <vt:lpstr>Gradients w.r.t. V</vt:lpstr>
      <vt:lpstr>Vanishing &amp; Exploding Gradients</vt:lpstr>
      <vt:lpstr>Variants of RNN</vt:lpstr>
      <vt:lpstr>Variants of RNN (contd.)</vt:lpstr>
      <vt:lpstr>Variants of RNN (contd.)</vt:lpstr>
      <vt:lpstr>Long Short-Term Memory Network (LSTM)</vt:lpstr>
      <vt:lpstr>Architecture</vt:lpstr>
      <vt:lpstr>Cell State C</vt:lpstr>
      <vt:lpstr>Forget Gate</vt:lpstr>
      <vt:lpstr>Input Gate</vt:lpstr>
      <vt:lpstr>Output Gate</vt:lpstr>
      <vt:lpstr>Vanishing/Exploding Gradient Control in LSTM</vt:lpstr>
      <vt:lpstr>Vanilla RNN vs LSTM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RNN &amp; LSTM</dc:title>
  <dc:creator>Jilan Samiuddin</dc:creator>
  <cp:lastModifiedBy>Jilan Samiuddin</cp:lastModifiedBy>
  <cp:revision>252</cp:revision>
  <dcterms:created xsi:type="dcterms:W3CDTF">2025-05-01T04:50:36Z</dcterms:created>
  <dcterms:modified xsi:type="dcterms:W3CDTF">2026-04-22T03:21:59Z</dcterms:modified>
</cp:coreProperties>
</file>