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2"/>
    <p:sldId id="274" r:id="rId3"/>
    <p:sldId id="275" r:id="rId4"/>
    <p:sldId id="276" r:id="rId5"/>
    <p:sldId id="277" r:id="rId6"/>
    <p:sldId id="278" r:id="rId7"/>
    <p:sldId id="283" r:id="rId8"/>
    <p:sldId id="279" r:id="rId9"/>
    <p:sldId id="280" r:id="rId10"/>
    <p:sldId id="284" r:id="rId11"/>
    <p:sldId id="281" r:id="rId12"/>
    <p:sldId id="285" r:id="rId13"/>
    <p:sldId id="286" r:id="rId14"/>
    <p:sldId id="287" r:id="rId15"/>
    <p:sldId id="282" r:id="rId16"/>
    <p:sldId id="288" r:id="rId17"/>
    <p:sldId id="289" r:id="rId18"/>
    <p:sldId id="290" r:id="rId19"/>
    <p:sldId id="292" r:id="rId20"/>
    <p:sldId id="291" r:id="rId21"/>
    <p:sldId id="293" r:id="rId22"/>
    <p:sldId id="294" r:id="rId23"/>
    <p:sldId id="296" r:id="rId24"/>
    <p:sldId id="297" r:id="rId25"/>
    <p:sldId id="298" r:id="rId26"/>
    <p:sldId id="299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2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D4E0159-42FF-E65A-8E4D-D784988C257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496018-5CC2-59DE-2953-7738B983433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28FED0-F494-4C8F-803A-297D5BD08D3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36F1A6-4EBD-D971-0F49-66EB5F0FDB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CC8F35-1B39-1C84-0B7A-25A637B3F29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F219B2-123C-4C18-A5D8-EB8782F74E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24748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6CD510-D800-49E6-BF08-298A1FE48EE9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48FE62-91E1-4730-A536-75C928C6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25415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923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26768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B6107-94A9-24C7-7EC6-21A5E5A48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A3D34D-7DDE-32D3-446B-58AEC2E2AA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C8DC77-A13C-3758-9F3A-61543DA59D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BADDD4-03F9-D7FD-4B74-9C3CB0CCC1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611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1F0B1-4308-340B-9B61-B97016640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02CD2A-CABD-1F74-BFE6-49A88D1E47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E82B08-387C-6AA0-9A79-302AE1ACA3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7657BC-D093-E439-38D3-8ECAF165F2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4954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AC284-81DD-4485-43BF-0ED8BC859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594FBA-DDC8-44F6-1718-9B7FB2C360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06D2F1-2C50-252C-36E4-33C6723B31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D002F7-3F26-6C1C-FFF8-2BB073ED73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89309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53DF7-A902-D1CB-AB66-111F59EF0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621F33-48CB-F32F-106A-91AEFCEA1B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81DB59-67F5-7157-0B02-2974CBC561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FA80B3-D509-BC20-0332-4F82DA7544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3467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7AD62-7614-7067-917F-E45A79352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049A41-E387-C3C3-9A17-084666F0C6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B7CF9C-38F2-404D-A471-F6AE2F8947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C1070F-D54D-4211-92E3-9007512FBC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83477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3352B-BB63-087F-9D5C-521C83D0A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707315-E440-B9A8-7C94-A69C314BB9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6F13E6-930B-3CC2-90D4-0418F6E739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BE76F2-7B26-51A6-FA5D-ADCE85FD43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5290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2F062-E2C9-31E0-820F-71C9E9746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BB22DA-FBD5-0AA2-7C03-43FF68337A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7DDCCC-091D-93B0-0330-AD6570A0E6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F09B4B-14EF-0F8C-8691-BEDF6EF9D2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2576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5A302-FAFB-9BF1-C826-6CA5EB727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D2BF6C-C3D7-186A-3268-E166E15610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FE6AED-9049-D501-59A7-341214F7CE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15D1A6-D0EF-8614-4BA7-3942E43FDA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0972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7C9AA-9A4D-1D89-8F1B-753E05401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2426D4-D4D9-F0FF-33C0-A7007AD754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FE3028-485A-CA7D-CECA-EA7539188B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8B2312-FBE6-B360-1A00-85106CA1D1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2307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DB14B-4E04-DF84-801D-A0FFADAAD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BB969C-3DF3-9B75-FF5F-E76BB033EE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5DC0A9-E37D-D62A-A3FE-E8A076CD0A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CA8E13-9E0D-86C5-BE7F-212100E0D8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8781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565C5-253B-F3B4-B9D0-0850EE8FB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C33D4F-1B85-98D3-8732-BF2AE08CD5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80934A-646A-D774-253A-A834697EFE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FDC35B-D4C9-6E41-BCAB-881F64D573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4590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A6A88-42A3-31D9-813C-AF2F12B2C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DFE3BB-ADA7-8322-A2B6-77CA828948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F1BC1D-F442-530E-ADEA-3F3058E3E1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942CEB-25B0-70E5-4BD7-3D24DD8267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6962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87705-A86C-A8F2-D59D-18A989817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D3CB5E-3846-5BC8-FF11-D5E8CD823F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E25ACD-9607-0426-4A8F-80443DD903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22DE77-583D-5FEC-F21A-8F56614729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4716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971FD-64C5-1D62-49E2-569379784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98C209-D6D7-EABD-E0D3-24EAEC990D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330F3D-FF0C-26BE-D625-39E4FC228A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8B4CBA-F622-98CF-D558-1698B1C6FC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9690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5FF95-5DF4-569C-0764-A703C3A31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C2799-FB12-FEBD-8AB8-554749FEA3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E8B50E-81BB-BFC1-F353-94EFC5AE64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7F43EE-F636-62C7-BCAB-755DF44863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5971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0F7F3-1547-42CD-2448-0EEAAFD7E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3B36CC-A2F6-C552-875F-A10F6748DD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51FE1D-E16C-B275-5D2F-F94E047ED9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84525-6DC7-BF77-9AF5-95E370D203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2307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66FD8-604F-0A68-EBAD-1FB0104DF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950B78-1C22-D393-6E26-70B4257137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27058F-6D5A-B211-1E68-BD9B380D07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F6F9F4-FFA8-C9E4-7F99-8E75C30461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4735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0B984-AED6-2BD3-5E91-F33AD7309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0FFE44-D381-2826-DDB7-04C97F1E17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7E586D-1205-3769-AFCC-7E2C681350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291837-BC2F-FC35-4AF5-4B1B3FC4E8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0447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E3D6C-543E-88F3-0DE3-C5572A608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6044A2-EA78-C428-C8C7-AF8D8A1C2D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88753D-13DC-FAB2-BE98-D5F1CFB3F2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EADE43-5951-9D12-A857-EAA6A18741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6569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A10BD-E0ED-8D50-8D7D-153220896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BBD067-D88A-B4BA-16C9-2197317FCD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7EB945-05DE-41C8-8764-5AC93AB08D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8F0205-7BA3-D3CD-3A47-7710128652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0417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E1AD7-E1A3-454C-EBBD-D3446A43E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A71D3C-58DB-31D5-5D8F-8CE445D75C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F8CF94-39C3-C864-3CD3-BB3C1F3BE2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AFBFCD-D7C0-3B0A-80D9-E1A0C5BFC4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8647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F8DD8-803D-0514-D92F-66E6B452F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D6B4BB-8494-D8D6-6300-A8D655F274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3737AF-1928-8E39-76E7-7F17A97AA6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A23C1F-1527-C45F-8D6C-33BF50523E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66847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C4604-72F7-E724-4538-2FC18B518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760871-591A-A143-92DA-779756FCE4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6B1D23-0686-85B7-8BFC-8D10396CBA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635BCC-5F89-C83C-57C1-A1A703835C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60282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87B09-981C-4A05-A3F9-D792DC434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6BE7F-58E6-4F00-64E9-F0099709FC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B333C9-EC88-A18D-DCC1-EE9374C8D0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BCDFD9-4BCB-2E43-4D84-A466038825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220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803D7-70F1-1C6F-A3B7-A8287EE256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A7E7C8-C452-803C-5FAC-14BDD1D437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D9D17-AB94-0B7D-C590-1F7E51846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370ED-970E-4212-BB35-C22C1D195CBC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9647B-4FB4-82CC-07BE-EFD93BF43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4B835-5F31-3FC0-10FA-FAC19E81C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037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216F1-8C26-C670-B7DC-8010AD390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ADE1A-A059-2960-24A5-D405837CE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42EED-1E92-359C-10FA-4E5D3C3F9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BB735-82A6-4413-A653-62CE81350112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24E15-03A2-851D-88BC-2445BB771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F4FD2-0C66-774A-A375-1089C6654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122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5120E-FC2F-A46F-4B09-23117B464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0862F9-9511-E32B-4BD7-47E0A71AD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C9156-0A2A-DB75-C8EA-248EA3DEE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75B7-2148-4A9D-995D-56145ABEAE97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D3A95-056A-D033-22AF-CDDBE987E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57329-594F-D458-6A9C-F07B09AFE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353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8A64B-29CB-8665-CEC5-DF412D2F9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8CDFC-7ECF-8F07-A1A5-1C0C8B3854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FD181D-A96E-0D94-2062-16DE285411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00174-4A25-E989-7ACA-5C0B639C9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A078-0F96-4814-AF41-4D8FAE7F8A6C}" type="datetime1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23BD85-5B63-139B-2CE7-19610007F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3ABD13-EDE6-69F9-8590-026CFFF13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269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5F3A3-B693-9109-7927-708691AAD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C4F7D-CCD8-33A2-D7D0-35E5380DD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9AD8A8-2AB0-25CD-201F-ED952A4CDC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E13444-B5AF-C486-4E0A-7F2108ACDF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942FB4-090B-A58C-DF43-EA43DA1F16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708DE3-3255-6046-EE31-0C14E3532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CFAE0-6AEA-4322-8961-61818A5C4CC4}" type="datetime1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A5004F-5259-2B42-1938-FA9CAA92C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D354AB-D64D-E84A-BA76-66DBB6E45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354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E9BCC-F36B-F141-B6AC-0F2466147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7B0912-EE39-228C-9255-704DBA8C2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1CC14-615A-40E5-878F-B7968E69ACA9}" type="datetime1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ECFC76-DAA8-A15C-4AC4-93D299980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5AFFAA-E646-0DDF-64A0-A28BAC96E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007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8BE16B-802E-3074-11D1-8DE9C32B0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13215-DB23-4892-8F9A-91431A502CD2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670A2E-3D38-5D1E-AF19-F063247E7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331207-BFA9-21E9-A865-318F13DA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701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2605C-FA05-25DE-15F4-805A8CF09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4B131-EC7F-BFD9-E7B6-AB3137F4F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2959E2-E99B-EDA1-628E-184C643D5E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DE0DFE-327E-11B6-BD8C-0F41386E7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3BCFA-E3E0-4FF4-BACA-FCF5C255E5DE}" type="datetime1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88662-BCB8-828C-9BDF-DD1D1A56A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40129B-382F-9101-9ED5-631C3B88F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216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04D93-D5ED-C785-80CB-7CF60D10A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39CBA7-CE7D-C187-B782-CA09C95AF8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D639DC-D960-C20C-EDEF-4E282D5FCE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0A177-05FD-4F3A-55CF-3EEB7E4E8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EC14-2B3B-4EE3-949A-779D533E8478}" type="datetime1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599E7E-8ECE-4DE4-A26C-C2CAB0978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5AEDC0-BC10-677B-FFB3-DD53581A8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678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59DC3-0DF6-0743-E644-4A7AC5421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7E063F-D43E-FD0C-D76B-188F3B721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1BACC-50F2-51B8-0376-B959E5C69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BC18E-A90B-4B22-BF53-42EC149F08BB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1CC8EC-0CE8-F103-3FD7-ED00AEDD2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90F038-A502-BA4A-633C-2C8924FA2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340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D0902E-7688-3814-1155-474461F4BE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262A82-7CD6-0470-0AF6-CCA98D9EF6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BDE9E-FAFF-63E1-22C0-33E9AE7F2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84F7D-5048-4108-88DC-972512EB713E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85A15-7E8B-01A9-927C-5655A0706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D3DFA-2B27-BC65-59BF-B29EA1A36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386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9CAD65-4AD5-02F3-7FA3-E760BBE79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EEE9E-8A03-0343-4D11-0133E5C0B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60B93-A586-42A5-0F99-907C968479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F7581B-AB8F-4D43-BDE7-8F5E2E8E8856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50782-3D97-A485-DC22-453A9166FA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A4F32-3929-476D-213C-0F9E358D25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481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6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35000"/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ement trans="54000" crackSpacing="50"/>
                    </a14:imgEffect>
                  </a14:imgLayer>
                </a14:imgProps>
              </a:ext>
            </a:extLst>
          </a:blip>
          <a:srcRect/>
          <a:stretch>
            <a:fillRect l="1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8" name="Rectangle 2077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E115A1-643A-7BF3-3A4B-2A7AF1AE9C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228" y="743447"/>
            <a:ext cx="4552707" cy="3692028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5200" b="1" dirty="0"/>
              <a:t>Lecture 8: Multilayer Perceptron</a:t>
            </a:r>
            <a:br>
              <a:rPr lang="en-US" sz="5200" b="1" dirty="0"/>
            </a:br>
            <a:r>
              <a:rPr lang="en-US" sz="5200" b="1" dirty="0"/>
              <a:t>(MLP)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31FF77-E09E-52C0-CD84-03CBD6D988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229" y="4629234"/>
            <a:ext cx="3973386" cy="1485319"/>
          </a:xfrm>
          <a:noFill/>
        </p:spPr>
        <p:txBody>
          <a:bodyPr>
            <a:normAutofit/>
          </a:bodyPr>
          <a:lstStyle/>
          <a:p>
            <a:pPr algn="l"/>
            <a:r>
              <a:rPr lang="en-US" b="1" i="1" dirty="0"/>
              <a:t>Dr. Jilan Samiuddin (JSA)</a:t>
            </a:r>
          </a:p>
          <a:p>
            <a:pPr algn="l"/>
            <a:r>
              <a:rPr lang="en-US" dirty="0"/>
              <a:t>Assistant Professor</a:t>
            </a:r>
          </a:p>
          <a:p>
            <a:pPr algn="l"/>
            <a:r>
              <a:rPr lang="en-US" dirty="0"/>
              <a:t>North South University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5C301A-7024-8616-AFF2-7263B1346FFF}"/>
              </a:ext>
            </a:extLst>
          </p:cNvPr>
          <p:cNvSpPr txBox="1"/>
          <p:nvPr/>
        </p:nvSpPr>
        <p:spPr>
          <a:xfrm>
            <a:off x="952227" y="1199214"/>
            <a:ext cx="2782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CSE445 Machine Learning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1CA6BF-0DE8-9E57-6E92-74A6BC63A17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8000"/>
          </a:blip>
          <a:stretch>
            <a:fillRect/>
          </a:stretch>
        </p:blipFill>
        <p:spPr>
          <a:xfrm>
            <a:off x="392975" y="260715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640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5AEE8-6F8B-9FE0-BB68-5586414E5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33528-3C14-7895-8EA3-B39964895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Introduction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F1A0919-707C-DD43-2AB2-B90D62AFEA38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2440A3-F561-5513-DF30-DCC7BF98E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2826BA-4010-179D-017F-00C3FB366DC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B782FC3-F038-0CB2-CBC0-A3F8A8277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2" y="1603202"/>
            <a:ext cx="11040256" cy="4530723"/>
          </a:xfrm>
        </p:spPr>
        <p:txBody>
          <a:bodyPr>
            <a:noAutofit/>
          </a:bodyPr>
          <a:lstStyle/>
          <a:p>
            <a:pPr algn="just"/>
            <a:r>
              <a:rPr lang="en-US" sz="2500" dirty="0"/>
              <a:t>MLPs are neural network (NN) models inspired by the human brain</a:t>
            </a:r>
          </a:p>
          <a:p>
            <a:pPr algn="just"/>
            <a:r>
              <a:rPr lang="en-US" sz="2500" dirty="0"/>
              <a:t>They consist of interconnected nodes or neurons that process data</a:t>
            </a:r>
          </a:p>
          <a:p>
            <a:pPr algn="just"/>
            <a:r>
              <a:rPr lang="en-US" sz="2500" dirty="0"/>
              <a:t>These models learn patterns from data</a:t>
            </a:r>
          </a:p>
          <a:p>
            <a:pPr algn="just"/>
            <a:r>
              <a:rPr lang="en-US" sz="2500" dirty="0"/>
              <a:t>MLPs are used for tasks such as pattern recognition, decision-making, regression, classification, etc.</a:t>
            </a:r>
          </a:p>
        </p:txBody>
      </p:sp>
      <p:pic>
        <p:nvPicPr>
          <p:cNvPr id="1029" name="Picture 5" descr="Artificial neural networks are commonly organized in layers that are... |  Download Scientific Diagram">
            <a:extLst>
              <a:ext uri="{FF2B5EF4-FFF2-40B4-BE49-F238E27FC236}">
                <a16:creationId xmlns:a16="http://schemas.microsoft.com/office/drawing/2014/main" id="{F7F16D4D-DE1C-38AA-0CEE-25F6124B70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1849" y="3974113"/>
            <a:ext cx="4499533" cy="2747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8832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25393-9477-92C6-2C19-6A6DBFF14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A3527-776C-A432-8CEE-F8E7CB581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Understanding MLPs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E31E2E5-59D5-395E-1991-9241647D4583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55D73F-E6DD-5723-CB46-FBC47BD12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733C50-D79F-8A33-3628-FAC08282EE0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9A5291A-1175-8085-A420-7D84BA1A0C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2" y="1603202"/>
            <a:ext cx="11040256" cy="4530723"/>
          </a:xfrm>
        </p:spPr>
        <p:txBody>
          <a:bodyPr>
            <a:noAutofit/>
          </a:bodyPr>
          <a:lstStyle/>
          <a:p>
            <a:pPr algn="just"/>
            <a:r>
              <a:rPr lang="en-US" sz="2500" dirty="0"/>
              <a:t>MLPs can learn and identify patterns directly from data without relying on pre-defined rules, i.e.,</a:t>
            </a:r>
          </a:p>
          <a:p>
            <a:pPr lvl="1" algn="just"/>
            <a:r>
              <a:rPr lang="en-US" sz="2100" dirty="0"/>
              <a:t>Learn the patterns automatically by adjusting weights</a:t>
            </a:r>
          </a:p>
          <a:p>
            <a:pPr lvl="1" algn="just"/>
            <a:r>
              <a:rPr lang="en-US" sz="2100" dirty="0"/>
              <a:t>Based purely on exposure to examples (data)</a:t>
            </a:r>
          </a:p>
          <a:p>
            <a:pPr lvl="1" algn="just"/>
            <a:r>
              <a:rPr lang="en-US" sz="2000" dirty="0"/>
              <a:t>Find </a:t>
            </a:r>
            <a:r>
              <a:rPr lang="en-US" sz="2000" b="1" dirty="0"/>
              <a:t>non-obvious correlations</a:t>
            </a:r>
            <a:r>
              <a:rPr lang="en-US" sz="2000" dirty="0"/>
              <a:t> and </a:t>
            </a:r>
            <a:r>
              <a:rPr lang="en-US" sz="2000" b="1" dirty="0"/>
              <a:t>nonlinear relationships</a:t>
            </a:r>
            <a:endParaRPr lang="en-US" sz="2100" dirty="0"/>
          </a:p>
          <a:p>
            <a:pPr algn="just"/>
            <a:r>
              <a:rPr lang="en-US" sz="2500" dirty="0"/>
              <a:t>Key components of neural networks include: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sz="2100" b="1" dirty="0"/>
              <a:t>Neurons</a:t>
            </a:r>
            <a:r>
              <a:rPr lang="en-US" sz="2100" dirty="0"/>
              <a:t>: Basic units that receive inputs and apply a threshold and activation function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sz="2100" b="1" dirty="0"/>
              <a:t>Connections</a:t>
            </a:r>
            <a:r>
              <a:rPr lang="en-US" sz="2100" dirty="0"/>
              <a:t>: Pathways between neurons that transmit information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sz="2100" b="1" dirty="0"/>
              <a:t>Weights and Biases</a:t>
            </a:r>
            <a:r>
              <a:rPr lang="en-US" sz="2100" dirty="0"/>
              <a:t>: Parameters that control the strength and influence of each connection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sz="2100" b="1" dirty="0"/>
              <a:t>Propagation Functions</a:t>
            </a:r>
            <a:r>
              <a:rPr lang="en-US" sz="2100" dirty="0"/>
              <a:t>: Processes that manage how data moves across neuron layers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sz="2100" b="1" dirty="0"/>
              <a:t>Learning Rule</a:t>
            </a:r>
            <a:r>
              <a:rPr lang="en-US" sz="2100" dirty="0"/>
              <a:t>: The method used to update weights and biases to enhance model accuracy.</a:t>
            </a:r>
          </a:p>
        </p:txBody>
      </p:sp>
    </p:spTree>
    <p:extLst>
      <p:ext uri="{BB962C8B-B14F-4D97-AF65-F5344CB8AC3E}">
        <p14:creationId xmlns:p14="http://schemas.microsoft.com/office/powerpoint/2010/main" val="3191071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73AB0-6CDE-4C44-2794-B91B8633D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02130-D1EF-4282-E8D6-0A59E8A62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Layers in MLPs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2525B79-883E-9776-CE84-4C0704357830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D8F25-6314-A868-5CBE-06B19F925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091A53-C23A-75D4-297B-92B4750AEF4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9F1CE5B-69F2-ECA7-2558-60356D15A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2" y="1603202"/>
            <a:ext cx="11040256" cy="4530723"/>
          </a:xfrm>
        </p:spPr>
        <p:txBody>
          <a:bodyPr>
            <a:noAutofit/>
          </a:bodyPr>
          <a:lstStyle/>
          <a:p>
            <a:pPr algn="just" fontAlgn="base"/>
            <a:r>
              <a:rPr lang="en-US" b="1" dirty="0"/>
              <a:t>Input Layer:</a:t>
            </a:r>
          </a:p>
          <a:p>
            <a:pPr lvl="1" algn="just" fontAlgn="base"/>
            <a:r>
              <a:rPr lang="en-US" dirty="0"/>
              <a:t>Receives the input data</a:t>
            </a:r>
          </a:p>
          <a:p>
            <a:pPr lvl="1" algn="just" fontAlgn="base"/>
            <a:r>
              <a:rPr lang="en-US" dirty="0"/>
              <a:t>Each neuron corresponds to one feature of the input</a:t>
            </a:r>
          </a:p>
          <a:p>
            <a:pPr algn="just" fontAlgn="base"/>
            <a:r>
              <a:rPr lang="en-US" b="1" dirty="0"/>
              <a:t>Hidden Layers:</a:t>
            </a:r>
          </a:p>
          <a:p>
            <a:pPr lvl="1" algn="just" fontAlgn="base"/>
            <a:r>
              <a:rPr lang="en-US" dirty="0"/>
              <a:t>Perform the main computations in the network</a:t>
            </a:r>
          </a:p>
          <a:p>
            <a:pPr lvl="1" algn="just" fontAlgn="base"/>
            <a:r>
              <a:rPr lang="en-US" dirty="0"/>
              <a:t>Can consist of one or more layers</a:t>
            </a:r>
          </a:p>
          <a:p>
            <a:pPr lvl="1" algn="just" fontAlgn="base"/>
            <a:r>
              <a:rPr lang="en-US" dirty="0"/>
              <a:t>Each neuron transforms inputs into representations useful for the next layer</a:t>
            </a:r>
          </a:p>
          <a:p>
            <a:pPr algn="just" fontAlgn="base"/>
            <a:r>
              <a:rPr lang="en-US" b="1" dirty="0"/>
              <a:t>Output Layer:</a:t>
            </a:r>
          </a:p>
          <a:p>
            <a:pPr lvl="1" algn="just" fontAlgn="base"/>
            <a:r>
              <a:rPr lang="en-US" dirty="0"/>
              <a:t>Generates the final result of the network</a:t>
            </a:r>
          </a:p>
          <a:p>
            <a:pPr lvl="1" algn="just" fontAlgn="base"/>
            <a:r>
              <a:rPr lang="en-US" dirty="0"/>
              <a:t>The output format depends on the task (e.g., classification or regression)</a:t>
            </a:r>
          </a:p>
        </p:txBody>
      </p:sp>
    </p:spTree>
    <p:extLst>
      <p:ext uri="{BB962C8B-B14F-4D97-AF65-F5344CB8AC3E}">
        <p14:creationId xmlns:p14="http://schemas.microsoft.com/office/powerpoint/2010/main" val="181609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FB43A-15BA-2398-46C6-6544E4D82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C669D-ECBB-6942-DF14-63A437C92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Working of MLPs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79D90E-BA33-D757-AF69-8517B988BA7B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04BD28-2390-9ADD-280C-E057621E9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B903B8-559B-5DCC-2CF3-8DA8455B228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E0F46BE-F0BC-57E0-D846-B946FC8EFA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2" y="1603202"/>
            <a:ext cx="11040256" cy="4530723"/>
          </a:xfrm>
        </p:spPr>
        <p:txBody>
          <a:bodyPr>
            <a:no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sz="2000" b="1" dirty="0"/>
              <a:t>Forward Propagation</a:t>
            </a:r>
          </a:p>
          <a:p>
            <a:pPr lvl="1" algn="just"/>
            <a:r>
              <a:rPr lang="en-US" sz="2000" dirty="0"/>
              <a:t>Input data passes through the network layer by layer</a:t>
            </a:r>
          </a:p>
          <a:p>
            <a:pPr lvl="1" algn="just"/>
            <a:r>
              <a:rPr lang="en-US" sz="2000" dirty="0"/>
              <a:t>Each neuron computes a weighted sum of its inputs and applies an activation function</a:t>
            </a:r>
          </a:p>
          <a:p>
            <a:pPr lvl="1" algn="just"/>
            <a:r>
              <a:rPr lang="en-US" sz="2000" dirty="0"/>
              <a:t>Produces the output (prediction) at the final layer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b="1" dirty="0"/>
              <a:t>Backpropagation</a:t>
            </a:r>
          </a:p>
          <a:p>
            <a:pPr lvl="1" algn="just"/>
            <a:r>
              <a:rPr lang="en-US" sz="2000" dirty="0"/>
              <a:t>Compares the predicted output to the actual label (via a loss function)</a:t>
            </a:r>
          </a:p>
          <a:p>
            <a:pPr lvl="1" algn="just"/>
            <a:r>
              <a:rPr lang="en-US" sz="2000" dirty="0"/>
              <a:t>Calculates the gradient of the loss with respect to each weight using the chain rule</a:t>
            </a:r>
          </a:p>
          <a:p>
            <a:pPr lvl="1" algn="just"/>
            <a:r>
              <a:rPr lang="en-US" sz="2000" dirty="0"/>
              <a:t>Propagates these errors backward through the network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b="1" dirty="0"/>
              <a:t>Iteration (Training Loop)</a:t>
            </a:r>
          </a:p>
          <a:p>
            <a:pPr lvl="1" algn="just"/>
            <a:r>
              <a:rPr lang="en-US" sz="2000" dirty="0"/>
              <a:t>Weights and biases are updated using an optimization algorithm (e.g., Gradient Descent)</a:t>
            </a:r>
          </a:p>
          <a:p>
            <a:pPr lvl="1" algn="just"/>
            <a:r>
              <a:rPr lang="en-US" sz="2000" dirty="0"/>
              <a:t>The process repeats over multiple </a:t>
            </a:r>
            <a:r>
              <a:rPr lang="en-US" sz="2000" b="1" dirty="0"/>
              <a:t>epochs</a:t>
            </a:r>
            <a:r>
              <a:rPr lang="en-US" sz="2000" dirty="0"/>
              <a:t> (full passes through the training data)</a:t>
            </a:r>
          </a:p>
          <a:p>
            <a:pPr lvl="1" algn="just"/>
            <a:r>
              <a:rPr lang="en-US" sz="2000" dirty="0"/>
              <a:t>Each iteration improves the model's accuracy by reducing the loss</a:t>
            </a:r>
          </a:p>
        </p:txBody>
      </p:sp>
    </p:spTree>
    <p:extLst>
      <p:ext uri="{BB962C8B-B14F-4D97-AF65-F5344CB8AC3E}">
        <p14:creationId xmlns:p14="http://schemas.microsoft.com/office/powerpoint/2010/main" val="2829490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D069C-B654-4492-BDCF-406582F8A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F6E4B-0D69-03E3-8ADD-90D82971E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Forward Propagation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CFA74FF-CA03-8816-F611-6E51016590CC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258C59-ABE5-63A1-793C-6E9503D58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160366-66A5-C696-3CEF-92CF3E9EB0F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F42B0442-EE0E-7893-39C6-A7CA60BAF0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2091" y="1588089"/>
                <a:ext cx="7318779" cy="5133386"/>
              </a:xfrm>
            </p:spPr>
            <p:txBody>
              <a:bodyPr>
                <a:noAutofit/>
              </a:bodyPr>
              <a:lstStyle/>
              <a:p>
                <a:pPr marL="457200" indent="-457200" algn="just">
                  <a:buFont typeface="+mj-lt"/>
                  <a:buAutoNum type="arabicPeriod"/>
                </a:pPr>
                <a:r>
                  <a:rPr lang="en-US" sz="2150" b="1" u="sng" dirty="0"/>
                  <a:t>Input Layer (Hidden Layer Input)</a:t>
                </a:r>
              </a:p>
              <a:p>
                <a:pPr lvl="1" algn="just"/>
                <a:r>
                  <a:rPr lang="en-US" sz="2150" dirty="0"/>
                  <a:t>Each neuron receives input values, each multiplied by its corresponding weight</a:t>
                </a:r>
              </a:p>
              <a:p>
                <a:pPr lvl="1" algn="just"/>
                <a:r>
                  <a:rPr lang="en-US" sz="2150" dirty="0"/>
                  <a:t>The weighted inputs are summed, and a bias term is added</a:t>
                </a:r>
              </a:p>
              <a:p>
                <a:pPr lvl="1" algn="just"/>
                <a:r>
                  <a:rPr lang="en-US" sz="2150" dirty="0"/>
                  <a:t>For a single hidden layer, if there are </a:t>
                </a:r>
                <a14:m>
                  <m:oMath xmlns:m="http://schemas.openxmlformats.org/officeDocument/2006/math">
                    <m:r>
                      <a:rPr lang="en-US" sz="215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150" dirty="0"/>
                  <a:t> number of inputs and </a:t>
                </a:r>
                <a14:m>
                  <m:oMath xmlns:m="http://schemas.openxmlformats.org/officeDocument/2006/math">
                    <m:r>
                      <a:rPr lang="en-US" sz="215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150" dirty="0"/>
                  <a:t> number of neurons in the hidden layer, mathematically, this is expressed as:</a:t>
                </a:r>
              </a:p>
              <a:p>
                <a:pPr lvl="1" algn="just"/>
                <a:endParaRPr lang="en-US" sz="2150" dirty="0"/>
              </a:p>
              <a:p>
                <a:pPr marL="457200" lvl="1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15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15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15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15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</m:sSubSup>
                      <m:r>
                        <a:rPr lang="en-US" sz="215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15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15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15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15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15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</m:sSubSup>
                      <m:sSub>
                        <m:sSubPr>
                          <m:ctrlPr>
                            <a:rPr lang="en-US" sz="215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5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15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15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15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15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15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15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150" i="1"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</m:sSubSup>
                      <m:sSub>
                        <m:sSubPr>
                          <m:ctrlPr>
                            <a:rPr lang="en-US" sz="215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5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15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150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Sup>
                        <m:sSubSupPr>
                          <m:ctrlPr>
                            <a:rPr lang="en-US" sz="215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15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150" b="0" i="1" smtClean="0">
                              <a:latin typeface="Cambria Math" panose="02040503050406030204" pitchFamily="18" charset="0"/>
                            </a:rPr>
                            <m:t>𝑖𝑁</m:t>
                          </m:r>
                        </m:sub>
                        <m:sup>
                          <m:r>
                            <a:rPr lang="en-US" sz="215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</m:sSubSup>
                      <m:sSub>
                        <m:sSubPr>
                          <m:ctrlPr>
                            <a:rPr lang="en-US" sz="215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5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15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sz="215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15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5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215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</m:sSup>
                    </m:oMath>
                  </m:oMathPara>
                </a14:m>
                <a:endParaRPr lang="en-US" sz="2150" dirty="0"/>
              </a:p>
              <a:p>
                <a:pPr marL="457200" lvl="1" indent="0" algn="just">
                  <a:buNone/>
                </a:pPr>
                <a:endParaRPr lang="en-US" sz="2150" dirty="0"/>
              </a:p>
              <a:p>
                <a:pPr marL="45720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50" b="0" i="1" smtClean="0">
                          <a:latin typeface="Cambria Math" panose="02040503050406030204" pitchFamily="18" charset="0"/>
                        </a:rPr>
                        <m:t>⇒</m:t>
                      </m:r>
                      <m:sSubSup>
                        <m:sSubSupPr>
                          <m:ctrlPr>
                            <a:rPr lang="en-US" sz="215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15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15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15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</m:sSubSup>
                      <m:r>
                        <a:rPr lang="en-US" sz="215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215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215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15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15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ctrlPr>
                                <a:rPr lang="en-US" sz="215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15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15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15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  <m:sup>
                                  <m:r>
                                    <a:rPr lang="en-US" sz="215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21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15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15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15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15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15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15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p>
                          </m:sSup>
                        </m:e>
                      </m:nary>
                      <m:r>
                        <a:rPr lang="en-US" sz="2150" i="1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sz="215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sz="215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sz="215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=1,…,</m:t>
                      </m:r>
                      <m:r>
                        <a:rPr lang="en-US" sz="215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sz="2150" dirty="0"/>
              </a:p>
              <a:p>
                <a:pPr marL="457200" lvl="1" indent="0" algn="ctr">
                  <a:buNone/>
                </a:pPr>
                <a:endParaRPr lang="en-US" sz="2150" dirty="0"/>
              </a:p>
              <a:p>
                <a:pPr marL="457200" lvl="1" indent="0" algn="just">
                  <a:buNone/>
                </a:pPr>
                <a:r>
                  <a:rPr lang="en-US" sz="2150" dirty="0"/>
                  <a:t>    where,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5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15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150" dirty="0"/>
                  <a:t> are inputs,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15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15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15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15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sz="215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bSup>
                  </m:oMath>
                </a14:m>
                <a:r>
                  <a:rPr lang="en-US" sz="2150" dirty="0"/>
                  <a:t> are weights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15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15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150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</m:oMath>
                </a14:m>
                <a:r>
                  <a:rPr lang="en-US" sz="2150" dirty="0"/>
                  <a:t> is the  bias</a:t>
                </a:r>
              </a:p>
            </p:txBody>
          </p:sp>
        </mc:Choice>
        <mc:Fallback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F42B0442-EE0E-7893-39C6-A7CA60BAF0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2091" y="1588089"/>
                <a:ext cx="7318779" cy="5133386"/>
              </a:xfrm>
              <a:blipFill>
                <a:blip r:embed="rId4"/>
                <a:stretch>
                  <a:fillRect l="-1082" t="-1544" r="-999" b="-11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23E65B8-98F8-BE16-CCC2-7E61724F6E69}"/>
                  </a:ext>
                </a:extLst>
              </p:cNvPr>
              <p:cNvSpPr txBox="1"/>
              <p:nvPr/>
            </p:nvSpPr>
            <p:spPr>
              <a:xfrm>
                <a:off x="8341845" y="6002315"/>
                <a:ext cx="2713229" cy="66415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b="1" u="sng" dirty="0">
                    <a:solidFill>
                      <a:srgbClr val="FF0000"/>
                    </a:solidFill>
                  </a:rPr>
                  <a:t>Note</a:t>
                </a:r>
                <a:r>
                  <a:rPr lang="en-US" sz="1200" dirty="0">
                    <a:solidFill>
                      <a:srgbClr val="FF0000"/>
                    </a:solidFill>
                  </a:rPr>
                  <a:t>: the subscript of the weights follows: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2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2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destination</m:t>
                          </m:r>
                          <m:r>
                            <a:rPr lang="en-US" sz="12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m:rPr>
                              <m:sty m:val="p"/>
                            </m:rPr>
                            <a:rPr lang="en-US" sz="12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source</m:t>
                          </m:r>
                          <m:r>
                            <a:rPr lang="en-US" sz="12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en-US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23E65B8-98F8-BE16-CCC2-7E61724F6E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1845" y="6002315"/>
                <a:ext cx="2713229" cy="66415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30" name="Picture 6">
            <a:extLst>
              <a:ext uri="{FF2B5EF4-FFF2-40B4-BE49-F238E27FC236}">
                <a16:creationId xmlns:a16="http://schemas.microsoft.com/office/drawing/2014/main" id="{482ED442-24EF-8B90-A80E-8F4C3D14DB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8810" y="1516149"/>
            <a:ext cx="3723518" cy="4486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9871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CB7F2-F25B-A6F4-B337-262642160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0B61B-C5A0-8028-750F-27E496BA3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Forward Propagation (contd.)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CCE65BD-E838-34C6-3341-9FBB1F85E07D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5B8476-653B-D78F-0987-3319A3807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907AEE-FA57-1F1D-9778-2A38E2481BC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5BF34372-E178-E92E-C1DF-58A6DE29FC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2" y="1588089"/>
                <a:ext cx="7318779" cy="5133386"/>
              </a:xfrm>
            </p:spPr>
            <p:txBody>
              <a:bodyPr>
                <a:noAutofit/>
              </a:bodyPr>
              <a:lstStyle/>
              <a:p>
                <a:pPr marL="0" indent="0" algn="just">
                  <a:buNone/>
                </a:pPr>
                <a:r>
                  <a:rPr lang="en-US" sz="2100" dirty="0"/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1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100" b="1" i="1" smtClean="0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p>
                        <m:r>
                          <a:rPr lang="en-US" sz="21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  <m:r>
                      <a:rPr lang="en-US" sz="2100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1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100" b="1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en-US" sz="2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1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sz="21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21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en-US" sz="2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1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21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sz="21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r>
                                <a:rPr lang="en-US" sz="21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en-US" sz="2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1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2100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sub>
                                <m:sup>
                                  <m:r>
                                    <a:rPr lang="en-US" sz="21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  <m:r>
                      <a:rPr lang="en-US" sz="21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1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1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sup>
                    </m:sSup>
                  </m:oMath>
                </a14:m>
                <a:r>
                  <a:rPr lang="en-US" sz="2100" dirty="0"/>
                  <a:t> and </a:t>
                </a:r>
                <a14:m>
                  <m:oMath xmlns:m="http://schemas.openxmlformats.org/officeDocument/2006/math">
                    <m:r>
                      <a:rPr lang="en-US" sz="21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1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1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sz="21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1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1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1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1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sz="21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1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1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en-US" sz="2100" dirty="0"/>
                  <a:t>, then,</a:t>
                </a:r>
              </a:p>
              <a:p>
                <a:pPr marL="0" indent="0" algn="just">
                  <a:buNone/>
                </a:pPr>
                <a:endParaRPr lang="en-US" sz="2100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1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00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</m:sSup>
                      <m:r>
                        <a:rPr lang="en-US" sz="21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1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  <m:sup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  <m:sup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  <m:sup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  <m:sup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  <m:sup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𝑀𝑁</m:t>
                                    </m:r>
                                  </m:sub>
                                  <m:sup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a:rPr lang="en-US" sz="21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2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</m:oMath>
                  </m:oMathPara>
                </a14:m>
                <a:endParaRPr lang="en-US" sz="2100" dirty="0"/>
              </a:p>
              <a:p>
                <a:pPr marL="0" indent="0" algn="just">
                  <a:buNone/>
                </a:pPr>
                <a:endParaRPr lang="en-US" sz="2100" dirty="0"/>
              </a:p>
              <a:p>
                <a:pPr marL="0" indent="0" algn="just">
                  <a:buNone/>
                </a:pPr>
                <a:r>
                  <a:rPr lang="en-US" sz="2100" dirty="0"/>
                  <a:t>and,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1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1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US" sz="21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1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p>
                            </m:sSup>
                            <m:r>
                              <a:rPr lang="en-US" sz="21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sz="21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1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sz="21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p>
                            </m:sSup>
                            <m:r>
                              <a:rPr lang="en-US" sz="2100" b="0" i="1" smtClean="0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p>
                              <m:sSupPr>
                                <m:ctrlPr>
                                  <a:rPr lang="en-US" sz="21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1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sz="21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US" sz="21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US" sz="21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1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1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sup>
                    </m:sSup>
                  </m:oMath>
                </a14:m>
                <a:endParaRPr lang="en-US" sz="2100" dirty="0"/>
              </a:p>
              <a:p>
                <a:pPr marL="0" indent="0" algn="just">
                  <a:buNone/>
                </a:pPr>
                <a:endParaRPr lang="en-US" sz="2100" dirty="0"/>
              </a:p>
              <a:p>
                <a:pPr marL="0" indent="0" algn="just">
                  <a:buNone/>
                </a:pPr>
                <a:r>
                  <a:rPr lang="en-US" sz="2100" dirty="0"/>
                  <a:t>Therefore,</a:t>
                </a:r>
              </a:p>
              <a:p>
                <a:pPr marL="0" indent="0" algn="just">
                  <a:buNone/>
                </a:pPr>
                <a:endParaRPr lang="en-US" sz="2100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1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00" b="1" i="1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p>
                          <m:r>
                            <a:rPr lang="en-US" sz="2100" b="0" i="1"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</m:sSup>
                      <m:r>
                        <a:rPr lang="en-US" sz="21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1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00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US" sz="2100" b="0" i="1"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</m:sSup>
                      <m:r>
                        <a:rPr lang="en-US" sz="21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1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sz="2100" b="0" i="1"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</m:sSup>
                      <m:r>
                        <a:rPr lang="en-US" sz="21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2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sup>
                      </m:sSup>
                    </m:oMath>
                  </m:oMathPara>
                </a14:m>
                <a:endParaRPr lang="en-US" sz="2100" dirty="0"/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5BF34372-E178-E92E-C1DF-58A6DE29FC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2" y="1588089"/>
                <a:ext cx="7318779" cy="5133386"/>
              </a:xfrm>
              <a:blipFill>
                <a:blip r:embed="rId4"/>
                <a:stretch>
                  <a:fillRect l="-999" t="-356" b="-30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6">
            <a:extLst>
              <a:ext uri="{FF2B5EF4-FFF2-40B4-BE49-F238E27FC236}">
                <a16:creationId xmlns:a16="http://schemas.microsoft.com/office/drawing/2014/main" id="{94EA565B-1A1B-878C-72C5-E4A3D726D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5801" y="1911699"/>
            <a:ext cx="3723518" cy="4486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3305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936E0-65BA-547A-52C5-E2407E362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1268D-2B59-34CE-CEAE-A7B3226BF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Forward Propagation (contd.)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45E2A37-594E-9289-AA38-4A8618F29055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4A4AA9-FF7C-C575-6235-172F8AD53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3F9D12-2B5A-C318-0FD9-B5998E6F336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5A151521-3D44-1222-DAEC-0218518372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2091" y="1588089"/>
                <a:ext cx="7318779" cy="5133386"/>
              </a:xfrm>
            </p:spPr>
            <p:txBody>
              <a:bodyPr>
                <a:noAutofit/>
              </a:bodyPr>
              <a:lstStyle/>
              <a:p>
                <a:pPr marL="514350" indent="-514350" algn="just">
                  <a:buFont typeface="+mj-lt"/>
                  <a:buAutoNum type="arabicPeriod" startAt="2"/>
                </a:pPr>
                <a:r>
                  <a:rPr lang="en-US" sz="2050" b="1" u="sng" dirty="0"/>
                  <a:t>Hidden Layer</a:t>
                </a:r>
              </a:p>
              <a:p>
                <a:pPr lvl="1" algn="just"/>
                <a:r>
                  <a:rPr lang="en-US" sz="2050" dirty="0"/>
                  <a:t>The output of the linear transformation 𝑧 is passed through an </a:t>
                </a:r>
                <a:r>
                  <a:rPr lang="en-US" sz="2050" b="1" u="sng" dirty="0"/>
                  <a:t>activation function</a:t>
                </a:r>
                <a:r>
                  <a:rPr lang="en-US" sz="205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5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5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5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endParaRPr lang="en-US" sz="2050" dirty="0"/>
              </a:p>
              <a:p>
                <a:pPr lvl="1" algn="just"/>
                <a:endParaRPr lang="en-US" sz="2050" dirty="0"/>
              </a:p>
              <a:p>
                <a:pPr marL="45720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5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5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05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5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5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5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05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d>
                        <m:dPr>
                          <m:ctrlPr>
                            <a:rPr lang="en-US" sz="205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05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5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205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05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p>
                          </m:sSubSup>
                        </m:e>
                      </m:d>
                      <m:r>
                        <a:rPr lang="en-US" sz="2050" b="0" i="1" smtClean="0">
                          <a:latin typeface="Cambria Math" panose="02040503050406030204" pitchFamily="18" charset="0"/>
                        </a:rPr>
                        <m:t>,    </m:t>
                      </m:r>
                      <m:r>
                        <a:rPr lang="en-US" sz="20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sz="20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sz="20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=1,…,</m:t>
                      </m:r>
                      <m:r>
                        <a:rPr lang="en-US" sz="20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sz="2050" dirty="0"/>
              </a:p>
              <a:p>
                <a:pPr marL="457200" lvl="1" indent="0" algn="just">
                  <a:buNone/>
                </a:pPr>
                <a:r>
                  <a:rPr lang="en-US" sz="2050" dirty="0"/>
                  <a:t>If </a:t>
                </a:r>
                <a14:m>
                  <m:oMath xmlns:m="http://schemas.openxmlformats.org/officeDocument/2006/math">
                    <m:r>
                      <a:rPr lang="en-US" sz="2050" b="1" i="1" smtClean="0">
                        <a:latin typeface="Cambria Math" panose="02040503050406030204" pitchFamily="18" charset="0"/>
                      </a:rPr>
                      <m:t>𝒉</m:t>
                    </m:r>
                    <m:r>
                      <a:rPr lang="en-US" sz="205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5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05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5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50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sz="205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05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05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50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sz="205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050" b="0" i="1" smtClean="0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sz="205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50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sz="2050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US" sz="205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sup>
                    </m:sSup>
                  </m:oMath>
                </a14:m>
                <a:r>
                  <a:rPr lang="en-US" sz="2050" dirty="0"/>
                  <a:t>, then,</a:t>
                </a:r>
              </a:p>
              <a:p>
                <a:pPr marL="457200" lvl="1" indent="0" algn="just">
                  <a:buNone/>
                </a:pPr>
                <a:endParaRPr lang="en-US" sz="2050" dirty="0"/>
              </a:p>
              <a:p>
                <a:pPr marL="45720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50" b="1" i="1" smtClean="0"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sz="205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5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5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05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d>
                        <m:dPr>
                          <m:ctrlPr>
                            <a:rPr lang="en-US" sz="205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5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50" b="1" i="1" smtClean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p>
                              <m:r>
                                <a:rPr lang="en-US" sz="205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050" dirty="0"/>
              </a:p>
              <a:p>
                <a:pPr marL="457200" lvl="1" indent="0" algn="ctr">
                  <a:buNone/>
                </a:pPr>
                <a:endParaRPr lang="en-US" sz="2050" dirty="0"/>
              </a:p>
              <a:p>
                <a:pPr lvl="1" algn="just"/>
                <a:r>
                  <a:rPr lang="en-US" sz="2050" dirty="0"/>
                  <a:t>The activation function introduces non-linearity, allowing the network to learn complex patterns</a:t>
                </a:r>
              </a:p>
              <a:p>
                <a:pPr lvl="1" algn="just"/>
                <a:r>
                  <a:rPr lang="en-US" sz="2050" dirty="0"/>
                  <a:t>Common activation functions include: </a:t>
                </a:r>
                <a:r>
                  <a:rPr lang="en-US" sz="2050" b="1" dirty="0"/>
                  <a:t>ReLU</a:t>
                </a:r>
                <a:r>
                  <a:rPr lang="en-US" sz="2050" dirty="0"/>
                  <a:t>, </a:t>
                </a:r>
                <a:r>
                  <a:rPr lang="en-US" sz="2050" b="1" dirty="0"/>
                  <a:t>Sigmoid</a:t>
                </a:r>
                <a:r>
                  <a:rPr lang="en-US" sz="2050" dirty="0"/>
                  <a:t>, </a:t>
                </a:r>
                <a:r>
                  <a:rPr lang="en-US" sz="2050" b="1" dirty="0"/>
                  <a:t>tanh</a:t>
                </a: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5A151521-3D44-1222-DAEC-0218518372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2091" y="1588089"/>
                <a:ext cx="7318779" cy="5133386"/>
              </a:xfrm>
              <a:blipFill>
                <a:blip r:embed="rId4"/>
                <a:stretch>
                  <a:fillRect l="-999" t="-1306" r="-9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ECFBF675-7130-6DDC-90A9-8968C78502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566" y="5909486"/>
            <a:ext cx="2795836" cy="9090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E6F0730-E7B2-4E97-6658-B16C7047AC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7157" y="5909486"/>
            <a:ext cx="2611444" cy="86921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DF42D4A-50C9-7D4B-12FA-7E25423CFB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3642" y="5862802"/>
            <a:ext cx="2858792" cy="955713"/>
          </a:xfrm>
          <a:prstGeom prst="rect">
            <a:avLst/>
          </a:prstGeom>
        </p:spPr>
      </p:pic>
      <p:pic>
        <p:nvPicPr>
          <p:cNvPr id="11" name="Picture 6">
            <a:extLst>
              <a:ext uri="{FF2B5EF4-FFF2-40B4-BE49-F238E27FC236}">
                <a16:creationId xmlns:a16="http://schemas.microsoft.com/office/drawing/2014/main" id="{B88EED02-C3E9-DF0C-3149-E7AA48F7A4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8810" y="1516149"/>
            <a:ext cx="3723518" cy="4486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2967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7C19B-4F82-D17E-4C8E-64CA1749F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B66EA-E8B5-4692-3121-381BE48EC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Forward Propagation (contd.)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CE79DDC-9301-12C8-78AF-877BDF2B8FCA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F407FE-12AA-D912-373B-378795F0B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3BC441-2BE5-F6E2-5B30-3583B7ED31D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2B16753C-C4D4-56D1-549E-50066B029B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1530" y="1588089"/>
                <a:ext cx="8285205" cy="5133386"/>
              </a:xfrm>
            </p:spPr>
            <p:txBody>
              <a:bodyPr>
                <a:noAutofit/>
              </a:bodyPr>
              <a:lstStyle/>
              <a:p>
                <a:pPr marL="514350" indent="-514350" algn="just">
                  <a:buFont typeface="+mj-lt"/>
                  <a:buAutoNum type="arabicPeriod" startAt="3"/>
                </a:pPr>
                <a:r>
                  <a:rPr lang="en-US" sz="2200" b="1" u="sng" dirty="0"/>
                  <a:t>Output Layer</a:t>
                </a:r>
              </a:p>
              <a:p>
                <a:pPr lvl="1" algn="just"/>
                <a:r>
                  <a:rPr lang="en-US" sz="2200" dirty="0"/>
                  <a:t>Each neuron receives input values, each multiplied by its corresponding weight</a:t>
                </a:r>
              </a:p>
              <a:p>
                <a:pPr lvl="1" algn="just"/>
                <a:r>
                  <a:rPr lang="en-US" sz="2200" dirty="0"/>
                  <a:t>The weighted inputs are summed, and a bias term is added</a:t>
                </a:r>
              </a:p>
              <a:p>
                <a:pPr lvl="1" algn="just"/>
                <a:r>
                  <a:rPr lang="en-US" sz="2200" dirty="0"/>
                  <a:t>Finally, an output activation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sz="2200" dirty="0"/>
                  <a:t> is applied</a:t>
                </a:r>
              </a:p>
              <a:p>
                <a:pPr lvl="1" algn="just"/>
                <a:r>
                  <a:rPr lang="en-US" sz="2200" dirty="0"/>
                  <a:t>If there are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200" dirty="0"/>
                  <a:t> number of outputs, mathematically, this is expressed as:</a:t>
                </a:r>
              </a:p>
              <a:p>
                <a:pPr lvl="1" algn="just"/>
                <a:endParaRPr lang="en-US" sz="2200" dirty="0"/>
              </a:p>
              <a:p>
                <a:pPr marL="45720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p>
                      </m:sSubSup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p>
                      </m:sSubSup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p>
                      </m:sSubSup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+…+</m:t>
                      </m:r>
                      <m:sSubSup>
                        <m:sSub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p>
                      </m:sSubSup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p>
                      </m:sSup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𝑘𝑖</m:t>
                                  </m:r>
                                </m:sub>
                                <m:sup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p>
                      </m:sSup>
                    </m:oMath>
                  </m:oMathPara>
                </a14:m>
                <a:endParaRPr lang="en-US" sz="2200" dirty="0"/>
              </a:p>
              <a:p>
                <a:pPr marL="457200" lvl="1" indent="0" algn="ctr">
                  <a:buNone/>
                </a:pPr>
                <a:endParaRPr lang="en-US" sz="2200" dirty="0"/>
              </a:p>
              <a:p>
                <a:pPr marL="45720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2200" b="0" dirty="0"/>
              </a:p>
              <a:p>
                <a:pPr marL="457200" lvl="1" indent="0" algn="ctr">
                  <a:buNone/>
                </a:pPr>
                <a:endParaRPr lang="en-US" sz="2200" b="0" dirty="0"/>
              </a:p>
              <a:p>
                <a:pPr marL="45720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𝑘𝑖</m:t>
                                      </m:r>
                                    </m:sub>
                                    <m:sup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p>
                                  </m:sSubSup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p>
                          </m:sSup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=1,…,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sz="2200" b="0" dirty="0"/>
              </a:p>
              <a:p>
                <a:pPr marL="457200" lvl="1" indent="0" algn="ctr">
                  <a:buNone/>
                </a:pPr>
                <a:endParaRPr lang="en-US" sz="2200" dirty="0"/>
              </a:p>
              <a:p>
                <a:pPr lvl="1" algn="just"/>
                <a:endParaRPr lang="en-US" sz="2200" b="1" dirty="0"/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2B16753C-C4D4-56D1-549E-50066B029B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1530" y="1588089"/>
                <a:ext cx="8285205" cy="5133386"/>
              </a:xfrm>
              <a:blipFill>
                <a:blip r:embed="rId4"/>
                <a:stretch>
                  <a:fillRect l="-956" t="-1663" r="-882" b="-11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6">
            <a:extLst>
              <a:ext uri="{FF2B5EF4-FFF2-40B4-BE49-F238E27FC236}">
                <a16:creationId xmlns:a16="http://schemas.microsoft.com/office/drawing/2014/main" id="{66A44963-8570-7E74-12A8-75A6CB6E78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0315" y="1734151"/>
            <a:ext cx="3723518" cy="4486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3246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513B0-716B-3F05-8031-5323A55C5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32737-896D-7DD4-AF92-2129A7A77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Forward Propagation (contd.)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3CC48EB-2E30-F119-006B-568AAA7764A6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CC61C7-C40E-4EAB-E82A-4408311EE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A603EC-0668-3772-5881-663055EACF7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8844B392-681F-0187-71FC-3ACDBDBF2C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2091" y="1588089"/>
                <a:ext cx="7318779" cy="5133386"/>
              </a:xfrm>
            </p:spPr>
            <p:txBody>
              <a:bodyPr>
                <a:noAutofit/>
              </a:bodyPr>
              <a:lstStyle/>
              <a:p>
                <a:pPr marL="0" indent="0" algn="just">
                  <a:buNone/>
                </a:pP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r>
                  <a:rPr lang="en-US" sz="2400" dirty="0"/>
                  <a:t> and 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a:rPr lang="en-US" sz="2400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4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Sup>
                                    <m:sSubSupPr>
                                      <m:ctrlPr>
                                        <a:rPr lang="en-US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m:rPr>
                                          <m:brk m:alnAt="7"/>
                                        </m:r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p>
                                  </m:sSubSup>
                                </m:e>
                                <m:e>
                                  <m:sSubSup>
                                    <m:sSub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m:rPr>
                                          <m:brk m:alnAt="7"/>
                                        </m:r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p>
                                  </m:sSubSup>
                                </m:e>
                                <m:e>
                                  <m:r>
                                    <a:rPr lang="en-US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  <m:e>
                                  <m:sSubSup>
                                    <m:sSub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sub>
                                    <m:sup>
                                      <m:r>
                                        <m:rPr>
                                          <m:brk m:alnAt="7"/>
                                        </m:r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p>
                                  </m:sSubSup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𝑲</m:t>
                        </m:r>
                      </m:sup>
                    </m:sSup>
                  </m:oMath>
                </a14:m>
                <a:r>
                  <a:rPr lang="en-US" sz="2400" dirty="0"/>
                  <a:t> , then</a:t>
                </a:r>
              </a:p>
              <a:p>
                <a:pPr marL="0" indent="0" algn="just">
                  <a:buNone/>
                </a:pPr>
                <a:endParaRPr lang="en-US" sz="2400" dirty="0"/>
              </a:p>
              <a:p>
                <a:pPr marL="45720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𝐾𝑀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457200" lvl="1" indent="0" algn="ctr">
                  <a:buNone/>
                </a:pPr>
                <a:endParaRPr lang="en-US" dirty="0"/>
              </a:p>
              <a:p>
                <a:pPr marL="457200" lvl="1" indent="0" algn="just">
                  <a:buNone/>
                </a:pPr>
                <a:r>
                  <a:rPr lang="en-US" dirty="0"/>
                  <a:t>a</a:t>
                </a:r>
                <a:r>
                  <a:rPr lang="en-US" b="0" dirty="0"/>
                  <a:t>nd,	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endParaRPr lang="en-US" dirty="0"/>
              </a:p>
              <a:p>
                <a:pPr marL="457200" lvl="1" indent="0" algn="ctr">
                  <a:buNone/>
                </a:pPr>
                <a:endParaRPr lang="en-US" dirty="0"/>
              </a:p>
              <a:p>
                <a:pPr marL="0" indent="0" algn="just">
                  <a:buNone/>
                </a:pPr>
                <a:r>
                  <a:rPr lang="en-US" sz="2400" dirty="0"/>
                  <a:t>Therefore,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sup>
                      </m:sSup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sup>
                      </m:sSup>
                      <m:r>
                        <a:rPr lang="en-U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p>
                          </m:sSup>
                        </m:e>
                      </m:d>
                      <m:r>
                        <a:rPr lang="en-U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8844B392-681F-0187-71FC-3ACDBDBF2C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2091" y="1588089"/>
                <a:ext cx="7318779" cy="5133386"/>
              </a:xfrm>
              <a:blipFill>
                <a:blip r:embed="rId4"/>
                <a:stretch>
                  <a:fillRect l="-1332" t="-1663" b="-30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6">
            <a:extLst>
              <a:ext uri="{FF2B5EF4-FFF2-40B4-BE49-F238E27FC236}">
                <a16:creationId xmlns:a16="http://schemas.microsoft.com/office/drawing/2014/main" id="{1957EB58-C9A6-DD74-0E28-F8EF8FB50C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1030" y="1849512"/>
            <a:ext cx="3723518" cy="4486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67012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E4A04-9924-9757-0299-F3DBC81A4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808E5-EC0B-3161-693F-DBBD409DF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Forward Propagation (contd.)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E230DC1-F130-1C49-7E0B-C1CB176AC8D4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152999-4BA6-B1A8-A224-4DCC721D3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9BCE87-1C2C-08F6-2EAB-9504A3B2E8E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A2993BC6-2278-F7DB-B2E5-AE66EDE10D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59941" y="1588089"/>
                <a:ext cx="6820929" cy="5133386"/>
              </a:xfrm>
            </p:spPr>
            <p:txBody>
              <a:bodyPr>
                <a:noAutofit/>
              </a:bodyPr>
              <a:lstStyle/>
              <a:p>
                <a:pPr algn="just"/>
                <a:r>
                  <a:rPr lang="en-US" sz="2500" b="1" dirty="0"/>
                  <a:t>Common output activation functions:</a:t>
                </a:r>
              </a:p>
              <a:p>
                <a:pPr algn="just"/>
                <a:endParaRPr lang="en-US" sz="2500" b="1" dirty="0"/>
              </a:p>
              <a:p>
                <a:pPr marL="514350" indent="-514350" algn="just">
                  <a:buFont typeface="+mj-lt"/>
                  <a:buAutoNum type="arabicPeriod"/>
                </a:pPr>
                <a:r>
                  <a:rPr lang="en-US" sz="2500" b="1" u="sng" dirty="0"/>
                  <a:t>Linear</a:t>
                </a:r>
                <a:r>
                  <a:rPr lang="en-US" sz="25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500" dirty="0"/>
                  <a:t> </a:t>
                </a:r>
                <a:r>
                  <a:rPr lang="en-US" sz="2500" dirty="0">
                    <a:sym typeface="Wingdings" panose="05000000000000000000" pitchFamily="2" charset="2"/>
                  </a:rPr>
                  <a:t> used </a:t>
                </a:r>
                <a:r>
                  <a:rPr lang="en-US" sz="2500" dirty="0"/>
                  <a:t>when output can take any real value (regression tasks)</a:t>
                </a:r>
              </a:p>
              <a:p>
                <a:pPr marL="514350" indent="-514350" algn="just">
                  <a:buFont typeface="+mj-lt"/>
                  <a:buAutoNum type="arabicPeriod"/>
                </a:pPr>
                <a:r>
                  <a:rPr lang="en-US" sz="2500" b="1" u="sng" dirty="0"/>
                  <a:t>Sigmoid</a:t>
                </a:r>
                <a:r>
                  <a:rPr lang="en-US" sz="25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d>
                      <m:d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500" dirty="0"/>
                  <a:t> </a:t>
                </a:r>
                <a:r>
                  <a:rPr lang="en-US" sz="2500" dirty="0">
                    <a:sym typeface="Wingdings" panose="05000000000000000000" pitchFamily="2" charset="2"/>
                  </a:rPr>
                  <a:t> used for binary classification since o</a:t>
                </a:r>
                <a:r>
                  <a:rPr lang="en-US" sz="2500" dirty="0"/>
                  <a:t>utput is in the range (0, 1), interpretable as probability</a:t>
                </a:r>
              </a:p>
              <a:p>
                <a:pPr marL="514350" indent="-514350" algn="just">
                  <a:buFont typeface="+mj-lt"/>
                  <a:buAutoNum type="arabicPeriod"/>
                </a:pPr>
                <a:r>
                  <a:rPr lang="en-US" sz="2500" b="1" u="sng" dirty="0" err="1">
                    <a:sym typeface="Wingdings" panose="05000000000000000000" pitchFamily="2" charset="2"/>
                  </a:rPr>
                  <a:t>Softmax</a:t>
                </a:r>
                <a:r>
                  <a:rPr lang="en-US" sz="2500" dirty="0">
                    <a:sym typeface="Wingdings" panose="05000000000000000000" pitchFamily="2" charset="2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d>
                      <m:d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5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5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US" sz="25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sSub>
                                  <m:sSubPr>
                                    <m:ctrlPr>
                                      <a:rPr lang="en-US" sz="25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5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5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sup>
                            </m:sSup>
                          </m:e>
                        </m:nary>
                      </m:den>
                    </m:f>
                  </m:oMath>
                </a14:m>
                <a:r>
                  <a:rPr lang="en-US" sz="2500" dirty="0">
                    <a:sym typeface="Wingdings" panose="05000000000000000000" pitchFamily="2" charset="2"/>
                  </a:rPr>
                  <a:t>  used for multiclass classification since o</a:t>
                </a:r>
                <a:r>
                  <a:rPr lang="en-US" sz="2500" dirty="0"/>
                  <a:t>utputs a probability distribution over classes</a:t>
                </a:r>
                <a:endParaRPr lang="en-US" sz="2500" dirty="0">
                  <a:sym typeface="Wingdings" panose="05000000000000000000" pitchFamily="2" charset="2"/>
                </a:endParaRPr>
              </a:p>
              <a:p>
                <a:pPr algn="just"/>
                <a:endParaRPr lang="en-US" sz="2500" dirty="0"/>
              </a:p>
              <a:p>
                <a:pPr lvl="1" algn="just"/>
                <a:endParaRPr lang="en-US" sz="2500" b="1" u="sng" dirty="0"/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A2993BC6-2278-F7DB-B2E5-AE66EDE10D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9941" y="1588089"/>
                <a:ext cx="6820929" cy="5133386"/>
              </a:xfrm>
              <a:blipFill>
                <a:blip r:embed="rId4"/>
                <a:stretch>
                  <a:fillRect l="-1609" t="-1663" r="-14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6">
            <a:extLst>
              <a:ext uri="{FF2B5EF4-FFF2-40B4-BE49-F238E27FC236}">
                <a16:creationId xmlns:a16="http://schemas.microsoft.com/office/drawing/2014/main" id="{C0A393CA-A3B5-874D-2168-EB3599635C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8810" y="1690688"/>
            <a:ext cx="3723518" cy="4486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9576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99B0D-B7E3-F5C2-9926-76AF93CBA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78DA6-091B-F43E-DF39-D72D8BAE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Forward Propagation: Example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555D59E-A569-EEC0-C15D-4FA03DB1537D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FE530A-EF77-CB6D-8713-25983FC7D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9ED429-A3A0-2BF5-0A1C-8AD37F4C940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4AAEA9ED-58CE-48F0-4DAF-CD03829A22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2" y="1588089"/>
                <a:ext cx="11040256" cy="5133386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300" dirty="0"/>
                  <a:t>Given </a:t>
                </a:r>
                <a14:m>
                  <m:oMath xmlns:m="http://schemas.openxmlformats.org/officeDocument/2006/math">
                    <m:r>
                      <a:rPr lang="en-US" sz="23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3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3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300" b="0" i="1" smtClean="0">
                                <a:latin typeface="Cambria Math" panose="02040503050406030204" pitchFamily="18" charset="0"/>
                              </a:rPr>
                              <m:t>1, 2, 3</m:t>
                            </m:r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US" sz="23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</m:oMath>
                </a14:m>
                <a:r>
                  <a:rPr lang="en-US" sz="2300" dirty="0"/>
                  <a:t>,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3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US" sz="2300" i="1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3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3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300" b="0" i="1" smtClean="0">
                                <a:latin typeface="Cambria Math" panose="02040503050406030204" pitchFamily="18" charset="0"/>
                              </a:rPr>
                              <m:t>0.1, 0.1, 0.1, 0.1</m:t>
                            </m:r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US" sz="23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</m:oMath>
                </a14:m>
                <a:r>
                  <a:rPr lang="en-US" sz="2300" dirty="0"/>
                  <a:t>, </a:t>
                </a:r>
                <a:endParaRPr lang="en-US" sz="23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3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=0.2</m:t>
                    </m:r>
                  </m:oMath>
                </a14:m>
                <a:r>
                  <a:rPr lang="en-US" sz="2300" dirty="0"/>
                  <a:t>,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3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300" b="1" i="1" smtClean="0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p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3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3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3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300" b="0" i="1" smtClean="0">
                                  <a:latin typeface="Cambria Math" panose="02040503050406030204" pitchFamily="18" charset="0"/>
                                </a:rPr>
                                <m:t>.1</m:t>
                              </m:r>
                            </m:e>
                            <m:e>
                              <m:r>
                                <a:rPr lang="en-US" sz="2300" b="0" i="1" smtClean="0">
                                  <a:latin typeface="Cambria Math" panose="02040503050406030204" pitchFamily="18" charset="0"/>
                                </a:rPr>
                                <m:t>0.2</m:t>
                              </m:r>
                            </m:e>
                            <m:e>
                              <m:r>
                                <a:rPr lang="en-US" sz="2300" b="0" i="1" smtClean="0">
                                  <a:latin typeface="Cambria Math" panose="02040503050406030204" pitchFamily="18" charset="0"/>
                                </a:rPr>
                                <m:t>0.3</m:t>
                              </m:r>
                            </m:e>
                          </m:mr>
                          <m:mr>
                            <m:e>
                              <m:r>
                                <a:rPr lang="en-US" sz="2300" b="0" i="1" smtClean="0">
                                  <a:latin typeface="Cambria Math" panose="02040503050406030204" pitchFamily="18" charset="0"/>
                                </a:rPr>
                                <m:t>0.4</m:t>
                              </m:r>
                            </m:e>
                            <m:e>
                              <m:r>
                                <a:rPr lang="en-US" sz="2300" b="0" i="1" smtClean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  <m:e>
                              <m:r>
                                <a:rPr lang="en-US" sz="2300" b="0" i="1" smtClean="0">
                                  <a:latin typeface="Cambria Math" panose="02040503050406030204" pitchFamily="18" charset="0"/>
                                </a:rPr>
                                <m:t>0.6</m:t>
                              </m:r>
                            </m:e>
                          </m:mr>
                          <m:mr>
                            <m:e>
                              <m:r>
                                <a:rPr lang="en-US" sz="2300" b="0" i="1" smtClean="0">
                                  <a:latin typeface="Cambria Math" panose="02040503050406030204" pitchFamily="18" charset="0"/>
                                </a:rPr>
                                <m:t>−0.3</m:t>
                              </m:r>
                            </m:e>
                            <m:e>
                              <m:r>
                                <a:rPr lang="en-US" sz="2300" b="0" i="1" smtClean="0">
                                  <a:latin typeface="Cambria Math" panose="02040503050406030204" pitchFamily="18" charset="0"/>
                                </a:rPr>
                                <m:t>−0.2</m:t>
                              </m:r>
                            </m:e>
                            <m:e>
                              <m:r>
                                <a:rPr lang="en-US" sz="2300" b="0" i="1" smtClean="0">
                                  <a:latin typeface="Cambria Math" panose="02040503050406030204" pitchFamily="18" charset="0"/>
                                </a:rPr>
                                <m:t>−0.1</m:t>
                              </m:r>
                            </m:e>
                          </m:mr>
                          <m:mr>
                            <m:e>
                              <m:r>
                                <a:rPr lang="en-US" sz="2300" b="0" i="1" smtClean="0">
                                  <a:latin typeface="Cambria Math" panose="02040503050406030204" pitchFamily="18" charset="0"/>
                                </a:rPr>
                                <m:t>0.7</m:t>
                              </m:r>
                            </m:e>
                            <m:e>
                              <m:r>
                                <a:rPr lang="en-US" sz="2300" b="0" i="1" smtClean="0">
                                  <a:latin typeface="Cambria Math" panose="02040503050406030204" pitchFamily="18" charset="0"/>
                                </a:rPr>
                                <m:t>0.8</m:t>
                              </m:r>
                            </m:e>
                            <m:e>
                              <m:r>
                                <a:rPr lang="en-US" sz="2300" b="0" i="1" smtClean="0">
                                  <a:latin typeface="Cambria Math" panose="02040503050406030204" pitchFamily="18" charset="0"/>
                                </a:rPr>
                                <m:t>0.9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300" dirty="0"/>
                  <a:t>, and,</a:t>
                </a:r>
              </a:p>
              <a:p>
                <a:pPr marL="0" indent="0" algn="just">
                  <a:buNone/>
                </a:pPr>
                <a:endParaRPr lang="en-US" sz="2300" dirty="0"/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300" b="1" i="1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p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a:rPr lang="en-US" sz="23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23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3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3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sz="23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300" b="0" i="1" smtClean="0">
                                  <a:latin typeface="Cambria Math" panose="02040503050406030204" pitchFamily="18" charset="0"/>
                                </a:rPr>
                                <m:t>−0.1</m:t>
                              </m:r>
                            </m:e>
                            <m:e>
                              <m:r>
                                <a:rPr lang="en-US" sz="2300" b="0" i="1" smtClean="0">
                                  <a:latin typeface="Cambria Math" panose="02040503050406030204" pitchFamily="18" charset="0"/>
                                </a:rPr>
                                <m:t>0.4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300" dirty="0"/>
                  <a:t>,</a:t>
                </a:r>
              </a:p>
              <a:p>
                <a:pPr marL="0" indent="0" algn="just">
                  <a:buNone/>
                </a:pPr>
                <a:r>
                  <a:rPr lang="en-US" sz="2300" dirty="0"/>
                  <a:t>calculate the estimated output values after one iteration. Apply </a:t>
                </a:r>
                <a:r>
                  <a:rPr lang="en-US" sz="2300" b="1" dirty="0"/>
                  <a:t>ReLU at the hidden layer</a:t>
                </a:r>
                <a:r>
                  <a:rPr lang="en-US" sz="2300" dirty="0"/>
                  <a:t> and </a:t>
                </a:r>
                <a:r>
                  <a:rPr lang="en-US" sz="2300" b="1" dirty="0"/>
                  <a:t>sigmoid activation at the output layer</a:t>
                </a:r>
                <a:r>
                  <a:rPr lang="en-US" sz="2300" dirty="0"/>
                  <a:t>.</a:t>
                </a:r>
              </a:p>
              <a:p>
                <a:pPr marL="0" indent="0" algn="just">
                  <a:buNone/>
                </a:pPr>
                <a:r>
                  <a:rPr lang="en-US" sz="2300" b="1" u="sng" dirty="0"/>
                  <a:t>Note</a:t>
                </a:r>
                <a:r>
                  <a:rPr lang="en-US" sz="2300" dirty="0"/>
                  <a:t>: The weights and the biases are generally randomly initialized</a:t>
                </a: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4AAEA9ED-58CE-48F0-4DAF-CD03829A22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2" y="1588089"/>
                <a:ext cx="11040256" cy="5133386"/>
              </a:xfrm>
              <a:blipFill>
                <a:blip r:embed="rId4"/>
                <a:stretch>
                  <a:fillRect l="-828" t="-1425" r="-7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9610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F91F1-056E-ADF4-8325-54EF1ABBF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0240B-211F-7837-A9F0-5E344CBCA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Forward Propagation: Example (contd.)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C36460F-3DB1-2DFE-958C-0E11FC7ABAF7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F44FE3-E29E-D8CF-5FEC-05A96269A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786AFB-FFE2-7225-1957-C6EABF20EE9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6146CBC6-39DB-AD79-6B5D-1499EA4B73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4019" y="1588089"/>
                <a:ext cx="8031891" cy="5133386"/>
              </a:xfrm>
            </p:spPr>
            <p:txBody>
              <a:bodyPr>
                <a:noAutofit/>
              </a:bodyPr>
              <a:lstStyle/>
              <a:p>
                <a:r>
                  <a:rPr lang="en-US" sz="2500" dirty="0"/>
                  <a:t>First, we find the output at the hidden neurons:</a:t>
                </a:r>
              </a:p>
              <a:p>
                <a:pPr marL="0" indent="0">
                  <a:buNone/>
                </a:pPr>
                <a:endParaRPr lang="en-US" sz="2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p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</m:sSup>
                    </m:oMath>
                  </m:oMathPara>
                </a14:m>
                <a:endParaRPr lang="en-US" sz="2500" dirty="0"/>
              </a:p>
              <a:p>
                <a:pPr marL="0" indent="0">
                  <a:buNone/>
                </a:pPr>
                <a:endParaRPr lang="en-US" sz="2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b="1" i="1" smtClean="0">
                          <a:latin typeface="Cambria Math" panose="02040503050406030204" pitchFamily="18" charset="0"/>
                        </a:rPr>
                        <m:t>⇒</m:t>
                      </m:r>
                      <m:sSup>
                        <m:sSup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</m:sSup>
                      <m:r>
                        <a:rPr lang="en-US" sz="25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5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500" i="1">
                                    <a:latin typeface="Cambria Math" panose="02040503050406030204" pitchFamily="18" charset="0"/>
                                  </a:rPr>
                                  <m:t>.1</m:t>
                                </m:r>
                              </m:e>
                              <m:e>
                                <m:r>
                                  <a:rPr lang="en-US" sz="2500" i="1">
                                    <a:latin typeface="Cambria Math" panose="02040503050406030204" pitchFamily="18" charset="0"/>
                                  </a:rPr>
                                  <m:t>0.2</m:t>
                                </m:r>
                              </m:e>
                              <m:e>
                                <m:r>
                                  <a:rPr lang="en-US" sz="2500" i="1">
                                    <a:latin typeface="Cambria Math" panose="02040503050406030204" pitchFamily="18" charset="0"/>
                                  </a:rPr>
                                  <m:t>0.3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500" i="1"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</m:e>
                              <m:e>
                                <m:r>
                                  <a:rPr lang="en-US" sz="2500" i="1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  <m:e>
                                <m:r>
                                  <a:rPr lang="en-US" sz="2500" i="1">
                                    <a:latin typeface="Cambria Math" panose="02040503050406030204" pitchFamily="18" charset="0"/>
                                  </a:rPr>
                                  <m:t>0.6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500" i="1">
                                    <a:latin typeface="Cambria Math" panose="02040503050406030204" pitchFamily="18" charset="0"/>
                                  </a:rPr>
                                  <m:t>−0.3</m:t>
                                </m:r>
                              </m:e>
                              <m:e>
                                <m:r>
                                  <a:rPr lang="en-US" sz="2500" i="1">
                                    <a:latin typeface="Cambria Math" panose="02040503050406030204" pitchFamily="18" charset="0"/>
                                  </a:rPr>
                                  <m:t>−0.2</m:t>
                                </m:r>
                              </m:e>
                              <m:e>
                                <m:r>
                                  <a:rPr lang="en-US" sz="2500" i="1">
                                    <a:latin typeface="Cambria Math" panose="02040503050406030204" pitchFamily="18" charset="0"/>
                                  </a:rPr>
                                  <m:t>−0.1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500" i="1">
                                    <a:latin typeface="Cambria Math" panose="02040503050406030204" pitchFamily="18" charset="0"/>
                                  </a:rPr>
                                  <m:t>0.7</m:t>
                                </m:r>
                              </m:e>
                              <m:e>
                                <m:r>
                                  <a:rPr lang="en-US" sz="2500" i="1">
                                    <a:latin typeface="Cambria Math" panose="02040503050406030204" pitchFamily="18" charset="0"/>
                                  </a:rPr>
                                  <m:t>0.8</m:t>
                                </m:r>
                              </m:e>
                              <m:e>
                                <m:r>
                                  <a:rPr lang="en-US" sz="2500" i="1">
                                    <a:latin typeface="Cambria Math" panose="02040503050406030204" pitchFamily="18" charset="0"/>
                                  </a:rPr>
                                  <m:t>0.9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  <m:t>.1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  <m:t>0.1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  <m:t>0.1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  <m:t>0.1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  <m:t>.5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  <m:t>3.4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  <m:t>−1.1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  <m:t>5.8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500" dirty="0"/>
              </a:p>
              <a:p>
                <a:pPr marL="0" indent="0">
                  <a:buNone/>
                </a:pPr>
                <a:endParaRPr lang="en-US" sz="2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b="1" i="1"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sz="25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500" b="0" i="0" smtClean="0">
                          <a:latin typeface="Cambria Math" panose="02040503050406030204" pitchFamily="18" charset="0"/>
                        </a:rPr>
                        <m:t>ReLU</m:t>
                      </m:r>
                      <m:d>
                        <m:d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5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5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5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2500" i="1">
                                        <a:latin typeface="Cambria Math" panose="02040503050406030204" pitchFamily="18" charset="0"/>
                                      </a:rPr>
                                      <m:t>.5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500" i="1">
                                        <a:latin typeface="Cambria Math" panose="02040503050406030204" pitchFamily="18" charset="0"/>
                                      </a:rPr>
                                      <m:t>3.4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500" i="1">
                                        <a:latin typeface="Cambria Math" panose="02040503050406030204" pitchFamily="18" charset="0"/>
                                      </a:rPr>
                                      <m:t>−1.1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500" i="1">
                                        <a:latin typeface="Cambria Math" panose="02040503050406030204" pitchFamily="18" charset="0"/>
                                      </a:rPr>
                                      <m:t>5.8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5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500" i="1">
                                    <a:latin typeface="Cambria Math" panose="02040503050406030204" pitchFamily="18" charset="0"/>
                                  </a:rPr>
                                  <m:t>.5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500" i="1">
                                    <a:latin typeface="Cambria Math" panose="02040503050406030204" pitchFamily="18" charset="0"/>
                                  </a:rPr>
                                  <m:t>3.4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500" i="1">
                                    <a:latin typeface="Cambria Math" panose="02040503050406030204" pitchFamily="18" charset="0"/>
                                  </a:rPr>
                                  <m:t>5.8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6146CBC6-39DB-AD79-6B5D-1499EA4B73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4019" y="1588089"/>
                <a:ext cx="8031891" cy="5133386"/>
              </a:xfrm>
              <a:blipFill>
                <a:blip r:embed="rId4"/>
                <a:stretch>
                  <a:fillRect l="-1062" t="-16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0812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CBD29-DB8C-4DBA-357D-D33545FB4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5555A-1A78-3C9A-AD16-6651131A9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Forward Propagation: Example (contd.)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92D130D-6964-6B5C-6780-81EAE1AF26AA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8B8632-4F2A-C6FC-CAF8-6D9249805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9E2C3B-3CB1-A501-6C10-F191BECCECA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E9A2C817-FD77-0239-EC47-83B8829461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2" y="1588089"/>
                <a:ext cx="8031891" cy="5133386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Next, we find the output at the output layer: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p>
                      </m:sSup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.2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0.1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−0.1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.5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3.4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5.8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0.2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3.16</m:t>
                      </m:r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3.16</m:t>
                              </m:r>
                            </m:sup>
                          </m:sSup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=0.960</m:t>
                      </m:r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E9A2C817-FD77-0239-EC47-83B8829461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2" y="1588089"/>
                <a:ext cx="8031891" cy="5133386"/>
              </a:xfrm>
              <a:blipFill>
                <a:blip r:embed="rId4"/>
                <a:stretch>
                  <a:fillRect l="-835" t="-11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6502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64A00-8349-66AD-9AB8-7048B6157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710B3-4B43-F850-976F-49BE08A24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Backpropagation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A0AB348-B249-686B-5C96-883DE733CAA0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DBA063-4A36-60ED-61AB-A38ADA01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C9E660-86EE-8D4C-A2EB-E20AE54D9FB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C848F87-6273-7C39-9CF9-4A2EEC5BD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941" y="1588089"/>
            <a:ext cx="10932387" cy="5133386"/>
          </a:xfrm>
        </p:spPr>
        <p:txBody>
          <a:bodyPr>
            <a:noAutofit/>
          </a:bodyPr>
          <a:lstStyle/>
          <a:p>
            <a:pPr algn="just"/>
            <a:r>
              <a:rPr lang="en-US" sz="2000" b="1" dirty="0"/>
              <a:t>After forward propagation</a:t>
            </a:r>
            <a:r>
              <a:rPr lang="en-US" sz="2000" dirty="0"/>
              <a:t>, the network evaluates how well it performed using a </a:t>
            </a:r>
            <a:r>
              <a:rPr lang="en-US" sz="2000" b="1" dirty="0"/>
              <a:t>loss function</a:t>
            </a:r>
            <a:r>
              <a:rPr lang="en-US" sz="2000" dirty="0"/>
              <a:t> that measures the error between predicted and actual outputs.</a:t>
            </a:r>
          </a:p>
          <a:p>
            <a:pPr algn="just"/>
            <a:r>
              <a:rPr lang="en-US" sz="2000" dirty="0"/>
              <a:t>The objective of training is to </a:t>
            </a:r>
            <a:r>
              <a:rPr lang="en-US" sz="2000" b="1" dirty="0"/>
              <a:t>minimize this loss</a:t>
            </a:r>
            <a:r>
              <a:rPr lang="en-US" sz="2000" dirty="0"/>
              <a:t>, and </a:t>
            </a:r>
            <a:r>
              <a:rPr lang="en-US" sz="2000" b="1" dirty="0"/>
              <a:t>backpropagation</a:t>
            </a:r>
            <a:r>
              <a:rPr lang="en-US" sz="2000" dirty="0"/>
              <a:t> is the method used to do that.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b="1" u="sng" dirty="0"/>
              <a:t>Loss Calculation</a:t>
            </a:r>
            <a:r>
              <a:rPr lang="en-US" sz="2000" dirty="0"/>
              <a:t>:</a:t>
            </a:r>
          </a:p>
          <a:p>
            <a:pPr lvl="1" algn="just"/>
            <a:r>
              <a:rPr lang="en-US" sz="2000" dirty="0"/>
              <a:t>Computes the error in predictions</a:t>
            </a:r>
          </a:p>
          <a:p>
            <a:pPr lvl="1" algn="just"/>
            <a:r>
              <a:rPr lang="en-US" sz="2000" dirty="0"/>
              <a:t>Common loss functions: Mean Squared Error (MSE) and Root Mean Squared Error (RMSE) for regression, Cross-Entropy for classification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b="1" u="sng" dirty="0"/>
              <a:t>Gradient Calculation</a:t>
            </a:r>
            <a:r>
              <a:rPr lang="en-US" sz="2000" dirty="0"/>
              <a:t>:</a:t>
            </a:r>
          </a:p>
          <a:p>
            <a:pPr lvl="1" algn="just"/>
            <a:r>
              <a:rPr lang="en-US" sz="2000" dirty="0"/>
              <a:t>Calculates how much each weight and bias contributes to the loss</a:t>
            </a:r>
          </a:p>
          <a:p>
            <a:pPr lvl="1" algn="just"/>
            <a:r>
              <a:rPr lang="en-US" sz="2000" dirty="0"/>
              <a:t>Uses the chain rule from calculus to compute partial derivatives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b="1" u="sng" dirty="0"/>
              <a:t>Weight Update</a:t>
            </a:r>
            <a:r>
              <a:rPr lang="en-US" sz="2000" dirty="0"/>
              <a:t>:</a:t>
            </a:r>
          </a:p>
          <a:p>
            <a:pPr lvl="1" algn="just"/>
            <a:r>
              <a:rPr lang="en-US" sz="2000" dirty="0"/>
              <a:t>Updates weights and biases using an optimizer like Stochastic Gradient Descent (SGD)</a:t>
            </a:r>
          </a:p>
          <a:p>
            <a:pPr lvl="1" algn="just"/>
            <a:r>
              <a:rPr lang="en-US" sz="2000" dirty="0"/>
              <a:t>Adjustments are made in the opposite direction of the gradient</a:t>
            </a:r>
          </a:p>
          <a:p>
            <a:pPr lvl="1" algn="just"/>
            <a:r>
              <a:rPr lang="en-US" sz="2000" dirty="0"/>
              <a:t>The learning rate controls how large each update step is</a:t>
            </a:r>
          </a:p>
          <a:p>
            <a:pPr algn="just"/>
            <a:endParaRPr lang="en-US" sz="2000" b="1" u="sng" dirty="0"/>
          </a:p>
        </p:txBody>
      </p:sp>
    </p:spTree>
    <p:extLst>
      <p:ext uri="{BB962C8B-B14F-4D97-AF65-F5344CB8AC3E}">
        <p14:creationId xmlns:p14="http://schemas.microsoft.com/office/powerpoint/2010/main" val="32537045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28383-6BF2-E910-7D54-CABA799A1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06AC6-4FD9-53D5-A7C1-D827E79A6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Backpropagation (contd.)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B227F87-0B53-9607-8575-85DA9DD23BE7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A2F9A9-1D0A-43E8-D3AE-6C76A6CD5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096309-55DA-42ED-EA89-CD797DFC9D5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54F7D80-29C1-4701-E477-A50EBB5D8E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59941" y="1588089"/>
                <a:ext cx="10932387" cy="5133386"/>
              </a:xfrm>
            </p:spPr>
            <p:txBody>
              <a:bodyPr>
                <a:noAutofit/>
              </a:bodyPr>
              <a:lstStyle/>
              <a:p>
                <a:pPr algn="just"/>
                <a:r>
                  <a:rPr lang="en-US" sz="2000" dirty="0"/>
                  <a:t>The loss function is given by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2000" dirty="0"/>
                  <a:t> (e.g., MSE, RMSE, Cross-entropy)</a:t>
                </a:r>
              </a:p>
              <a:p>
                <a:pPr algn="just"/>
                <a:r>
                  <a:rPr lang="en-US" sz="2000" b="1" u="sng" dirty="0"/>
                  <a:t>Steps in backpropagation (for a single-hidden layer NN)</a:t>
                </a:r>
                <a:r>
                  <a:rPr lang="en-US" sz="2000" dirty="0"/>
                  <a:t>: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US" sz="2000" dirty="0"/>
                  <a:t>Compute the gradient of the loss (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2000" dirty="0"/>
                  <a:t>) with respect to the output 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sz="2000" dirty="0"/>
                  <a:t>):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𝑑𝐿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acc>
                          <m:accPr>
                            <m:chr m:val="̂"/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den>
                    </m:f>
                  </m:oMath>
                </a14:m>
                <a:endParaRPr lang="en-US" sz="2000" b="0" dirty="0"/>
              </a:p>
              <a:p>
                <a:pPr lvl="1" algn="just"/>
                <a:r>
                  <a:rPr lang="en-US" sz="2000" dirty="0"/>
                  <a:t>Consider binary cross-entropy loss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  <m:func>
                          <m:func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acc>
                              <m:accPr>
                                <m:chr m:val="̂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func>
                          <m:func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d>
                          </m:e>
                        </m:func>
                      </m:e>
                    </m:d>
                  </m:oMath>
                </a14:m>
                <a:r>
                  <a:rPr lang="en-US" sz="2000" dirty="0"/>
                  <a:t> </a:t>
                </a:r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marL="457200" lvl="1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⇒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̂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acc>
                            <m:accPr>
                              <m:chr m:val="̂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d>
                        </m:den>
                      </m:f>
                    </m:oMath>
                  </m:oMathPara>
                </a14:m>
                <a:endParaRPr lang="en-US" sz="2000" dirty="0"/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US" sz="2000" dirty="0"/>
                  <a:t>Since the derivative of the sigmoid function </a:t>
                </a:r>
                <a14:m>
                  <m:oMath xmlns:m="http://schemas.openxmlformats.org/officeDocument/2006/math">
                    <m:r>
                      <a:rPr lang="el-G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000" dirty="0"/>
                  <a:t>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𝜕𝜎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dirty="0"/>
                  <a:t>, hence, 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sup>
                              </m:sSup>
                            </m:e>
                          </m:d>
                        </m:e>
                      </m:d>
                    </m:oMath>
                  </m:oMathPara>
                </a14:m>
                <a:endParaRPr lang="en-US" sz="2000" dirty="0"/>
              </a:p>
              <a:p>
                <a:pPr marL="0" indent="0" algn="just">
                  <a:buNone/>
                </a:pPr>
                <a:r>
                  <a:rPr lang="en-US" sz="2000" dirty="0"/>
                  <a:t>Applying the Chain rule, we can find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</m:den>
                    </m:f>
                  </m:oMath>
                </a14:m>
                <a:endParaRPr lang="en-US" sz="2000" dirty="0"/>
              </a:p>
              <a:p>
                <a:pPr marL="457200" indent="-457200" algn="just">
                  <a:buFont typeface="+mj-lt"/>
                  <a:buAutoNum type="arabicPeriod"/>
                </a:pPr>
                <a:endParaRPr lang="en-US" sz="20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p>
                          </m:sSup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54F7D80-29C1-4701-E477-A50EBB5D8E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9941" y="1588089"/>
                <a:ext cx="10932387" cy="5133386"/>
              </a:xfrm>
              <a:blipFill>
                <a:blip r:embed="rId4"/>
                <a:stretch>
                  <a:fillRect l="-613" t="-11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23873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28548-CCC0-F324-CC8E-916CD687E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34C65-3582-2FA5-C689-50649BA66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Backpropagation (contd.)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EA2FB3E-5CDF-57BE-3868-5BF1AD8F2A0C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C7FD26-DD0E-1882-78F2-F66D7BC83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FF71A5-E158-F57E-CB96-44D8C271CA7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5F9D3B20-5E34-4694-1BA8-443F20D7F1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59941" y="1588089"/>
                <a:ext cx="11040256" cy="5133386"/>
              </a:xfrm>
            </p:spPr>
            <p:txBody>
              <a:bodyPr>
                <a:noAutofit/>
              </a:bodyPr>
              <a:lstStyle/>
              <a:p>
                <a:pPr marL="514350" indent="-514350" algn="just">
                  <a:buFont typeface="+mj-lt"/>
                  <a:buAutoNum type="arabicPeriod" startAt="3"/>
                </a:pPr>
                <a:r>
                  <a:rPr lang="en-US" sz="2100" dirty="0"/>
                  <a:t>Compute the gradient of the loss (</a:t>
                </a:r>
                <a14:m>
                  <m:oMath xmlns:m="http://schemas.openxmlformats.org/officeDocument/2006/math">
                    <m:r>
                      <a:rPr lang="en-US" sz="2100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2100" dirty="0"/>
                  <a:t>) with respect to the parameters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1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100" b="1" i="1" smtClean="0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p>
                        <m:r>
                          <a:rPr lang="en-US" sz="21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lang="en-US" sz="21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1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lang="en-US" sz="2100" dirty="0"/>
                  <a:t>:</a:t>
                </a:r>
              </a:p>
              <a:p>
                <a:pPr marL="514350" indent="-514350" algn="just">
                  <a:buFont typeface="+mj-lt"/>
                  <a:buAutoNum type="arabicPeriod" startAt="3"/>
                </a:pPr>
                <a:endParaRPr lang="en-US" sz="21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1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p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p>
                          </m:sSup>
                        </m:den>
                      </m:f>
                      <m:r>
                        <a:rPr lang="en-US" sz="21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p>
                          </m:sSup>
                        </m:den>
                      </m:f>
                      <m:r>
                        <a:rPr lang="en-US" sz="2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p>
                          </m:sSup>
                        </m:num>
                        <m:den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1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p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p>
                          </m:sSup>
                        </m:den>
                      </m:f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1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𝒉</m:t>
                      </m:r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10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100" b="1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𝑦</m:t>
                          </m:r>
                        </m:sup>
                      </m:sSup>
                      <m:r>
                        <a:rPr lang="en-US" sz="21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00" b="1" i="1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𝑦</m:t>
                          </m:r>
                        </m:sup>
                      </m:sSup>
                      <m:r>
                        <a:rPr lang="en-US" sz="2100" b="1" i="1"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p>
                      </m:sSup>
                      <m:r>
                        <a:rPr lang="en-US" sz="2100" b="0" i="1" smtClean="0">
                          <a:latin typeface="Cambria Math" panose="02040503050406030204" pitchFamily="18" charset="0"/>
                        </a:rPr>
                        <m:t>⇒</m:t>
                      </m:r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p>
                          </m:sSup>
                        </m:num>
                        <m:den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p>
                          </m:sSup>
                        </m:den>
                      </m:f>
                      <m:r>
                        <a:rPr lang="en-US" sz="21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100" b="1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p>
                          </m:sSup>
                        </m:den>
                      </m:f>
                      <m:r>
                        <a:rPr lang="en-US" sz="21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sz="21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p>
                          </m:sSup>
                        </m:den>
                      </m:f>
                      <m:r>
                        <a:rPr lang="en-US" sz="2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p>
                          </m:sSup>
                        </m:num>
                        <m:den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1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p>
                          </m:sSup>
                        </m:den>
                      </m:f>
                      <m:r>
                        <a:rPr lang="en-US" sz="2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100" b="1" dirty="0"/>
              </a:p>
              <a:p>
                <a:pPr marL="457200" indent="-457200" algn="just">
                  <a:buFont typeface="+mj-lt"/>
                  <a:buAutoNum type="arabicPeriod" startAt="4"/>
                </a:pPr>
                <a:r>
                  <a:rPr lang="en-US" sz="2100" dirty="0"/>
                  <a:t>Update the parameters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100" b="1" i="1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p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lang="en-US" sz="21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1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10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1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lang="en-US" sz="2100" dirty="0"/>
                  <a:t> using gradient descent:</a:t>
                </a:r>
              </a:p>
              <a:p>
                <a:pPr marL="457200" indent="-457200" algn="just">
                  <a:buFont typeface="+mj-lt"/>
                  <a:buAutoNum type="arabicPeriod" startAt="4"/>
                </a:pPr>
                <a:endParaRPr lang="en-US" sz="21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00" b="1" i="1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𝑦</m:t>
                          </m:r>
                        </m:sup>
                      </m:sSup>
                      <m:r>
                        <a:rPr lang="en-US" sz="2100" b="0" i="1" smtClean="0">
                          <a:latin typeface="Cambria Math" panose="02040503050406030204" pitchFamily="18" charset="0"/>
                        </a:rPr>
                        <m:t> :=</m:t>
                      </m:r>
                      <m:sSup>
                        <m:sSup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00" b="1" i="1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𝑦</m:t>
                          </m:r>
                        </m:sup>
                      </m:sSup>
                      <m:r>
                        <a:rPr lang="en-US" sz="21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1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p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1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p>
                      </m:sSup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: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p>
                      </m:sSup>
                      <m:r>
                        <a:rPr lang="en-US" sz="21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10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100" dirty="0"/>
              </a:p>
              <a:p>
                <a:pPr marL="0" indent="0" algn="just">
                  <a:buNone/>
                </a:pPr>
                <a:r>
                  <a:rPr lang="en-US" sz="2100" dirty="0"/>
                  <a:t>where,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100" dirty="0"/>
                  <a:t> is the learning rate</a:t>
                </a:r>
              </a:p>
              <a:p>
                <a:pPr marL="0" indent="0" algn="ctr">
                  <a:buNone/>
                </a:pPr>
                <a:endParaRPr lang="en-US" sz="2100" dirty="0"/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5F9D3B20-5E34-4694-1BA8-443F20D7F1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9941" y="1588089"/>
                <a:ext cx="11040256" cy="5133386"/>
              </a:xfrm>
              <a:blipFill>
                <a:blip r:embed="rId4"/>
                <a:stretch>
                  <a:fillRect l="-663" t="-15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9516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7F56E-DE3D-C981-C192-D837E2457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D0601-1658-22E0-67EE-DF12D49E5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Backpropagation (contd.)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65D3B00-702C-FE46-73FD-9A06519C820F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49093C-D768-C2E5-9266-DC35F3958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8CDE12-0DD4-577F-30AD-E8CD462E12B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1BAF0BFA-4B6B-89DB-AD81-92DC8CC658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59941" y="1588089"/>
                <a:ext cx="10932387" cy="5133386"/>
              </a:xfrm>
            </p:spPr>
            <p:txBody>
              <a:bodyPr>
                <a:noAutofit/>
              </a:bodyPr>
              <a:lstStyle/>
              <a:p>
                <a:pPr marL="514350" indent="-514350" algn="just">
                  <a:buFont typeface="+mj-lt"/>
                  <a:buAutoNum type="arabicPeriod" startAt="5"/>
                </a:pPr>
                <a:r>
                  <a:rPr lang="en-US" sz="1900" b="1" u="sng" dirty="0"/>
                  <a:t>Note</a:t>
                </a:r>
                <a:r>
                  <a:rPr lang="en-US" sz="1900" dirty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  <m:r>
                      <a:rPr lang="en-US" sz="19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19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9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p>
                        <m:r>
                          <a:rPr lang="en-US" sz="1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sup>
                    </m:sSup>
                    <m:r>
                      <a:rPr lang="en-US" sz="19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19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𝒉</m:t>
                    </m:r>
                    <m:r>
                      <a:rPr lang="en-US" sz="19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19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1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a:rPr lang="en-US" sz="19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acc>
                      <m:accPr>
                        <m:chr m:val="̂"/>
                        <m:ctrlPr>
                          <a:rPr lang="en-US" sz="19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900" b="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19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19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1900" dirty="0"/>
                  <a:t>	and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9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900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  <m:r>
                      <a:rPr lang="en-US" sz="19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19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9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p>
                        <m:r>
                          <a:rPr lang="en-US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sup>
                    </m:sSup>
                    <m:r>
                      <a:rPr lang="en-US" sz="19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19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𝒉</m:t>
                    </m:r>
                    <m:r>
                      <a:rPr lang="en-US" sz="19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19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a:rPr lang="en-US" sz="19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acc>
                      <m:accPr>
                        <m:chr m:val="̂"/>
                        <m:ctrlPr>
                          <a:rPr lang="en-US" sz="19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19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19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endParaRPr lang="en-US" sz="1900" dirty="0"/>
              </a:p>
              <a:p>
                <a:pPr marL="0" indent="0" algn="just">
                  <a:buNone/>
                </a:pPr>
                <a:r>
                  <a:rPr lang="en-US" sz="1900" dirty="0"/>
                  <a:t>Using chain rule, compute the gradient of the loss (</a:t>
                </a:r>
                <a14:m>
                  <m:oMath xmlns:m="http://schemas.openxmlformats.org/officeDocument/2006/math">
                    <m:r>
                      <a:rPr lang="en-US" sz="1900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1900" dirty="0"/>
                  <a:t>) with respect to the parameters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</m:oMath>
                </a14:m>
                <a:r>
                  <a:rPr lang="en-US" sz="19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9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9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</m:oMath>
                </a14:m>
                <a:r>
                  <a:rPr lang="en-US" sz="1900" dirty="0"/>
                  <a:t>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9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1" i="1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p>
                        </m:sSup>
                      </m:den>
                    </m:f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9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acc>
                          <m:accPr>
                            <m:chr m:val="̂"/>
                            <m:ctrlPr>
                              <a:rPr lang="en-US" sz="19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900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den>
                    </m:f>
                    <m:r>
                      <a:rPr lang="en-US" sz="19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sz="1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acc>
                          <m:accPr>
                            <m:chr m:val="̂"/>
                            <m:ctrlPr>
                              <a:rPr lang="en-US" sz="19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900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num>
                      <m:den>
                        <m:r>
                          <a:rPr lang="en-US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</m:den>
                    </m:f>
                    <m:r>
                      <a:rPr lang="en-US" sz="19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sz="1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</m:num>
                      <m:den>
                        <m:r>
                          <a:rPr lang="en-US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19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𝒉</m:t>
                        </m:r>
                      </m:den>
                    </m:f>
                    <m:r>
                      <a:rPr lang="en-US" sz="19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19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𝒉</m:t>
                        </m:r>
                      </m:num>
                      <m:den>
                        <m:r>
                          <a:rPr lang="en-US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e>
                          <m:sup>
                            <m:r>
                              <a:rPr lang="en-US" sz="19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sup>
                        </m:sSup>
                      </m:den>
                    </m:f>
                    <m:r>
                      <a:rPr lang="en-US" sz="19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e>
                          <m:sup>
                            <m:r>
                              <a:rPr lang="en-US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sup>
                        </m:sSup>
                      </m:num>
                      <m:den>
                        <m:r>
                          <a:rPr lang="en-US" sz="19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1" i="1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1900" dirty="0"/>
                  <a:t>,</a:t>
                </a:r>
                <a:r>
                  <a:rPr lang="en-US" sz="1900" b="1" dirty="0"/>
                  <a:t>	</a:t>
                </a:r>
                <a:r>
                  <a:rPr lang="en-US" sz="19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9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sz="19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900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p>
                            <m:r>
                              <a:rPr lang="en-US" sz="19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p>
                        </m:sSup>
                      </m:den>
                    </m:f>
                    <m:r>
                      <a:rPr lang="en-US" sz="19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9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acc>
                          <m:accPr>
                            <m:chr m:val="̂"/>
                            <m:ctrlPr>
                              <a:rPr lang="en-US" sz="19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9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den>
                    </m:f>
                    <m:r>
                      <a:rPr lang="en-US" sz="19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acc>
                          <m:accPr>
                            <m:chr m:val="̂"/>
                            <m:ctrlPr>
                              <a:rPr lang="en-US" sz="19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9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num>
                      <m:den>
                        <m:r>
                          <a:rPr lang="en-US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</m:den>
                    </m:f>
                    <m:r>
                      <a:rPr lang="en-US" sz="19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</m:num>
                      <m:den>
                        <m:r>
                          <a:rPr lang="en-US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19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𝒉</m:t>
                        </m:r>
                      </m:den>
                    </m:f>
                    <m:r>
                      <a:rPr lang="en-US" sz="19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19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𝒉</m:t>
                        </m:r>
                      </m:num>
                      <m:den>
                        <m:r>
                          <a:rPr lang="en-US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sz="19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e>
                          <m:sup>
                            <m:r>
                              <a:rPr lang="en-US" sz="19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sup>
                        </m:sSup>
                      </m:den>
                    </m:f>
                    <m:r>
                      <a:rPr lang="en-US" sz="19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e>
                          <m:sup>
                            <m:r>
                              <a:rPr lang="en-US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sup>
                        </m:sSup>
                      </m:num>
                      <m:den>
                        <m:r>
                          <a:rPr lang="en-US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sz="19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900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p>
                            <m:r>
                              <a:rPr lang="en-US" sz="19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p>
                        </m:sSup>
                      </m:den>
                    </m:f>
                  </m:oMath>
                </a14:m>
                <a:endParaRPr lang="en-US" sz="1900" b="1" dirty="0"/>
              </a:p>
              <a:p>
                <a:pPr marL="0" indent="0" algn="just">
                  <a:buNone/>
                </a:pPr>
                <a:r>
                  <a:rPr lang="en-US" sz="1900" dirty="0"/>
                  <a:t>(</a:t>
                </a:r>
                <a:r>
                  <a:rPr lang="en-US" sz="1900" dirty="0" err="1"/>
                  <a:t>i</a:t>
                </a:r>
                <a:r>
                  <a:rPr lang="en-US" sz="1900" dirty="0"/>
                  <a:t>) Consider binary cross-entropy loss </a:t>
                </a:r>
                <a14:m>
                  <m:oMath xmlns:m="http://schemas.openxmlformats.org/officeDocument/2006/math"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begChr m:val="["/>
                        <m:endChr m:val="]"/>
                        <m:ctrlPr>
                          <a:rPr lang="en-US" sz="19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func>
                          <m:funcPr>
                            <m:ctrlP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9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acc>
                              <m:accPr>
                                <m:chr m:val="̂"/>
                                <m:ctrlPr>
                                  <a:rPr lang="en-US" sz="19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9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  <m: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func>
                          <m:funcPr>
                            <m:ctrlP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9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19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900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9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d>
                          </m:e>
                        </m:func>
                      </m:e>
                    </m:d>
                  </m:oMath>
                </a14:m>
                <a:r>
                  <a:rPr lang="en-US" sz="1900" dirty="0"/>
                  <a:t> </a:t>
                </a:r>
                <a:endParaRPr lang="en-US" sz="1900" i="1" dirty="0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900" b="0" i="1" smtClean="0">
                          <a:latin typeface="Cambria Math" panose="02040503050406030204" pitchFamily="18" charset="0"/>
                        </a:rPr>
                        <m:t>⇒</m:t>
                      </m:r>
                      <m:f>
                        <m:fPr>
                          <m:ctrlPr>
                            <a:rPr lang="en-US" sz="19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sz="1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den>
                      </m:f>
                      <m:r>
                        <a:rPr lang="en-US" sz="19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9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̂"/>
                              <m:ctrlPr>
                                <a:rPr lang="en-US" sz="19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9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9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acc>
                            <m:accPr>
                              <m:chr m:val="̂"/>
                              <m:ctrlPr>
                                <a:rPr lang="en-US" sz="19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9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d>
                            <m:dPr>
                              <m:ctrlPr>
                                <a:rPr lang="en-US" sz="19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9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19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900" b="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d>
                        </m:den>
                      </m:f>
                    </m:oMath>
                  </m:oMathPara>
                </a14:m>
                <a:endParaRPr lang="en-US" sz="1900" dirty="0"/>
              </a:p>
              <a:p>
                <a:pPr marL="0" indent="0" algn="just">
                  <a:buNone/>
                </a:pPr>
                <a:r>
                  <a:rPr lang="en-US" sz="1900" dirty="0"/>
                  <a:t>(ii) Considering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sz="1900" dirty="0"/>
                  <a:t> to be sigmoid function: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9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900" b="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19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9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90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19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sup>
                            </m:sSup>
                          </m:sup>
                        </m:sSup>
                      </m:den>
                    </m:f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  ⇒  </m:t>
                    </m:r>
                    <m:f>
                      <m:fPr>
                        <m:ctrlPr>
                          <a:rPr lang="en-US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acc>
                          <m:accPr>
                            <m:chr m:val="̂"/>
                            <m:ctrlPr>
                              <a:rPr lang="en-US" sz="19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900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num>
                      <m:den>
                        <m:r>
                          <a:rPr lang="en-US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</m:den>
                    </m:f>
                    <m:r>
                      <a:rPr lang="en-US" sz="19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sz="19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900" b="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19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900" b="1" i="1" smtClean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US" sz="19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900" b="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19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900" dirty="0"/>
              </a:p>
              <a:p>
                <a:pPr marL="0" indent="0" algn="just">
                  <a:buNone/>
                </a:pPr>
                <a:r>
                  <a:rPr lang="en-US" sz="1900" dirty="0"/>
                  <a:t>(iii)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9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a:rPr lang="en-US" sz="19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9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900" b="1" i="1" smtClean="0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p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a:rPr lang="en-US" sz="1900" b="1" i="1">
                        <a:latin typeface="Cambria Math" panose="02040503050406030204" pitchFamily="18" charset="0"/>
                      </a:rPr>
                      <m:t>𝒉</m:t>
                    </m:r>
                    <m:r>
                      <a:rPr lang="en-US" sz="19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19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lang="en-US" sz="1900" dirty="0"/>
                  <a:t>, so,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9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</m:num>
                      <m:den>
                        <m:r>
                          <a:rPr lang="en-US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19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den>
                    </m:f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9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900" b="1" i="1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p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endParaRPr lang="en-US" sz="1900" dirty="0"/>
              </a:p>
              <a:p>
                <a:pPr marL="0" indent="0" algn="just">
                  <a:buNone/>
                </a:pPr>
                <a:r>
                  <a:rPr lang="en-US" sz="1900" dirty="0"/>
                  <a:t>(iv)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9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900">
                        <a:latin typeface="Cambria Math" panose="02040503050406030204" pitchFamily="18" charset="0"/>
                      </a:rPr>
                      <m:t>ReLU</m:t>
                    </m:r>
                    <m:d>
                      <m:dPr>
                        <m:ctrlPr>
                          <a:rPr lang="en-US" sz="19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1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9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19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sup>
                        </m:sSubSup>
                      </m:e>
                    </m:d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19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900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sSubSup>
                              <m:sSubSupPr>
                                <m:ctrlPr>
                                  <a:rPr lang="en-US" sz="19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sup>
                            </m:sSubSup>
                          </m:e>
                        </m:d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func>
                    <m:r>
                      <a:rPr lang="en-US" sz="1900" i="1"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ctrlPr>
                          <a:rPr lang="en-US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US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Sup>
                          <m:sSubSupPr>
                            <m:ctrlPr>
                              <a:rPr lang="en-US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sup>
                        </m:sSubSup>
                      </m:den>
                    </m:f>
                    <m:r>
                      <a:rPr lang="en-US" sz="19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1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9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9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19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19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bSup>
                                <m:sSubSupPr>
                                  <m:ctrlPr>
                                    <a:rPr lang="en-US" sz="19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9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9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19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sup>
                              </m:sSubSup>
                              <m:r>
                                <a:rPr lang="en-US" sz="19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&gt;0</m:t>
                              </m:r>
                            </m:e>
                          </m:mr>
                          <m:mr>
                            <m:e>
                              <m:r>
                                <a:rPr lang="en-US" sz="19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19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1900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9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𝒉</m:t>
                          </m:r>
                        </m:num>
                        <m:den>
                          <m:r>
                            <a:rPr lang="en-US" sz="1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19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9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p>
                              <m:r>
                                <a:rPr lang="en-US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sup>
                          </m:sSup>
                        </m:den>
                      </m:f>
                      <m:r>
                        <a:rPr lang="en-US" sz="19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9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ReL</m:t>
                      </m:r>
                      <m:sSup>
                        <m:sSupPr>
                          <m:ctrlPr>
                            <a:rPr lang="en-US" sz="19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9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U</m:t>
                          </m:r>
                        </m:e>
                        <m:sup>
                          <m:r>
                            <a:rPr lang="en-US" sz="19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19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9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9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p>
                              <m:r>
                                <a:rPr lang="en-US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900" dirty="0"/>
              </a:p>
              <a:p>
                <a:pPr marL="0" indent="0" algn="just">
                  <a:buNone/>
                </a:pPr>
                <a:r>
                  <a:rPr lang="en-US" sz="1900" dirty="0"/>
                  <a:t>(v)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9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9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p>
                        <m:r>
                          <a:rPr lang="en-US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  <m:r>
                      <a:rPr lang="en-US" sz="20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</m:oMath>
                </a14:m>
                <a:r>
                  <a:rPr lang="en-US" sz="1900" dirty="0"/>
                  <a:t>, so,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sup>
                        </m:sSup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p>
                        </m:sSup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1900" b="1" dirty="0"/>
                  <a:t>    </a:t>
                </a:r>
                <a:r>
                  <a:rPr lang="en-US" sz="1900" dirty="0"/>
                  <a:t>and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sz="18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sup>
                        </m:sSup>
                      </m:num>
                      <m:den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p>
                        </m:sSup>
                      </m:den>
                    </m:f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1900" b="1" dirty="0"/>
              </a:p>
              <a:p>
                <a:pPr marL="0" indent="0" algn="ctr">
                  <a:buNone/>
                </a:pPr>
                <a:endParaRPr lang="en-US" sz="1900" b="1" dirty="0"/>
              </a:p>
              <a:p>
                <a:pPr marL="0" indent="0" algn="ctr">
                  <a:buNone/>
                </a:pPr>
                <a:endParaRPr lang="en-US" sz="1900" dirty="0"/>
              </a:p>
              <a:p>
                <a:pPr marL="0" indent="0" algn="ctr">
                  <a:buNone/>
                </a:pPr>
                <a:endParaRPr lang="en-US" sz="1900" dirty="0"/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1BAF0BFA-4B6B-89DB-AD81-92DC8CC658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9941" y="1588089"/>
                <a:ext cx="10932387" cy="5133386"/>
              </a:xfrm>
              <a:blipFill>
                <a:blip r:embed="rId4"/>
                <a:stretch>
                  <a:fillRect l="-558" t="-10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40791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A493A-CFB1-C380-C4CE-55CBE12EF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223D3-9A68-B63E-D327-B5BE2B34F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Backpropagation (contd.)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A02A73E-DB3B-47D7-7A67-2C42D9E63959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877F33-26EC-0017-3C6A-EB073B746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EC082C-F83B-F302-163F-80BFC63E08E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13630F10-904A-9481-3F06-C8628AFE62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59941" y="1588089"/>
                <a:ext cx="10932387" cy="5133386"/>
              </a:xfrm>
            </p:spPr>
            <p:txBody>
              <a:bodyPr>
                <a:noAutofit/>
              </a:bodyPr>
              <a:lstStyle/>
              <a:p>
                <a:pPr marL="457200" indent="-457200" algn="just">
                  <a:buFont typeface="+mj-lt"/>
                  <a:buAutoNum type="arabicPeriod" startAt="6"/>
                </a:pPr>
                <a:r>
                  <a:rPr lang="en-US" sz="2400" dirty="0"/>
                  <a:t>Update the parameters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</m:oMath>
                </a14:m>
                <a:r>
                  <a:rPr lang="en-US" sz="2400" dirty="0"/>
                  <a:t> using gradient descent:</a:t>
                </a:r>
              </a:p>
              <a:p>
                <a:pPr marL="457200" indent="-457200" algn="just">
                  <a:buFont typeface="+mj-lt"/>
                  <a:buAutoNum type="arabicPeriod" startAt="6"/>
                </a:pPr>
                <a:endParaRPr lang="en-US" sz="24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:=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dirty="0"/>
              </a:p>
              <a:p>
                <a:pPr marL="0" indent="0" algn="ctr">
                  <a:buNone/>
                </a:pPr>
                <a:endParaRPr lang="en-US" sz="24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dirty="0"/>
              </a:p>
              <a:p>
                <a:pPr marL="0" indent="0" algn="ctr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13630F10-904A-9481-3F06-C8628AFE62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9941" y="1588089"/>
                <a:ext cx="10932387" cy="5133386"/>
              </a:xfrm>
              <a:blipFill>
                <a:blip r:embed="rId4"/>
                <a:stretch>
                  <a:fillRect l="-892" t="-16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73634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F5D82-101A-600E-1D79-FDB878CC4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3D9B8-F9C4-4DCB-2E8D-698E3158C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Updating Modes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862CEB6-C61C-6748-D1F4-C133FE938FB2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314A70-F9D5-2AAF-6D56-794ABBDEC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52A97A-D1D7-1BED-0C5B-286E54A2C4A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2B6EA386-4CA6-FF1C-084B-697B6BEB38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59941" y="1588089"/>
                <a:ext cx="10932387" cy="5133386"/>
              </a:xfrm>
            </p:spPr>
            <p:txBody>
              <a:bodyPr>
                <a:noAutofit/>
              </a:bodyPr>
              <a:lstStyle/>
              <a:p>
                <a:pPr marL="457200" indent="-457200" algn="just">
                  <a:buFont typeface="+mj-lt"/>
                  <a:buAutoNum type="arabicPeriod"/>
                </a:pPr>
                <a:r>
                  <a:rPr lang="en-US" sz="2200" b="1" u="sng" dirty="0"/>
                  <a:t>Stochastic Gradient Descent (SGD)</a:t>
                </a:r>
                <a:r>
                  <a:rPr lang="en-US" sz="2200" dirty="0"/>
                  <a:t>:</a:t>
                </a:r>
              </a:p>
              <a:p>
                <a:pPr lvl="1" algn="just"/>
                <a:r>
                  <a:rPr lang="en-US" sz="2200" dirty="0"/>
                  <a:t>Updates weights </a:t>
                </a:r>
                <a:r>
                  <a:rPr lang="en-US" sz="2200" b="1" dirty="0"/>
                  <a:t>after every sample </a:t>
                </a:r>
                <a:r>
                  <a:rPr lang="en-US" sz="2200" dirty="0"/>
                  <a:t>(updates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200" b="1" dirty="0"/>
                  <a:t> </a:t>
                </a:r>
                <a:r>
                  <a:rPr lang="en-US" sz="2200" dirty="0"/>
                  <a:t>times every epoch)</a:t>
                </a:r>
                <a:endParaRPr lang="en-US" sz="2200" b="1" dirty="0"/>
              </a:p>
              <a:p>
                <a:pPr lvl="1" algn="just"/>
                <a:r>
                  <a:rPr lang="en-US" sz="2200" dirty="0"/>
                  <a:t>Faster updates, but noisier</a:t>
                </a:r>
              </a:p>
              <a:p>
                <a:pPr lvl="1" algn="just"/>
                <a:r>
                  <a:rPr lang="en-US" sz="2200" dirty="0"/>
                  <a:t>Batch size = 1, where, batch size refers to how many sample(s) is (are) used for updating the weights and biases</a:t>
                </a:r>
              </a:p>
              <a:p>
                <a:pPr lvl="1" algn="just"/>
                <a:r>
                  <a:rPr lang="en-US" sz="2200" dirty="0"/>
                  <a:t>Pseudo code:</a:t>
                </a:r>
              </a:p>
              <a:p>
                <a:pPr marL="457200" lvl="1" indent="0" algn="just">
                  <a:buNone/>
                </a:pPr>
                <a:endParaRPr lang="en-US" sz="2200" dirty="0"/>
              </a:p>
              <a:p>
                <a:pPr marL="914400" lvl="2" indent="0" algn="just">
                  <a:buNone/>
                </a:pPr>
                <a:r>
                  <a:rPr lang="en-US" sz="2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For each sample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:</a:t>
                </a:r>
              </a:p>
              <a:p>
                <a:pPr marL="1371600" lvl="3" indent="0" algn="just">
                  <a:buNone/>
                </a:pPr>
                <a:r>
                  <a:rPr lang="en-US" sz="2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Forward Pass: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200" dirty="0"/>
              </a:p>
              <a:p>
                <a:pPr marL="1371600" lvl="3" indent="0" algn="just">
                  <a:buNone/>
                </a:pPr>
                <a:r>
                  <a:rPr lang="en-US" sz="2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Backward Pass: </a:t>
                </a:r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𝜕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𝜕</m:t>
                    </m:r>
                    <m:r>
                      <a:rPr lang="en-US" sz="2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𝑾</m:t>
                    </m:r>
                  </m:oMath>
                </a14:m>
                <a:r>
                  <a:rPr lang="en-US" sz="2200" dirty="0"/>
                  <a:t>,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𝜕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𝜕</m:t>
                    </m:r>
                    <m:r>
                      <a:rPr lang="en-US" sz="2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𝒃</m:t>
                    </m:r>
                  </m:oMath>
                </a14:m>
                <a:endParaRPr lang="en-US" sz="2200" b="1" dirty="0"/>
              </a:p>
              <a:p>
                <a:pPr marL="1371600" lvl="3" indent="0" algn="just">
                  <a:buNone/>
                </a:pPr>
                <a:r>
                  <a:rPr lang="en-US" sz="2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Update: </a:t>
                </a:r>
              </a:p>
              <a:p>
                <a:pPr marL="45720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𝑾</m:t>
                      </m:r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1" i="1">
                          <a:latin typeface="Cambria Math" panose="02040503050406030204" pitchFamily="18" charset="0"/>
                        </a:rPr>
                        <m:t>𝑾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200" b="1" i="1">
                              <a:latin typeface="Cambria Math" panose="02040503050406030204" pitchFamily="18" charset="0"/>
                            </a:rPr>
                            <m:t>𝑾</m:t>
                          </m:r>
                        </m:den>
                      </m:f>
                    </m:oMath>
                  </m:oMathPara>
                </a14:m>
                <a:endParaRPr lang="en-US" sz="2200" dirty="0"/>
              </a:p>
              <a:p>
                <a:pPr marL="45720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1" i="1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2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den>
                      </m:f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2B6EA386-4CA6-FF1C-084B-697B6BEB38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9941" y="1588089"/>
                <a:ext cx="10932387" cy="5133386"/>
              </a:xfrm>
              <a:blipFill>
                <a:blip r:embed="rId4"/>
                <a:stretch>
                  <a:fillRect l="-781" t="-1544" r="-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9652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15C5A-0E49-44DA-BFDA-27F876CD6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B6805-2338-1BAB-8252-E23B4BB54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Updating Modes (contd.)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2862D7C-F4F4-2223-56E7-AEAC3E18031B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D7483C-353E-8218-F402-88D9F76EF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C0050D-5C98-2EE7-FF1C-B78D273C894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00DBD6E3-A32C-61EC-DD29-0F05733BAD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59941" y="1467325"/>
                <a:ext cx="10932387" cy="5133386"/>
              </a:xfrm>
            </p:spPr>
            <p:txBody>
              <a:bodyPr>
                <a:noAutofit/>
              </a:bodyPr>
              <a:lstStyle/>
              <a:p>
                <a:pPr marL="457200" indent="-457200" algn="just">
                  <a:buFont typeface="+mj-lt"/>
                  <a:buAutoNum type="arabicPeriod" startAt="2"/>
                </a:pPr>
                <a:r>
                  <a:rPr lang="en-US" sz="2200" b="1" u="sng" dirty="0"/>
                  <a:t>Batch Gradient Descent</a:t>
                </a:r>
                <a:r>
                  <a:rPr lang="en-US" sz="2200" dirty="0"/>
                  <a:t>:</a:t>
                </a:r>
                <a:endParaRPr lang="en-US" sz="2200" b="1" u="sng" dirty="0"/>
              </a:p>
              <a:p>
                <a:pPr lvl="1" algn="just"/>
                <a:r>
                  <a:rPr lang="en-US" sz="2200" dirty="0"/>
                  <a:t>Slow updates (updates only once per epoch)</a:t>
                </a:r>
              </a:p>
              <a:p>
                <a:pPr lvl="1" algn="just"/>
                <a:r>
                  <a:rPr lang="en-US" sz="2200" dirty="0"/>
                  <a:t>Smooth, stable gradients</a:t>
                </a:r>
              </a:p>
              <a:p>
                <a:pPr lvl="1" algn="just"/>
                <a:r>
                  <a:rPr lang="en-US" sz="2200" dirty="0"/>
                  <a:t>Requires loading full dataset into memory</a:t>
                </a:r>
              </a:p>
              <a:p>
                <a:pPr lvl="1" algn="just"/>
                <a:r>
                  <a:rPr lang="en-US" sz="2200" dirty="0"/>
                  <a:t>Batch size =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200" dirty="0"/>
                  <a:t>, i.e., entire dataset</a:t>
                </a:r>
              </a:p>
              <a:p>
                <a:pPr lvl="1" algn="just"/>
                <a:r>
                  <a:rPr lang="en-US" sz="2200" dirty="0"/>
                  <a:t>Pseudo code:</a:t>
                </a:r>
              </a:p>
              <a:p>
                <a:pPr marL="457200" lvl="1" indent="0" algn="just">
                  <a:buNone/>
                </a:pPr>
                <a:endParaRPr lang="en-US" sz="2200" dirty="0"/>
              </a:p>
              <a:p>
                <a:pPr marL="914400" lvl="2" indent="0" algn="just">
                  <a:buNone/>
                </a:pPr>
                <a:r>
                  <a:rPr lang="en-US" sz="2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Forward Pass: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,…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endParaRPr lang="en-US" sz="2200" b="0" dirty="0">
                  <a:latin typeface="Courier New" panose="02070309020205020404" pitchFamily="49" charset="0"/>
                  <a:ea typeface="Cambria Math" panose="02040503050406030204" pitchFamily="18" charset="0"/>
                </a:endParaRPr>
              </a:p>
              <a:p>
                <a:pPr marL="914400" lvl="2" indent="0" algn="just">
                  <a:buNone/>
                </a:pPr>
                <a:r>
                  <a:rPr lang="en-US" sz="2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Backward Pass: </a:t>
                </a:r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f>
                      <m:f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𝑾</m:t>
                        </m:r>
                      </m:den>
                    </m:f>
                    <m:r>
                      <a:rPr lang="en-US" sz="2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2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𝑾</m:t>
                            </m:r>
                          </m:den>
                        </m:f>
                        <m:r>
                          <a:rPr lang="en-US" sz="2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</m:e>
                    </m:nary>
                  </m:oMath>
                </a14:m>
                <a:r>
                  <a:rPr lang="en-US" sz="2200" dirty="0"/>
                  <a:t>,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𝒃</m:t>
                        </m:r>
                      </m:den>
                    </m:f>
                    <m:r>
                      <a:rPr lang="en-US" sz="2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US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2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𝒃</m:t>
                            </m:r>
                          </m:den>
                        </m:f>
                      </m:e>
                    </m:nary>
                  </m:oMath>
                </a14:m>
                <a:endParaRPr lang="en-US" sz="2200" b="1" dirty="0"/>
              </a:p>
              <a:p>
                <a:pPr marL="914400" lvl="2" indent="0" algn="just">
                  <a:buNone/>
                </a:pPr>
                <a:r>
                  <a:rPr lang="en-US" sz="2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Update: 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>
                          <a:latin typeface="Cambria Math" panose="02040503050406030204" pitchFamily="18" charset="0"/>
                        </a:rPr>
                        <m:t>𝑾</m:t>
                      </m:r>
                      <m:r>
                        <a:rPr lang="en-US" sz="2200" b="1" i="1"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𝑾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2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total</m:t>
                              </m:r>
                            </m:sub>
                          </m:sSub>
                        </m:num>
                        <m:den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200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den>
                      </m:f>
                    </m:oMath>
                  </m:oMathPara>
                </a14:m>
                <a:endParaRPr lang="en-US" sz="22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2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total</m:t>
                              </m:r>
                            </m:sub>
                          </m:sSub>
                        </m:num>
                        <m:den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2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den>
                      </m:f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00DBD6E3-A32C-61EC-DD29-0F05733BAD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9941" y="1467325"/>
                <a:ext cx="10932387" cy="5133386"/>
              </a:xfrm>
              <a:blipFill>
                <a:blip r:embed="rId4"/>
                <a:stretch>
                  <a:fillRect l="-781" t="-15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66481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F52D5-F7A7-DF7D-5842-5B0681092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2A40E-5F8E-759C-7F9D-FCC0FDF97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Updating Modes (contd.)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EE2E6D8-2AD9-8230-EB36-BA154300D3C4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B79D61-3E82-878A-6FCC-7CE9B9962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12CF01-0207-FB14-7555-55F111D3D52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AFC56321-1164-CC1B-659A-458684A42F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59941" y="1467325"/>
                <a:ext cx="10932387" cy="5133386"/>
              </a:xfrm>
            </p:spPr>
            <p:txBody>
              <a:bodyPr>
                <a:noAutofit/>
              </a:bodyPr>
              <a:lstStyle/>
              <a:p>
                <a:pPr marL="457200" indent="-457200" algn="just">
                  <a:buFont typeface="+mj-lt"/>
                  <a:buAutoNum type="arabicPeriod" startAt="3"/>
                </a:pPr>
                <a:r>
                  <a:rPr lang="en-US" sz="2200" b="1" u="sng" dirty="0"/>
                  <a:t>Mini-Batch Gradient Descent</a:t>
                </a:r>
                <a:r>
                  <a:rPr lang="en-US" sz="2200" dirty="0"/>
                  <a:t>:</a:t>
                </a:r>
                <a:endParaRPr lang="en-US" sz="2200" b="1" u="sng" dirty="0"/>
              </a:p>
              <a:p>
                <a:pPr lvl="1" algn="just"/>
                <a:r>
                  <a:rPr lang="en-US" sz="2200" dirty="0"/>
                  <a:t>A small group of samples at once</a:t>
                </a:r>
              </a:p>
              <a:p>
                <a:pPr lvl="1" algn="just"/>
                <a:r>
                  <a:rPr lang="en-US" sz="2200" dirty="0"/>
                  <a:t>Balance between speed and stability</a:t>
                </a:r>
              </a:p>
              <a:p>
                <a:pPr lvl="1" algn="just"/>
                <a:r>
                  <a:rPr lang="en-US" sz="2200" dirty="0"/>
                  <a:t>Most commonly used mode in practice</a:t>
                </a:r>
              </a:p>
              <a:p>
                <a:pPr lvl="1" algn="just"/>
                <a:r>
                  <a:rPr lang="en-US" sz="2200" dirty="0"/>
                  <a:t>Batch size =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sz="2200" dirty="0"/>
                  <a:t>, for example</a:t>
                </a:r>
              </a:p>
              <a:p>
                <a:pPr lvl="1" algn="just"/>
                <a:r>
                  <a:rPr lang="en-US" sz="2200" dirty="0"/>
                  <a:t>Updates per Epoch =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/4</m:t>
                    </m:r>
                  </m:oMath>
                </a14:m>
                <a:endParaRPr lang="en-US" sz="2200" dirty="0"/>
              </a:p>
              <a:p>
                <a:pPr lvl="1" algn="just"/>
                <a:r>
                  <a:rPr lang="en-US" sz="2200" dirty="0"/>
                  <a:t>Pseudo code:</a:t>
                </a:r>
              </a:p>
              <a:p>
                <a:pPr marL="457200" lvl="1" indent="0" algn="just">
                  <a:buNone/>
                </a:pPr>
                <a:endParaRPr lang="en-US" sz="2200" dirty="0"/>
              </a:p>
              <a:p>
                <a:pPr marL="914400" lvl="2" indent="0" algn="just">
                  <a:buNone/>
                </a:pPr>
                <a:r>
                  <a:rPr lang="en-US" sz="2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Forward Pass: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en-US" sz="2200" b="0" dirty="0">
                  <a:latin typeface="Courier New" panose="02070309020205020404" pitchFamily="49" charset="0"/>
                  <a:ea typeface="Cambria Math" panose="02040503050406030204" pitchFamily="18" charset="0"/>
                </a:endParaRPr>
              </a:p>
              <a:p>
                <a:pPr marL="914400" lvl="2" indent="0" algn="just">
                  <a:buNone/>
                </a:pPr>
                <a:r>
                  <a:rPr lang="en-US" sz="2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Backward Pass: </a:t>
                </a:r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f>
                      <m:f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𝑾</m:t>
                        </m:r>
                      </m:den>
                    </m:f>
                    <m:r>
                      <a:rPr lang="en-US" sz="2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US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  <m:e>
                        <m:f>
                          <m:f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US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2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𝑾</m:t>
                            </m:r>
                          </m:den>
                        </m:f>
                      </m:e>
                    </m:nary>
                  </m:oMath>
                </a14:m>
                <a:r>
                  <a:rPr lang="en-US" sz="2200" dirty="0"/>
                  <a:t>,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total</m:t>
                            </m:r>
                          </m:sub>
                        </m:sSub>
                      </m:num>
                      <m:den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𝒃</m:t>
                        </m:r>
                      </m:den>
                    </m:f>
                    <m:r>
                      <a:rPr lang="en-US" sz="2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  <m:e>
                        <m:f>
                          <m:f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US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2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𝒃</m:t>
                            </m:r>
                          </m:den>
                        </m:f>
                      </m:e>
                    </m:nary>
                  </m:oMath>
                </a14:m>
                <a:endParaRPr lang="en-US" sz="2200" b="1" dirty="0"/>
              </a:p>
              <a:p>
                <a:pPr marL="914400" lvl="2" indent="0" algn="just">
                  <a:buNone/>
                </a:pPr>
                <a:r>
                  <a:rPr lang="en-US" sz="2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Update: 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>
                          <a:latin typeface="Cambria Math" panose="02040503050406030204" pitchFamily="18" charset="0"/>
                        </a:rPr>
                        <m:t>𝑾</m:t>
                      </m:r>
                      <m:r>
                        <a:rPr lang="en-US" sz="2200" b="1" i="1"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𝑾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2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total</m:t>
                              </m:r>
                            </m:sub>
                          </m:sSub>
                        </m:num>
                        <m:den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200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den>
                      </m:f>
                    </m:oMath>
                  </m:oMathPara>
                </a14:m>
                <a:endParaRPr lang="en-US" sz="22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2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total</m:t>
                              </m:r>
                            </m:sub>
                          </m:sSub>
                        </m:num>
                        <m:den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2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den>
                      </m:f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AFC56321-1164-CC1B-659A-458684A42F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9941" y="1467325"/>
                <a:ext cx="10932387" cy="5133386"/>
              </a:xfrm>
              <a:blipFill>
                <a:blip r:embed="rId4"/>
                <a:stretch>
                  <a:fillRect l="-781" t="-1544" b="-3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60238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EF02D-3DD9-BBBF-531C-88DCEF478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396E1-FB14-DB62-3B16-5805B2179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Example using </a:t>
            </a:r>
            <a:r>
              <a:rPr lang="en-US" b="1" dirty="0" err="1"/>
              <a:t>PyTorch</a:t>
            </a:r>
            <a:r>
              <a:rPr lang="en-US" b="1" dirty="0"/>
              <a:t> Library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5EF2C00-CDA8-852D-668F-EE20357255FE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F4897-E207-C2B2-200B-B5CF0AD5C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A5E6AA-5E54-A63D-5FD7-4216AA3DC53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AB768E1-BBD0-F703-4635-F2E49CE558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721081" y="1532441"/>
            <a:ext cx="6925793" cy="5265177"/>
          </a:xfrm>
        </p:spPr>
      </p:pic>
    </p:spTree>
    <p:extLst>
      <p:ext uri="{BB962C8B-B14F-4D97-AF65-F5344CB8AC3E}">
        <p14:creationId xmlns:p14="http://schemas.microsoft.com/office/powerpoint/2010/main" val="15868599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F56D0-9F66-0260-72E4-45192696D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3216B-5562-8B17-6647-DCE712324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Example using </a:t>
            </a:r>
            <a:r>
              <a:rPr lang="en-US" b="1" dirty="0" err="1"/>
              <a:t>PyTorch</a:t>
            </a:r>
            <a:r>
              <a:rPr lang="en-US" b="1" dirty="0"/>
              <a:t> Library (contd.)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66AB99-4EAC-E0C6-7737-1182BF01F7A4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6F367C-6762-D6A6-DDF6-EF16448E1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F0E47E-22A5-AE63-AC90-A6EEC9F7BAE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F75660E-9762-AFF7-8F44-D822736553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761502" y="1609474"/>
            <a:ext cx="6924633" cy="5091161"/>
          </a:xfrm>
        </p:spPr>
      </p:pic>
    </p:spTree>
    <p:extLst>
      <p:ext uri="{BB962C8B-B14F-4D97-AF65-F5344CB8AC3E}">
        <p14:creationId xmlns:p14="http://schemas.microsoft.com/office/powerpoint/2010/main" val="3280125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B68D0-5D7C-D260-5A0D-F3C713F42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9FF22-9960-ECBC-DC6E-38AFC4162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Example using </a:t>
            </a:r>
            <a:r>
              <a:rPr lang="en-US" b="1" dirty="0" err="1"/>
              <a:t>PyTorch</a:t>
            </a:r>
            <a:r>
              <a:rPr lang="en-US" b="1" dirty="0"/>
              <a:t> Library (contd.)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C9414F6-575B-BD39-4BAA-7DDD86D3554F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558FC5-7043-FE7C-126F-954461BB6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058216-50CB-33C2-9395-4A295FBCB9E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3A7D148-3079-4B29-8C5A-8232808560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736617" y="1849512"/>
            <a:ext cx="5359383" cy="3424776"/>
          </a:xfr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F340583-1A42-3DDF-F9C5-22AEB16F5C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2585" y="2071380"/>
            <a:ext cx="5865466" cy="3359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8943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3D107-14FA-698F-2215-746A2DED3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6511A-2F2B-A4AE-9127-BBB78A6C2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Example using </a:t>
            </a:r>
            <a:r>
              <a:rPr lang="en-US" b="1" dirty="0" err="1"/>
              <a:t>PyTorch</a:t>
            </a:r>
            <a:r>
              <a:rPr lang="en-US" b="1" dirty="0"/>
              <a:t> Library (contd.)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A05DFD2-763F-701A-0939-901E1FD595B4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9E8B5E-9840-E1D9-283C-11DDFBE93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ED2737-BECD-9DFC-7A70-CA202C1A697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12C69CF-11F0-D67E-CF33-B852E8170D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692806" y="1505251"/>
            <a:ext cx="8903336" cy="5308420"/>
          </a:xfrm>
        </p:spPr>
      </p:pic>
    </p:spTree>
    <p:extLst>
      <p:ext uri="{BB962C8B-B14F-4D97-AF65-F5344CB8AC3E}">
        <p14:creationId xmlns:p14="http://schemas.microsoft.com/office/powerpoint/2010/main" val="3217452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22848</TotalTime>
  <Words>1820</Words>
  <Application>Microsoft Office PowerPoint</Application>
  <PresentationFormat>Widescreen</PresentationFormat>
  <Paragraphs>281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Aptos</vt:lpstr>
      <vt:lpstr>Aptos Display</vt:lpstr>
      <vt:lpstr>Arial</vt:lpstr>
      <vt:lpstr>Cambria Math</vt:lpstr>
      <vt:lpstr>Courier New</vt:lpstr>
      <vt:lpstr>Wingdings</vt:lpstr>
      <vt:lpstr>Office Theme</vt:lpstr>
      <vt:lpstr>Lecture 8: Multilayer Perceptron (MLP)</vt:lpstr>
      <vt:lpstr>Introduction</vt:lpstr>
      <vt:lpstr>Understanding MLPs</vt:lpstr>
      <vt:lpstr>Layers in MLPs</vt:lpstr>
      <vt:lpstr>Working of MLPs</vt:lpstr>
      <vt:lpstr>Forward Propagation</vt:lpstr>
      <vt:lpstr>Forward Propagation (contd.)</vt:lpstr>
      <vt:lpstr>Forward Propagation (contd.)</vt:lpstr>
      <vt:lpstr>Forward Propagation (contd.)</vt:lpstr>
      <vt:lpstr>Forward Propagation (contd.)</vt:lpstr>
      <vt:lpstr>Forward Propagation (contd.)</vt:lpstr>
      <vt:lpstr>Forward Propagation: Example</vt:lpstr>
      <vt:lpstr>Forward Propagation: Example (contd.)</vt:lpstr>
      <vt:lpstr>Forward Propagation: Example (contd.)</vt:lpstr>
      <vt:lpstr>Backpropagation</vt:lpstr>
      <vt:lpstr>Backpropagation (contd.)</vt:lpstr>
      <vt:lpstr>Backpropagation (contd.)</vt:lpstr>
      <vt:lpstr>Backpropagation (contd.)</vt:lpstr>
      <vt:lpstr>Backpropagation (contd.)</vt:lpstr>
      <vt:lpstr>Updating Modes</vt:lpstr>
      <vt:lpstr>Updating Modes (contd.)</vt:lpstr>
      <vt:lpstr>Updating Modes (contd.)</vt:lpstr>
      <vt:lpstr>Example using PyTorch Library</vt:lpstr>
      <vt:lpstr>Example using PyTorch Library (contd.)</vt:lpstr>
      <vt:lpstr>Example using PyTorch Library (contd.)</vt:lpstr>
      <vt:lpstr>Example using PyTorch Library (contd.)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6-2 Multilayer Perceptron (MLP)</dc:title>
  <dc:creator>Jilan Samiuddin</dc:creator>
  <cp:lastModifiedBy>Jilan Samiuddin</cp:lastModifiedBy>
  <cp:revision>292</cp:revision>
  <dcterms:created xsi:type="dcterms:W3CDTF">2025-05-01T04:50:36Z</dcterms:created>
  <dcterms:modified xsi:type="dcterms:W3CDTF">2026-03-09T03:12:05Z</dcterms:modified>
</cp:coreProperties>
</file>