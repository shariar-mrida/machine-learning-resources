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1" r:id="rId3"/>
    <p:sldId id="262" r:id="rId4"/>
    <p:sldId id="264" r:id="rId5"/>
    <p:sldId id="272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83" r:id="rId15"/>
    <p:sldId id="274" r:id="rId16"/>
    <p:sldId id="281" r:id="rId17"/>
    <p:sldId id="282" r:id="rId18"/>
    <p:sldId id="275" r:id="rId19"/>
    <p:sldId id="276" r:id="rId20"/>
    <p:sldId id="277" r:id="rId21"/>
    <p:sldId id="278" r:id="rId22"/>
    <p:sldId id="280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79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A47BA-D3F7-FAF8-A9BB-5E20B2E7B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2F716-1929-F1B4-A0A3-2E7A9451B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8AEC2-8F0C-90F1-1315-B9E85F8B6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AA6EC-194B-9C29-87B2-DD43D52A5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85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8E1E6-4262-E32E-4FA4-AB554EEBA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357F1-F555-2F3F-0BD1-8D72CEC89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793EC-7989-325F-AB84-D9D1ACF3D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4ECFD-D7B3-E276-A259-9AA8D1DA3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49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33AC4-DCEF-8964-BB11-91E90EB3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017E4-C7CA-F935-31A9-F530FED14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1EB48-5C9C-6FF4-FCF9-47D5A00FA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0DF1B-709F-4BEF-3932-BEDD410BC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93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3169-4D62-A2E5-3DE3-B3C9394C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83775-F061-0B0F-F020-C6E7B8910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7C2D9-D3B0-2449-7D54-2F8CEB82A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F92F1-78A3-3A40-106A-D1F1D6CCA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>
            <a:fillRect l="14000" t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4552707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7: Perceptron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7B2-5AC7-06A4-EC6E-C98361C9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0E42946-954F-2B58-4EC2-2A6F4D62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6530" y="1925462"/>
            <a:ext cx="3048157" cy="21210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890EBF-1D62-D059-41A9-07C69DA7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Linear Algebra: Dot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660E5FC-7FB8-7CCE-DDC6-5FA74BBB9E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5000883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The </a:t>
                </a:r>
                <a:r>
                  <a:rPr lang="en-US" b="1" dirty="0"/>
                  <a:t>dot product</a:t>
                </a:r>
                <a:r>
                  <a:rPr lang="en-US" dirty="0"/>
                  <a:t> of two vectors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/>
                      <m:t>a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i="0" dirty="0" smtClean="0"/>
                      <m:t>b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given by:</a:t>
                </a:r>
              </a:p>
              <a:p>
                <a:pPr algn="just"/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/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en-US" b="1" dirty="0"/>
                        <m:t>b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 dirty="0"/>
                            <m:t>a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 dirty="0"/>
                            <m:t>b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algn="just"/>
                <a:r>
                  <a:rPr lang="en-US" b="1" u="sng" dirty="0"/>
                  <a:t>Intuition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The dot product measures </a:t>
                </a:r>
                <a:r>
                  <a:rPr lang="en-US" b="1" dirty="0"/>
                  <a:t>how much one vector goes in the direction of another</a:t>
                </a:r>
                <a:endParaRPr lang="en-US" dirty="0"/>
              </a:p>
              <a:p>
                <a:pPr lvl="1" algn="just"/>
                <a:r>
                  <a:rPr lang="en-US" dirty="0"/>
                  <a:t>It is </a:t>
                </a:r>
                <a:r>
                  <a:rPr lang="en-US" b="1" dirty="0"/>
                  <a:t>maximized</a:t>
                </a:r>
                <a:r>
                  <a:rPr lang="en-US" dirty="0"/>
                  <a:t> when vectors point in the </a:t>
                </a:r>
                <a:r>
                  <a:rPr lang="en-US" b="1" dirty="0"/>
                  <a:t>same direction </a:t>
                </a:r>
                <a:r>
                  <a:rPr lang="en-US" dirty="0"/>
                  <a:t>(i.e.,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+mj-lt"/>
                  </a:rPr>
                  <a:t>)</a:t>
                </a:r>
              </a:p>
              <a:p>
                <a:pPr lvl="1" algn="just"/>
                <a:r>
                  <a:rPr lang="en-US" dirty="0"/>
                  <a:t>It is </a:t>
                </a:r>
                <a:r>
                  <a:rPr lang="en-US" b="1" dirty="0"/>
                  <a:t>zero</a:t>
                </a:r>
                <a:r>
                  <a:rPr lang="en-US" dirty="0"/>
                  <a:t> when vectors are </a:t>
                </a:r>
                <a:r>
                  <a:rPr lang="en-US" b="1" dirty="0"/>
                  <a:t>perpendicular</a:t>
                </a:r>
                <a:r>
                  <a:rPr lang="en-US" dirty="0"/>
                  <a:t> (i.e.,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90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 algn="just"/>
                <a:r>
                  <a:rPr lang="en-US" dirty="0"/>
                  <a:t>It is </a:t>
                </a:r>
                <a:r>
                  <a:rPr lang="en-US" b="1" dirty="0"/>
                  <a:t>negative</a:t>
                </a:r>
                <a:r>
                  <a:rPr lang="en-US" dirty="0"/>
                  <a:t> when vectors point in the </a:t>
                </a:r>
                <a:r>
                  <a:rPr lang="en-US" b="1" dirty="0"/>
                  <a:t>opposite direction </a:t>
                </a:r>
                <a:r>
                  <a:rPr lang="en-US" dirty="0"/>
                  <a:t>(i.e.,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&gt;90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)</a:t>
                </a:r>
              </a:p>
              <a:p>
                <a:pPr algn="just"/>
                <a:r>
                  <a:rPr lang="en-US" dirty="0"/>
                  <a:t>Dot product of two vectors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/>
                      <m:t>a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/>
                      <m:t>b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is also given by:</a:t>
                </a:r>
              </a:p>
              <a:p>
                <a:pPr algn="just"/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/>
                        <m:t>a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nor/>
                        </m:rPr>
                        <a:rPr lang="en-US" b="1" dirty="0"/>
                        <m:t>b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 algn="just"/>
                <a:endParaRPr lang="en-US" b="1" dirty="0"/>
              </a:p>
              <a:p>
                <a:pPr lvl="1"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660E5FC-7FB8-7CCE-DDC6-5FA74BBB9E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5000883"/>
              </a:xfrm>
              <a:blipFill>
                <a:blip r:embed="rId3"/>
                <a:stretch>
                  <a:fillRect l="-883" t="-2436" r="-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2AF9C3-86BF-C1E8-076B-A95B1586665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6F021-D75C-363D-3B08-54BCA73B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86381-B03F-CD2F-4DA9-BF885FD3C63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3F3E-6A6D-DA60-5EAB-78DB2A454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251F-EDCD-E261-E75B-DD32DC3ED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Dot Product – Examples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F12AB8-D23D-761F-845C-034D2E310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345" y="1452810"/>
            <a:ext cx="10012339" cy="2726057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A7FA2A-44FE-273C-43F0-A4F921DE7F9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0A958-EDD1-A479-4F9E-1F31BDC6F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E6A00C-D307-ABC7-EADC-CC9C0DEFC5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ED5331-8477-3604-A82A-4FE5A6D6B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11" y="4142594"/>
            <a:ext cx="10084773" cy="261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64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8749C-DEA7-9F40-9D0F-2E0DFBD2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2209-4C8A-53F6-75A4-DA82207FA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67C6816-4CA6-1324-E1AB-41BF9A987C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2412743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Perceptron is a </a:t>
                </a:r>
                <a:r>
                  <a:rPr lang="en-US" b="1" u="sng" dirty="0"/>
                  <a:t>basic binary classifier</a:t>
                </a:r>
                <a:r>
                  <a:rPr lang="en-US" dirty="0"/>
                  <a:t> that maps an input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to an output label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+1, −1</m:t>
                        </m:r>
                      </m:e>
                    </m:d>
                  </m:oMath>
                </a14:m>
                <a:endParaRPr lang="en-US" b="1" dirty="0"/>
              </a:p>
              <a:p>
                <a:pPr algn="just"/>
                <a:r>
                  <a:rPr lang="en-US" dirty="0"/>
                  <a:t>Inspired by a </a:t>
                </a:r>
                <a:r>
                  <a:rPr lang="en-US" b="1" dirty="0"/>
                  <a:t>simplified neuron</a:t>
                </a:r>
                <a:r>
                  <a:rPr lang="en-US" dirty="0"/>
                  <a:t>, it computes a weighted sum of inputs plus a bias, then applies a sign activation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sign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    where,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is the weight vector,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is the input features (vector),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the</a:t>
                </a:r>
                <a:br>
                  <a:rPr lang="en-US" dirty="0"/>
                </a:br>
                <a:r>
                  <a:rPr lang="en-US" dirty="0"/>
                  <a:t>    bias term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67C6816-4CA6-1324-E1AB-41BF9A987C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2412743"/>
              </a:xfrm>
              <a:blipFill>
                <a:blip r:embed="rId2"/>
                <a:stretch>
                  <a:fillRect l="-883" t="-6313" r="-994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2451EF-B332-5BE5-101E-34D9870DE31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894B0-71B2-A282-6B61-AEFFD51F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06DF35-B8C3-97FF-DCCA-DA1D25B3A7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026" name="Picture 2" descr="Multilayer perceptrons">
            <a:extLst>
              <a:ext uri="{FF2B5EF4-FFF2-40B4-BE49-F238E27FC236}">
                <a16:creationId xmlns:a16="http://schemas.microsoft.com/office/drawing/2014/main" id="{D042A552-B65B-A2BF-05C0-C3CDA182B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896" y="4054475"/>
            <a:ext cx="370522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C8A056-02D0-8019-E9CF-B80B6DB27264}"/>
              </a:ext>
            </a:extLst>
          </p:cNvPr>
          <p:cNvSpPr txBox="1"/>
          <p:nvPr/>
        </p:nvSpPr>
        <p:spPr>
          <a:xfrm>
            <a:off x="6277943" y="4753050"/>
            <a:ext cx="66655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6CCD0-429E-01F6-0131-3FAC4F9DCB12}"/>
              </a:ext>
            </a:extLst>
          </p:cNvPr>
          <p:cNvSpPr/>
          <p:nvPr/>
        </p:nvSpPr>
        <p:spPr>
          <a:xfrm>
            <a:off x="6331595" y="4238991"/>
            <a:ext cx="559252" cy="48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3DACBA-3154-6D41-2044-32D2FB782188}"/>
                  </a:ext>
                </a:extLst>
              </p:cNvPr>
              <p:cNvSpPr txBox="1"/>
              <p:nvPr/>
            </p:nvSpPr>
            <p:spPr>
              <a:xfrm>
                <a:off x="7484751" y="5035970"/>
                <a:ext cx="18030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3DACBA-3154-6D41-2044-32D2FB782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751" y="5035970"/>
                <a:ext cx="180306" cy="276999"/>
              </a:xfrm>
              <a:prstGeom prst="rect">
                <a:avLst/>
              </a:prstGeom>
              <a:blipFill>
                <a:blip r:embed="rId5"/>
                <a:stretch>
                  <a:fillRect l="-34483" t="-23913" r="-82759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2A3183-6085-B8F5-791F-B3C5506C5968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029325" y="4937716"/>
            <a:ext cx="248618" cy="291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28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F8B9E-5FB1-28B0-54A9-66670E1CD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0E71-F35D-4FF8-CB02-B81FE97E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The bias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DA8AC8E-9972-55A2-5592-FEA53D7447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3"/>
                <a:ext cx="11040256" cy="1379796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Without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the perceptron can only learn boundaries through the origin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 controls the </a:t>
                </a:r>
                <a:r>
                  <a:rPr lang="en-US" b="1" dirty="0"/>
                  <a:t>distance from the origin</a:t>
                </a:r>
                <a:r>
                  <a:rPr lang="en-US" dirty="0"/>
                  <a:t> to the boundary</a:t>
                </a:r>
              </a:p>
              <a:p>
                <a:pPr algn="just"/>
                <a:r>
                  <a:rPr lang="en-US" dirty="0"/>
                  <a:t>Adding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 allows offsets, making the model more flexible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BDA8AC8E-9972-55A2-5592-FEA53D7447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3"/>
                <a:ext cx="11040256" cy="1379796"/>
              </a:xfrm>
              <a:blipFill>
                <a:blip r:embed="rId2"/>
                <a:stretch>
                  <a:fillRect l="-883" t="-8811" b="-6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76033D-E017-01DF-E05A-6B5EF135CA7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989F0-45C9-A4A0-D2CC-0D2185EE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3AF686-CFA5-9B46-033C-5B25FAF61C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2E227C-427B-43BB-77A6-1E61787C3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993" y="3247016"/>
            <a:ext cx="6120013" cy="347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771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33CC5-ED93-E600-9970-FAF991E93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DB23-BF75-D795-38BC-D137602F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Perceptron (contd.)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8B4463-E004-4716-F630-4E27A04B2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5573" y="1690688"/>
            <a:ext cx="4767790" cy="213188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b="1" u="sng" dirty="0"/>
              <a:t>Assumption</a:t>
            </a:r>
            <a:r>
              <a:rPr lang="en-US" dirty="0"/>
              <a:t>: The data are linearly separable</a:t>
            </a:r>
          </a:p>
          <a:p>
            <a:pPr algn="just"/>
            <a:r>
              <a:rPr lang="en-US" b="1" u="sng" dirty="0"/>
              <a:t>Note 1:</a:t>
            </a:r>
            <a:r>
              <a:rPr lang="en-US" dirty="0"/>
              <a:t> </a:t>
            </a:r>
            <a:r>
              <a:rPr lang="en-US" i="1" dirty="0"/>
              <a:t>Weight vector is perpendicular to the decision boundary (hyperplane)</a:t>
            </a:r>
          </a:p>
          <a:p>
            <a:pPr algn="just"/>
            <a:r>
              <a:rPr lang="en-US" b="1" u="sng" dirty="0"/>
              <a:t>Note 2</a:t>
            </a:r>
            <a:r>
              <a:rPr lang="en-US" dirty="0"/>
              <a:t>: These hyperplanes can be a line in 2D, a plane in 3D. Beyond 3D, it is hard to visualize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7AA90F-2764-D56F-E343-E1D4323F55D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7FD11-2D9C-7A5B-42BE-AA646EEBE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ED3F79-3146-F924-2236-20600D6B40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03D9FEA-BD0A-5B69-6011-D4780254386D}"/>
              </a:ext>
            </a:extLst>
          </p:cNvPr>
          <p:cNvGrpSpPr/>
          <p:nvPr/>
        </p:nvGrpSpPr>
        <p:grpSpPr>
          <a:xfrm>
            <a:off x="96359" y="1625767"/>
            <a:ext cx="6376292" cy="3911485"/>
            <a:chOff x="1994572" y="2734638"/>
            <a:chExt cx="6376292" cy="39114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69B272-81D9-901D-2558-B742CC0C6D3C}"/>
                    </a:ext>
                  </a:extLst>
                </p:cNvPr>
                <p:cNvSpPr txBox="1"/>
                <p:nvPr/>
              </p:nvSpPr>
              <p:spPr>
                <a:xfrm>
                  <a:off x="2895963" y="6276791"/>
                  <a:ext cx="547490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Decision Boundary </a:t>
                  </a:r>
                  <a:r>
                    <a:rPr lang="en-US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(</a:t>
                  </a:r>
                  <a:r>
                    <a:rPr lang="en-US" b="0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Hyperplane), H: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a14:m>
                  <a:endParaRPr lang="en-US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69B272-81D9-901D-2558-B742CC0C6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963" y="6276791"/>
                  <a:ext cx="5474901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002" t="-8333" b="-2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194CA08-FFBA-B91A-A076-BD339A174B08}"/>
                </a:ext>
              </a:extLst>
            </p:cNvPr>
            <p:cNvGrpSpPr/>
            <p:nvPr/>
          </p:nvGrpSpPr>
          <p:grpSpPr>
            <a:xfrm>
              <a:off x="1994572" y="2734638"/>
              <a:ext cx="6241207" cy="3621712"/>
              <a:chOff x="1994572" y="2734638"/>
              <a:chExt cx="6241207" cy="3621712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3E18D808-9C8C-A1DE-5CD3-F04C21A97D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7989" y="2887227"/>
                <a:ext cx="4767790" cy="346912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D38B863A-E96A-B467-72DC-3E5ACEDD78C1}"/>
                      </a:ext>
                    </a:extLst>
                  </p:cNvPr>
                  <p:cNvSpPr txBox="1"/>
                  <p:nvPr/>
                </p:nvSpPr>
                <p:spPr>
                  <a:xfrm>
                    <a:off x="3796724" y="3646320"/>
                    <a:ext cx="1477146" cy="3231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15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oMath>
                      </m:oMathPara>
                    </a14:m>
                    <a:endParaRPr lang="en-US" sz="1500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D38B863A-E96A-B467-72DC-3E5ACEDD78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96724" y="3646320"/>
                    <a:ext cx="1477146" cy="3231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E2476B03-B55C-FA4A-5EB5-7E8349B40240}"/>
                      </a:ext>
                    </a:extLst>
                  </p:cNvPr>
                  <p:cNvSpPr txBox="1"/>
                  <p:nvPr/>
                </p:nvSpPr>
                <p:spPr>
                  <a:xfrm>
                    <a:off x="6533509" y="4985798"/>
                    <a:ext cx="1685964" cy="3231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15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&lt;0</m:t>
                          </m:r>
                        </m:oMath>
                      </m:oMathPara>
                    </a14:m>
                    <a:endParaRPr lang="en-US" sz="1500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E2476B03-B55C-FA4A-5EB5-7E8349B402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33509" y="4985798"/>
                    <a:ext cx="1685964" cy="3231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EE6AD76-B4FC-B550-BE72-D234F2EC5F29}"/>
                  </a:ext>
                </a:extLst>
              </p:cNvPr>
              <p:cNvSpPr/>
              <p:nvPr/>
            </p:nvSpPr>
            <p:spPr>
              <a:xfrm rot="1612835">
                <a:off x="4956493" y="5542080"/>
                <a:ext cx="162227" cy="177098"/>
              </a:xfrm>
              <a:prstGeom prst="rect">
                <a:avLst/>
              </a:prstGeom>
              <a:noFill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B03BAD6-AAEE-BBD3-9E82-57A33647F1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12957" y="2734638"/>
                <a:ext cx="1760838" cy="3530238"/>
              </a:xfrm>
              <a:prstGeom prst="line">
                <a:avLst/>
              </a:prstGeom>
              <a:ln w="41275"/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CED47B13-9D93-16A6-2472-BD7D6CF2DB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01580" y="4947750"/>
                <a:ext cx="1458512" cy="810499"/>
              </a:xfrm>
              <a:prstGeom prst="straightConnector1">
                <a:avLst/>
              </a:prstGeom>
              <a:ln w="41275"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E627A603-0A40-1E6F-AC57-5A5BEEED27E1}"/>
                      </a:ext>
                    </a:extLst>
                  </p:cNvPr>
                  <p:cNvSpPr txBox="1"/>
                  <p:nvPr/>
                </p:nvSpPr>
                <p:spPr>
                  <a:xfrm>
                    <a:off x="1994572" y="5038140"/>
                    <a:ext cx="248300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b="0" dirty="0">
                        <a:solidFill>
                          <a:schemeClr val="accent2"/>
                        </a:solidFill>
                      </a:rPr>
                      <a:t>Weight vector: </a:t>
                    </a:r>
                    <a14:m>
                      <m:oMath xmlns:m="http://schemas.openxmlformats.org/officeDocument/2006/math">
                        <m:r>
                          <a:rPr lang="en-US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a14:m>
                    <a:endParaRPr lang="en-US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E627A603-0A40-1E6F-AC57-5A5BEEED27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4572" y="5038140"/>
                    <a:ext cx="2483009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211" t="-8333" b="-2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33" name="Picture 32" descr="A grid with many dots&#10;&#10;AI-generated content may be incorrect.">
            <a:extLst>
              <a:ext uri="{FF2B5EF4-FFF2-40B4-BE49-F238E27FC236}">
                <a16:creationId xmlns:a16="http://schemas.microsoft.com/office/drawing/2014/main" id="{9C94BEA3-23A1-2EC9-EEAD-0D8B78F1BF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267" y="3687849"/>
            <a:ext cx="4379993" cy="31192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6877B9-5CCC-4AF2-EB15-6E10538E3EFF}"/>
                  </a:ext>
                </a:extLst>
              </p:cNvPr>
              <p:cNvSpPr txBox="1"/>
              <p:nvPr/>
            </p:nvSpPr>
            <p:spPr>
              <a:xfrm>
                <a:off x="9063769" y="3836218"/>
                <a:ext cx="1836862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5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+mj-lt"/>
                  </a:rPr>
                  <a:t>Positive examples</a:t>
                </a:r>
                <a:endParaRPr lang="en-US" sz="1500" b="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+mj-lt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1500" b="0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1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1500" b="0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1500" b="1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1500" b="0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500" b="0" i="1" smtClean="0">
                            <a:solidFill>
                              <a:schemeClr val="tx2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1500" b="0" i="1" smtClean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5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6877B9-5CCC-4AF2-EB15-6E10538E3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3769" y="3836218"/>
                <a:ext cx="1836862" cy="553998"/>
              </a:xfrm>
              <a:prstGeom prst="rect">
                <a:avLst/>
              </a:prstGeom>
              <a:blipFill>
                <a:blip r:embed="rId9"/>
                <a:stretch>
                  <a:fillRect l="-1329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BD92C5D-7C2A-B9EB-28C2-0D5F2964F773}"/>
                  </a:ext>
                </a:extLst>
              </p:cNvPr>
              <p:cNvSpPr txBox="1"/>
              <p:nvPr/>
            </p:nvSpPr>
            <p:spPr>
              <a:xfrm>
                <a:off x="7889539" y="5933295"/>
                <a:ext cx="1836862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500" dirty="0">
                    <a:solidFill>
                      <a:srgbClr val="FF0000"/>
                    </a:solidFill>
                    <a:latin typeface="+mj-lt"/>
                  </a:rPr>
                  <a:t>Negative examples</a:t>
                </a:r>
                <a:endParaRPr lang="en-US" sz="1500" b="0" dirty="0">
                  <a:solidFill>
                    <a:srgbClr val="FF0000"/>
                  </a:solidFill>
                  <a:latin typeface="+mj-lt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15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15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15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BD92C5D-7C2A-B9EB-28C2-0D5F2964F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539" y="5933295"/>
                <a:ext cx="1836862" cy="553998"/>
              </a:xfrm>
              <a:prstGeom prst="rect">
                <a:avLst/>
              </a:prstGeom>
              <a:blipFill>
                <a:blip r:embed="rId10"/>
                <a:stretch>
                  <a:fillRect l="-1325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EFF9A4-1D72-4611-ADE8-027D5E60888B}"/>
                  </a:ext>
                </a:extLst>
              </p:cNvPr>
              <p:cNvSpPr txBox="1"/>
              <p:nvPr/>
            </p:nvSpPr>
            <p:spPr>
              <a:xfrm>
                <a:off x="5205579" y="5732629"/>
                <a:ext cx="3047375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500" b="0" dirty="0">
                    <a:solidFill>
                      <a:schemeClr val="tx1"/>
                    </a:solidFill>
                  </a:rPr>
                  <a:t>Hyperplane, H: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15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endParaRPr lang="en-US" sz="1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EFF9A4-1D72-4611-ADE8-027D5E608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579" y="5732629"/>
                <a:ext cx="3047375" cy="323165"/>
              </a:xfrm>
              <a:prstGeom prst="rect">
                <a:avLst/>
              </a:prstGeom>
              <a:blipFill>
                <a:blip r:embed="rId11"/>
                <a:stretch>
                  <a:fillRect l="-800" t="-1887" b="-2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6478F14-831C-B3C7-D3CE-4A2B736ED34F}"/>
              </a:ext>
            </a:extLst>
          </p:cNvPr>
          <p:cNvCxnSpPr/>
          <p:nvPr/>
        </p:nvCxnSpPr>
        <p:spPr>
          <a:xfrm flipV="1">
            <a:off x="7067862" y="5337419"/>
            <a:ext cx="457200" cy="418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52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A4F96-1B42-20A6-31CD-5C5C34D7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F64B8CA-987C-1369-576B-B356EAAEAA7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fontAlgn="base"/>
                <a:r>
                  <a:rPr lang="en-US" b="1" dirty="0"/>
                  <a:t>Proof: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perpendicular to H</a:t>
                </a:r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F64B8CA-987C-1369-576B-B356EAAEAA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2787956-158B-99FA-0087-D2D323FAEE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506995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The decision boundary is the </a:t>
                </a:r>
                <a:r>
                  <a:rPr lang="en-US" b="1" dirty="0"/>
                  <a:t>hyperplane</a:t>
                </a:r>
                <a:r>
                  <a:rPr lang="en-US" dirty="0"/>
                  <a:t> defined by the equation: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n-US" dirty="0">
                    <a:solidFill>
                      <a:schemeClr val="tx1"/>
                    </a:solidFill>
                  </a:rPr>
                  <a:t>Consider two arbitra</a:t>
                </a:r>
                <a:r>
                  <a:rPr lang="en-US" dirty="0"/>
                  <a:t>ry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that lie on the hyperplane</a:t>
                </a:r>
                <a:r>
                  <a:rPr lang="en-US" dirty="0"/>
                  <a:t>, i.e.,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i="1" dirty="0"/>
                  <a:t>    </a:t>
                </a:r>
                <a:r>
                  <a:rPr lang="en-US" dirty="0"/>
                  <a:t>   and   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i="1" dirty="0"/>
              </a:p>
              <a:p>
                <a:pPr algn="just"/>
                <a:r>
                  <a:rPr lang="en-US" dirty="0"/>
                  <a:t>Subtract the above two equations one from the other:</a:t>
                </a:r>
              </a:p>
              <a:p>
                <a:pPr algn="just"/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  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2787956-158B-99FA-0087-D2D323FAEE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5069952"/>
              </a:xfrm>
              <a:blipFill>
                <a:blip r:embed="rId3"/>
                <a:stretch>
                  <a:fillRect l="-994" t="-2043" r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0DAA92-7EDD-EC20-EA9F-9EBEDBDC0CD8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2143A-392A-57F6-5D2E-39EAD3C2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98B2D9-8696-3F22-A095-E8D6A6B1FB0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71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C115A-656A-005D-751D-C8C664F6D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61338-7E55-05F2-8407-C1C95A57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Proof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F3E5844-08A1-EDD9-2DCC-E39BFDC59C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506995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perpendicular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i="1" dirty="0"/>
              </a:p>
              <a:p>
                <a:pPr algn="just"/>
                <a:r>
                  <a:rPr lang="en-US" dirty="0"/>
                  <a:t>Also, note that the vector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lies </a:t>
                </a:r>
                <a:r>
                  <a:rPr lang="en-US" b="1" dirty="0"/>
                  <a:t>within the hyperplane</a:t>
                </a:r>
                <a:r>
                  <a:rPr lang="en-US" dirty="0"/>
                  <a:t> (since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are on it)</a:t>
                </a:r>
              </a:p>
              <a:p>
                <a:pPr algn="just"/>
                <a:r>
                  <a:rPr lang="en-US" dirty="0"/>
                  <a:t>Hence, </a:t>
                </a:r>
                <a:r>
                  <a:rPr lang="en-US" b="1" u="sng" dirty="0"/>
                  <a:t>we can conclude</a:t>
                </a:r>
                <a:r>
                  <a:rPr lang="en-US" dirty="0"/>
                  <a:t>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:r>
                  <a:rPr lang="en-US" b="1" dirty="0"/>
                  <a:t>perpendicular</a:t>
                </a:r>
                <a:r>
                  <a:rPr lang="en-US" dirty="0"/>
                  <a:t> to </a:t>
                </a:r>
                <a:r>
                  <a:rPr lang="en-US" b="1" dirty="0"/>
                  <a:t>every vector</a:t>
                </a:r>
                <a:r>
                  <a:rPr lang="en-US" dirty="0"/>
                  <a:t> lying in the hyperplane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u="sng" dirty="0"/>
                  <a:t>is perpendicular to the hyperplane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F3E5844-08A1-EDD9-2DCC-E39BFDC59C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5069952"/>
              </a:xfrm>
              <a:blipFill>
                <a:blip r:embed="rId2"/>
                <a:stretch>
                  <a:fillRect l="-1160" t="-2043" r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8EA0E9-85EF-CE9C-06D0-FE84B902E6E9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9D283-A224-DD1B-83BC-0EE43CDE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4C9FF6-76ED-FCAC-0765-7B84E9533A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DAE4AEB-3318-63F5-0C72-F73809AA585F}"/>
              </a:ext>
            </a:extLst>
          </p:cNvPr>
          <p:cNvGrpSpPr/>
          <p:nvPr/>
        </p:nvGrpSpPr>
        <p:grpSpPr>
          <a:xfrm>
            <a:off x="1489664" y="5552785"/>
            <a:ext cx="4319857" cy="424890"/>
            <a:chOff x="7537361" y="1568798"/>
            <a:chExt cx="4319857" cy="42489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84EE2EE-7E15-3675-4C72-3EF45A3D115C}"/>
                </a:ext>
              </a:extLst>
            </p:cNvPr>
            <p:cNvCxnSpPr/>
            <p:nvPr/>
          </p:nvCxnSpPr>
          <p:spPr>
            <a:xfrm>
              <a:off x="7562536" y="1993688"/>
              <a:ext cx="4294682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A9159FF-13FF-E984-740D-D40383F68E79}"/>
                </a:ext>
              </a:extLst>
            </p:cNvPr>
            <p:cNvCxnSpPr>
              <a:cxnSpLocks/>
            </p:cNvCxnSpPr>
            <p:nvPr/>
          </p:nvCxnSpPr>
          <p:spPr>
            <a:xfrm>
              <a:off x="7589826" y="1993688"/>
              <a:ext cx="402005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A2B6DBC-414F-ECC9-1D02-42559D6595FF}"/>
                </a:ext>
              </a:extLst>
            </p:cNvPr>
            <p:cNvCxnSpPr>
              <a:cxnSpLocks/>
            </p:cNvCxnSpPr>
            <p:nvPr/>
          </p:nvCxnSpPr>
          <p:spPr>
            <a:xfrm>
              <a:off x="7559846" y="1993688"/>
              <a:ext cx="3263051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178B54F-DFD1-7397-5DB0-C553B52E8818}"/>
                </a:ext>
              </a:extLst>
            </p:cNvPr>
            <p:cNvCxnSpPr>
              <a:cxnSpLocks/>
            </p:cNvCxnSpPr>
            <p:nvPr/>
          </p:nvCxnSpPr>
          <p:spPr>
            <a:xfrm>
              <a:off x="7537361" y="1993688"/>
              <a:ext cx="1501706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2968B3B-8A09-CC06-183D-6FA33E93FFA2}"/>
                </a:ext>
              </a:extLst>
            </p:cNvPr>
            <p:cNvSpPr txBox="1"/>
            <p:nvPr/>
          </p:nvSpPr>
          <p:spPr>
            <a:xfrm>
              <a:off x="9191371" y="1568798"/>
              <a:ext cx="13644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2D example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86C0B3A-DD07-E3CB-343E-8C267852671B}"/>
              </a:ext>
            </a:extLst>
          </p:cNvPr>
          <p:cNvGrpSpPr/>
          <p:nvPr/>
        </p:nvGrpSpPr>
        <p:grpSpPr>
          <a:xfrm>
            <a:off x="6303061" y="4532335"/>
            <a:ext cx="4869608" cy="2119364"/>
            <a:chOff x="7228663" y="2445660"/>
            <a:chExt cx="4869608" cy="2119364"/>
          </a:xfrm>
        </p:grpSpPr>
        <p:pic>
          <p:nvPicPr>
            <p:cNvPr id="10" name="Picture 9" descr="A graph with colored arrows&#10;&#10;AI-generated content may be incorrect.">
              <a:extLst>
                <a:ext uri="{FF2B5EF4-FFF2-40B4-BE49-F238E27FC236}">
                  <a16:creationId xmlns:a16="http://schemas.microsoft.com/office/drawing/2014/main" id="{9DA66F84-476A-BE93-C893-6D885A5F5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28663" y="2445660"/>
              <a:ext cx="4869608" cy="211936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CB80AF4-0F96-EF8A-8CE7-474B6898FD93}"/>
                </a:ext>
              </a:extLst>
            </p:cNvPr>
            <p:cNvSpPr txBox="1"/>
            <p:nvPr/>
          </p:nvSpPr>
          <p:spPr>
            <a:xfrm>
              <a:off x="10406926" y="3822100"/>
              <a:ext cx="13644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3D example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7282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59A2-F213-98EF-CE27-BAFA1DE8E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2C79-64C6-0F27-B347-9B4EB13A6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Perceptron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7FB316C-4A8A-33F3-754E-EC6E9A435F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90687"/>
                <a:ext cx="11040256" cy="2855999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dirty="0"/>
                  <a:t>When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,</a:t>
                </a:r>
              </a:p>
              <a:p>
                <a:pPr marL="0" indent="0" algn="ctr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/>
                  <a:t>it implies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has been classified correctly, where '</a:t>
                </a:r>
                <a:r>
                  <a:rPr lang="en-US" b="1" i="1" dirty="0"/>
                  <a:t>classified correctly</a:t>
                </a:r>
                <a:r>
                  <a:rPr lang="en-US" dirty="0"/>
                  <a:t>' 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is on the correct side of the hyperplane defined by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For example,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and hence the classification is correct. However,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then the classification is incorrect.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7FB316C-4A8A-33F3-754E-EC6E9A435F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90687"/>
                <a:ext cx="11040256" cy="2855999"/>
              </a:xfrm>
              <a:blipFill>
                <a:blip r:embed="rId2"/>
                <a:stretch>
                  <a:fillRect l="-883" t="-4691" r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C1B7C-DDF4-C0EB-726D-ABED7C9FFFD6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A6C28-2C23-4738-64CE-EF3ABCD0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71E5C-DDF8-20B1-1E09-1811E44290A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88919D1-BE8B-44EA-C699-B01898A887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5951193"/>
                  </p:ext>
                </p:extLst>
              </p:nvPr>
            </p:nvGraphicFramePr>
            <p:xfrm>
              <a:off x="2032000" y="4477573"/>
              <a:ext cx="8128000" cy="2123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136650">
                      <a:extLst>
                        <a:ext uri="{9D8B030D-6E8A-4147-A177-3AD203B41FA5}">
                          <a16:colId xmlns:a16="http://schemas.microsoft.com/office/drawing/2014/main" val="200103864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274052475"/>
                        </a:ext>
                      </a:extLst>
                    </a:gridCol>
                    <a:gridCol w="2006600">
                      <a:extLst>
                        <a:ext uri="{9D8B030D-6E8A-4147-A177-3AD203B41FA5}">
                          <a16:colId xmlns:a16="http://schemas.microsoft.com/office/drawing/2014/main" val="686017158"/>
                        </a:ext>
                      </a:extLst>
                    </a:gridCol>
                    <a:gridCol w="2216150">
                      <a:extLst>
                        <a:ext uri="{9D8B030D-6E8A-4147-A177-3AD203B41FA5}">
                          <a16:colId xmlns:a16="http://schemas.microsoft.com/office/drawing/2014/main" val="29158402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8677877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b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Classified Correctly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205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2198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68814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67169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16781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888919D1-BE8B-44EA-C699-B01898A887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5951193"/>
                  </p:ext>
                </p:extLst>
              </p:nvPr>
            </p:nvGraphicFramePr>
            <p:xfrm>
              <a:off x="2032000" y="4477573"/>
              <a:ext cx="8128000" cy="2123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136650">
                      <a:extLst>
                        <a:ext uri="{9D8B030D-6E8A-4147-A177-3AD203B41FA5}">
                          <a16:colId xmlns:a16="http://schemas.microsoft.com/office/drawing/2014/main" val="200103864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274052475"/>
                        </a:ext>
                      </a:extLst>
                    </a:gridCol>
                    <a:gridCol w="2006600">
                      <a:extLst>
                        <a:ext uri="{9D8B030D-6E8A-4147-A177-3AD203B41FA5}">
                          <a16:colId xmlns:a16="http://schemas.microsoft.com/office/drawing/2014/main" val="686017158"/>
                        </a:ext>
                      </a:extLst>
                    </a:gridCol>
                    <a:gridCol w="2216150">
                      <a:extLst>
                        <a:ext uri="{9D8B030D-6E8A-4147-A177-3AD203B41FA5}">
                          <a16:colId xmlns:a16="http://schemas.microsoft.com/office/drawing/2014/main" val="29158402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86778777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dirty="0"/>
                            <a:t>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535" t="-3810" r="-515508" b="-2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3982" t="-3810" r="-193009" b="-2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3407" t="-3810" r="-74451" b="-24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Classified Correctly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205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2198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+1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68814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67169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16781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99237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212C-0F74-A78D-F42E-DAC9313A9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ABB6077-C26E-0E38-7C2B-F1C704BA2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664" y="4182740"/>
            <a:ext cx="6674215" cy="266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AFD1327-591A-21E2-596A-7C324300D7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fontAlgn="base"/>
                <a:r>
                  <a:rPr lang="en-US" b="1" dirty="0"/>
                  <a:t>Updating weights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and bias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AFD1327-591A-21E2-596A-7C324300D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02E60CD-BD9B-017D-B212-BD34CEC159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90687"/>
                <a:ext cx="11040256" cy="2817017"/>
              </a:xfrm>
            </p:spPr>
            <p:txBody>
              <a:bodyPr>
                <a:normAutofit fontScale="70000" lnSpcReduction="20000"/>
              </a:bodyPr>
              <a:lstStyle/>
              <a:p>
                <a:pPr algn="just"/>
                <a:r>
                  <a:rPr lang="en-US" dirty="0"/>
                  <a:t>Updates:</a:t>
                </a:r>
              </a:p>
              <a:p>
                <a:pPr algn="just"/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1" i="1" dirty="0"/>
              </a:p>
              <a:p>
                <a:pPr marL="0" indent="0" algn="ctr">
                  <a:buNone/>
                </a:pPr>
                <a:endParaRPr lang="en-US" b="1" i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1" i="1" dirty="0"/>
              </a:p>
              <a:p>
                <a:pPr marL="0" indent="0" algn="ctr">
                  <a:buNone/>
                </a:pPr>
                <a:endParaRPr lang="en-US" b="1" i="1" dirty="0"/>
              </a:p>
              <a:p>
                <a:pPr marL="0" indent="0" algn="just">
                  <a:buNone/>
                </a:pPr>
                <a:r>
                  <a:rPr lang="en-US" b="1" u="sng" dirty="0"/>
                  <a:t>Effect</a:t>
                </a:r>
                <a:r>
                  <a:rPr lang="en-US" dirty="0"/>
                  <a:t>: The update “</a:t>
                </a:r>
                <a:r>
                  <a:rPr lang="en-US" b="1" i="1" dirty="0"/>
                  <a:t>pulls</a:t>
                </a:r>
                <a:r>
                  <a:rPr lang="en-US" dirty="0"/>
                  <a:t>”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toward misclassified positive points and “</a:t>
                </a:r>
                <a:r>
                  <a:rPr lang="en-US" b="1" i="1" dirty="0"/>
                  <a:t>pushes</a:t>
                </a:r>
                <a:r>
                  <a:rPr lang="en-US" dirty="0"/>
                  <a:t>” it away from misclassified negative points. </a:t>
                </a:r>
                <a:r>
                  <a:rPr lang="en-US" b="1" dirty="0"/>
                  <a:t>Recall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perpendicular to H</a:t>
                </a:r>
              </a:p>
              <a:p>
                <a:pPr marL="0" indent="0" algn="just">
                  <a:buNone/>
                </a:pPr>
                <a:r>
                  <a:rPr lang="en-US" b="1" u="sng" dirty="0"/>
                  <a:t>Linear algebra</a:t>
                </a:r>
                <a:r>
                  <a:rPr lang="en-US" dirty="0"/>
                  <a:t>: The update modifies the </a:t>
                </a:r>
                <a:r>
                  <a:rPr lang="en-US" b="1" dirty="0"/>
                  <a:t>direction</a:t>
                </a:r>
                <a:r>
                  <a:rPr lang="en-US" dirty="0"/>
                  <a:t> of the hyperplane’s normal vector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02E60CD-BD9B-017D-B212-BD34CEC159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90687"/>
                <a:ext cx="11040256" cy="2817017"/>
              </a:xfrm>
              <a:blipFill>
                <a:blip r:embed="rId5"/>
                <a:stretch>
                  <a:fillRect l="-607" t="-3680" r="-552" b="-2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A181FC-F61A-A5F2-5F53-ABA44852CD2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5A72F-73DF-7D78-E0C9-3EF2F5807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A60D99-6A66-4634-F3C8-FE193C18E4D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A9409AFB-C830-67A1-E1E2-0855650E1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9879" y="5403127"/>
                <a:ext cx="1787461" cy="6463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/>
                <a:r>
                  <a:rPr kumimoji="0" lang="en-US" altLang="en-US" sz="1200" b="0" i="1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Verdana" panose="020B0604030504040204" pitchFamily="34" charset="0"/>
                  </a:rPr>
                  <a:t>The red point </a:t>
                </a:r>
                <a14:m>
                  <m:oMath xmlns:m="http://schemas.openxmlformats.org/officeDocument/2006/math">
                    <m:r>
                      <a:rPr kumimoji="0" lang="en-US" altLang="en-US" sz="12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kumimoji="0" lang="en-US" altLang="en-US" sz="1200" b="0" i="1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Verdana" panose="020B0604030504040204" pitchFamily="34" charset="0"/>
                  </a:rPr>
                  <a:t> is chosen and used for an update and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=1 </a:t>
                </a: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A9409AFB-C830-67A1-E1E2-0855650E1A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09879" y="5403127"/>
                <a:ext cx="1787461" cy="646331"/>
              </a:xfrm>
              <a:prstGeom prst="rect">
                <a:avLst/>
              </a:prstGeom>
              <a:blipFill>
                <a:blip r:embed="rId7"/>
                <a:stretch>
                  <a:fillRect b="-5556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63AF77-F928-CCFE-2655-E321F25F478B}"/>
                  </a:ext>
                </a:extLst>
              </p:cNvPr>
              <p:cNvSpPr txBox="1"/>
              <p:nvPr/>
            </p:nvSpPr>
            <p:spPr>
              <a:xfrm>
                <a:off x="8842743" y="2545198"/>
                <a:ext cx="2048540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learning rate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63AF77-F928-CCFE-2655-E321F25F4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743" y="2545198"/>
                <a:ext cx="2048540" cy="369332"/>
              </a:xfrm>
              <a:prstGeom prst="rect">
                <a:avLst/>
              </a:prstGeom>
              <a:blipFill>
                <a:blip r:embed="rId8"/>
                <a:stretch>
                  <a:fillRect t="-9677" b="-2580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417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F189F-C348-993D-5E03-1AFDBF4C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2DC5CA5-7A4B-5ABC-3A06-04EE190336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fontAlgn="base"/>
                <a:r>
                  <a:rPr lang="en-US" sz="3800" b="1" dirty="0"/>
                  <a:t>Updating </a:t>
                </a:r>
                <a14:m>
                  <m:oMath xmlns:m="http://schemas.openxmlformats.org/officeDocument/2006/math">
                    <m:r>
                      <a:rPr lang="en-US" sz="38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3800" b="1" dirty="0"/>
                  <a:t>: Example (assume no bias, i.e., </a:t>
                </a:r>
                <a14:m>
                  <m:oMath xmlns:m="http://schemas.openxmlformats.org/officeDocument/2006/math"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800" b="1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2DC5CA5-7A4B-5ABC-3A06-04EE190336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2D1493-580B-5E4A-1BFE-783F87261B03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9593F-6E30-A97D-C760-B503E8C9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FF9763-09E4-BFB0-9D1D-8F68BE517A7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8A9C347-3AC2-8F8B-F9A2-7C34D5F3F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39676" y="1533016"/>
            <a:ext cx="3554297" cy="1376046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947437-6531-9030-B07C-62531E02A7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645" y="3033002"/>
            <a:ext cx="4957445" cy="36860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33E14D6-F46C-9D3C-20EA-3628910DFD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967" y="1724013"/>
            <a:ext cx="4957444" cy="3825734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1F40CF-7001-F944-8B7A-F04FAA9F33B7}"/>
              </a:ext>
            </a:extLst>
          </p:cNvPr>
          <p:cNvCxnSpPr/>
          <p:nvPr/>
        </p:nvCxnSpPr>
        <p:spPr>
          <a:xfrm>
            <a:off x="5937418" y="1724013"/>
            <a:ext cx="49427" cy="48148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E3550B36-9960-60BB-78CD-06DC0D5850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1912" y="5676397"/>
            <a:ext cx="3841293" cy="104263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CF3C76C-D6C6-2A93-397F-018AC198BE37}"/>
              </a:ext>
            </a:extLst>
          </p:cNvPr>
          <p:cNvSpPr txBox="1"/>
          <p:nvPr/>
        </p:nvSpPr>
        <p:spPr>
          <a:xfrm>
            <a:off x="3600376" y="5816184"/>
            <a:ext cx="11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sz="1200" b="1" dirty="0">
                <a:solidFill>
                  <a:srgbClr val="FF0000"/>
                </a:solidFill>
              </a:rPr>
              <a:t>(Scenario 2)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C58FC5-CA48-7149-164B-8BF155FFA23E}"/>
              </a:ext>
            </a:extLst>
          </p:cNvPr>
          <p:cNvSpPr txBox="1"/>
          <p:nvPr/>
        </p:nvSpPr>
        <p:spPr>
          <a:xfrm>
            <a:off x="4025683" y="6153143"/>
            <a:ext cx="11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sym typeface="Wingdings" panose="05000000000000000000" pitchFamily="2" charset="2"/>
              </a:rPr>
              <a:t> </a:t>
            </a:r>
            <a:r>
              <a:rPr lang="en-US" sz="1200" b="1" dirty="0">
                <a:solidFill>
                  <a:srgbClr val="0070C0"/>
                </a:solidFill>
              </a:rPr>
              <a:t>(Scenario 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BEC4F5-63CA-AAB1-6AB7-B146947D6258}"/>
              </a:ext>
            </a:extLst>
          </p:cNvPr>
          <p:cNvSpPr txBox="1"/>
          <p:nvPr/>
        </p:nvSpPr>
        <p:spPr>
          <a:xfrm>
            <a:off x="9242775" y="4606513"/>
            <a:ext cx="11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sz="1200" b="1" dirty="0">
                <a:solidFill>
                  <a:srgbClr val="FF0000"/>
                </a:solidFill>
              </a:rPr>
              <a:t>(Scenario 3)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D8F079-4998-6508-BAD8-92073006EEDD}"/>
              </a:ext>
            </a:extLst>
          </p:cNvPr>
          <p:cNvSpPr txBox="1"/>
          <p:nvPr/>
        </p:nvSpPr>
        <p:spPr>
          <a:xfrm>
            <a:off x="10043456" y="4939630"/>
            <a:ext cx="11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sym typeface="Wingdings" panose="05000000000000000000" pitchFamily="2" charset="2"/>
              </a:rPr>
              <a:t> </a:t>
            </a:r>
            <a:r>
              <a:rPr lang="en-US" sz="1200" b="1" dirty="0">
                <a:solidFill>
                  <a:srgbClr val="0070C0"/>
                </a:solidFill>
              </a:rPr>
              <a:t>(Scenario 4)</a:t>
            </a:r>
          </a:p>
        </p:txBody>
      </p:sp>
    </p:spTree>
    <p:extLst>
      <p:ext uri="{BB962C8B-B14F-4D97-AF65-F5344CB8AC3E}">
        <p14:creationId xmlns:p14="http://schemas.microsoft.com/office/powerpoint/2010/main" val="2204406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93F8-E2B9-8C85-CF92-D893BDE7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02A2A88-B36D-3699-28A7-515604DC2DF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fontAlgn="base"/>
                <a:r>
                  <a:rPr lang="en-US" b="1" dirty="0"/>
                  <a:t>Updating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: Example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02A2A88-B36D-3699-28A7-515604DC2D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FF02879-506F-CA88-8320-97FBCAB58F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690688"/>
                <a:ext cx="11040256" cy="458252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The biasing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simply expands positive region in the case of positive misclassification or expands negative region in the case of negative misclassification</a:t>
                </a:r>
              </a:p>
              <a:p>
                <a:pPr algn="just"/>
                <a:r>
                  <a:rPr lang="en-US" dirty="0"/>
                  <a:t>Initial state: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=1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b="1" dirty="0"/>
                  <a:t>Case 1</a:t>
                </a:r>
                <a:r>
                  <a:rPr lang="en-US" dirty="0"/>
                  <a:t>: Misclassified positive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=0+1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=+1</m:t>
                      </m:r>
                    </m:oMath>
                  </m:oMathPara>
                </a14:m>
                <a:endParaRPr lang="en-US" dirty="0"/>
              </a:p>
              <a:p>
                <a:pPr algn="just"/>
                <a:r>
                  <a:rPr lang="en-US" b="1" dirty="0"/>
                  <a:t>Case 2</a:t>
                </a:r>
                <a:r>
                  <a:rPr lang="en-US" dirty="0"/>
                  <a:t>: Misclassified negative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=0+1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FF02879-506F-CA88-8320-97FBCAB58F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690688"/>
                <a:ext cx="11040256" cy="4582521"/>
              </a:xfrm>
              <a:blipFill>
                <a:blip r:embed="rId4"/>
                <a:stretch>
                  <a:fillRect l="-994" t="-2261" r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004F82-9956-FE15-7169-ABA2EAC6A72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DF184-6C9D-1742-EDED-6BBBDB60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5095BF-758C-35EF-0DC8-E3F72676E1F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48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626A-8153-EDD4-3899-A410D8BC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991D-8E90-DFB2-3FC9-1820B35C8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Perceptron Algorithm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FE627D-83A1-0047-99F1-796A5C1FA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690688"/>
            <a:ext cx="11040256" cy="4582521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Step 1: </a:t>
            </a:r>
            <a:r>
              <a:rPr lang="en-US" dirty="0"/>
              <a:t>Initialize parameters</a:t>
            </a:r>
          </a:p>
          <a:p>
            <a:r>
              <a:rPr lang="en-US" b="1" dirty="0"/>
              <a:t>Step 2: </a:t>
            </a:r>
            <a:r>
              <a:rPr lang="en-US" dirty="0"/>
              <a:t>Compute prediction</a:t>
            </a:r>
          </a:p>
          <a:p>
            <a:r>
              <a:rPr lang="en-US" b="1" dirty="0"/>
              <a:t>Step 3: </a:t>
            </a:r>
            <a:r>
              <a:rPr lang="en-US" dirty="0"/>
              <a:t>Check for misclassification on the training data</a:t>
            </a:r>
          </a:p>
          <a:p>
            <a:r>
              <a:rPr lang="en-US" b="1" dirty="0"/>
              <a:t>Step 4: </a:t>
            </a:r>
            <a:r>
              <a:rPr lang="en-US" dirty="0"/>
              <a:t>Update weights and bias based on the misclassified data</a:t>
            </a:r>
          </a:p>
          <a:p>
            <a:r>
              <a:rPr lang="en-US" b="1" dirty="0"/>
              <a:t>Step 5: </a:t>
            </a:r>
            <a:r>
              <a:rPr lang="en-US" dirty="0"/>
              <a:t>Check convergence (exit early if no mistakes occur)</a:t>
            </a:r>
          </a:p>
          <a:p>
            <a:r>
              <a:rPr lang="en-US" b="1" dirty="0"/>
              <a:t>Step 6: </a:t>
            </a:r>
            <a:r>
              <a:rPr lang="en-US" dirty="0"/>
              <a:t>Repeat steps 2-5 until convergence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NOTE: If the data is linearly separable, convergence is guaranteed</a:t>
            </a:r>
            <a:r>
              <a:rPr lang="en-US" dirty="0"/>
              <a:t>! (See the proof of convergence for yourself)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6BE34D7-FE0D-55B5-EA52-8064C29B7580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2D57C-4CD2-D447-4F15-E4F8F083D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327B97-1B74-7446-0714-59F2068768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75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D3F48-B012-9858-08F8-D79C2B32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5914-9A29-F65C-0EDD-5042CEE2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Perceptron Algorithm – Pseudo Code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1095CB-5279-1EAB-93B3-02BC5F406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94370" y="2113364"/>
            <a:ext cx="10116619" cy="3436383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71BDDE-9583-9401-CFE8-E49CDD94A27D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90E74-0738-9134-0573-866EEC09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A3DE91-8CAC-2E79-84FC-0D8F0561DBF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95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E2E56-6DE1-04FC-3649-0801465E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06E5-FB51-3C57-D062-3C3B91B5D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Duality in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E16490B-F35C-FA82-B77E-9C2F3D1F53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500088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The </a:t>
                </a:r>
                <a:r>
                  <a:rPr lang="en-US" b="1" u="sng" dirty="0"/>
                  <a:t>primal form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b="1" u="sng" dirty="0"/>
                  <a:t>Explicit</a:t>
                </a:r>
                <a:r>
                  <a:rPr lang="en-US" dirty="0"/>
                  <a:t> weight vector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 and bias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 algn="just"/>
                <a:r>
                  <a:rPr lang="en-US" b="1" u="sng" dirty="0"/>
                  <a:t>Update rule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 algn="just"/>
                <a:r>
                  <a:rPr lang="en-US" b="1" u="sng" dirty="0"/>
                  <a:t>Prediction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sign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The </a:t>
                </a:r>
                <a:r>
                  <a:rPr lang="en-US" b="1" u="sng" dirty="0"/>
                  <a:t>dual form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b="1" u="sng" dirty="0"/>
                  <a:t>Implicit weights</a:t>
                </a:r>
                <a:r>
                  <a:rPr lang="en-US" dirty="0"/>
                  <a:t>: Represent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as a weighted sum of training items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57200" lvl="1" indent="0" algn="just">
                  <a:buNone/>
                </a:pPr>
                <a:r>
                  <a:rPr lang="en-US" dirty="0"/>
                  <a:t>     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mistake count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also known as the </a:t>
                </a:r>
                <a:r>
                  <a:rPr lang="en-US" b="1" u="sng" dirty="0"/>
                  <a:t>support vectors</a:t>
                </a:r>
              </a:p>
              <a:p>
                <a:pPr lvl="1" algn="just"/>
                <a:r>
                  <a:rPr lang="en-US" b="1" u="sng" dirty="0"/>
                  <a:t>Update rule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 algn="just"/>
                <a:r>
                  <a:rPr lang="en-US" b="1" u="sng" dirty="0"/>
                  <a:t>Prediction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sign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dirty="0"/>
              </a:p>
              <a:p>
                <a:pPr lvl="1" algn="just"/>
                <a:r>
                  <a:rPr lang="en-US" b="1" u="sng" dirty="0"/>
                  <a:t>Gram Matrix</a:t>
                </a:r>
                <a:r>
                  <a:rPr lang="en-US" dirty="0"/>
                  <a:t>: Precomputes pairwise dot products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for efficiency</a:t>
                </a:r>
              </a:p>
              <a:p>
                <a:pPr lvl="1" algn="just"/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E16490B-F35C-FA82-B77E-9C2F3D1F53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5000883"/>
              </a:xfrm>
              <a:blipFill>
                <a:blip r:embed="rId2"/>
                <a:stretch>
                  <a:fillRect l="-994" t="-2071" b="-8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E0305D-6C16-9BAA-CA25-30E739273F06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D4736-9FCA-BC2C-509C-F8478FED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63C273-F02B-408B-F75C-5889D0C20F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29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C139C-3D7D-CC9F-B389-BFFB833E6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9CF4-3B25-BCD6-3BF3-7C801C183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Support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6C68049-3B8D-38FD-653E-90E78CED7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5000883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Imagine you are learning to distinguish apples from oranges. You do not need to memorize every fruit you have ever seen – but only the </a:t>
                </a:r>
                <a:r>
                  <a:rPr lang="en-US" b="1" dirty="0"/>
                  <a:t>most critical examples</a:t>
                </a:r>
                <a:r>
                  <a:rPr lang="en-US" dirty="0"/>
                  <a:t> near the decision boundary. These key examples are called </a:t>
                </a:r>
                <a:r>
                  <a:rPr lang="en-US" b="1" u="sng" dirty="0"/>
                  <a:t>support vectors</a:t>
                </a:r>
                <a:r>
                  <a:rPr lang="en-US" dirty="0"/>
                  <a:t>.</a:t>
                </a:r>
              </a:p>
              <a:p>
                <a:pPr algn="just"/>
                <a:r>
                  <a:rPr lang="en-US" b="1" dirty="0"/>
                  <a:t>Simple definition</a:t>
                </a:r>
                <a:r>
                  <a:rPr lang="en-US" dirty="0"/>
                  <a:t>: Training examples that directly influence the decision boundary</a:t>
                </a:r>
              </a:p>
              <a:p>
                <a:pPr algn="just"/>
                <a:r>
                  <a:rPr lang="en-US" b="1" dirty="0"/>
                  <a:t>In Perceptron</a:t>
                </a:r>
                <a:r>
                  <a:rPr lang="en-US" dirty="0"/>
                  <a:t>: Any example that was </a:t>
                </a:r>
                <a:r>
                  <a:rPr lang="en-US" b="1" dirty="0"/>
                  <a:t>misclassified during training</a:t>
                </a:r>
                <a:r>
                  <a:rPr lang="en-US" dirty="0"/>
                  <a:t> becomes a support vector. </a:t>
                </a:r>
                <a:r>
                  <a:rPr lang="en-US" b="1" u="sng" dirty="0"/>
                  <a:t>Most samples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u="sng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u="sng" dirty="0"/>
              </a:p>
              <a:p>
                <a:pPr algn="just"/>
                <a:r>
                  <a:rPr lang="en-US" dirty="0"/>
                  <a:t>Why “</a:t>
                </a:r>
                <a:r>
                  <a:rPr lang="en-US" b="1" u="sng" dirty="0"/>
                  <a:t>support</a:t>
                </a:r>
                <a:r>
                  <a:rPr lang="en-US" dirty="0"/>
                  <a:t>”?</a:t>
                </a:r>
              </a:p>
              <a:p>
                <a:pPr lvl="1"/>
                <a:r>
                  <a:rPr lang="en-US" dirty="0"/>
                  <a:t>Support vectors are the </a:t>
                </a:r>
                <a:r>
                  <a:rPr lang="en-US" b="1" dirty="0"/>
                  <a:t>pillars holding up the wall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Remove them → the boundary collapses.</a:t>
                </a:r>
              </a:p>
              <a:p>
                <a:pPr lvl="1"/>
                <a:r>
                  <a:rPr lang="en-US" dirty="0"/>
                  <a:t>Other examples (correctly classified) do not affect the boundary.</a:t>
                </a:r>
              </a:p>
              <a:p>
                <a:pPr algn="just"/>
                <a:r>
                  <a:rPr lang="en-US" b="1" u="sng" dirty="0"/>
                  <a:t>Note</a:t>
                </a:r>
                <a:r>
                  <a:rPr lang="en-US" dirty="0"/>
                  <a:t>: Even if initially correct, subsequent boundary changes may 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become misclassified →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gets updated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6C68049-3B8D-38FD-653E-90E78CED7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5000883"/>
              </a:xfrm>
              <a:blipFill>
                <a:blip r:embed="rId2"/>
                <a:stretch>
                  <a:fillRect l="-883" t="-3045" r="-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B5EEDF-ECA9-2561-9B0C-B26F4241F46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A8671-EF6E-EC94-08D7-176AE7285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8194E4-8527-5957-6E16-507B321ED68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84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4F5AC-7A38-7451-F3F9-DBD4EC44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F8D8-D582-A515-6257-F9917465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Interpretation of the update in the dual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AF972F0-A774-5843-7F04-4B1156D74F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5000883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en-US" b="1" dirty="0"/>
              </a:p>
              <a:p>
                <a:pPr marL="0" indent="0" algn="ctr">
                  <a:buNone/>
                </a:pPr>
                <a:endParaRPr lang="en-US" b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b="1" dirty="0"/>
              </a:p>
              <a:p>
                <a:pPr marL="0" indent="0" algn="ctr">
                  <a:buNone/>
                </a:pPr>
                <a:endParaRPr lang="en-US" b="1" dirty="0"/>
              </a:p>
              <a:p>
                <a:r>
                  <a:rPr lang="en-US" b="1" dirty="0"/>
                  <a:t>Misclassified positive example</a:t>
                </a:r>
                <a:r>
                  <a:rPr lang="en-US" dirty="0"/>
                  <a:t> 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pPr lvl="1" algn="just"/>
                <a:r>
                  <a:rPr lang="en-US" dirty="0"/>
                  <a:t>Increasing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adds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to 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, "pulling" the decision boundary toward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r>
                  <a:rPr lang="en-US" b="1" dirty="0"/>
                  <a:t>Misclassified negative example</a:t>
                </a:r>
                <a:r>
                  <a:rPr lang="en-US" dirty="0"/>
                  <a:t> 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pPr lvl="1"/>
                <a:r>
                  <a:rPr lang="en-US" dirty="0"/>
                  <a:t>Increasing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subtracts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from 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, "pushing" the boundary away from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​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AF972F0-A774-5843-7F04-4B1156D74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5000883"/>
              </a:xfrm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142AEB-7261-B246-7B26-198AFF6C5988}"/>
              </a:ext>
            </a:extLst>
          </p:cNvPr>
          <p:cNvCxnSpPr/>
          <p:nvPr/>
        </p:nvCxnSpPr>
        <p:spPr>
          <a:xfrm>
            <a:off x="652072" y="1606299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41E9E9-85DC-1A5C-5620-950BCE1C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EEE3A8-AFAA-7804-EABD-50162304DE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735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6003-D18A-913A-A04C-8B3AAEFFD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B1FB-6012-3B25-FC78-B7DA547F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Complexity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9FA821-189A-63FD-EEA6-B5AD381EAA47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D3FAA4-1755-87F0-2C17-9D52E6A8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893096-48FF-93E4-D2F6-8949D0EA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95AD3BE-0636-8506-FAD6-0B80DEE1F9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85413" y="2332524"/>
            <a:ext cx="5949747" cy="28136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D1472-D13D-354D-6E55-9B1133DF6A1E}"/>
                  </a:ext>
                </a:extLst>
              </p:cNvPr>
              <p:cNvSpPr txBox="1"/>
              <p:nvPr/>
            </p:nvSpPr>
            <p:spPr>
              <a:xfrm>
                <a:off x="3795824" y="5787994"/>
                <a:ext cx="40234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total number of training samples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1D1472-D13D-354D-6E55-9B1133DF6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824" y="5787994"/>
                <a:ext cx="4023474" cy="276999"/>
              </a:xfrm>
              <a:prstGeom prst="rect">
                <a:avLst/>
              </a:prstGeom>
              <a:blipFill>
                <a:blip r:embed="rId4"/>
                <a:stretch>
                  <a:fillRect l="-2121" t="-26087" r="-2424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281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951FA-DF36-3354-F3E0-3EABDB78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7C741-801B-6138-14C9-2C843AA9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When to use the dual form?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4F628C-9C02-ED14-0EEF-6E322B6A648F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129C2-9B20-E7FF-029E-65471EE5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F5F35-3E0C-B650-53C2-D0AB954DA1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FFA39A4-53FC-C843-0F36-D4C174E9B9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b="1" dirty="0"/>
                  <a:t>High-dimensional data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If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 (feature dimension) is very large, the dual can be more efficient because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 dot products may be cheaper than explicit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 updates</a:t>
                </a:r>
              </a:p>
              <a:p>
                <a:pPr algn="just"/>
                <a:r>
                  <a:rPr lang="en-US" b="1" dirty="0"/>
                  <a:t>Kernel Methods</a:t>
                </a:r>
                <a:r>
                  <a:rPr lang="en-US" dirty="0"/>
                  <a:t>:</a:t>
                </a:r>
              </a:p>
              <a:p>
                <a:pPr lvl="1" algn="just"/>
                <a:r>
                  <a:rPr lang="en-US" dirty="0"/>
                  <a:t>The dual also allows replacing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 a kernel 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enabling nonlinear decision boundaries without explicitly computing high-dimensional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FFA39A4-53FC-C843-0F36-D4C174E9B9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AC6D679-B152-542D-73D6-04850D8AB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378" y="5074105"/>
            <a:ext cx="6349937" cy="12923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49782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7C153-C6EC-5A29-CE8A-430D70D0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4949-98E3-D6E4-A136-CD5A40B80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Mathematical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CBC4E0-62C9-BF40-8F50-C286748010EB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FEE1A-6295-8621-89F7-01369C1BE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265229-8DE4-4C8D-7419-04A2AFF4A4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89BD0F4-2A3E-3A7A-E662-2C841EE94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Classify 2D points given:</a:t>
                </a:r>
              </a:p>
              <a:p>
                <a:pPr lvl="1" algn="just"/>
                <a:r>
                  <a:rPr lang="en-US" dirty="0"/>
                  <a:t>Positive: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endParaRPr lang="en-US" dirty="0"/>
              </a:p>
              <a:p>
                <a:pPr lvl="1" algn="just"/>
                <a:r>
                  <a:rPr lang="en-US" dirty="0"/>
                  <a:t>Negative: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0, 0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89BD0F4-2A3E-3A7A-E662-2C841EE94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857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0F9D-0C7C-3879-B386-4CFF051A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294F-6D22-4AA8-6D6E-F7496299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Primal Form Solution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30443E-07D0-155E-550B-0A6780AFBF76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D517C-56C6-9119-BEB9-D801CF2C2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DEC174-7BAD-2C7B-3DB7-E7F78790CA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AB2FF73-EA77-4874-0152-6498E98102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810072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b="1" u="sng" dirty="0"/>
                  <a:t>Prediction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sign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b="1" u="sng" dirty="0"/>
              </a:p>
              <a:p>
                <a:pPr algn="just"/>
                <a:r>
                  <a:rPr lang="en-US" b="1" u="sng" dirty="0"/>
                  <a:t>Update rule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AB2FF73-EA77-4874-0152-6498E98102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810072"/>
              </a:xfrm>
              <a:blipFill>
                <a:blip r:embed="rId3"/>
                <a:stretch>
                  <a:fillRect l="-928" t="-18797" b="-17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A607AA8-BD52-D58E-2B96-9DE1DA89DD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4173954"/>
                  </p:ext>
                </p:extLst>
              </p:nvPr>
            </p:nvGraphicFramePr>
            <p:xfrm>
              <a:off x="1207976" y="2775659"/>
              <a:ext cx="10145824" cy="38760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71735">
                      <a:extLst>
                        <a:ext uri="{9D8B030D-6E8A-4147-A177-3AD203B41FA5}">
                          <a16:colId xmlns:a16="http://schemas.microsoft.com/office/drawing/2014/main" val="3788458314"/>
                        </a:ext>
                      </a:extLst>
                    </a:gridCol>
                    <a:gridCol w="1716532">
                      <a:extLst>
                        <a:ext uri="{9D8B030D-6E8A-4147-A177-3AD203B41FA5}">
                          <a16:colId xmlns:a16="http://schemas.microsoft.com/office/drawing/2014/main" val="656548002"/>
                        </a:ext>
                      </a:extLst>
                    </a:gridCol>
                    <a:gridCol w="3245022">
                      <a:extLst>
                        <a:ext uri="{9D8B030D-6E8A-4147-A177-3AD203B41FA5}">
                          <a16:colId xmlns:a16="http://schemas.microsoft.com/office/drawing/2014/main" val="2354037102"/>
                        </a:ext>
                      </a:extLst>
                    </a:gridCol>
                    <a:gridCol w="3712535">
                      <a:extLst>
                        <a:ext uri="{9D8B030D-6E8A-4147-A177-3AD203B41FA5}">
                          <a16:colId xmlns:a16="http://schemas.microsoft.com/office/drawing/2014/main" val="3853742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Sample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Prediction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=+1</m:t>
                              </m:r>
                            </m:oMath>
                          </a14:m>
                          <a:r>
                            <a:rPr lang="en-US" dirty="0"/>
                            <a:t>,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=−1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Update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447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+0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+0</m:t>
                                  </m:r>
                                </m:e>
                              </m:d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dirty="0"/>
                            <a:t>  </a:t>
                          </a:r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  <a:effectLst/>
                            </a:rPr>
                            <a:t>(✗)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0, 0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=0+1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88552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=6</m:t>
                              </m:r>
                            </m:oMath>
                          </a14:m>
                          <a:r>
                            <a:rPr lang="en-US" dirty="0"/>
                            <a:t>  </a:t>
                          </a:r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  <a:effectLst/>
                            </a:rPr>
                            <a:t>(✗)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3, 1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−2, 1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=1+1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2097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+0</m:t>
                                  </m:r>
                                </m:e>
                              </m:d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dirty="0"/>
                            <a:t>  </a:t>
                          </a:r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  <a:effectLst/>
                            </a:rPr>
                            <a:t>(✗)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=[−1, 3]</m:t>
                              </m:r>
                            </m:oMath>
                          </a14:m>
                          <a:r>
                            <a:rPr lang="en-US" b="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60342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n-US" dirty="0"/>
                            <a:t>  </a:t>
                          </a:r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  <a:effectLst/>
                            </a:rPr>
                            <a:t>(✗)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=[−4, 2]</m:t>
                              </m:r>
                            </m:oMath>
                          </a14:m>
                          <a:r>
                            <a:rPr lang="en-US" b="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8050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+0</m:t>
                                  </m:r>
                                </m:e>
                              </m:d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dirty="0"/>
                            <a:t>  </a:t>
                          </a:r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  <a:effectLst/>
                            </a:rPr>
                            <a:t>(✗)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=[−3, 4]</m:t>
                              </m:r>
                            </m:oMath>
                          </a14:m>
                          <a:r>
                            <a:rPr lang="en-US" b="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63251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US" sz="1800" b="0" i="0" kern="1200" dirty="0">
                              <a:solidFill>
                                <a:srgbClr val="00B05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(✓)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 update required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54040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US" sz="1800" b="0" i="0" kern="1200" dirty="0">
                              <a:solidFill>
                                <a:srgbClr val="00B05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(✓)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No update required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9142503"/>
                      </a:ext>
                    </a:extLst>
                  </a:tr>
                  <a:tr h="370840">
                    <a:tc gridSpan="4">
                      <a:txBody>
                        <a:bodyPr/>
                        <a:lstStyle/>
                        <a:p>
                          <a:r>
                            <a:rPr lang="en-US" dirty="0"/>
                            <a:t>Converged since both the training samples have been classified correctly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70476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A607AA8-BD52-D58E-2B96-9DE1DA89DD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4173954"/>
                  </p:ext>
                </p:extLst>
              </p:nvPr>
            </p:nvGraphicFramePr>
            <p:xfrm>
              <a:off x="1207976" y="2775659"/>
              <a:ext cx="10145824" cy="38760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71735">
                      <a:extLst>
                        <a:ext uri="{9D8B030D-6E8A-4147-A177-3AD203B41FA5}">
                          <a16:colId xmlns:a16="http://schemas.microsoft.com/office/drawing/2014/main" val="3788458314"/>
                        </a:ext>
                      </a:extLst>
                    </a:gridCol>
                    <a:gridCol w="1716532">
                      <a:extLst>
                        <a:ext uri="{9D8B030D-6E8A-4147-A177-3AD203B41FA5}">
                          <a16:colId xmlns:a16="http://schemas.microsoft.com/office/drawing/2014/main" val="656548002"/>
                        </a:ext>
                      </a:extLst>
                    </a:gridCol>
                    <a:gridCol w="3245022">
                      <a:extLst>
                        <a:ext uri="{9D8B030D-6E8A-4147-A177-3AD203B41FA5}">
                          <a16:colId xmlns:a16="http://schemas.microsoft.com/office/drawing/2014/main" val="2354037102"/>
                        </a:ext>
                      </a:extLst>
                    </a:gridCol>
                    <a:gridCol w="3712535">
                      <a:extLst>
                        <a:ext uri="{9D8B030D-6E8A-4147-A177-3AD203B41FA5}">
                          <a16:colId xmlns:a16="http://schemas.microsoft.com/office/drawing/2014/main" val="3853742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Sample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8311" t="-6557" r="-115009" b="-9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Update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44730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61905" r="-407829" b="-4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8311" t="-61905" r="-115009" b="-4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3563" t="-61905" r="-657" b="-46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85522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161905" r="-407829" b="-3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8311" t="-161905" r="-115009" b="-3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3563" t="-161905" r="-657" b="-36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2097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450820" r="-407829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8311" t="-450820" r="-115009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3563" t="-450820" r="-657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0342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550820" r="-40782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8311" t="-550820" r="-11500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3563" t="-550820" r="-657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050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650820" r="-40782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8311" t="-650820" r="-11500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3563" t="-650820" r="-657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63251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750820" r="-40782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8311" t="-750820" r="-11500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 update required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54040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850820" r="-40782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8311" t="-850820" r="-11500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No update required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9142503"/>
                      </a:ext>
                    </a:extLst>
                  </a:tr>
                  <a:tr h="370840">
                    <a:tc gridSpan="4">
                      <a:txBody>
                        <a:bodyPr/>
                        <a:lstStyle/>
                        <a:p>
                          <a:r>
                            <a:rPr lang="en-US" dirty="0"/>
                            <a:t>Converged since both the training samples have been classified correctly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704765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10528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48349-964C-3F31-4871-72E223FD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B8A48-401B-04E0-02E1-660654D60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944"/>
            <a:ext cx="10515600" cy="1325563"/>
          </a:xfrm>
        </p:spPr>
        <p:txBody>
          <a:bodyPr/>
          <a:lstStyle/>
          <a:p>
            <a:pPr fontAlgn="base"/>
            <a:r>
              <a:rPr lang="en-US" b="1" dirty="0"/>
              <a:t>Dual Form Solution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C68867-15FA-3B3C-EE2B-EE0437F403F6}"/>
              </a:ext>
            </a:extLst>
          </p:cNvPr>
          <p:cNvCxnSpPr/>
          <p:nvPr/>
        </p:nvCxnSpPr>
        <p:spPr>
          <a:xfrm>
            <a:off x="652072" y="1153894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9C9C8-E5E6-2202-0C99-63EAF277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3C9624-3DDD-2AE3-C3FD-66329A819D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72C6B0-9267-F7CE-F96B-BC96A3BE4B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3737"/>
                <a:ext cx="10515600" cy="810072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b="1" u="sng" dirty="0"/>
                  <a:t>Prediction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sign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b="1" u="sng" dirty="0"/>
              </a:p>
              <a:p>
                <a:pPr algn="just"/>
                <a:r>
                  <a:rPr lang="en-US" b="1" u="sng" dirty="0"/>
                  <a:t>Update rule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72C6B0-9267-F7CE-F96B-BC96A3BE4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3737"/>
                <a:ext cx="10515600" cy="810072"/>
              </a:xfrm>
              <a:blipFill>
                <a:blip r:embed="rId3"/>
                <a:stretch>
                  <a:fillRect l="-812" t="-85714" b="-5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7265477-E2C0-90AD-766B-6A674FE17E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07976" y="2775659"/>
              <a:ext cx="10145824" cy="38760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71735">
                      <a:extLst>
                        <a:ext uri="{9D8B030D-6E8A-4147-A177-3AD203B41FA5}">
                          <a16:colId xmlns:a16="http://schemas.microsoft.com/office/drawing/2014/main" val="3788458314"/>
                        </a:ext>
                      </a:extLst>
                    </a:gridCol>
                    <a:gridCol w="1716532">
                      <a:extLst>
                        <a:ext uri="{9D8B030D-6E8A-4147-A177-3AD203B41FA5}">
                          <a16:colId xmlns:a16="http://schemas.microsoft.com/office/drawing/2014/main" val="656548002"/>
                        </a:ext>
                      </a:extLst>
                    </a:gridCol>
                    <a:gridCol w="3932594">
                      <a:extLst>
                        <a:ext uri="{9D8B030D-6E8A-4147-A177-3AD203B41FA5}">
                          <a16:colId xmlns:a16="http://schemas.microsoft.com/office/drawing/2014/main" val="2354037102"/>
                        </a:ext>
                      </a:extLst>
                    </a:gridCol>
                    <a:gridCol w="3024963">
                      <a:extLst>
                        <a:ext uri="{9D8B030D-6E8A-4147-A177-3AD203B41FA5}">
                          <a16:colId xmlns:a16="http://schemas.microsoft.com/office/drawing/2014/main" val="3853742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Sample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Prediction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=+1</m:t>
                              </m:r>
                            </m:oMath>
                          </a14:m>
                          <a:r>
                            <a:rPr lang="en-US" dirty="0"/>
                            <a:t>,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=−1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Update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4473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+0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+0=0</m:t>
                              </m:r>
                            </m:oMath>
                          </a14:m>
                          <a:r>
                            <a:rPr lang="en-US" dirty="0"/>
                            <a:t>  </a:t>
                          </a:r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  <a:effectLst/>
                            </a:rPr>
                            <a:t>(✗)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=0+1=1</m:t>
                                </m:r>
                              </m:oMath>
                            </m:oMathPara>
                          </a14:m>
                          <a:endParaRPr lang="en-US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=0+1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88552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+0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=6</m:t>
                              </m:r>
                            </m:oMath>
                          </a14:m>
                          <a:r>
                            <a:rPr lang="en-US" dirty="0"/>
                            <a:t>  </a:t>
                          </a:r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  <a:effectLst/>
                            </a:rPr>
                            <a:t>(✗)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=0+1=1</m:t>
                                </m:r>
                              </m:oMath>
                            </m:oMathPara>
                          </a14:m>
                          <a:endParaRPr lang="en-US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=1+1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2097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+0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dirty="0"/>
                            <a:t>  </a:t>
                          </a:r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  <a:effectLst/>
                            </a:rPr>
                            <a:t>(✗)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b="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60342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dirty="0"/>
                            <a:t>  </a:t>
                          </a:r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  <a:effectLst/>
                            </a:rPr>
                            <a:t>(✗)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b="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8050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+0=0</m:t>
                              </m:r>
                            </m:oMath>
                          </a14:m>
                          <a:r>
                            <a:rPr lang="en-US" dirty="0"/>
                            <a:t>  </a:t>
                          </a:r>
                          <a:r>
                            <a:rPr lang="en-US" sz="1800" b="0" kern="1200" dirty="0">
                              <a:solidFill>
                                <a:srgbClr val="FF0000"/>
                              </a:solidFill>
                              <a:effectLst/>
                            </a:rPr>
                            <a:t>(✗)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b="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63251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+1=−4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US" sz="1800" b="0" i="0" kern="1200" dirty="0">
                              <a:solidFill>
                                <a:srgbClr val="00B05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(✓)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 update required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54040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r>
                                <a:rPr lang="en-US" b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US" sz="1800" b="0" i="0" kern="1200" dirty="0">
                              <a:solidFill>
                                <a:srgbClr val="00B05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(✓)</a:t>
                          </a: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No update required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9142503"/>
                      </a:ext>
                    </a:extLst>
                  </a:tr>
                  <a:tr h="370840">
                    <a:tc gridSpan="4">
                      <a:txBody>
                        <a:bodyPr/>
                        <a:lstStyle/>
                        <a:p>
                          <a:r>
                            <a:rPr lang="en-US" dirty="0"/>
                            <a:t>Converged since both the training samples have been classified correctly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70476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7265477-E2C0-90AD-766B-6A674FE17E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07976" y="2775659"/>
              <a:ext cx="10145824" cy="38760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71735">
                      <a:extLst>
                        <a:ext uri="{9D8B030D-6E8A-4147-A177-3AD203B41FA5}">
                          <a16:colId xmlns:a16="http://schemas.microsoft.com/office/drawing/2014/main" val="3788458314"/>
                        </a:ext>
                      </a:extLst>
                    </a:gridCol>
                    <a:gridCol w="1716532">
                      <a:extLst>
                        <a:ext uri="{9D8B030D-6E8A-4147-A177-3AD203B41FA5}">
                          <a16:colId xmlns:a16="http://schemas.microsoft.com/office/drawing/2014/main" val="656548002"/>
                        </a:ext>
                      </a:extLst>
                    </a:gridCol>
                    <a:gridCol w="3932594">
                      <a:extLst>
                        <a:ext uri="{9D8B030D-6E8A-4147-A177-3AD203B41FA5}">
                          <a16:colId xmlns:a16="http://schemas.microsoft.com/office/drawing/2014/main" val="2354037102"/>
                        </a:ext>
                      </a:extLst>
                    </a:gridCol>
                    <a:gridCol w="3024963">
                      <a:extLst>
                        <a:ext uri="{9D8B030D-6E8A-4147-A177-3AD203B41FA5}">
                          <a16:colId xmlns:a16="http://schemas.microsoft.com/office/drawing/2014/main" val="3853742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Sample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115" t="-6557" r="-77399" b="-968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Update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44730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61905" r="-407829" b="-4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115" t="-61905" r="-77399" b="-4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35887" t="-61905" r="-806" b="-46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885522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161905" r="-407829" b="-3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115" t="-161905" r="-77399" b="-3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35887" t="-161905" r="-806" b="-36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20971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450820" r="-407829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115" t="-450820" r="-77399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35887" t="-450820" r="-806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60342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550820" r="-40782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115" t="-550820" r="-7739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35887" t="-550820" r="-806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8050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650820" r="-40782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115" t="-650820" r="-7739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35887" t="-650820" r="-806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63251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750820" r="-40782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115" t="-750820" r="-7739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 update required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54040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6477" t="-850820" r="-40782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115" t="-850820" r="-7739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No update required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9142503"/>
                      </a:ext>
                    </a:extLst>
                  </a:tr>
                  <a:tr h="370840">
                    <a:tc gridSpan="4">
                      <a:txBody>
                        <a:bodyPr/>
                        <a:lstStyle/>
                        <a:p>
                          <a:r>
                            <a:rPr lang="en-US" dirty="0"/>
                            <a:t>Converged since both the training samples have been classified correctly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70476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949FFB-0445-05E2-4450-198121341FAF}"/>
                  </a:ext>
                </a:extLst>
              </p:cNvPr>
              <p:cNvSpPr txBox="1"/>
              <p:nvPr/>
            </p:nvSpPr>
            <p:spPr>
              <a:xfrm>
                <a:off x="7563293" y="1206956"/>
                <a:ext cx="4515293" cy="1749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949FFB-0445-05E2-4450-198121341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293" y="1206956"/>
                <a:ext cx="4515293" cy="17497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387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C10B2-23C7-6C1B-6917-357EA384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9A0FEC-561F-1FE1-D761-711E171B9D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09944"/>
                <a:ext cx="10515600" cy="1325563"/>
              </a:xfrm>
            </p:spPr>
            <p:txBody>
              <a:bodyPr/>
              <a:lstStyle/>
              <a:p>
                <a:pPr fontAlgn="base"/>
                <a:r>
                  <a:rPr lang="en-US" b="1" dirty="0"/>
                  <a:t>Recovering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b="1" dirty="0"/>
                  <a:t> from dual form (if needed)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E9A0FEC-561F-1FE1-D761-711E171B9D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09944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1AFA76-8991-F53B-6677-950240DCA4E7}"/>
              </a:ext>
            </a:extLst>
          </p:cNvPr>
          <p:cNvCxnSpPr/>
          <p:nvPr/>
        </p:nvCxnSpPr>
        <p:spPr>
          <a:xfrm>
            <a:off x="652072" y="1153894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96980-E27F-7917-3053-A3006111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45E212-636F-C03A-308D-603D49FD64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FEDB692-E326-90C9-2C77-F19A28A78B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3737"/>
                <a:ext cx="10515600" cy="4759472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algn="just"/>
                <a:r>
                  <a:rPr lang="en-US" dirty="0"/>
                  <a:t>Both forms yield identical 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−3, 4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b="1" u="sng" dirty="0"/>
                  <a:t>Conclusion</a:t>
                </a:r>
                <a:r>
                  <a:rPr lang="en-US" dirty="0"/>
                  <a:t>: Dual form shifts computation from feature space to pairwise similarities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FEDB692-E326-90C9-2C77-F19A28A78B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3737"/>
                <a:ext cx="10515600" cy="4759472"/>
              </a:xfrm>
              <a:blipFill>
                <a:blip r:embed="rId4"/>
                <a:stretch>
                  <a:fillRect l="-1043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876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17149</TotalTime>
  <Words>1838</Words>
  <Application>Microsoft Office PowerPoint</Application>
  <PresentationFormat>Widescreen</PresentationFormat>
  <Paragraphs>283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Verdana</vt:lpstr>
      <vt:lpstr>Office Theme</vt:lpstr>
      <vt:lpstr>Lecture 7: Perceptron</vt:lpstr>
      <vt:lpstr>Linear Algebra: Dot Product</vt:lpstr>
      <vt:lpstr>Dot Product – Examples </vt:lpstr>
      <vt:lpstr>Perceptron</vt:lpstr>
      <vt:lpstr>The bias term</vt:lpstr>
      <vt:lpstr>Perceptron (contd.)</vt:lpstr>
      <vt:lpstr>Proof: w is perpendicular to H </vt:lpstr>
      <vt:lpstr>Proof (contd.)</vt:lpstr>
      <vt:lpstr>Perceptron (contd.)</vt:lpstr>
      <vt:lpstr>Updating weights w and bias b</vt:lpstr>
      <vt:lpstr>Updating w: Example (assume no bias, i.e., b=0)</vt:lpstr>
      <vt:lpstr>Updating b: Example</vt:lpstr>
      <vt:lpstr>Perceptron Algorithm</vt:lpstr>
      <vt:lpstr>Perceptron Algorithm – Pseudo Code</vt:lpstr>
      <vt:lpstr>Duality in Perceptron</vt:lpstr>
      <vt:lpstr>Support Vectors</vt:lpstr>
      <vt:lpstr>Interpretation of the update in the dual form</vt:lpstr>
      <vt:lpstr>Complexity Comparison</vt:lpstr>
      <vt:lpstr>When to use the dual form?</vt:lpstr>
      <vt:lpstr>Mathematical Example</vt:lpstr>
      <vt:lpstr>Primal Form Solution</vt:lpstr>
      <vt:lpstr>Dual Form Solution</vt:lpstr>
      <vt:lpstr>Recovering w from dual form (if needed)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7: Perceptron</dc:title>
  <dc:creator>Jilan Samiuddin</dc:creator>
  <cp:lastModifiedBy>Jilan Samiuddin</cp:lastModifiedBy>
  <cp:revision>227</cp:revision>
  <dcterms:created xsi:type="dcterms:W3CDTF">2025-05-01T04:50:36Z</dcterms:created>
  <dcterms:modified xsi:type="dcterms:W3CDTF">2026-07-08T01:56:12Z</dcterms:modified>
</cp:coreProperties>
</file>