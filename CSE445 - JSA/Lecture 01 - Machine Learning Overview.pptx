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56" r:id="rId2"/>
    <p:sldId id="277" r:id="rId3"/>
    <p:sldId id="278" r:id="rId4"/>
    <p:sldId id="279" r:id="rId5"/>
    <p:sldId id="280" r:id="rId6"/>
    <p:sldId id="271" r:id="rId7"/>
    <p:sldId id="285" r:id="rId8"/>
    <p:sldId id="270" r:id="rId9"/>
    <p:sldId id="260" r:id="rId10"/>
    <p:sldId id="258" r:id="rId11"/>
    <p:sldId id="259" r:id="rId12"/>
    <p:sldId id="262" r:id="rId13"/>
    <p:sldId id="263" r:id="rId14"/>
    <p:sldId id="265" r:id="rId15"/>
    <p:sldId id="264" r:id="rId16"/>
    <p:sldId id="266" r:id="rId17"/>
    <p:sldId id="269" r:id="rId18"/>
    <p:sldId id="267" r:id="rId19"/>
    <p:sldId id="281" r:id="rId20"/>
    <p:sldId id="282" r:id="rId21"/>
    <p:sldId id="283" r:id="rId22"/>
    <p:sldId id="261" r:id="rId23"/>
    <p:sldId id="28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94660"/>
  </p:normalViewPr>
  <p:slideViewPr>
    <p:cSldViewPr snapToGrid="0">
      <p:cViewPr varScale="1">
        <p:scale>
          <a:sx n="107" d="100"/>
          <a:sy n="107" d="100"/>
        </p:scale>
        <p:origin x="58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4E0159-42FF-E65A-8E4D-D784988C25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496018-5CC2-59DE-2953-7738B98343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28FED0-F494-4C8F-803A-297D5BD08D34}" type="datetimeFigureOut">
              <a:rPr lang="en-US" smtClean="0"/>
              <a:t>1/26/2026</a:t>
            </a:fld>
            <a:endParaRPr lang="en-US"/>
          </a:p>
        </p:txBody>
      </p:sp>
      <p:sp>
        <p:nvSpPr>
          <p:cNvPr id="4" name="Footer Placeholder 3">
            <a:extLst>
              <a:ext uri="{FF2B5EF4-FFF2-40B4-BE49-F238E27FC236}">
                <a16:creationId xmlns:a16="http://schemas.microsoft.com/office/drawing/2014/main" id="{0336F1A6-4EBD-D971-0F49-66EB5F0FDB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FCC8F35-1B39-1C84-0B7A-25A637B3F2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F219B2-123C-4C18-A5D8-EB8782F74E24}" type="slidenum">
              <a:rPr lang="en-US" smtClean="0"/>
              <a:t>‹#›</a:t>
            </a:fld>
            <a:endParaRPr lang="en-US"/>
          </a:p>
        </p:txBody>
      </p:sp>
    </p:spTree>
    <p:extLst>
      <p:ext uri="{BB962C8B-B14F-4D97-AF65-F5344CB8AC3E}">
        <p14:creationId xmlns:p14="http://schemas.microsoft.com/office/powerpoint/2010/main" val="28342474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6CD510-D800-49E6-BF08-298A1FE48EE9}"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48FE62-91E1-4730-A536-75C928C6D27E}" type="slidenum">
              <a:rPr lang="en-US" smtClean="0"/>
              <a:t>‹#›</a:t>
            </a:fld>
            <a:endParaRPr lang="en-US"/>
          </a:p>
        </p:txBody>
      </p:sp>
    </p:spTree>
    <p:extLst>
      <p:ext uri="{BB962C8B-B14F-4D97-AF65-F5344CB8AC3E}">
        <p14:creationId xmlns:p14="http://schemas.microsoft.com/office/powerpoint/2010/main" val="420225415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48FE62-91E1-4730-A536-75C928C6D27E}" type="slidenum">
              <a:rPr lang="en-US" smtClean="0"/>
              <a:t>1</a:t>
            </a:fld>
            <a:endParaRPr lang="en-US"/>
          </a:p>
        </p:txBody>
      </p:sp>
    </p:spTree>
    <p:extLst>
      <p:ext uri="{BB962C8B-B14F-4D97-AF65-F5344CB8AC3E}">
        <p14:creationId xmlns:p14="http://schemas.microsoft.com/office/powerpoint/2010/main" val="174992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48FE62-91E1-4730-A536-75C928C6D27E}" type="slidenum">
              <a:rPr lang="en-US" smtClean="0"/>
              <a:t>23</a:t>
            </a:fld>
            <a:endParaRPr lang="en-US"/>
          </a:p>
        </p:txBody>
      </p:sp>
    </p:spTree>
    <p:extLst>
      <p:ext uri="{BB962C8B-B14F-4D97-AF65-F5344CB8AC3E}">
        <p14:creationId xmlns:p14="http://schemas.microsoft.com/office/powerpoint/2010/main" val="1196303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03D7-70F1-1C6F-A3B7-A8287EE256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A7E7C8-C452-803C-5FAC-14BDD1D437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FD9D17-AB94-0B7D-C590-1F7E5184640F}"/>
              </a:ext>
            </a:extLst>
          </p:cNvPr>
          <p:cNvSpPr>
            <a:spLocks noGrp="1"/>
          </p:cNvSpPr>
          <p:nvPr>
            <p:ph type="dt" sz="half" idx="10"/>
          </p:nvPr>
        </p:nvSpPr>
        <p:spPr/>
        <p:txBody>
          <a:bodyPr/>
          <a:lstStyle/>
          <a:p>
            <a:fld id="{27C370ED-970E-4212-BB35-C22C1D195CBC}" type="datetime1">
              <a:rPr lang="en-US" smtClean="0"/>
              <a:t>1/26/2026</a:t>
            </a:fld>
            <a:endParaRPr lang="en-US"/>
          </a:p>
        </p:txBody>
      </p:sp>
      <p:sp>
        <p:nvSpPr>
          <p:cNvPr id="5" name="Footer Placeholder 4">
            <a:extLst>
              <a:ext uri="{FF2B5EF4-FFF2-40B4-BE49-F238E27FC236}">
                <a16:creationId xmlns:a16="http://schemas.microsoft.com/office/drawing/2014/main" id="{D939647B-4FB4-82CC-07BE-EFD93BF43EE8}"/>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0E24B835-5F31-3FC0-10FA-FAC19E81C041}"/>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1564037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16F1-8C26-C670-B7DC-8010AD3904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8ADE1A-A059-2960-24A5-D405837CE6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42EED-1E92-359C-10FA-4E5D3C3F9256}"/>
              </a:ext>
            </a:extLst>
          </p:cNvPr>
          <p:cNvSpPr>
            <a:spLocks noGrp="1"/>
          </p:cNvSpPr>
          <p:nvPr>
            <p:ph type="dt" sz="half" idx="10"/>
          </p:nvPr>
        </p:nvSpPr>
        <p:spPr/>
        <p:txBody>
          <a:bodyPr/>
          <a:lstStyle/>
          <a:p>
            <a:fld id="{47EBB735-82A6-4413-A653-62CE81350112}" type="datetime1">
              <a:rPr lang="en-US" smtClean="0"/>
              <a:t>1/26/2026</a:t>
            </a:fld>
            <a:endParaRPr lang="en-US"/>
          </a:p>
        </p:txBody>
      </p:sp>
      <p:sp>
        <p:nvSpPr>
          <p:cNvPr id="5" name="Footer Placeholder 4">
            <a:extLst>
              <a:ext uri="{FF2B5EF4-FFF2-40B4-BE49-F238E27FC236}">
                <a16:creationId xmlns:a16="http://schemas.microsoft.com/office/drawing/2014/main" id="{34224E15-03A2-851D-88BC-2445BB771AAA}"/>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139F4FD2-0C66-774A-A375-1089C665451E}"/>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490122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120E-FC2F-A46F-4B09-23117B464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0862F9-9511-E32B-4BD7-47E0A71AD0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BC9156-0A2A-DB75-C8EA-248EA3DEEF0F}"/>
              </a:ext>
            </a:extLst>
          </p:cNvPr>
          <p:cNvSpPr>
            <a:spLocks noGrp="1"/>
          </p:cNvSpPr>
          <p:nvPr>
            <p:ph type="dt" sz="half" idx="10"/>
          </p:nvPr>
        </p:nvSpPr>
        <p:spPr/>
        <p:txBody>
          <a:bodyPr/>
          <a:lstStyle/>
          <a:p>
            <a:fld id="{019675B7-2148-4A9D-995D-56145ABEAE97}" type="datetime1">
              <a:rPr lang="en-US" smtClean="0"/>
              <a:t>1/26/2026</a:t>
            </a:fld>
            <a:endParaRPr lang="en-US"/>
          </a:p>
        </p:txBody>
      </p:sp>
      <p:sp>
        <p:nvSpPr>
          <p:cNvPr id="5" name="Footer Placeholder 4">
            <a:extLst>
              <a:ext uri="{FF2B5EF4-FFF2-40B4-BE49-F238E27FC236}">
                <a16:creationId xmlns:a16="http://schemas.microsoft.com/office/drawing/2014/main" id="{86ED3A95-056A-D033-22AF-CDDBE987E964}"/>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AB157329-594F-D458-6A9C-F07B09AFE79B}"/>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048353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8A64B-29CB-8665-CEC5-DF412D2F94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48CDFC-7ECF-8F07-A1A5-1C0C8B3854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FD181D-A96E-0D94-2062-16DE285411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200174-4A25-E989-7ACA-5C0B639C984C}"/>
              </a:ext>
            </a:extLst>
          </p:cNvPr>
          <p:cNvSpPr>
            <a:spLocks noGrp="1"/>
          </p:cNvSpPr>
          <p:nvPr>
            <p:ph type="dt" sz="half" idx="10"/>
          </p:nvPr>
        </p:nvSpPr>
        <p:spPr/>
        <p:txBody>
          <a:bodyPr/>
          <a:lstStyle/>
          <a:p>
            <a:fld id="{C1EFA078-0F96-4814-AF41-4D8FAE7F8A6C}" type="datetime1">
              <a:rPr lang="en-US" smtClean="0"/>
              <a:t>1/26/2026</a:t>
            </a:fld>
            <a:endParaRPr lang="en-US"/>
          </a:p>
        </p:txBody>
      </p:sp>
      <p:sp>
        <p:nvSpPr>
          <p:cNvPr id="6" name="Footer Placeholder 5">
            <a:extLst>
              <a:ext uri="{FF2B5EF4-FFF2-40B4-BE49-F238E27FC236}">
                <a16:creationId xmlns:a16="http://schemas.microsoft.com/office/drawing/2014/main" id="{0B23BD85-5B63-139B-2CE7-19610007F9E8}"/>
              </a:ext>
            </a:extLst>
          </p:cNvPr>
          <p:cNvSpPr>
            <a:spLocks noGrp="1"/>
          </p:cNvSpPr>
          <p:nvPr>
            <p:ph type="ftr" sz="quarter" idx="11"/>
          </p:nvPr>
        </p:nvSpPr>
        <p:spPr/>
        <p:txBody>
          <a:bodyPr/>
          <a:lstStyle/>
          <a:p>
            <a:r>
              <a:rPr lang="en-US"/>
              <a:t>CSE445 Machine Learning</a:t>
            </a:r>
          </a:p>
        </p:txBody>
      </p:sp>
      <p:sp>
        <p:nvSpPr>
          <p:cNvPr id="7" name="Slide Number Placeholder 6">
            <a:extLst>
              <a:ext uri="{FF2B5EF4-FFF2-40B4-BE49-F238E27FC236}">
                <a16:creationId xmlns:a16="http://schemas.microsoft.com/office/drawing/2014/main" id="{103ABD13-EDE6-69F9-8590-026CFFF13586}"/>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3594269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F3A3-B693-9109-7927-708691AAD3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BC4F7D-CCD8-33A2-D7D0-35E5380DD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AD8A8-2AB0-25CD-201F-ED952A4CDC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E13444-B5AF-C486-4E0A-7F2108ACD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42FB4-090B-A58C-DF43-EA43DA1F16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708DE3-3255-6046-EE31-0C14E35324FC}"/>
              </a:ext>
            </a:extLst>
          </p:cNvPr>
          <p:cNvSpPr>
            <a:spLocks noGrp="1"/>
          </p:cNvSpPr>
          <p:nvPr>
            <p:ph type="dt" sz="half" idx="10"/>
          </p:nvPr>
        </p:nvSpPr>
        <p:spPr/>
        <p:txBody>
          <a:bodyPr/>
          <a:lstStyle/>
          <a:p>
            <a:fld id="{517CFAE0-6AEA-4322-8961-61818A5C4CC4}" type="datetime1">
              <a:rPr lang="en-US" smtClean="0"/>
              <a:t>1/26/2026</a:t>
            </a:fld>
            <a:endParaRPr lang="en-US"/>
          </a:p>
        </p:txBody>
      </p:sp>
      <p:sp>
        <p:nvSpPr>
          <p:cNvPr id="8" name="Footer Placeholder 7">
            <a:extLst>
              <a:ext uri="{FF2B5EF4-FFF2-40B4-BE49-F238E27FC236}">
                <a16:creationId xmlns:a16="http://schemas.microsoft.com/office/drawing/2014/main" id="{6EA5004F-5259-2B42-1938-FA9CAA92CA9B}"/>
              </a:ext>
            </a:extLst>
          </p:cNvPr>
          <p:cNvSpPr>
            <a:spLocks noGrp="1"/>
          </p:cNvSpPr>
          <p:nvPr>
            <p:ph type="ftr" sz="quarter" idx="11"/>
          </p:nvPr>
        </p:nvSpPr>
        <p:spPr/>
        <p:txBody>
          <a:bodyPr/>
          <a:lstStyle/>
          <a:p>
            <a:r>
              <a:rPr lang="en-US"/>
              <a:t>CSE445 Machine Learning</a:t>
            </a:r>
          </a:p>
        </p:txBody>
      </p:sp>
      <p:sp>
        <p:nvSpPr>
          <p:cNvPr id="9" name="Slide Number Placeholder 8">
            <a:extLst>
              <a:ext uri="{FF2B5EF4-FFF2-40B4-BE49-F238E27FC236}">
                <a16:creationId xmlns:a16="http://schemas.microsoft.com/office/drawing/2014/main" id="{1CD354AB-D64D-E84A-BA76-66DBB6E453EC}"/>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493354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9BCC-F36B-F141-B6AC-0F2466147F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7B0912-EE39-228C-9255-704DBA8C2967}"/>
              </a:ext>
            </a:extLst>
          </p:cNvPr>
          <p:cNvSpPr>
            <a:spLocks noGrp="1"/>
          </p:cNvSpPr>
          <p:nvPr>
            <p:ph type="dt" sz="half" idx="10"/>
          </p:nvPr>
        </p:nvSpPr>
        <p:spPr/>
        <p:txBody>
          <a:bodyPr/>
          <a:lstStyle/>
          <a:p>
            <a:fld id="{0C51CC14-615A-40E5-878F-B7968E69ACA9}" type="datetime1">
              <a:rPr lang="en-US" smtClean="0"/>
              <a:t>1/26/2026</a:t>
            </a:fld>
            <a:endParaRPr lang="en-US"/>
          </a:p>
        </p:txBody>
      </p:sp>
      <p:sp>
        <p:nvSpPr>
          <p:cNvPr id="4" name="Footer Placeholder 3">
            <a:extLst>
              <a:ext uri="{FF2B5EF4-FFF2-40B4-BE49-F238E27FC236}">
                <a16:creationId xmlns:a16="http://schemas.microsoft.com/office/drawing/2014/main" id="{C9ECFC76-DAA8-A15C-4AC4-93D299980EB1}"/>
              </a:ext>
            </a:extLst>
          </p:cNvPr>
          <p:cNvSpPr>
            <a:spLocks noGrp="1"/>
          </p:cNvSpPr>
          <p:nvPr>
            <p:ph type="ftr" sz="quarter" idx="11"/>
          </p:nvPr>
        </p:nvSpPr>
        <p:spPr/>
        <p:txBody>
          <a:bodyPr/>
          <a:lstStyle/>
          <a:p>
            <a:r>
              <a:rPr lang="en-US"/>
              <a:t>CSE445 Machine Learning</a:t>
            </a:r>
          </a:p>
        </p:txBody>
      </p:sp>
      <p:sp>
        <p:nvSpPr>
          <p:cNvPr id="5" name="Slide Number Placeholder 4">
            <a:extLst>
              <a:ext uri="{FF2B5EF4-FFF2-40B4-BE49-F238E27FC236}">
                <a16:creationId xmlns:a16="http://schemas.microsoft.com/office/drawing/2014/main" id="{F05AFFAA-E646-0DDF-64A0-A28BAC96E972}"/>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230007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8BE16B-802E-3074-11D1-8DE9C32B0176}"/>
              </a:ext>
            </a:extLst>
          </p:cNvPr>
          <p:cNvSpPr>
            <a:spLocks noGrp="1"/>
          </p:cNvSpPr>
          <p:nvPr>
            <p:ph type="dt" sz="half" idx="10"/>
          </p:nvPr>
        </p:nvSpPr>
        <p:spPr/>
        <p:txBody>
          <a:bodyPr/>
          <a:lstStyle/>
          <a:p>
            <a:fld id="{54F13215-DB23-4892-8F9A-91431A502CD2}" type="datetime1">
              <a:rPr lang="en-US" smtClean="0"/>
              <a:t>1/26/2026</a:t>
            </a:fld>
            <a:endParaRPr lang="en-US"/>
          </a:p>
        </p:txBody>
      </p:sp>
      <p:sp>
        <p:nvSpPr>
          <p:cNvPr id="3" name="Footer Placeholder 2">
            <a:extLst>
              <a:ext uri="{FF2B5EF4-FFF2-40B4-BE49-F238E27FC236}">
                <a16:creationId xmlns:a16="http://schemas.microsoft.com/office/drawing/2014/main" id="{FC670A2E-3D38-5D1E-AF19-F063247E7355}"/>
              </a:ext>
            </a:extLst>
          </p:cNvPr>
          <p:cNvSpPr>
            <a:spLocks noGrp="1"/>
          </p:cNvSpPr>
          <p:nvPr>
            <p:ph type="ftr" sz="quarter" idx="11"/>
          </p:nvPr>
        </p:nvSpPr>
        <p:spPr/>
        <p:txBody>
          <a:bodyPr/>
          <a:lstStyle/>
          <a:p>
            <a:r>
              <a:rPr lang="en-US"/>
              <a:t>CSE445 Machine Learning</a:t>
            </a:r>
          </a:p>
        </p:txBody>
      </p:sp>
      <p:sp>
        <p:nvSpPr>
          <p:cNvPr id="4" name="Slide Number Placeholder 3">
            <a:extLst>
              <a:ext uri="{FF2B5EF4-FFF2-40B4-BE49-F238E27FC236}">
                <a16:creationId xmlns:a16="http://schemas.microsoft.com/office/drawing/2014/main" id="{C0331207-BFA9-21E9-A865-318F13DA4D02}"/>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947701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605C-FA05-25DE-15F4-805A8CF099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A4B131-EC7F-BFD9-E7B6-AB3137F4F1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2959E2-E99B-EDA1-628E-184C643D5E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DE0DFE-327E-11B6-BD8C-0F41386E782D}"/>
              </a:ext>
            </a:extLst>
          </p:cNvPr>
          <p:cNvSpPr>
            <a:spLocks noGrp="1"/>
          </p:cNvSpPr>
          <p:nvPr>
            <p:ph type="dt" sz="half" idx="10"/>
          </p:nvPr>
        </p:nvSpPr>
        <p:spPr/>
        <p:txBody>
          <a:bodyPr/>
          <a:lstStyle/>
          <a:p>
            <a:fld id="{21D3BCFA-E3E0-4FF4-BACA-FCF5C255E5DE}" type="datetime1">
              <a:rPr lang="en-US" smtClean="0"/>
              <a:t>1/26/2026</a:t>
            </a:fld>
            <a:endParaRPr lang="en-US"/>
          </a:p>
        </p:txBody>
      </p:sp>
      <p:sp>
        <p:nvSpPr>
          <p:cNvPr id="6" name="Footer Placeholder 5">
            <a:extLst>
              <a:ext uri="{FF2B5EF4-FFF2-40B4-BE49-F238E27FC236}">
                <a16:creationId xmlns:a16="http://schemas.microsoft.com/office/drawing/2014/main" id="{8B088662-BCB8-828C-9BDF-DD1D1A56A189}"/>
              </a:ext>
            </a:extLst>
          </p:cNvPr>
          <p:cNvSpPr>
            <a:spLocks noGrp="1"/>
          </p:cNvSpPr>
          <p:nvPr>
            <p:ph type="ftr" sz="quarter" idx="11"/>
          </p:nvPr>
        </p:nvSpPr>
        <p:spPr/>
        <p:txBody>
          <a:bodyPr/>
          <a:lstStyle/>
          <a:p>
            <a:r>
              <a:rPr lang="en-US"/>
              <a:t>CSE445 Machine Learning</a:t>
            </a:r>
          </a:p>
        </p:txBody>
      </p:sp>
      <p:sp>
        <p:nvSpPr>
          <p:cNvPr id="7" name="Slide Number Placeholder 6">
            <a:extLst>
              <a:ext uri="{FF2B5EF4-FFF2-40B4-BE49-F238E27FC236}">
                <a16:creationId xmlns:a16="http://schemas.microsoft.com/office/drawing/2014/main" id="{E940129B-382F-9101-9ED5-631C3B88FCBE}"/>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3756216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04D93-D5ED-C785-80CB-7CF60D10AA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39CBA7-CE7D-C187-B782-CA09C95AF8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D639DC-D960-C20C-EDEF-4E282D5FC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0A177-05FD-4F3A-55CF-3EEB7E4E8F5C}"/>
              </a:ext>
            </a:extLst>
          </p:cNvPr>
          <p:cNvSpPr>
            <a:spLocks noGrp="1"/>
          </p:cNvSpPr>
          <p:nvPr>
            <p:ph type="dt" sz="half" idx="10"/>
          </p:nvPr>
        </p:nvSpPr>
        <p:spPr/>
        <p:txBody>
          <a:bodyPr/>
          <a:lstStyle/>
          <a:p>
            <a:fld id="{AE08EC14-2B3B-4EE3-949A-779D533E8478}" type="datetime1">
              <a:rPr lang="en-US" smtClean="0"/>
              <a:t>1/26/2026</a:t>
            </a:fld>
            <a:endParaRPr lang="en-US"/>
          </a:p>
        </p:txBody>
      </p:sp>
      <p:sp>
        <p:nvSpPr>
          <p:cNvPr id="6" name="Footer Placeholder 5">
            <a:extLst>
              <a:ext uri="{FF2B5EF4-FFF2-40B4-BE49-F238E27FC236}">
                <a16:creationId xmlns:a16="http://schemas.microsoft.com/office/drawing/2014/main" id="{CA599E7E-8ECE-4DE4-A26C-C2CAB09788A6}"/>
              </a:ext>
            </a:extLst>
          </p:cNvPr>
          <p:cNvSpPr>
            <a:spLocks noGrp="1"/>
          </p:cNvSpPr>
          <p:nvPr>
            <p:ph type="ftr" sz="quarter" idx="11"/>
          </p:nvPr>
        </p:nvSpPr>
        <p:spPr/>
        <p:txBody>
          <a:bodyPr/>
          <a:lstStyle/>
          <a:p>
            <a:r>
              <a:rPr lang="en-US"/>
              <a:t>CSE445 Machine Learning</a:t>
            </a:r>
          </a:p>
        </p:txBody>
      </p:sp>
      <p:sp>
        <p:nvSpPr>
          <p:cNvPr id="7" name="Slide Number Placeholder 6">
            <a:extLst>
              <a:ext uri="{FF2B5EF4-FFF2-40B4-BE49-F238E27FC236}">
                <a16:creationId xmlns:a16="http://schemas.microsoft.com/office/drawing/2014/main" id="{515AEDC0-BC10-677B-FFB3-DD53581A8454}"/>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312678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9DC3-0DF6-0743-E644-4A7AC5421D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7E063F-D43E-FD0C-D76B-188F3B7212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91BACC-50F2-51B8-0376-B959E5C69EFE}"/>
              </a:ext>
            </a:extLst>
          </p:cNvPr>
          <p:cNvSpPr>
            <a:spLocks noGrp="1"/>
          </p:cNvSpPr>
          <p:nvPr>
            <p:ph type="dt" sz="half" idx="10"/>
          </p:nvPr>
        </p:nvSpPr>
        <p:spPr/>
        <p:txBody>
          <a:bodyPr/>
          <a:lstStyle/>
          <a:p>
            <a:fld id="{B63BC18E-A90B-4B22-BF53-42EC149F08BB}" type="datetime1">
              <a:rPr lang="en-US" smtClean="0"/>
              <a:t>1/26/2026</a:t>
            </a:fld>
            <a:endParaRPr lang="en-US"/>
          </a:p>
        </p:txBody>
      </p:sp>
      <p:sp>
        <p:nvSpPr>
          <p:cNvPr id="5" name="Footer Placeholder 4">
            <a:extLst>
              <a:ext uri="{FF2B5EF4-FFF2-40B4-BE49-F238E27FC236}">
                <a16:creationId xmlns:a16="http://schemas.microsoft.com/office/drawing/2014/main" id="{F51CC8EC-0CE8-F103-3FD7-ED00AEDD2402}"/>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9490F038-A502-BA4A-633C-2C8924FA2075}"/>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949340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D0902E-7688-3814-1155-474461F4BE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262A82-7CD6-0470-0AF6-CCA98D9EF6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BDE9E-FAFF-63E1-22C0-33E9AE7F246E}"/>
              </a:ext>
            </a:extLst>
          </p:cNvPr>
          <p:cNvSpPr>
            <a:spLocks noGrp="1"/>
          </p:cNvSpPr>
          <p:nvPr>
            <p:ph type="dt" sz="half" idx="10"/>
          </p:nvPr>
        </p:nvSpPr>
        <p:spPr/>
        <p:txBody>
          <a:bodyPr/>
          <a:lstStyle/>
          <a:p>
            <a:fld id="{C3D84F7D-5048-4108-88DC-972512EB713E}" type="datetime1">
              <a:rPr lang="en-US" smtClean="0"/>
              <a:t>1/26/2026</a:t>
            </a:fld>
            <a:endParaRPr lang="en-US"/>
          </a:p>
        </p:txBody>
      </p:sp>
      <p:sp>
        <p:nvSpPr>
          <p:cNvPr id="5" name="Footer Placeholder 4">
            <a:extLst>
              <a:ext uri="{FF2B5EF4-FFF2-40B4-BE49-F238E27FC236}">
                <a16:creationId xmlns:a16="http://schemas.microsoft.com/office/drawing/2014/main" id="{BE385A15-7E8B-01A9-927C-5655A07066D2}"/>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7E8D3DFA-2B27-BC65-59BF-B29EA1A362AD}"/>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394338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9CAD65-4AD5-02F3-7FA3-E760BBE79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2EEE9E-8A03-0343-4D11-0133E5C0B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760B93-A586-42A5-0F99-907C968479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F7581B-AB8F-4D43-BDE7-8F5E2E8E8856}" type="datetime1">
              <a:rPr lang="en-US" smtClean="0"/>
              <a:t>1/26/2026</a:t>
            </a:fld>
            <a:endParaRPr lang="en-US"/>
          </a:p>
        </p:txBody>
      </p:sp>
      <p:sp>
        <p:nvSpPr>
          <p:cNvPr id="5" name="Footer Placeholder 4">
            <a:extLst>
              <a:ext uri="{FF2B5EF4-FFF2-40B4-BE49-F238E27FC236}">
                <a16:creationId xmlns:a16="http://schemas.microsoft.com/office/drawing/2014/main" id="{B0C50782-3D97-A485-DC22-453A9166F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CSE445 Machine Learning</a:t>
            </a:r>
          </a:p>
        </p:txBody>
      </p:sp>
      <p:sp>
        <p:nvSpPr>
          <p:cNvPr id="6" name="Slide Number Placeholder 5">
            <a:extLst>
              <a:ext uri="{FF2B5EF4-FFF2-40B4-BE49-F238E27FC236}">
                <a16:creationId xmlns:a16="http://schemas.microsoft.com/office/drawing/2014/main" id="{510A4F32-3929-476D-213C-0F9E358D25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45EB31-1C62-4062-9511-C82C6CC02C60}" type="slidenum">
              <a:rPr lang="en-US" smtClean="0"/>
              <a:t>‹#›</a:t>
            </a:fld>
            <a:endParaRPr lang="en-US"/>
          </a:p>
        </p:txBody>
      </p:sp>
    </p:spTree>
    <p:extLst>
      <p:ext uri="{BB962C8B-B14F-4D97-AF65-F5344CB8AC3E}">
        <p14:creationId xmlns:p14="http://schemas.microsoft.com/office/powerpoint/2010/main" val="455481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7000"/>
            <a:lum/>
          </a:blip>
          <a:srcRect/>
          <a:tile tx="0" ty="0" sx="100000" sy="100000" flip="none" algn="tl"/>
        </a:blipFill>
        <a:effectLst/>
      </p:bgPr>
    </p:bg>
    <p:spTree>
      <p:nvGrpSpPr>
        <p:cNvPr id="1" name=""/>
        <p:cNvGrpSpPr/>
        <p:nvPr/>
      </p:nvGrpSpPr>
      <p:grpSpPr>
        <a:xfrm>
          <a:off x="0" y="0"/>
          <a:ext cx="0" cy="0"/>
          <a:chOff x="0" y="0"/>
          <a:chExt cx="0" cy="0"/>
        </a:xfrm>
      </p:grpSpPr>
      <p:sp useBgFill="1">
        <p:nvSpPr>
          <p:cNvPr id="2078" name="Rectangle 207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E115A1-643A-7BF3-3A4B-2A7AF1AE9C09}"/>
              </a:ext>
            </a:extLst>
          </p:cNvPr>
          <p:cNvSpPr>
            <a:spLocks noGrp="1"/>
          </p:cNvSpPr>
          <p:nvPr>
            <p:ph type="ctrTitle"/>
          </p:nvPr>
        </p:nvSpPr>
        <p:spPr>
          <a:xfrm>
            <a:off x="952228" y="743447"/>
            <a:ext cx="3973385" cy="3692028"/>
          </a:xfrm>
          <a:noFill/>
        </p:spPr>
        <p:txBody>
          <a:bodyPr>
            <a:normAutofit/>
          </a:bodyPr>
          <a:lstStyle/>
          <a:p>
            <a:pPr algn="l"/>
            <a:br>
              <a:rPr lang="en-US" sz="5200" b="1" dirty="0"/>
            </a:br>
            <a:r>
              <a:rPr lang="en-US" sz="5200" b="1" dirty="0"/>
              <a:t>Lecture 1: Machine Learning Overview</a:t>
            </a:r>
          </a:p>
        </p:txBody>
      </p:sp>
      <p:sp>
        <p:nvSpPr>
          <p:cNvPr id="3" name="Subtitle 2">
            <a:extLst>
              <a:ext uri="{FF2B5EF4-FFF2-40B4-BE49-F238E27FC236}">
                <a16:creationId xmlns:a16="http://schemas.microsoft.com/office/drawing/2014/main" id="{9A31FF77-E09E-52C0-CD84-03CBD6D988AD}"/>
              </a:ext>
            </a:extLst>
          </p:cNvPr>
          <p:cNvSpPr>
            <a:spLocks noGrp="1"/>
          </p:cNvSpPr>
          <p:nvPr>
            <p:ph type="subTitle" idx="1"/>
          </p:nvPr>
        </p:nvSpPr>
        <p:spPr>
          <a:xfrm>
            <a:off x="952229" y="4629234"/>
            <a:ext cx="3973386" cy="1485319"/>
          </a:xfrm>
          <a:noFill/>
        </p:spPr>
        <p:txBody>
          <a:bodyPr>
            <a:normAutofit/>
          </a:bodyPr>
          <a:lstStyle/>
          <a:p>
            <a:pPr algn="l"/>
            <a:r>
              <a:rPr lang="en-US" b="1" i="1" dirty="0"/>
              <a:t>Dr. Jilan Samiuddin (JSA)</a:t>
            </a:r>
          </a:p>
          <a:p>
            <a:pPr algn="l"/>
            <a:r>
              <a:rPr lang="en-US" dirty="0"/>
              <a:t>Assistant Professor</a:t>
            </a:r>
          </a:p>
          <a:p>
            <a:pPr algn="l"/>
            <a:r>
              <a:rPr lang="en-US" dirty="0"/>
              <a:t>North South University</a:t>
            </a:r>
          </a:p>
        </p:txBody>
      </p:sp>
      <p:sp>
        <p:nvSpPr>
          <p:cNvPr id="4" name="TextBox 3">
            <a:extLst>
              <a:ext uri="{FF2B5EF4-FFF2-40B4-BE49-F238E27FC236}">
                <a16:creationId xmlns:a16="http://schemas.microsoft.com/office/drawing/2014/main" id="{935C301A-7024-8616-AFF2-7263B1346FFF}"/>
              </a:ext>
            </a:extLst>
          </p:cNvPr>
          <p:cNvSpPr txBox="1"/>
          <p:nvPr/>
        </p:nvSpPr>
        <p:spPr>
          <a:xfrm>
            <a:off x="952227" y="1199214"/>
            <a:ext cx="2782108" cy="369332"/>
          </a:xfrm>
          <a:prstGeom prst="rect">
            <a:avLst/>
          </a:prstGeom>
          <a:noFill/>
        </p:spPr>
        <p:txBody>
          <a:bodyPr wrap="none" rtlCol="0">
            <a:spAutoFit/>
          </a:bodyPr>
          <a:lstStyle/>
          <a:p>
            <a:r>
              <a:rPr lang="en-US" dirty="0"/>
              <a:t>CSE445 Machine Learning</a:t>
            </a:r>
          </a:p>
        </p:txBody>
      </p:sp>
      <p:pic>
        <p:nvPicPr>
          <p:cNvPr id="5" name="Picture 4">
            <a:extLst>
              <a:ext uri="{FF2B5EF4-FFF2-40B4-BE49-F238E27FC236}">
                <a16:creationId xmlns:a16="http://schemas.microsoft.com/office/drawing/2014/main" id="{B31CA6BF-0DE8-9E57-6E92-74A6BC63A17A}"/>
              </a:ext>
            </a:extLst>
          </p:cNvPr>
          <p:cNvPicPr>
            <a:picLocks noChangeAspect="1"/>
          </p:cNvPicPr>
          <p:nvPr/>
        </p:nvPicPr>
        <p:blipFill>
          <a:blip r:embed="rId4">
            <a:alphaModFix amt="18000"/>
          </a:blip>
          <a:stretch>
            <a:fillRect/>
          </a:stretch>
        </p:blipFill>
        <p:spPr>
          <a:xfrm>
            <a:off x="392975" y="260715"/>
            <a:ext cx="559252" cy="677784"/>
          </a:xfrm>
          <a:prstGeom prst="rect">
            <a:avLst/>
          </a:prstGeom>
        </p:spPr>
      </p:pic>
    </p:spTree>
    <p:extLst>
      <p:ext uri="{BB962C8B-B14F-4D97-AF65-F5344CB8AC3E}">
        <p14:creationId xmlns:p14="http://schemas.microsoft.com/office/powerpoint/2010/main" val="896640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AF7D2-52DD-129E-DA62-E86E6903985F}"/>
              </a:ext>
            </a:extLst>
          </p:cNvPr>
          <p:cNvSpPr>
            <a:spLocks noGrp="1"/>
          </p:cNvSpPr>
          <p:nvPr>
            <p:ph type="title"/>
          </p:nvPr>
        </p:nvSpPr>
        <p:spPr>
          <a:xfrm>
            <a:off x="838200" y="237710"/>
            <a:ext cx="10515600" cy="1325563"/>
          </a:xfrm>
        </p:spPr>
        <p:txBody>
          <a:bodyPr/>
          <a:lstStyle/>
          <a:p>
            <a:r>
              <a:rPr lang="en-US" b="1" i="0" dirty="0">
                <a:solidFill>
                  <a:srgbClr val="404040"/>
                </a:solidFill>
                <a:effectLst/>
              </a:rPr>
              <a:t>Class Information</a:t>
            </a:r>
            <a:endParaRPr lang="en-US" b="1" dirty="0"/>
          </a:p>
        </p:txBody>
      </p:sp>
      <p:sp>
        <p:nvSpPr>
          <p:cNvPr id="9" name="Content Placeholder 8">
            <a:extLst>
              <a:ext uri="{FF2B5EF4-FFF2-40B4-BE49-F238E27FC236}">
                <a16:creationId xmlns:a16="http://schemas.microsoft.com/office/drawing/2014/main" id="{86A8FFCC-CB1A-7AFD-1E29-764FC879FD92}"/>
              </a:ext>
            </a:extLst>
          </p:cNvPr>
          <p:cNvSpPr>
            <a:spLocks noGrp="1"/>
          </p:cNvSpPr>
          <p:nvPr>
            <p:ph idx="1"/>
          </p:nvPr>
        </p:nvSpPr>
        <p:spPr>
          <a:xfrm>
            <a:off x="838200" y="1825625"/>
            <a:ext cx="10159314" cy="4530725"/>
          </a:xfrm>
        </p:spPr>
        <p:txBody>
          <a:bodyPr>
            <a:normAutofit/>
          </a:bodyPr>
          <a:lstStyle/>
          <a:p>
            <a:pPr marL="457200" algn="just">
              <a:lnSpc>
                <a:spcPct val="100000"/>
              </a:lnSpc>
            </a:pPr>
            <a:r>
              <a:rPr lang="en-US" b="1" i="0" dirty="0">
                <a:solidFill>
                  <a:srgbClr val="404040"/>
                </a:solidFill>
                <a:effectLst/>
                <a:latin typeface="+mj-lt"/>
              </a:rPr>
              <a:t>Course Name</a:t>
            </a:r>
            <a:r>
              <a:rPr lang="en-US" i="0" dirty="0">
                <a:solidFill>
                  <a:srgbClr val="404040"/>
                </a:solidFill>
                <a:effectLst/>
                <a:latin typeface="+mj-lt"/>
              </a:rPr>
              <a:t>: Machine Learning</a:t>
            </a:r>
          </a:p>
          <a:p>
            <a:pPr marL="457200" algn="just">
              <a:lnSpc>
                <a:spcPct val="100000"/>
              </a:lnSpc>
            </a:pPr>
            <a:r>
              <a:rPr lang="en-US" b="1" i="0" dirty="0">
                <a:solidFill>
                  <a:srgbClr val="404040"/>
                </a:solidFill>
                <a:effectLst/>
                <a:latin typeface="+mj-lt"/>
              </a:rPr>
              <a:t>Course Code</a:t>
            </a:r>
            <a:r>
              <a:rPr lang="en-US" i="0" dirty="0">
                <a:solidFill>
                  <a:srgbClr val="404040"/>
                </a:solidFill>
                <a:effectLst/>
                <a:latin typeface="+mj-lt"/>
              </a:rPr>
              <a:t>: </a:t>
            </a:r>
            <a:r>
              <a:rPr lang="en-US" dirty="0">
                <a:solidFill>
                  <a:srgbClr val="404040"/>
                </a:solidFill>
                <a:latin typeface="+mj-lt"/>
              </a:rPr>
              <a:t>CSE 445 </a:t>
            </a:r>
            <a:endParaRPr lang="en-US" i="0" dirty="0">
              <a:solidFill>
                <a:srgbClr val="404040"/>
              </a:solidFill>
              <a:effectLst/>
              <a:latin typeface="+mj-lt"/>
            </a:endParaRPr>
          </a:p>
          <a:p>
            <a:pPr marL="457200" algn="just">
              <a:lnSpc>
                <a:spcPct val="100000"/>
              </a:lnSpc>
            </a:pPr>
            <a:r>
              <a:rPr lang="en-US" b="1" i="0" dirty="0">
                <a:solidFill>
                  <a:srgbClr val="404040"/>
                </a:solidFill>
                <a:effectLst/>
                <a:latin typeface="+mj-lt"/>
              </a:rPr>
              <a:t>Credit Hours</a:t>
            </a:r>
            <a:r>
              <a:rPr lang="en-US" i="0" dirty="0">
                <a:solidFill>
                  <a:srgbClr val="404040"/>
                </a:solidFill>
                <a:effectLst/>
                <a:latin typeface="+mj-lt"/>
              </a:rPr>
              <a:t>: 3</a:t>
            </a:r>
          </a:p>
          <a:p>
            <a:pPr marL="457200" algn="just">
              <a:lnSpc>
                <a:spcPct val="100000"/>
              </a:lnSpc>
            </a:pPr>
            <a:r>
              <a:rPr lang="en-US" b="1" i="0" dirty="0">
                <a:solidFill>
                  <a:srgbClr val="404040"/>
                </a:solidFill>
                <a:effectLst/>
                <a:latin typeface="+mj-lt"/>
              </a:rPr>
              <a:t>Pre-requisites</a:t>
            </a:r>
            <a:r>
              <a:rPr lang="en-US" i="0" dirty="0">
                <a:solidFill>
                  <a:srgbClr val="404040"/>
                </a:solidFill>
                <a:effectLst/>
                <a:latin typeface="+mj-lt"/>
              </a:rPr>
              <a:t>:	CSE 348 or Consent from Instructor</a:t>
            </a:r>
          </a:p>
        </p:txBody>
      </p:sp>
      <p:cxnSp>
        <p:nvCxnSpPr>
          <p:cNvPr id="4" name="Straight Connector 3">
            <a:extLst>
              <a:ext uri="{FF2B5EF4-FFF2-40B4-BE49-F238E27FC236}">
                <a16:creationId xmlns:a16="http://schemas.microsoft.com/office/drawing/2014/main" id="{8A9A77C0-7299-E288-8330-26271E0F6E1D}"/>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39379C25-5251-03F7-1CF7-B17B7E877068}"/>
              </a:ext>
            </a:extLst>
          </p:cNvPr>
          <p:cNvSpPr>
            <a:spLocks noGrp="1"/>
          </p:cNvSpPr>
          <p:nvPr>
            <p:ph type="sldNum" sz="quarter" idx="12"/>
          </p:nvPr>
        </p:nvSpPr>
        <p:spPr/>
        <p:txBody>
          <a:bodyPr/>
          <a:lstStyle/>
          <a:p>
            <a:fld id="{B645EB31-1C62-4062-9511-C82C6CC02C60}" type="slidenum">
              <a:rPr lang="en-US" smtClean="0"/>
              <a:t>2</a:t>
            </a:fld>
            <a:endParaRPr lang="en-US"/>
          </a:p>
        </p:txBody>
      </p:sp>
      <p:pic>
        <p:nvPicPr>
          <p:cNvPr id="7" name="Picture 6">
            <a:extLst>
              <a:ext uri="{FF2B5EF4-FFF2-40B4-BE49-F238E27FC236}">
                <a16:creationId xmlns:a16="http://schemas.microsoft.com/office/drawing/2014/main" id="{645CCFC7-D2D0-E752-7425-7AF4E2E2CB64}"/>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1194899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ACF04-777D-8FB7-345C-D25FDCD10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9CCD7-79A8-8F71-B1B0-DB878FBECFD4}"/>
              </a:ext>
            </a:extLst>
          </p:cNvPr>
          <p:cNvSpPr>
            <a:spLocks noGrp="1"/>
          </p:cNvSpPr>
          <p:nvPr>
            <p:ph type="title"/>
          </p:nvPr>
        </p:nvSpPr>
        <p:spPr>
          <a:xfrm>
            <a:off x="838200" y="237710"/>
            <a:ext cx="10515600" cy="1325563"/>
          </a:xfrm>
        </p:spPr>
        <p:txBody>
          <a:bodyPr/>
          <a:lstStyle/>
          <a:p>
            <a:r>
              <a:rPr lang="en-US" b="1" i="0" dirty="0">
                <a:solidFill>
                  <a:srgbClr val="404040"/>
                </a:solidFill>
                <a:effectLst/>
              </a:rPr>
              <a:t>Instructor Information</a:t>
            </a:r>
            <a:endParaRPr lang="en-US" b="1" dirty="0"/>
          </a:p>
        </p:txBody>
      </p:sp>
      <p:sp>
        <p:nvSpPr>
          <p:cNvPr id="9" name="Content Placeholder 8">
            <a:extLst>
              <a:ext uri="{FF2B5EF4-FFF2-40B4-BE49-F238E27FC236}">
                <a16:creationId xmlns:a16="http://schemas.microsoft.com/office/drawing/2014/main" id="{E8400E5E-8BC6-7E7A-5B1C-7D61C75539C2}"/>
              </a:ext>
            </a:extLst>
          </p:cNvPr>
          <p:cNvSpPr>
            <a:spLocks noGrp="1"/>
          </p:cNvSpPr>
          <p:nvPr>
            <p:ph idx="1"/>
          </p:nvPr>
        </p:nvSpPr>
        <p:spPr>
          <a:xfrm>
            <a:off x="838200" y="1825625"/>
            <a:ext cx="10159314" cy="4530725"/>
          </a:xfrm>
        </p:spPr>
        <p:txBody>
          <a:bodyPr>
            <a:normAutofit/>
          </a:bodyPr>
          <a:lstStyle/>
          <a:p>
            <a:pPr marL="457200" algn="just">
              <a:lnSpc>
                <a:spcPct val="100000"/>
              </a:lnSpc>
            </a:pPr>
            <a:r>
              <a:rPr lang="en-US" b="1" i="0" dirty="0">
                <a:solidFill>
                  <a:srgbClr val="404040"/>
                </a:solidFill>
                <a:effectLst/>
                <a:latin typeface="+mj-lt"/>
              </a:rPr>
              <a:t>Instructor Name: Dr. Jilan Samiuddin (JSA)</a:t>
            </a:r>
          </a:p>
          <a:p>
            <a:pPr marL="457200" algn="just">
              <a:lnSpc>
                <a:spcPct val="100000"/>
              </a:lnSpc>
            </a:pPr>
            <a:r>
              <a:rPr lang="en-US" b="1" i="0" dirty="0">
                <a:solidFill>
                  <a:srgbClr val="404040"/>
                </a:solidFill>
                <a:effectLst/>
                <a:latin typeface="+mj-lt"/>
              </a:rPr>
              <a:t>Position: Assistant Professor, ECE</a:t>
            </a:r>
          </a:p>
          <a:p>
            <a:pPr marL="457200" algn="just">
              <a:lnSpc>
                <a:spcPct val="100000"/>
              </a:lnSpc>
            </a:pPr>
            <a:r>
              <a:rPr lang="en-US" b="1" i="0" dirty="0">
                <a:solidFill>
                  <a:srgbClr val="404040"/>
                </a:solidFill>
                <a:effectLst/>
                <a:latin typeface="+mj-lt"/>
              </a:rPr>
              <a:t>Email: j</a:t>
            </a:r>
            <a:r>
              <a:rPr lang="en-US" b="1" dirty="0">
                <a:solidFill>
                  <a:srgbClr val="404040"/>
                </a:solidFill>
                <a:latin typeface="+mj-lt"/>
              </a:rPr>
              <a:t>ilan.samiuddin@northsouth.edu</a:t>
            </a:r>
            <a:endParaRPr lang="en-US" b="1" i="0" dirty="0">
              <a:solidFill>
                <a:srgbClr val="404040"/>
              </a:solidFill>
              <a:effectLst/>
              <a:latin typeface="+mj-lt"/>
            </a:endParaRPr>
          </a:p>
          <a:p>
            <a:pPr marL="457200" algn="just">
              <a:lnSpc>
                <a:spcPct val="100000"/>
              </a:lnSpc>
            </a:pPr>
            <a:r>
              <a:rPr lang="en-US" b="1" i="0" dirty="0">
                <a:solidFill>
                  <a:srgbClr val="404040"/>
                </a:solidFill>
                <a:effectLst/>
                <a:latin typeface="+mj-lt"/>
              </a:rPr>
              <a:t>Office: SAC 911</a:t>
            </a:r>
          </a:p>
          <a:p>
            <a:pPr marL="457200" algn="just">
              <a:lnSpc>
                <a:spcPct val="100000"/>
              </a:lnSpc>
            </a:pPr>
            <a:r>
              <a:rPr lang="en-US" b="1" dirty="0">
                <a:solidFill>
                  <a:srgbClr val="404040"/>
                </a:solidFill>
                <a:latin typeface="+mj-lt"/>
              </a:rPr>
              <a:t>Office hours: Posted in Canvas (Announcements)</a:t>
            </a:r>
            <a:endParaRPr lang="en-US" b="1" i="0" dirty="0">
              <a:solidFill>
                <a:srgbClr val="404040"/>
              </a:solidFill>
              <a:effectLst/>
              <a:latin typeface="+mj-lt"/>
            </a:endParaRPr>
          </a:p>
        </p:txBody>
      </p:sp>
      <p:cxnSp>
        <p:nvCxnSpPr>
          <p:cNvPr id="4" name="Straight Connector 3">
            <a:extLst>
              <a:ext uri="{FF2B5EF4-FFF2-40B4-BE49-F238E27FC236}">
                <a16:creationId xmlns:a16="http://schemas.microsoft.com/office/drawing/2014/main" id="{B2D7A5F8-18C8-2917-45F6-19A592833CA3}"/>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9F43C069-63FD-0567-06F4-8D17C279A45F}"/>
              </a:ext>
            </a:extLst>
          </p:cNvPr>
          <p:cNvSpPr>
            <a:spLocks noGrp="1"/>
          </p:cNvSpPr>
          <p:nvPr>
            <p:ph type="sldNum" sz="quarter" idx="12"/>
          </p:nvPr>
        </p:nvSpPr>
        <p:spPr/>
        <p:txBody>
          <a:bodyPr/>
          <a:lstStyle/>
          <a:p>
            <a:fld id="{B645EB31-1C62-4062-9511-C82C6CC02C60}" type="slidenum">
              <a:rPr lang="en-US" smtClean="0"/>
              <a:t>3</a:t>
            </a:fld>
            <a:endParaRPr lang="en-US"/>
          </a:p>
        </p:txBody>
      </p:sp>
      <p:pic>
        <p:nvPicPr>
          <p:cNvPr id="7" name="Picture 6">
            <a:extLst>
              <a:ext uri="{FF2B5EF4-FFF2-40B4-BE49-F238E27FC236}">
                <a16:creationId xmlns:a16="http://schemas.microsoft.com/office/drawing/2014/main" id="{B1A255F6-E8D6-E169-0DC2-C3255650A41C}"/>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4088715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BEA8B-FC54-1899-6701-4AB627A29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79F20-218C-F1EE-2D4A-B5143AA9BD37}"/>
              </a:ext>
            </a:extLst>
          </p:cNvPr>
          <p:cNvSpPr>
            <a:spLocks noGrp="1"/>
          </p:cNvSpPr>
          <p:nvPr>
            <p:ph type="title"/>
          </p:nvPr>
        </p:nvSpPr>
        <p:spPr>
          <a:xfrm>
            <a:off x="838200" y="237710"/>
            <a:ext cx="10515600" cy="1325563"/>
          </a:xfrm>
        </p:spPr>
        <p:txBody>
          <a:bodyPr/>
          <a:lstStyle/>
          <a:p>
            <a:r>
              <a:rPr lang="en-US" b="1" i="0" dirty="0">
                <a:solidFill>
                  <a:srgbClr val="404040"/>
                </a:solidFill>
                <a:effectLst/>
              </a:rPr>
              <a:t>Tentative Marks Distribution</a:t>
            </a:r>
            <a:endParaRPr lang="en-US" b="1" dirty="0"/>
          </a:p>
        </p:txBody>
      </p:sp>
      <p:sp>
        <p:nvSpPr>
          <p:cNvPr id="9" name="Content Placeholder 8">
            <a:extLst>
              <a:ext uri="{FF2B5EF4-FFF2-40B4-BE49-F238E27FC236}">
                <a16:creationId xmlns:a16="http://schemas.microsoft.com/office/drawing/2014/main" id="{640C0F72-5E03-F2C6-E1CC-6A4419E8D8DB}"/>
              </a:ext>
            </a:extLst>
          </p:cNvPr>
          <p:cNvSpPr>
            <a:spLocks noGrp="1"/>
          </p:cNvSpPr>
          <p:nvPr>
            <p:ph idx="1"/>
          </p:nvPr>
        </p:nvSpPr>
        <p:spPr>
          <a:xfrm>
            <a:off x="838200" y="1825625"/>
            <a:ext cx="10159314" cy="4530725"/>
          </a:xfrm>
        </p:spPr>
        <p:txBody>
          <a:bodyPr>
            <a:normAutofit/>
          </a:bodyPr>
          <a:lstStyle/>
          <a:p>
            <a:pPr marL="457200" algn="just">
              <a:lnSpc>
                <a:spcPct val="100000"/>
              </a:lnSpc>
            </a:pPr>
            <a:r>
              <a:rPr lang="en-US" i="0" dirty="0">
                <a:solidFill>
                  <a:srgbClr val="404040"/>
                </a:solidFill>
                <a:effectLst/>
                <a:latin typeface="+mj-lt"/>
              </a:rPr>
              <a:t>Attendance: 5%</a:t>
            </a:r>
          </a:p>
          <a:p>
            <a:pPr marL="457200" algn="just">
              <a:lnSpc>
                <a:spcPct val="100000"/>
              </a:lnSpc>
            </a:pPr>
            <a:r>
              <a:rPr lang="en-US" i="0" dirty="0">
                <a:solidFill>
                  <a:srgbClr val="404040"/>
                </a:solidFill>
                <a:effectLst/>
                <a:latin typeface="+mj-lt"/>
              </a:rPr>
              <a:t>Project: 20%</a:t>
            </a:r>
          </a:p>
          <a:p>
            <a:pPr marL="457200" algn="just">
              <a:lnSpc>
                <a:spcPct val="100000"/>
              </a:lnSpc>
            </a:pPr>
            <a:r>
              <a:rPr lang="en-US" i="0" dirty="0">
                <a:solidFill>
                  <a:srgbClr val="404040"/>
                </a:solidFill>
                <a:effectLst/>
                <a:latin typeface="+mj-lt"/>
              </a:rPr>
              <a:t>Quiz/Class Test: 20% (the </a:t>
            </a:r>
            <a:r>
              <a:rPr lang="en-US" b="1" i="0" u="sng" dirty="0">
                <a:solidFill>
                  <a:srgbClr val="404040"/>
                </a:solidFill>
                <a:effectLst/>
                <a:latin typeface="+mj-lt"/>
              </a:rPr>
              <a:t>worst quiz grade</a:t>
            </a:r>
            <a:r>
              <a:rPr lang="en-US" i="0" dirty="0">
                <a:solidFill>
                  <a:srgbClr val="404040"/>
                </a:solidFill>
                <a:effectLst/>
                <a:latin typeface="+mj-lt"/>
              </a:rPr>
              <a:t> will be discarded)</a:t>
            </a:r>
          </a:p>
          <a:p>
            <a:pPr marL="457200" algn="just">
              <a:lnSpc>
                <a:spcPct val="100000"/>
              </a:lnSpc>
            </a:pPr>
            <a:r>
              <a:rPr lang="en-US" i="0" dirty="0">
                <a:solidFill>
                  <a:srgbClr val="404040"/>
                </a:solidFill>
                <a:effectLst/>
                <a:latin typeface="+mj-lt"/>
              </a:rPr>
              <a:t>Midterm:	25%</a:t>
            </a:r>
          </a:p>
          <a:p>
            <a:pPr marL="457200" algn="just">
              <a:lnSpc>
                <a:spcPct val="100000"/>
              </a:lnSpc>
            </a:pPr>
            <a:r>
              <a:rPr lang="en-US" i="0" dirty="0">
                <a:solidFill>
                  <a:srgbClr val="404040"/>
                </a:solidFill>
                <a:effectLst/>
                <a:latin typeface="+mj-lt"/>
              </a:rPr>
              <a:t>Final Exam: 30%</a:t>
            </a:r>
          </a:p>
        </p:txBody>
      </p:sp>
      <p:cxnSp>
        <p:nvCxnSpPr>
          <p:cNvPr id="4" name="Straight Connector 3">
            <a:extLst>
              <a:ext uri="{FF2B5EF4-FFF2-40B4-BE49-F238E27FC236}">
                <a16:creationId xmlns:a16="http://schemas.microsoft.com/office/drawing/2014/main" id="{D31EE1E9-2F57-73A1-0DDA-0D49805F2B0E}"/>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0E8B6D70-70F3-042B-E79B-1F40CE7C854F}"/>
              </a:ext>
            </a:extLst>
          </p:cNvPr>
          <p:cNvSpPr>
            <a:spLocks noGrp="1"/>
          </p:cNvSpPr>
          <p:nvPr>
            <p:ph type="sldNum" sz="quarter" idx="12"/>
          </p:nvPr>
        </p:nvSpPr>
        <p:spPr/>
        <p:txBody>
          <a:bodyPr/>
          <a:lstStyle/>
          <a:p>
            <a:fld id="{B645EB31-1C62-4062-9511-C82C6CC02C60}" type="slidenum">
              <a:rPr lang="en-US" smtClean="0"/>
              <a:t>4</a:t>
            </a:fld>
            <a:endParaRPr lang="en-US"/>
          </a:p>
        </p:txBody>
      </p:sp>
      <p:pic>
        <p:nvPicPr>
          <p:cNvPr id="7" name="Picture 6">
            <a:extLst>
              <a:ext uri="{FF2B5EF4-FFF2-40B4-BE49-F238E27FC236}">
                <a16:creationId xmlns:a16="http://schemas.microsoft.com/office/drawing/2014/main" id="{BB6240A5-26A8-2703-38B2-EB0AEF0EF0E8}"/>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3029567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DA95-36BE-DE70-368E-E199BD9FB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04FD7-C18C-E910-D43A-8687C2409CB0}"/>
              </a:ext>
            </a:extLst>
          </p:cNvPr>
          <p:cNvSpPr>
            <a:spLocks noGrp="1"/>
          </p:cNvSpPr>
          <p:nvPr>
            <p:ph type="title"/>
          </p:nvPr>
        </p:nvSpPr>
        <p:spPr>
          <a:xfrm>
            <a:off x="838200" y="237710"/>
            <a:ext cx="10515600" cy="1325563"/>
          </a:xfrm>
        </p:spPr>
        <p:txBody>
          <a:bodyPr/>
          <a:lstStyle/>
          <a:p>
            <a:r>
              <a:rPr lang="en-US" b="1" i="0" dirty="0">
                <a:solidFill>
                  <a:srgbClr val="404040"/>
                </a:solidFill>
                <a:effectLst/>
              </a:rPr>
              <a:t>Class Rules</a:t>
            </a:r>
            <a:endParaRPr lang="en-US" b="1" dirty="0"/>
          </a:p>
        </p:txBody>
      </p:sp>
      <p:sp>
        <p:nvSpPr>
          <p:cNvPr id="9" name="Content Placeholder 8">
            <a:extLst>
              <a:ext uri="{FF2B5EF4-FFF2-40B4-BE49-F238E27FC236}">
                <a16:creationId xmlns:a16="http://schemas.microsoft.com/office/drawing/2014/main" id="{AFE7522D-5010-0948-DBC5-134AC3E27352}"/>
              </a:ext>
            </a:extLst>
          </p:cNvPr>
          <p:cNvSpPr>
            <a:spLocks noGrp="1"/>
          </p:cNvSpPr>
          <p:nvPr>
            <p:ph idx="1"/>
          </p:nvPr>
        </p:nvSpPr>
        <p:spPr>
          <a:xfrm>
            <a:off x="652072" y="1825625"/>
            <a:ext cx="11040256" cy="4530725"/>
          </a:xfrm>
        </p:spPr>
        <p:txBody>
          <a:bodyPr>
            <a:normAutofit fontScale="70000" lnSpcReduction="20000"/>
          </a:bodyPr>
          <a:lstStyle/>
          <a:p>
            <a:pPr marL="457200" algn="just">
              <a:lnSpc>
                <a:spcPct val="100000"/>
              </a:lnSpc>
            </a:pPr>
            <a:r>
              <a:rPr lang="en-US" i="0" dirty="0">
                <a:solidFill>
                  <a:srgbClr val="404040"/>
                </a:solidFill>
                <a:effectLst/>
                <a:latin typeface="+mj-lt"/>
              </a:rPr>
              <a:t>General Conduct</a:t>
            </a:r>
          </a:p>
          <a:p>
            <a:pPr marL="914400" lvl="1" algn="just">
              <a:lnSpc>
                <a:spcPct val="100000"/>
              </a:lnSpc>
            </a:pPr>
            <a:r>
              <a:rPr lang="en-US" b="1" i="1" dirty="0">
                <a:solidFill>
                  <a:srgbClr val="404040"/>
                </a:solidFill>
                <a:effectLst/>
                <a:latin typeface="+mj-lt"/>
              </a:rPr>
              <a:t>Punctuality</a:t>
            </a:r>
            <a:r>
              <a:rPr lang="en-US" i="0" dirty="0">
                <a:solidFill>
                  <a:srgbClr val="404040"/>
                </a:solidFill>
                <a:effectLst/>
                <a:latin typeface="+mj-lt"/>
              </a:rPr>
              <a:t>: Arrive on time and stay for the entire class session.</a:t>
            </a:r>
          </a:p>
          <a:p>
            <a:pPr marL="914400" lvl="1" algn="just">
              <a:lnSpc>
                <a:spcPct val="100000"/>
              </a:lnSpc>
            </a:pPr>
            <a:r>
              <a:rPr lang="en-US" b="1" i="1" dirty="0">
                <a:solidFill>
                  <a:srgbClr val="404040"/>
                </a:solidFill>
                <a:effectLst/>
                <a:latin typeface="+mj-lt"/>
              </a:rPr>
              <a:t>Respect</a:t>
            </a:r>
            <a:r>
              <a:rPr lang="en-US" i="0" dirty="0">
                <a:solidFill>
                  <a:srgbClr val="404040"/>
                </a:solidFill>
                <a:effectLst/>
                <a:latin typeface="+mj-lt"/>
              </a:rPr>
              <a:t>: Treat instructors &amp; classmates with respect and courtesy.</a:t>
            </a:r>
          </a:p>
          <a:p>
            <a:pPr marL="914400" lvl="1" algn="just">
              <a:lnSpc>
                <a:spcPct val="100000"/>
              </a:lnSpc>
            </a:pPr>
            <a:r>
              <a:rPr lang="en-US" b="1" i="1" dirty="0">
                <a:solidFill>
                  <a:srgbClr val="404040"/>
                </a:solidFill>
                <a:effectLst/>
                <a:latin typeface="+mj-lt"/>
              </a:rPr>
              <a:t>Participation</a:t>
            </a:r>
            <a:r>
              <a:rPr lang="en-US" i="0" dirty="0">
                <a:solidFill>
                  <a:srgbClr val="404040"/>
                </a:solidFill>
                <a:effectLst/>
                <a:latin typeface="+mj-lt"/>
              </a:rPr>
              <a:t>: Engage actively in discussions and group activities when required.</a:t>
            </a:r>
          </a:p>
          <a:p>
            <a:pPr marL="914400" lvl="1" algn="just">
              <a:lnSpc>
                <a:spcPct val="100000"/>
              </a:lnSpc>
            </a:pPr>
            <a:r>
              <a:rPr lang="en-US" b="1" i="1" dirty="0">
                <a:solidFill>
                  <a:srgbClr val="404040"/>
                </a:solidFill>
                <a:effectLst/>
                <a:latin typeface="+mj-lt"/>
              </a:rPr>
              <a:t>No Disruptions</a:t>
            </a:r>
            <a:r>
              <a:rPr lang="en-US" i="0" dirty="0">
                <a:solidFill>
                  <a:srgbClr val="404040"/>
                </a:solidFill>
                <a:effectLst/>
                <a:latin typeface="+mj-lt"/>
              </a:rPr>
              <a:t>: Avoid talking out of turn or engaging in off-topic activities.</a:t>
            </a:r>
          </a:p>
          <a:p>
            <a:pPr marL="914400" lvl="1" algn="just">
              <a:lnSpc>
                <a:spcPct val="100000"/>
              </a:lnSpc>
            </a:pPr>
            <a:r>
              <a:rPr lang="en-US" b="1" i="1" dirty="0">
                <a:solidFill>
                  <a:srgbClr val="404040"/>
                </a:solidFill>
                <a:effectLst/>
                <a:latin typeface="+mj-lt"/>
              </a:rPr>
              <a:t>Phone Use</a:t>
            </a:r>
            <a:r>
              <a:rPr lang="en-US" i="0" dirty="0">
                <a:solidFill>
                  <a:srgbClr val="404040"/>
                </a:solidFill>
                <a:effectLst/>
                <a:latin typeface="+mj-lt"/>
              </a:rPr>
              <a:t>: Keep mobiles in silent mode or turn off during class.</a:t>
            </a:r>
          </a:p>
          <a:p>
            <a:pPr marL="914400" lvl="1" algn="just">
              <a:lnSpc>
                <a:spcPct val="100000"/>
              </a:lnSpc>
            </a:pPr>
            <a:r>
              <a:rPr lang="en-US" b="1" i="1" dirty="0">
                <a:solidFill>
                  <a:srgbClr val="404040"/>
                </a:solidFill>
                <a:effectLst/>
                <a:latin typeface="+mj-lt"/>
              </a:rPr>
              <a:t>Recording</a:t>
            </a:r>
            <a:r>
              <a:rPr lang="en-US" i="0" dirty="0">
                <a:solidFill>
                  <a:srgbClr val="404040"/>
                </a:solidFill>
                <a:effectLst/>
                <a:latin typeface="+mj-lt"/>
              </a:rPr>
              <a:t>: Do n</a:t>
            </a:r>
            <a:r>
              <a:rPr lang="en-US" dirty="0">
                <a:solidFill>
                  <a:srgbClr val="404040"/>
                </a:solidFill>
                <a:latin typeface="+mj-lt"/>
              </a:rPr>
              <a:t>o</a:t>
            </a:r>
            <a:r>
              <a:rPr lang="en-US" i="0" dirty="0">
                <a:solidFill>
                  <a:srgbClr val="404040"/>
                </a:solidFill>
                <a:effectLst/>
                <a:latin typeface="+mj-lt"/>
              </a:rPr>
              <a:t>t record lectures without the instructor’s permission.</a:t>
            </a:r>
          </a:p>
          <a:p>
            <a:pPr marL="457200" algn="just">
              <a:lnSpc>
                <a:spcPct val="100000"/>
              </a:lnSpc>
            </a:pPr>
            <a:r>
              <a:rPr lang="en-US" i="0" dirty="0">
                <a:solidFill>
                  <a:srgbClr val="404040"/>
                </a:solidFill>
                <a:effectLst/>
                <a:latin typeface="+mj-lt"/>
              </a:rPr>
              <a:t>Academic Integrity</a:t>
            </a:r>
          </a:p>
          <a:p>
            <a:pPr marL="914400" lvl="1" algn="just">
              <a:lnSpc>
                <a:spcPct val="100000"/>
              </a:lnSpc>
            </a:pPr>
            <a:r>
              <a:rPr lang="en-US" dirty="0">
                <a:solidFill>
                  <a:srgbClr val="404040"/>
                </a:solidFill>
                <a:latin typeface="+mj-lt"/>
              </a:rPr>
              <a:t>Any kind of cheating is strictly prohibited</a:t>
            </a:r>
          </a:p>
          <a:p>
            <a:pPr marL="457200" algn="just">
              <a:lnSpc>
                <a:spcPct val="100000"/>
              </a:lnSpc>
            </a:pPr>
            <a:r>
              <a:rPr lang="en-US" dirty="0">
                <a:solidFill>
                  <a:srgbClr val="404040"/>
                </a:solidFill>
                <a:latin typeface="+mj-lt"/>
              </a:rPr>
              <a:t>Communication</a:t>
            </a:r>
          </a:p>
          <a:p>
            <a:pPr marL="914400" lvl="1" algn="just">
              <a:lnSpc>
                <a:spcPct val="100000"/>
              </a:lnSpc>
            </a:pPr>
            <a:r>
              <a:rPr lang="en-US" b="1" i="1" dirty="0">
                <a:solidFill>
                  <a:srgbClr val="404040"/>
                </a:solidFill>
                <a:latin typeface="+mj-lt"/>
              </a:rPr>
              <a:t>Office Hours</a:t>
            </a:r>
            <a:r>
              <a:rPr lang="en-US" dirty="0">
                <a:solidFill>
                  <a:srgbClr val="404040"/>
                </a:solidFill>
                <a:latin typeface="+mj-lt"/>
              </a:rPr>
              <a:t>: Attend during posted times or schedule appointments in advance.</a:t>
            </a:r>
          </a:p>
          <a:p>
            <a:pPr marL="457200" algn="just">
              <a:lnSpc>
                <a:spcPct val="100000"/>
              </a:lnSpc>
            </a:pPr>
            <a:r>
              <a:rPr lang="en-US" b="1" dirty="0">
                <a:solidFill>
                  <a:srgbClr val="404040"/>
                </a:solidFill>
                <a:latin typeface="+mj-lt"/>
              </a:rPr>
              <a:t>No makeup Quizzes</a:t>
            </a:r>
          </a:p>
          <a:p>
            <a:pPr marL="457200" algn="just">
              <a:lnSpc>
                <a:spcPct val="100000"/>
              </a:lnSpc>
            </a:pPr>
            <a:r>
              <a:rPr lang="en-US" dirty="0">
                <a:solidFill>
                  <a:srgbClr val="404040"/>
                </a:solidFill>
                <a:latin typeface="+mj-lt"/>
              </a:rPr>
              <a:t>You are responsible for ensuring your attendance</a:t>
            </a:r>
          </a:p>
          <a:p>
            <a:pPr marL="914400" lvl="1" algn="just">
              <a:lnSpc>
                <a:spcPct val="100000"/>
              </a:lnSpc>
            </a:pPr>
            <a:r>
              <a:rPr lang="en-US" dirty="0">
                <a:solidFill>
                  <a:srgbClr val="404040"/>
                </a:solidFill>
                <a:latin typeface="+mj-lt"/>
              </a:rPr>
              <a:t>If an attendance is not registered, it must be </a:t>
            </a:r>
            <a:r>
              <a:rPr lang="en-US" b="1" u="sng" dirty="0">
                <a:solidFill>
                  <a:srgbClr val="404040"/>
                </a:solidFill>
                <a:latin typeface="+mj-lt"/>
              </a:rPr>
              <a:t>rectified within the same day in-person</a:t>
            </a:r>
          </a:p>
        </p:txBody>
      </p:sp>
      <p:cxnSp>
        <p:nvCxnSpPr>
          <p:cNvPr id="4" name="Straight Connector 3">
            <a:extLst>
              <a:ext uri="{FF2B5EF4-FFF2-40B4-BE49-F238E27FC236}">
                <a16:creationId xmlns:a16="http://schemas.microsoft.com/office/drawing/2014/main" id="{C4033A81-BF94-B446-E35E-9803F680F982}"/>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9C39F242-C31C-F2F4-56F9-C3FD45BA451E}"/>
              </a:ext>
            </a:extLst>
          </p:cNvPr>
          <p:cNvSpPr>
            <a:spLocks noGrp="1"/>
          </p:cNvSpPr>
          <p:nvPr>
            <p:ph type="sldNum" sz="quarter" idx="12"/>
          </p:nvPr>
        </p:nvSpPr>
        <p:spPr/>
        <p:txBody>
          <a:bodyPr/>
          <a:lstStyle/>
          <a:p>
            <a:fld id="{B645EB31-1C62-4062-9511-C82C6CC02C60}" type="slidenum">
              <a:rPr lang="en-US" smtClean="0"/>
              <a:t>5</a:t>
            </a:fld>
            <a:endParaRPr lang="en-US"/>
          </a:p>
        </p:txBody>
      </p:sp>
      <p:pic>
        <p:nvPicPr>
          <p:cNvPr id="7" name="Picture 6">
            <a:extLst>
              <a:ext uri="{FF2B5EF4-FFF2-40B4-BE49-F238E27FC236}">
                <a16:creationId xmlns:a16="http://schemas.microsoft.com/office/drawing/2014/main" id="{7C9C0F3E-C2BB-4902-201D-26DADB40F94A}"/>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2375246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05C13-FF6F-DD61-4BB1-2983744C0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211B2-9E5D-38F1-B6A8-6B51F3850EDE}"/>
              </a:ext>
            </a:extLst>
          </p:cNvPr>
          <p:cNvSpPr>
            <a:spLocks noGrp="1"/>
          </p:cNvSpPr>
          <p:nvPr>
            <p:ph type="title"/>
          </p:nvPr>
        </p:nvSpPr>
        <p:spPr>
          <a:xfrm>
            <a:off x="838200" y="237710"/>
            <a:ext cx="10515600" cy="1325563"/>
          </a:xfrm>
        </p:spPr>
        <p:txBody>
          <a:bodyPr/>
          <a:lstStyle/>
          <a:p>
            <a:r>
              <a:rPr lang="en-US" b="1" i="0" dirty="0">
                <a:solidFill>
                  <a:srgbClr val="404040"/>
                </a:solidFill>
                <a:effectLst/>
                <a:latin typeface="DeepSeek-CJK-patch"/>
              </a:rPr>
              <a:t>Let’s discuss </a:t>
            </a:r>
            <a:endParaRPr lang="en-US" b="1" dirty="0"/>
          </a:p>
        </p:txBody>
      </p:sp>
      <p:sp>
        <p:nvSpPr>
          <p:cNvPr id="9" name="Content Placeholder 8">
            <a:extLst>
              <a:ext uri="{FF2B5EF4-FFF2-40B4-BE49-F238E27FC236}">
                <a16:creationId xmlns:a16="http://schemas.microsoft.com/office/drawing/2014/main" id="{E8079BAC-7B62-C52B-1E16-11D650F69F6C}"/>
              </a:ext>
            </a:extLst>
          </p:cNvPr>
          <p:cNvSpPr>
            <a:spLocks noGrp="1"/>
          </p:cNvSpPr>
          <p:nvPr>
            <p:ph idx="1"/>
          </p:nvPr>
        </p:nvSpPr>
        <p:spPr>
          <a:xfrm>
            <a:off x="838200" y="1825625"/>
            <a:ext cx="10854128" cy="4530725"/>
          </a:xfrm>
        </p:spPr>
        <p:txBody>
          <a:bodyPr>
            <a:normAutofit/>
          </a:bodyPr>
          <a:lstStyle/>
          <a:p>
            <a:pPr marL="457200" lvl="1" algn="just">
              <a:lnSpc>
                <a:spcPct val="100000"/>
              </a:lnSpc>
            </a:pPr>
            <a:r>
              <a:rPr lang="en-US" dirty="0">
                <a:latin typeface="+mj-lt"/>
              </a:rPr>
              <a:t>How many of you want to study abroad for higher education (Masters or PhD)? </a:t>
            </a:r>
          </a:p>
        </p:txBody>
      </p:sp>
      <p:cxnSp>
        <p:nvCxnSpPr>
          <p:cNvPr id="4" name="Straight Connector 3">
            <a:extLst>
              <a:ext uri="{FF2B5EF4-FFF2-40B4-BE49-F238E27FC236}">
                <a16:creationId xmlns:a16="http://schemas.microsoft.com/office/drawing/2014/main" id="{E5F6FC7E-897D-7033-0220-88792B559EE4}"/>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6C9DD320-D883-A741-C297-97104A95A1DB}"/>
              </a:ext>
            </a:extLst>
          </p:cNvPr>
          <p:cNvSpPr>
            <a:spLocks noGrp="1"/>
          </p:cNvSpPr>
          <p:nvPr>
            <p:ph type="sldNum" sz="quarter" idx="12"/>
          </p:nvPr>
        </p:nvSpPr>
        <p:spPr/>
        <p:txBody>
          <a:bodyPr/>
          <a:lstStyle/>
          <a:p>
            <a:fld id="{B645EB31-1C62-4062-9511-C82C6CC02C60}" type="slidenum">
              <a:rPr lang="en-US" smtClean="0"/>
              <a:t>6</a:t>
            </a:fld>
            <a:endParaRPr lang="en-US"/>
          </a:p>
        </p:txBody>
      </p:sp>
      <p:pic>
        <p:nvPicPr>
          <p:cNvPr id="7" name="Picture 6">
            <a:extLst>
              <a:ext uri="{FF2B5EF4-FFF2-40B4-BE49-F238E27FC236}">
                <a16:creationId xmlns:a16="http://schemas.microsoft.com/office/drawing/2014/main" id="{794590BE-6850-5C99-A666-D9A87E869518}"/>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92993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DEC87-0B81-3EB6-1902-AF75D0360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BFEAF-3D72-9B20-DDC4-8BC0E9EB1C87}"/>
              </a:ext>
            </a:extLst>
          </p:cNvPr>
          <p:cNvSpPr>
            <a:spLocks noGrp="1"/>
          </p:cNvSpPr>
          <p:nvPr>
            <p:ph type="title"/>
          </p:nvPr>
        </p:nvSpPr>
        <p:spPr>
          <a:xfrm>
            <a:off x="838200" y="237710"/>
            <a:ext cx="10515600" cy="1325563"/>
          </a:xfrm>
        </p:spPr>
        <p:txBody>
          <a:bodyPr/>
          <a:lstStyle/>
          <a:p>
            <a:r>
              <a:rPr lang="en-US" b="1" i="0" dirty="0">
                <a:solidFill>
                  <a:srgbClr val="404040"/>
                </a:solidFill>
                <a:effectLst/>
                <a:latin typeface="DeepSeek-CJK-patch"/>
              </a:rPr>
              <a:t>Let’s discuss </a:t>
            </a:r>
            <a:endParaRPr lang="en-US" b="1" dirty="0"/>
          </a:p>
        </p:txBody>
      </p:sp>
      <p:sp>
        <p:nvSpPr>
          <p:cNvPr id="9" name="Content Placeholder 8">
            <a:extLst>
              <a:ext uri="{FF2B5EF4-FFF2-40B4-BE49-F238E27FC236}">
                <a16:creationId xmlns:a16="http://schemas.microsoft.com/office/drawing/2014/main" id="{BDA861F3-738A-5B8B-829B-1EDF793D5B97}"/>
              </a:ext>
            </a:extLst>
          </p:cNvPr>
          <p:cNvSpPr>
            <a:spLocks noGrp="1"/>
          </p:cNvSpPr>
          <p:nvPr>
            <p:ph idx="1"/>
          </p:nvPr>
        </p:nvSpPr>
        <p:spPr>
          <a:xfrm>
            <a:off x="838200" y="1825626"/>
            <a:ext cx="10854128" cy="1016428"/>
          </a:xfrm>
        </p:spPr>
        <p:txBody>
          <a:bodyPr>
            <a:normAutofit/>
          </a:bodyPr>
          <a:lstStyle/>
          <a:p>
            <a:pPr marL="457200" lvl="1" algn="just">
              <a:lnSpc>
                <a:spcPct val="100000"/>
              </a:lnSpc>
            </a:pPr>
            <a:r>
              <a:rPr lang="en-US" dirty="0">
                <a:latin typeface="+mj-lt"/>
              </a:rPr>
              <a:t>Take out a small piece of paper and </a:t>
            </a:r>
            <a:r>
              <a:rPr lang="en-US" b="1" u="sng" dirty="0">
                <a:latin typeface="+mj-lt"/>
              </a:rPr>
              <a:t>write what you read</a:t>
            </a:r>
            <a:r>
              <a:rPr lang="en-US" dirty="0">
                <a:latin typeface="+mj-lt"/>
              </a:rPr>
              <a:t>:</a:t>
            </a:r>
          </a:p>
        </p:txBody>
      </p:sp>
      <p:cxnSp>
        <p:nvCxnSpPr>
          <p:cNvPr id="4" name="Straight Connector 3">
            <a:extLst>
              <a:ext uri="{FF2B5EF4-FFF2-40B4-BE49-F238E27FC236}">
                <a16:creationId xmlns:a16="http://schemas.microsoft.com/office/drawing/2014/main" id="{A4D0AE22-2519-A33C-D10D-7A18A7B96476}"/>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6A763325-9F99-FFB0-201C-87B09907842F}"/>
              </a:ext>
            </a:extLst>
          </p:cNvPr>
          <p:cNvSpPr>
            <a:spLocks noGrp="1"/>
          </p:cNvSpPr>
          <p:nvPr>
            <p:ph type="sldNum" sz="quarter" idx="12"/>
          </p:nvPr>
        </p:nvSpPr>
        <p:spPr/>
        <p:txBody>
          <a:bodyPr/>
          <a:lstStyle/>
          <a:p>
            <a:fld id="{B645EB31-1C62-4062-9511-C82C6CC02C60}" type="slidenum">
              <a:rPr lang="en-US" smtClean="0"/>
              <a:t>7</a:t>
            </a:fld>
            <a:endParaRPr lang="en-US"/>
          </a:p>
        </p:txBody>
      </p:sp>
      <p:pic>
        <p:nvPicPr>
          <p:cNvPr id="7" name="Picture 6">
            <a:extLst>
              <a:ext uri="{FF2B5EF4-FFF2-40B4-BE49-F238E27FC236}">
                <a16:creationId xmlns:a16="http://schemas.microsoft.com/office/drawing/2014/main" id="{3509A0E0-E286-3F51-05C8-CFEBC06D6E4E}"/>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
        <p:nvSpPr>
          <p:cNvPr id="6" name="TextBox 5">
            <a:extLst>
              <a:ext uri="{FF2B5EF4-FFF2-40B4-BE49-F238E27FC236}">
                <a16:creationId xmlns:a16="http://schemas.microsoft.com/office/drawing/2014/main" id="{716351F6-ABD2-EBF7-FA0C-03D346D199E3}"/>
              </a:ext>
            </a:extLst>
          </p:cNvPr>
          <p:cNvSpPr txBox="1"/>
          <p:nvPr/>
        </p:nvSpPr>
        <p:spPr>
          <a:xfrm>
            <a:off x="5974492" y="3225114"/>
            <a:ext cx="987771" cy="707886"/>
          </a:xfrm>
          <a:prstGeom prst="rect">
            <a:avLst/>
          </a:prstGeom>
          <a:noFill/>
        </p:spPr>
        <p:txBody>
          <a:bodyPr wrap="none" rtlCol="0">
            <a:spAutoFit/>
          </a:bodyPr>
          <a:lstStyle/>
          <a:p>
            <a:r>
              <a:rPr lang="en-US" sz="4000" dirty="0"/>
              <a:t>Esc</a:t>
            </a:r>
            <a:endParaRPr lang="en-US" sz="4000" baseline="-25000" dirty="0"/>
          </a:p>
        </p:txBody>
      </p:sp>
      <p:sp>
        <p:nvSpPr>
          <p:cNvPr id="8" name="TextBox 7">
            <a:extLst>
              <a:ext uri="{FF2B5EF4-FFF2-40B4-BE49-F238E27FC236}">
                <a16:creationId xmlns:a16="http://schemas.microsoft.com/office/drawing/2014/main" id="{75FE2899-4B7E-5149-6F57-8B1E0175DB91}"/>
              </a:ext>
            </a:extLst>
          </p:cNvPr>
          <p:cNvSpPr txBox="1"/>
          <p:nvPr/>
        </p:nvSpPr>
        <p:spPr>
          <a:xfrm>
            <a:off x="3346622" y="2443988"/>
            <a:ext cx="1085554" cy="707886"/>
          </a:xfrm>
          <a:prstGeom prst="rect">
            <a:avLst/>
          </a:prstGeom>
          <a:noFill/>
        </p:spPr>
        <p:txBody>
          <a:bodyPr wrap="none" rtlCol="0">
            <a:spAutoFit/>
          </a:bodyPr>
          <a:lstStyle/>
          <a:p>
            <a:r>
              <a:rPr lang="en-US" sz="4000" dirty="0"/>
              <a:t>CH</a:t>
            </a:r>
            <a:r>
              <a:rPr lang="en-US" sz="4000" baseline="-25000" dirty="0"/>
              <a:t>4</a:t>
            </a:r>
          </a:p>
        </p:txBody>
      </p:sp>
      <p:sp>
        <p:nvSpPr>
          <p:cNvPr id="12" name="Content Placeholder 8">
            <a:extLst>
              <a:ext uri="{FF2B5EF4-FFF2-40B4-BE49-F238E27FC236}">
                <a16:creationId xmlns:a16="http://schemas.microsoft.com/office/drawing/2014/main" id="{F1126F89-8BFE-3C07-3C18-94034B4746FA}"/>
              </a:ext>
            </a:extLst>
          </p:cNvPr>
          <p:cNvSpPr txBox="1">
            <a:spLocks/>
          </p:cNvSpPr>
          <p:nvPr/>
        </p:nvSpPr>
        <p:spPr>
          <a:xfrm>
            <a:off x="838200" y="4160448"/>
            <a:ext cx="10854128" cy="22465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algn="just">
              <a:lnSpc>
                <a:spcPct val="100000"/>
              </a:lnSpc>
            </a:pPr>
            <a:r>
              <a:rPr lang="en-US" dirty="0">
                <a:latin typeface="+mj-lt"/>
              </a:rPr>
              <a:t>Becoming </a:t>
            </a:r>
            <a:r>
              <a:rPr lang="en-US" b="1" u="sng" dirty="0">
                <a:latin typeface="+mj-lt"/>
              </a:rPr>
              <a:t>educated</a:t>
            </a:r>
            <a:r>
              <a:rPr lang="en-US" dirty="0">
                <a:latin typeface="+mj-lt"/>
              </a:rPr>
              <a:t> is </a:t>
            </a:r>
            <a:r>
              <a:rPr lang="en-US" b="1" u="sng" dirty="0">
                <a:latin typeface="+mj-lt"/>
              </a:rPr>
              <a:t>more important than</a:t>
            </a:r>
            <a:r>
              <a:rPr lang="en-US" dirty="0">
                <a:latin typeface="+mj-lt"/>
              </a:rPr>
              <a:t> just being </a:t>
            </a:r>
            <a:r>
              <a:rPr lang="en-US" b="1" u="sng" dirty="0">
                <a:latin typeface="+mj-lt"/>
              </a:rPr>
              <a:t>literate</a:t>
            </a:r>
          </a:p>
          <a:p>
            <a:pPr marL="457200" lvl="1" algn="just">
              <a:lnSpc>
                <a:spcPct val="100000"/>
              </a:lnSpc>
            </a:pPr>
            <a:r>
              <a:rPr lang="en-US" dirty="0">
                <a:latin typeface="+mj-lt"/>
              </a:rPr>
              <a:t>Moreover, </a:t>
            </a:r>
            <a:r>
              <a:rPr lang="en-US" b="1" u="sng" dirty="0">
                <a:latin typeface="+mj-lt"/>
              </a:rPr>
              <a:t>morally educated</a:t>
            </a:r>
            <a:r>
              <a:rPr lang="en-US" dirty="0">
                <a:latin typeface="+mj-lt"/>
              </a:rPr>
              <a:t> (</a:t>
            </a:r>
            <a:r>
              <a:rPr lang="as-IN" dirty="0"/>
              <a:t>সুশিক্ষিত</a:t>
            </a:r>
            <a:r>
              <a:rPr lang="en-US" dirty="0">
                <a:latin typeface="+mj-lt"/>
              </a:rPr>
              <a:t>) is </a:t>
            </a:r>
            <a:r>
              <a:rPr lang="en-US" b="1" u="sng" dirty="0">
                <a:latin typeface="+mj-lt"/>
              </a:rPr>
              <a:t>way </a:t>
            </a:r>
            <a:r>
              <a:rPr lang="en-US" b="1" u="sng" dirty="0" err="1">
                <a:latin typeface="+mj-lt"/>
              </a:rPr>
              <a:t>way</a:t>
            </a:r>
            <a:r>
              <a:rPr lang="en-US" b="1" u="sng" dirty="0">
                <a:latin typeface="+mj-lt"/>
              </a:rPr>
              <a:t> </a:t>
            </a:r>
            <a:r>
              <a:rPr lang="en-US" b="1" u="sng" dirty="0" err="1">
                <a:latin typeface="+mj-lt"/>
              </a:rPr>
              <a:t>way</a:t>
            </a:r>
            <a:r>
              <a:rPr lang="en-US" b="1" u="sng" dirty="0">
                <a:latin typeface="+mj-lt"/>
              </a:rPr>
              <a:t> more important than</a:t>
            </a:r>
            <a:r>
              <a:rPr lang="en-US" dirty="0">
                <a:latin typeface="+mj-lt"/>
              </a:rPr>
              <a:t> just being </a:t>
            </a:r>
            <a:r>
              <a:rPr lang="en-US" b="1" u="sng" dirty="0">
                <a:latin typeface="+mj-lt"/>
              </a:rPr>
              <a:t>educated</a:t>
            </a:r>
            <a:r>
              <a:rPr lang="en-US" dirty="0">
                <a:latin typeface="+mj-lt"/>
              </a:rPr>
              <a:t>. In fact, there is </a:t>
            </a:r>
            <a:r>
              <a:rPr lang="en-US" b="1" u="sng" dirty="0">
                <a:latin typeface="+mj-lt"/>
              </a:rPr>
              <a:t>no alternative to being morally educated</a:t>
            </a:r>
            <a:r>
              <a:rPr lang="en-US" dirty="0">
                <a:latin typeface="+mj-lt"/>
              </a:rPr>
              <a:t>.</a:t>
            </a:r>
            <a:endParaRPr lang="en-US" b="1" u="sng" dirty="0">
              <a:latin typeface="+mj-lt"/>
            </a:endParaRPr>
          </a:p>
          <a:p>
            <a:pPr marL="457200" lvl="1" algn="just">
              <a:lnSpc>
                <a:spcPct val="100000"/>
              </a:lnSpc>
            </a:pPr>
            <a:endParaRPr lang="en-US" b="1" u="sng" dirty="0">
              <a:latin typeface="+mj-lt"/>
            </a:endParaRPr>
          </a:p>
          <a:p>
            <a:pPr marL="228600" lvl="1" indent="0" algn="ctr">
              <a:lnSpc>
                <a:spcPct val="100000"/>
              </a:lnSpc>
              <a:buNone/>
            </a:pPr>
            <a:r>
              <a:rPr lang="en-US" b="1" u="sng" dirty="0">
                <a:latin typeface="+mj-lt"/>
              </a:rPr>
              <a:t>Morally Educated &gt;&gt;&gt;&gt;&gt;&gt; Educated &gt;&gt; Literate </a:t>
            </a:r>
          </a:p>
        </p:txBody>
      </p:sp>
    </p:spTree>
    <p:extLst>
      <p:ext uri="{BB962C8B-B14F-4D97-AF65-F5344CB8AC3E}">
        <p14:creationId xmlns:p14="http://schemas.microsoft.com/office/powerpoint/2010/main" val="311131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017C8-40EB-3A42-BF04-DF1354725FE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B1A46B2-574B-6CEA-66F1-0828BC19A21F}"/>
              </a:ext>
            </a:extLst>
          </p:cNvPr>
          <p:cNvPicPr>
            <a:picLocks noChangeAspect="1"/>
          </p:cNvPicPr>
          <p:nvPr/>
        </p:nvPicPr>
        <p:blipFill>
          <a:blip r:embed="rId2"/>
          <a:stretch>
            <a:fillRect/>
          </a:stretch>
        </p:blipFill>
        <p:spPr>
          <a:xfrm>
            <a:off x="8023156" y="4751761"/>
            <a:ext cx="3448531" cy="2010056"/>
          </a:xfrm>
          <a:prstGeom prst="rect">
            <a:avLst/>
          </a:prstGeom>
        </p:spPr>
      </p:pic>
      <p:sp>
        <p:nvSpPr>
          <p:cNvPr id="2" name="Title 1">
            <a:extLst>
              <a:ext uri="{FF2B5EF4-FFF2-40B4-BE49-F238E27FC236}">
                <a16:creationId xmlns:a16="http://schemas.microsoft.com/office/drawing/2014/main" id="{B5833742-3810-8A87-B8F0-4B3652EB6C11}"/>
              </a:ext>
            </a:extLst>
          </p:cNvPr>
          <p:cNvSpPr>
            <a:spLocks noGrp="1"/>
          </p:cNvSpPr>
          <p:nvPr>
            <p:ph type="title"/>
          </p:nvPr>
        </p:nvSpPr>
        <p:spPr/>
        <p:txBody>
          <a:bodyPr/>
          <a:lstStyle/>
          <a:p>
            <a:r>
              <a:rPr lang="en-US" b="1" dirty="0"/>
              <a:t>Introduction</a:t>
            </a:r>
          </a:p>
        </p:txBody>
      </p:sp>
      <p:sp>
        <p:nvSpPr>
          <p:cNvPr id="9" name="Content Placeholder 8">
            <a:extLst>
              <a:ext uri="{FF2B5EF4-FFF2-40B4-BE49-F238E27FC236}">
                <a16:creationId xmlns:a16="http://schemas.microsoft.com/office/drawing/2014/main" id="{301AB34B-68C7-1D23-18F3-7B3FB74DA56C}"/>
              </a:ext>
            </a:extLst>
          </p:cNvPr>
          <p:cNvSpPr>
            <a:spLocks noGrp="1"/>
          </p:cNvSpPr>
          <p:nvPr>
            <p:ph idx="1"/>
          </p:nvPr>
        </p:nvSpPr>
        <p:spPr>
          <a:xfrm>
            <a:off x="652072" y="1825625"/>
            <a:ext cx="11040256" cy="2604272"/>
          </a:xfrm>
        </p:spPr>
        <p:txBody>
          <a:bodyPr>
            <a:normAutofit fontScale="85000" lnSpcReduction="10000"/>
          </a:bodyPr>
          <a:lstStyle/>
          <a:p>
            <a:pPr algn="just"/>
            <a:r>
              <a:rPr lang="en-US" b="1" i="1" dirty="0">
                <a:latin typeface="+mj-lt"/>
              </a:rPr>
              <a:t>Machine Learning</a:t>
            </a:r>
            <a:r>
              <a:rPr lang="en-US" dirty="0">
                <a:latin typeface="+mj-lt"/>
              </a:rPr>
              <a:t> (ML) is a subset of </a:t>
            </a:r>
            <a:r>
              <a:rPr lang="en-US" b="1" i="1" dirty="0">
                <a:latin typeface="+mj-lt"/>
              </a:rPr>
              <a:t>Artificial Intelligence</a:t>
            </a:r>
            <a:r>
              <a:rPr lang="en-US" dirty="0">
                <a:latin typeface="+mj-lt"/>
              </a:rPr>
              <a:t> (AI) focused on enabling computers to learn from data without explicit programming for each task</a:t>
            </a:r>
          </a:p>
          <a:p>
            <a:pPr algn="just"/>
            <a:r>
              <a:rPr lang="en-US" dirty="0">
                <a:latin typeface="+mj-lt"/>
              </a:rPr>
              <a:t>It mimics human-like learning by identifying patterns and making data-driven decisions</a:t>
            </a:r>
          </a:p>
          <a:p>
            <a:pPr algn="just"/>
            <a:r>
              <a:rPr lang="en-US" dirty="0">
                <a:latin typeface="+mj-lt"/>
              </a:rPr>
              <a:t>ML relies on statistical techniques to train algorithms and generate predictions</a:t>
            </a:r>
          </a:p>
          <a:p>
            <a:pPr algn="just"/>
            <a:r>
              <a:rPr lang="en-US" dirty="0">
                <a:latin typeface="+mj-lt"/>
              </a:rPr>
              <a:t>By leveraging historical data, these algorithms provide valuable insights that help businesses make informed, intelligent decisions.</a:t>
            </a:r>
          </a:p>
        </p:txBody>
      </p:sp>
      <p:cxnSp>
        <p:nvCxnSpPr>
          <p:cNvPr id="4" name="Straight Connector 3">
            <a:extLst>
              <a:ext uri="{FF2B5EF4-FFF2-40B4-BE49-F238E27FC236}">
                <a16:creationId xmlns:a16="http://schemas.microsoft.com/office/drawing/2014/main" id="{DC897382-8C4E-FF88-7AB6-17807E801393}"/>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3D707624-0DCF-5D18-21AB-2CD06482FF06}"/>
              </a:ext>
            </a:extLst>
          </p:cNvPr>
          <p:cNvSpPr>
            <a:spLocks noGrp="1"/>
          </p:cNvSpPr>
          <p:nvPr>
            <p:ph type="sldNum" sz="quarter" idx="12"/>
          </p:nvPr>
        </p:nvSpPr>
        <p:spPr/>
        <p:txBody>
          <a:bodyPr/>
          <a:lstStyle/>
          <a:p>
            <a:fld id="{B645EB31-1C62-4062-9511-C82C6CC02C60}" type="slidenum">
              <a:rPr lang="en-US" smtClean="0"/>
              <a:t>8</a:t>
            </a:fld>
            <a:endParaRPr lang="en-US"/>
          </a:p>
        </p:txBody>
      </p:sp>
      <p:pic>
        <p:nvPicPr>
          <p:cNvPr id="7" name="Picture 6">
            <a:extLst>
              <a:ext uri="{FF2B5EF4-FFF2-40B4-BE49-F238E27FC236}">
                <a16:creationId xmlns:a16="http://schemas.microsoft.com/office/drawing/2014/main" id="{C9BBDFBA-D5E2-0031-A3E5-CBB6158CB7A9}"/>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pic>
        <p:nvPicPr>
          <p:cNvPr id="8" name="Picture 7">
            <a:extLst>
              <a:ext uri="{FF2B5EF4-FFF2-40B4-BE49-F238E27FC236}">
                <a16:creationId xmlns:a16="http://schemas.microsoft.com/office/drawing/2014/main" id="{7E8B4F67-F9DB-9991-DDA8-ED6062033F87}"/>
              </a:ext>
            </a:extLst>
          </p:cNvPr>
          <p:cNvPicPr>
            <a:picLocks noChangeAspect="1"/>
          </p:cNvPicPr>
          <p:nvPr/>
        </p:nvPicPr>
        <p:blipFill>
          <a:blip r:embed="rId4"/>
          <a:stretch>
            <a:fillRect/>
          </a:stretch>
        </p:blipFill>
        <p:spPr>
          <a:xfrm>
            <a:off x="814086" y="4397438"/>
            <a:ext cx="6572588" cy="1682836"/>
          </a:xfrm>
          <a:prstGeom prst="rect">
            <a:avLst/>
          </a:prstGeom>
        </p:spPr>
      </p:pic>
      <p:sp>
        <p:nvSpPr>
          <p:cNvPr id="10" name="TextBox 9">
            <a:extLst>
              <a:ext uri="{FF2B5EF4-FFF2-40B4-BE49-F238E27FC236}">
                <a16:creationId xmlns:a16="http://schemas.microsoft.com/office/drawing/2014/main" id="{21B187BC-E128-55A3-D404-153064021E40}"/>
              </a:ext>
            </a:extLst>
          </p:cNvPr>
          <p:cNvSpPr txBox="1"/>
          <p:nvPr/>
        </p:nvSpPr>
        <p:spPr>
          <a:xfrm>
            <a:off x="3017519" y="6121223"/>
            <a:ext cx="2165721" cy="323165"/>
          </a:xfrm>
          <a:prstGeom prst="rect">
            <a:avLst/>
          </a:prstGeom>
          <a:noFill/>
        </p:spPr>
        <p:txBody>
          <a:bodyPr wrap="none" rtlCol="0">
            <a:spAutoFit/>
          </a:bodyPr>
          <a:lstStyle/>
          <a:p>
            <a:r>
              <a:rPr lang="en-US" sz="1500" b="1" i="1" dirty="0"/>
              <a:t>Source</a:t>
            </a:r>
            <a:r>
              <a:rPr lang="en-US" sz="1500" dirty="0"/>
              <a:t>: </a:t>
            </a:r>
            <a:r>
              <a:rPr lang="en-US" sz="1500" dirty="0" err="1"/>
              <a:t>GeeksforGeeks</a:t>
            </a:r>
            <a:endParaRPr lang="en-US" sz="1500" dirty="0"/>
          </a:p>
        </p:txBody>
      </p:sp>
      <p:sp>
        <p:nvSpPr>
          <p:cNvPr id="11" name="Speech Bubble: Oval 10">
            <a:extLst>
              <a:ext uri="{FF2B5EF4-FFF2-40B4-BE49-F238E27FC236}">
                <a16:creationId xmlns:a16="http://schemas.microsoft.com/office/drawing/2014/main" id="{4890D7F6-2552-A38C-2B64-F54787AC5834}"/>
              </a:ext>
            </a:extLst>
          </p:cNvPr>
          <p:cNvSpPr/>
          <p:nvPr/>
        </p:nvSpPr>
        <p:spPr>
          <a:xfrm>
            <a:off x="8662086" y="4091544"/>
            <a:ext cx="1402492" cy="834081"/>
          </a:xfrm>
          <a:prstGeom prst="wedgeEllipse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dirty="0">
                <a:solidFill>
                  <a:schemeClr val="tx1"/>
                </a:solidFill>
                <a:latin typeface="Comic Sans MS" panose="030F0702030302020204" pitchFamily="66" charset="0"/>
              </a:rPr>
              <a:t>I can learn from experience. Can you?</a:t>
            </a:r>
          </a:p>
        </p:txBody>
      </p:sp>
      <p:sp>
        <p:nvSpPr>
          <p:cNvPr id="12" name="Speech Bubble: Oval 11">
            <a:extLst>
              <a:ext uri="{FF2B5EF4-FFF2-40B4-BE49-F238E27FC236}">
                <a16:creationId xmlns:a16="http://schemas.microsoft.com/office/drawing/2014/main" id="{90F16EFF-6CC3-3E2B-F67A-F1D8738CCAB1}"/>
              </a:ext>
            </a:extLst>
          </p:cNvPr>
          <p:cNvSpPr/>
          <p:nvPr/>
        </p:nvSpPr>
        <p:spPr>
          <a:xfrm>
            <a:off x="10372928" y="4055748"/>
            <a:ext cx="1402492" cy="834081"/>
          </a:xfrm>
          <a:prstGeom prst="wedgeEllipse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50" dirty="0">
                <a:solidFill>
                  <a:schemeClr val="tx1"/>
                </a:solidFill>
                <a:latin typeface="Comic Sans MS" panose="030F0702030302020204" pitchFamily="66" charset="0"/>
              </a:rPr>
              <a:t>Yes, I can learn from past data with ML</a:t>
            </a:r>
          </a:p>
        </p:txBody>
      </p:sp>
    </p:spTree>
    <p:extLst>
      <p:ext uri="{BB962C8B-B14F-4D97-AF65-F5344CB8AC3E}">
        <p14:creationId xmlns:p14="http://schemas.microsoft.com/office/powerpoint/2010/main" val="452247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5FC4-DAC1-B172-9566-49761A3E6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3E5D0-CB13-37EA-6EC3-1AEDCD69E2C9}"/>
              </a:ext>
            </a:extLst>
          </p:cNvPr>
          <p:cNvSpPr>
            <a:spLocks noGrp="1"/>
          </p:cNvSpPr>
          <p:nvPr>
            <p:ph type="title"/>
          </p:nvPr>
        </p:nvSpPr>
        <p:spPr/>
        <p:txBody>
          <a:bodyPr/>
          <a:lstStyle/>
          <a:p>
            <a:r>
              <a:rPr lang="en-US" b="1" dirty="0"/>
              <a:t>ML, AI and Deep Leaning (DL)</a:t>
            </a:r>
          </a:p>
        </p:txBody>
      </p:sp>
      <p:graphicFrame>
        <p:nvGraphicFramePr>
          <p:cNvPr id="3" name="Content Placeholder 2">
            <a:extLst>
              <a:ext uri="{FF2B5EF4-FFF2-40B4-BE49-F238E27FC236}">
                <a16:creationId xmlns:a16="http://schemas.microsoft.com/office/drawing/2014/main" id="{144704BB-1F49-7706-6974-0329B1CB5258}"/>
              </a:ext>
            </a:extLst>
          </p:cNvPr>
          <p:cNvGraphicFramePr>
            <a:graphicFrameLocks noGrp="1"/>
          </p:cNvGraphicFramePr>
          <p:nvPr>
            <p:ph idx="1"/>
            <p:extLst>
              <p:ext uri="{D42A27DB-BD31-4B8C-83A1-F6EECF244321}">
                <p14:modId xmlns:p14="http://schemas.microsoft.com/office/powerpoint/2010/main" val="2287421020"/>
              </p:ext>
            </p:extLst>
          </p:nvPr>
        </p:nvGraphicFramePr>
        <p:xfrm>
          <a:off x="838200" y="1825625"/>
          <a:ext cx="10515600" cy="4307840"/>
        </p:xfrm>
        <a:graphic>
          <a:graphicData uri="http://schemas.openxmlformats.org/drawingml/2006/table">
            <a:tbl>
              <a:tblPr firstRow="1" bandRow="1">
                <a:tableStyleId>{073A0DAA-6AF3-43AB-8588-CEC1D06C72B9}</a:tableStyleId>
              </a:tblPr>
              <a:tblGrid>
                <a:gridCol w="2628900">
                  <a:extLst>
                    <a:ext uri="{9D8B030D-6E8A-4147-A177-3AD203B41FA5}">
                      <a16:colId xmlns:a16="http://schemas.microsoft.com/office/drawing/2014/main" val="1847111991"/>
                    </a:ext>
                  </a:extLst>
                </a:gridCol>
                <a:gridCol w="2628900">
                  <a:extLst>
                    <a:ext uri="{9D8B030D-6E8A-4147-A177-3AD203B41FA5}">
                      <a16:colId xmlns:a16="http://schemas.microsoft.com/office/drawing/2014/main" val="2275528180"/>
                    </a:ext>
                  </a:extLst>
                </a:gridCol>
                <a:gridCol w="2628900">
                  <a:extLst>
                    <a:ext uri="{9D8B030D-6E8A-4147-A177-3AD203B41FA5}">
                      <a16:colId xmlns:a16="http://schemas.microsoft.com/office/drawing/2014/main" val="738086086"/>
                    </a:ext>
                  </a:extLst>
                </a:gridCol>
                <a:gridCol w="2628900">
                  <a:extLst>
                    <a:ext uri="{9D8B030D-6E8A-4147-A177-3AD203B41FA5}">
                      <a16:colId xmlns:a16="http://schemas.microsoft.com/office/drawing/2014/main" val="3248778505"/>
                    </a:ext>
                  </a:extLst>
                </a:gridCol>
              </a:tblGrid>
              <a:tr h="370840">
                <a:tc>
                  <a:txBody>
                    <a:bodyPr/>
                    <a:lstStyle/>
                    <a:p>
                      <a:endParaRPr lang="en-US" dirty="0"/>
                    </a:p>
                  </a:txBody>
                  <a:tcPr/>
                </a:tc>
                <a:tc>
                  <a:txBody>
                    <a:bodyPr/>
                    <a:lstStyle/>
                    <a:p>
                      <a:r>
                        <a:rPr lang="en-US" dirty="0"/>
                        <a:t>AI</a:t>
                      </a:r>
                    </a:p>
                  </a:txBody>
                  <a:tcPr/>
                </a:tc>
                <a:tc>
                  <a:txBody>
                    <a:bodyPr/>
                    <a:lstStyle/>
                    <a:p>
                      <a:r>
                        <a:rPr lang="en-US" dirty="0"/>
                        <a:t>ML</a:t>
                      </a:r>
                    </a:p>
                  </a:txBody>
                  <a:tcPr/>
                </a:tc>
                <a:tc>
                  <a:txBody>
                    <a:bodyPr/>
                    <a:lstStyle/>
                    <a:p>
                      <a:r>
                        <a:rPr lang="en-US" dirty="0"/>
                        <a:t>DL</a:t>
                      </a:r>
                    </a:p>
                  </a:txBody>
                  <a:tcPr/>
                </a:tc>
                <a:extLst>
                  <a:ext uri="{0D108BD9-81ED-4DB2-BD59-A6C34878D82A}">
                    <a16:rowId xmlns:a16="http://schemas.microsoft.com/office/drawing/2014/main" val="369909739"/>
                  </a:ext>
                </a:extLst>
              </a:tr>
              <a:tr h="370840">
                <a:tc>
                  <a:txBody>
                    <a:bodyPr/>
                    <a:lstStyle/>
                    <a:p>
                      <a:r>
                        <a:rPr lang="en-US" b="1" dirty="0"/>
                        <a:t>Definition</a:t>
                      </a:r>
                    </a:p>
                  </a:txBody>
                  <a:tcPr/>
                </a:tc>
                <a:tc>
                  <a:txBody>
                    <a:bodyPr/>
                    <a:lstStyle/>
                    <a:p>
                      <a:r>
                        <a:rPr lang="en-US" sz="1800" b="0" kern="1200" dirty="0">
                          <a:solidFill>
                            <a:schemeClr val="dk1"/>
                          </a:solidFill>
                          <a:effectLst/>
                        </a:rPr>
                        <a:t>Machines that mimic human intelligence (e.g., reasoning, learning, decision-making)</a:t>
                      </a:r>
                      <a:endParaRPr lang="en-US" dirty="0"/>
                    </a:p>
                  </a:txBody>
                  <a:tcPr/>
                </a:tc>
                <a:tc>
                  <a:txBody>
                    <a:bodyPr/>
                    <a:lstStyle/>
                    <a:p>
                      <a:r>
                        <a:rPr lang="en-US" sz="1800" b="0" kern="1200" dirty="0">
                          <a:solidFill>
                            <a:schemeClr val="dk1"/>
                          </a:solidFill>
                          <a:effectLst/>
                        </a:rPr>
                        <a:t>A </a:t>
                      </a:r>
                      <a:r>
                        <a:rPr lang="en-US" sz="1800" b="1" kern="1200" dirty="0">
                          <a:solidFill>
                            <a:schemeClr val="dk1"/>
                          </a:solidFill>
                          <a:effectLst/>
                        </a:rPr>
                        <a:t>subset of AI</a:t>
                      </a:r>
                      <a:r>
                        <a:rPr lang="en-US" sz="1800" b="0" kern="1200" dirty="0">
                          <a:solidFill>
                            <a:schemeClr val="dk1"/>
                          </a:solidFill>
                          <a:effectLst/>
                        </a:rPr>
                        <a:t> where machines learn from data without explicit programming</a:t>
                      </a:r>
                      <a:endParaRPr lang="en-US" dirty="0"/>
                    </a:p>
                  </a:txBody>
                  <a:tcPr/>
                </a:tc>
                <a:tc>
                  <a:txBody>
                    <a:bodyPr/>
                    <a:lstStyle/>
                    <a:p>
                      <a:r>
                        <a:rPr lang="en-US" sz="1800" b="0" kern="1200" dirty="0">
                          <a:solidFill>
                            <a:schemeClr val="dk1"/>
                          </a:solidFill>
                          <a:effectLst/>
                        </a:rPr>
                        <a:t>A </a:t>
                      </a:r>
                      <a:r>
                        <a:rPr lang="en-US" sz="1800" b="1" kern="1200" dirty="0">
                          <a:solidFill>
                            <a:schemeClr val="dk1"/>
                          </a:solidFill>
                          <a:effectLst/>
                        </a:rPr>
                        <a:t>subset of ML</a:t>
                      </a:r>
                      <a:r>
                        <a:rPr lang="en-US" sz="1800" b="0" kern="1200" dirty="0">
                          <a:solidFill>
                            <a:schemeClr val="dk1"/>
                          </a:solidFill>
                          <a:effectLst/>
                        </a:rPr>
                        <a:t> that uses neural networks with many layers ("deep" structures) to learn patterns</a:t>
                      </a:r>
                      <a:endParaRPr lang="en-US" dirty="0"/>
                    </a:p>
                  </a:txBody>
                  <a:tcPr/>
                </a:tc>
                <a:extLst>
                  <a:ext uri="{0D108BD9-81ED-4DB2-BD59-A6C34878D82A}">
                    <a16:rowId xmlns:a16="http://schemas.microsoft.com/office/drawing/2014/main" val="4016730266"/>
                  </a:ext>
                </a:extLst>
              </a:tr>
              <a:tr h="370840">
                <a:tc>
                  <a:txBody>
                    <a:bodyPr/>
                    <a:lstStyle/>
                    <a:p>
                      <a:r>
                        <a:rPr lang="en-US" b="1" dirty="0"/>
                        <a:t>Definition in lay terms</a:t>
                      </a:r>
                    </a:p>
                  </a:txBody>
                  <a:tcPr/>
                </a:tc>
                <a:tc>
                  <a:txBody>
                    <a:bodyPr/>
                    <a:lstStyle/>
                    <a:p>
                      <a:r>
                        <a:rPr lang="en-US" sz="1800" b="0" kern="1200" dirty="0">
                          <a:solidFill>
                            <a:schemeClr val="dk1"/>
                          </a:solidFill>
                          <a:effectLst/>
                        </a:rPr>
                        <a:t>The big picture</a:t>
                      </a:r>
                      <a:endParaRPr lang="en-US" dirty="0"/>
                    </a:p>
                  </a:txBody>
                  <a:tcPr/>
                </a:tc>
                <a:tc>
                  <a:txBody>
                    <a:bodyPr/>
                    <a:lstStyle/>
                    <a:p>
                      <a:r>
                        <a:rPr lang="en-US" sz="1800" b="0" kern="1200" dirty="0">
                          <a:solidFill>
                            <a:schemeClr val="dk1"/>
                          </a:solidFill>
                          <a:effectLst/>
                        </a:rPr>
                        <a:t>AI’s learning engine</a:t>
                      </a:r>
                      <a:endParaRPr lang="en-US" dirty="0"/>
                    </a:p>
                  </a:txBody>
                  <a:tcPr/>
                </a:tc>
                <a:tc>
                  <a:txBody>
                    <a:bodyPr/>
                    <a:lstStyle/>
                    <a:p>
                      <a:r>
                        <a:rPr lang="en-US" sz="1800" b="0" kern="1200" dirty="0">
                          <a:solidFill>
                            <a:schemeClr val="dk1"/>
                          </a:solidFill>
                          <a:effectLst/>
                        </a:rPr>
                        <a:t>ML’s supercharged brain for tough tasks</a:t>
                      </a:r>
                      <a:endParaRPr lang="en-US" dirty="0"/>
                    </a:p>
                  </a:txBody>
                  <a:tcPr/>
                </a:tc>
                <a:extLst>
                  <a:ext uri="{0D108BD9-81ED-4DB2-BD59-A6C34878D82A}">
                    <a16:rowId xmlns:a16="http://schemas.microsoft.com/office/drawing/2014/main" val="2441391839"/>
                  </a:ext>
                </a:extLst>
              </a:tr>
              <a:tr h="370840">
                <a:tc>
                  <a:txBody>
                    <a:bodyPr/>
                    <a:lstStyle/>
                    <a:p>
                      <a:r>
                        <a:rPr lang="en-US" b="1" dirty="0"/>
                        <a:t>Example</a:t>
                      </a:r>
                    </a:p>
                  </a:txBody>
                  <a:tcPr/>
                </a:tc>
                <a:tc gridSpan="3">
                  <a:txBody>
                    <a:bodyPr/>
                    <a:lstStyle/>
                    <a:p>
                      <a:pPr algn="ctr"/>
                      <a:r>
                        <a:rPr lang="en-US" b="1" dirty="0"/>
                        <a:t>Imagine building a self-driving car</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468535432"/>
                  </a:ext>
                </a:extLst>
              </a:tr>
              <a:tr h="370840">
                <a:tc>
                  <a:txBody>
                    <a:bodyPr/>
                    <a:lstStyle/>
                    <a:p>
                      <a:endParaRPr lang="en-US" dirty="0"/>
                    </a:p>
                  </a:txBody>
                  <a:tcPr/>
                </a:tc>
                <a:tc>
                  <a:txBody>
                    <a:bodyPr/>
                    <a:lstStyle/>
                    <a:p>
                      <a:r>
                        <a:rPr lang="en-US" sz="1800" b="0" kern="1200" dirty="0">
                          <a:solidFill>
                            <a:schemeClr val="dk1"/>
                          </a:solidFill>
                          <a:effectLst/>
                        </a:rPr>
                        <a:t>The car’s ability to drive, obey traffic rules, and avoid collisions</a:t>
                      </a:r>
                      <a:endParaRPr lang="en-US" dirty="0"/>
                    </a:p>
                  </a:txBody>
                  <a:tcPr/>
                </a:tc>
                <a:tc>
                  <a:txBody>
                    <a:bodyPr/>
                    <a:lstStyle/>
                    <a:p>
                      <a:r>
                        <a:rPr lang="en-US" sz="1800" b="0" kern="1200" dirty="0">
                          <a:solidFill>
                            <a:schemeClr val="dk1"/>
                          </a:solidFill>
                          <a:effectLst/>
                        </a:rPr>
                        <a:t>The car learning to recognize stop signs by studying thousands of labeled images</a:t>
                      </a:r>
                      <a:endParaRPr lang="en-US" dirty="0"/>
                    </a:p>
                  </a:txBody>
                  <a:tcPr/>
                </a:tc>
                <a:tc>
                  <a:txBody>
                    <a:bodyPr/>
                    <a:lstStyle/>
                    <a:p>
                      <a:r>
                        <a:rPr lang="en-US" sz="1800" b="0" kern="1200" dirty="0">
                          <a:solidFill>
                            <a:schemeClr val="dk1"/>
                          </a:solidFill>
                          <a:effectLst/>
                        </a:rPr>
                        <a:t>The car figuring out on its own that a blurry red octagon is a stop sign, even if it is partially hidden</a:t>
                      </a:r>
                      <a:endParaRPr lang="en-US" dirty="0"/>
                    </a:p>
                  </a:txBody>
                  <a:tcPr/>
                </a:tc>
                <a:extLst>
                  <a:ext uri="{0D108BD9-81ED-4DB2-BD59-A6C34878D82A}">
                    <a16:rowId xmlns:a16="http://schemas.microsoft.com/office/drawing/2014/main" val="605544524"/>
                  </a:ext>
                </a:extLst>
              </a:tr>
            </a:tbl>
          </a:graphicData>
        </a:graphic>
      </p:graphicFrame>
      <p:cxnSp>
        <p:nvCxnSpPr>
          <p:cNvPr id="4" name="Straight Connector 3">
            <a:extLst>
              <a:ext uri="{FF2B5EF4-FFF2-40B4-BE49-F238E27FC236}">
                <a16:creationId xmlns:a16="http://schemas.microsoft.com/office/drawing/2014/main" id="{C495C0AC-5F59-23B7-B7F7-05F0FC6D7F0B}"/>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688DF6D6-EDF1-7BD9-C91B-DB4C1542A4DD}"/>
              </a:ext>
            </a:extLst>
          </p:cNvPr>
          <p:cNvSpPr>
            <a:spLocks noGrp="1"/>
          </p:cNvSpPr>
          <p:nvPr>
            <p:ph type="sldNum" sz="quarter" idx="12"/>
          </p:nvPr>
        </p:nvSpPr>
        <p:spPr/>
        <p:txBody>
          <a:bodyPr/>
          <a:lstStyle/>
          <a:p>
            <a:fld id="{B645EB31-1C62-4062-9511-C82C6CC02C60}" type="slidenum">
              <a:rPr lang="en-US" smtClean="0"/>
              <a:t>9</a:t>
            </a:fld>
            <a:endParaRPr lang="en-US"/>
          </a:p>
        </p:txBody>
      </p:sp>
      <p:pic>
        <p:nvPicPr>
          <p:cNvPr id="7" name="Picture 6">
            <a:extLst>
              <a:ext uri="{FF2B5EF4-FFF2-40B4-BE49-F238E27FC236}">
                <a16:creationId xmlns:a16="http://schemas.microsoft.com/office/drawing/2014/main" id="{F9073833-8F36-0658-6B85-F933BDC03234}"/>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3778424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15203-416C-6B1B-2236-C8F8822CB137}"/>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C1BC923F-AE6A-6A37-81F4-1827705CFAED}"/>
              </a:ext>
            </a:extLst>
          </p:cNvPr>
          <p:cNvPicPr>
            <a:picLocks noGrp="1" noRot="1" noChangeAspect="1" noMove="1" noResize="1" noEditPoints="1" noAdjustHandles="1" noChangeArrowheads="1" noChangeShapeType="1" noCrop="1"/>
          </p:cNvPicPr>
          <p:nvPr/>
        </p:nvPicPr>
        <p:blipFill>
          <a:blip r:embed="rId2"/>
          <a:stretch>
            <a:fillRect/>
          </a:stretch>
        </p:blipFill>
        <p:spPr>
          <a:xfrm>
            <a:off x="7515821" y="3429000"/>
            <a:ext cx="4377559" cy="2690793"/>
          </a:xfrm>
          <a:prstGeom prst="rect">
            <a:avLst/>
          </a:prstGeom>
        </p:spPr>
      </p:pic>
      <p:sp>
        <p:nvSpPr>
          <p:cNvPr id="2" name="Title 1">
            <a:extLst>
              <a:ext uri="{FF2B5EF4-FFF2-40B4-BE49-F238E27FC236}">
                <a16:creationId xmlns:a16="http://schemas.microsoft.com/office/drawing/2014/main" id="{CD4A39DD-5139-DA62-A84D-B13685404734}"/>
              </a:ext>
            </a:extLst>
          </p:cNvPr>
          <p:cNvSpPr>
            <a:spLocks noGrp="1"/>
          </p:cNvSpPr>
          <p:nvPr>
            <p:ph type="title"/>
          </p:nvPr>
        </p:nvSpPr>
        <p:spPr/>
        <p:txBody>
          <a:bodyPr/>
          <a:lstStyle/>
          <a:p>
            <a:r>
              <a:rPr lang="en-US" b="1" dirty="0"/>
              <a:t>Why ML?</a:t>
            </a:r>
          </a:p>
        </p:txBody>
      </p:sp>
      <p:cxnSp>
        <p:nvCxnSpPr>
          <p:cNvPr id="4" name="Straight Connector 3">
            <a:extLst>
              <a:ext uri="{FF2B5EF4-FFF2-40B4-BE49-F238E27FC236}">
                <a16:creationId xmlns:a16="http://schemas.microsoft.com/office/drawing/2014/main" id="{9109DFA4-660D-1AD5-39A5-A7123C693382}"/>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6000B9CF-718B-AB88-00DC-B9067FB75519}"/>
              </a:ext>
            </a:extLst>
          </p:cNvPr>
          <p:cNvSpPr>
            <a:spLocks noGrp="1"/>
          </p:cNvSpPr>
          <p:nvPr>
            <p:ph type="sldNum" sz="quarter" idx="12"/>
          </p:nvPr>
        </p:nvSpPr>
        <p:spPr/>
        <p:txBody>
          <a:bodyPr/>
          <a:lstStyle/>
          <a:p>
            <a:fld id="{B645EB31-1C62-4062-9511-C82C6CC02C60}" type="slidenum">
              <a:rPr lang="en-US" smtClean="0"/>
              <a:t>10</a:t>
            </a:fld>
            <a:endParaRPr lang="en-US"/>
          </a:p>
        </p:txBody>
      </p:sp>
      <p:pic>
        <p:nvPicPr>
          <p:cNvPr id="7" name="Picture 6">
            <a:extLst>
              <a:ext uri="{FF2B5EF4-FFF2-40B4-BE49-F238E27FC236}">
                <a16:creationId xmlns:a16="http://schemas.microsoft.com/office/drawing/2014/main" id="{AB37E97C-AC6A-9481-1496-8C2964FC58B8}"/>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14" name="Rectangle 6">
            <a:extLst>
              <a:ext uri="{FF2B5EF4-FFF2-40B4-BE49-F238E27FC236}">
                <a16:creationId xmlns:a16="http://schemas.microsoft.com/office/drawing/2014/main" id="{C8EB6027-CFCA-6084-9705-1B8F05DC5BE1}"/>
              </a:ext>
            </a:extLst>
          </p:cNvPr>
          <p:cNvSpPr>
            <a:spLocks noGrp="1" noChangeArrowheads="1"/>
          </p:cNvSpPr>
          <p:nvPr>
            <p:ph idx="1"/>
          </p:nvPr>
        </p:nvSpPr>
        <p:spPr bwMode="auto">
          <a:xfrm>
            <a:off x="652463" y="1544137"/>
            <a:ext cx="11039865" cy="509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500" b="1" i="0" u="none" strike="noStrike" cap="none" normalizeH="0" baseline="0" dirty="0">
                <a:ln>
                  <a:noFill/>
                </a:ln>
                <a:solidFill>
                  <a:schemeClr val="tx1"/>
                </a:solidFill>
                <a:effectLst/>
                <a:latin typeface="+mj-lt"/>
              </a:rPr>
              <a:t>Solving Complex Business Problems</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Excels in areas like image recognition, NLP, and diagnostics</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Learns from data without predefined rules</a:t>
            </a:r>
          </a:p>
          <a:p>
            <a:pPr eaLnBrk="0" fontAlgn="base" hangingPunct="0">
              <a:lnSpc>
                <a:spcPct val="100000"/>
              </a:lnSpc>
              <a:spcBef>
                <a:spcPct val="0"/>
              </a:spcBef>
              <a:spcAft>
                <a:spcPct val="0"/>
              </a:spcAft>
            </a:pPr>
            <a:r>
              <a:rPr kumimoji="0" lang="en-US" altLang="en-US" sz="2500" b="1" i="0" u="none" strike="noStrike" cap="none" normalizeH="0" baseline="0" dirty="0">
                <a:ln>
                  <a:noFill/>
                </a:ln>
                <a:solidFill>
                  <a:schemeClr val="tx1"/>
                </a:solidFill>
                <a:effectLst/>
                <a:latin typeface="+mj-lt"/>
              </a:rPr>
              <a:t>Handling Large Volumes of Data</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Processes massive data generated daily in the internet</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Extracts insights and enables real-time decisions</a:t>
            </a:r>
          </a:p>
          <a:p>
            <a:pPr eaLnBrk="0" fontAlgn="base" hangingPunct="0">
              <a:lnSpc>
                <a:spcPct val="100000"/>
              </a:lnSpc>
              <a:spcBef>
                <a:spcPct val="0"/>
              </a:spcBef>
              <a:spcAft>
                <a:spcPct val="0"/>
              </a:spcAft>
            </a:pPr>
            <a:r>
              <a:rPr kumimoji="0" lang="en-US" altLang="en-US" sz="2500" b="1" i="0" u="none" strike="noStrike" cap="none" normalizeH="0" baseline="0" dirty="0">
                <a:ln>
                  <a:noFill/>
                </a:ln>
                <a:solidFill>
                  <a:schemeClr val="tx1"/>
                </a:solidFill>
                <a:effectLst/>
                <a:latin typeface="+mj-lt"/>
              </a:rPr>
              <a:t>Automating Repetitive Tasks</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Performs routine tasks with precision</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Reduces manual workload and errors</a:t>
            </a:r>
          </a:p>
          <a:p>
            <a:pPr eaLnBrk="0" fontAlgn="base" hangingPunct="0">
              <a:lnSpc>
                <a:spcPct val="100000"/>
              </a:lnSpc>
              <a:spcBef>
                <a:spcPct val="0"/>
              </a:spcBef>
              <a:spcAft>
                <a:spcPct val="0"/>
              </a:spcAft>
            </a:pPr>
            <a:r>
              <a:rPr kumimoji="0" lang="en-US" altLang="en-US" sz="2500" b="1" i="0" u="none" strike="noStrike" cap="none" normalizeH="0" baseline="0" dirty="0">
                <a:ln>
                  <a:noFill/>
                </a:ln>
                <a:solidFill>
                  <a:schemeClr val="tx1"/>
                </a:solidFill>
                <a:effectLst/>
                <a:latin typeface="+mj-lt"/>
              </a:rPr>
              <a:t>Personalized User Experience</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Analyzes user behavior to deliver tailored content</a:t>
            </a:r>
          </a:p>
          <a:p>
            <a:pPr eaLnBrk="0" fontAlgn="base" hangingPunct="0">
              <a:lnSpc>
                <a:spcPct val="100000"/>
              </a:lnSpc>
              <a:spcBef>
                <a:spcPct val="0"/>
              </a:spcBef>
              <a:spcAft>
                <a:spcPct val="0"/>
              </a:spcAft>
            </a:pPr>
            <a:r>
              <a:rPr kumimoji="0" lang="en-US" altLang="en-US" sz="2500" b="1" i="0" u="none" strike="noStrike" cap="none" normalizeH="0" baseline="0" dirty="0">
                <a:ln>
                  <a:noFill/>
                </a:ln>
                <a:solidFill>
                  <a:schemeClr val="tx1"/>
                </a:solidFill>
                <a:effectLst/>
                <a:latin typeface="+mj-lt"/>
              </a:rPr>
              <a:t>Self-Improving Performance</a:t>
            </a:r>
            <a:br>
              <a:rPr kumimoji="0" lang="en-US" altLang="en-US" sz="2500" b="0" i="0" u="none" strike="noStrike" cap="none" normalizeH="0" baseline="0" dirty="0">
                <a:ln>
                  <a:noFill/>
                </a:ln>
                <a:solidFill>
                  <a:schemeClr val="tx1"/>
                </a:solidFill>
                <a:effectLst/>
                <a:latin typeface="+mj-lt"/>
              </a:rPr>
            </a:br>
            <a:r>
              <a:rPr kumimoji="0" lang="en-US" altLang="en-US" sz="2500" b="0" i="0" u="none" strike="noStrike" cap="none" normalizeH="0" baseline="0" dirty="0">
                <a:ln>
                  <a:noFill/>
                </a:ln>
                <a:solidFill>
                  <a:schemeClr val="tx1"/>
                </a:solidFill>
                <a:effectLst/>
                <a:latin typeface="+mj-lt"/>
              </a:rPr>
              <a:t>→ Continuously adapts and refines based on new data</a:t>
            </a:r>
          </a:p>
        </p:txBody>
      </p:sp>
    </p:spTree>
    <p:extLst>
      <p:ext uri="{BB962C8B-B14F-4D97-AF65-F5344CB8AC3E}">
        <p14:creationId xmlns:p14="http://schemas.microsoft.com/office/powerpoint/2010/main" val="411632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4071-21F9-CCA8-DDEE-CFB3E5F10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1BE34-2D7B-54FC-AFAE-8DB7F06718D8}"/>
              </a:ext>
            </a:extLst>
          </p:cNvPr>
          <p:cNvSpPr>
            <a:spLocks noGrp="1"/>
          </p:cNvSpPr>
          <p:nvPr>
            <p:ph type="title"/>
          </p:nvPr>
        </p:nvSpPr>
        <p:spPr/>
        <p:txBody>
          <a:bodyPr/>
          <a:lstStyle/>
          <a:p>
            <a:r>
              <a:rPr lang="en-US" b="1" dirty="0"/>
              <a:t>How ML learns?</a:t>
            </a:r>
          </a:p>
        </p:txBody>
      </p:sp>
      <p:sp>
        <p:nvSpPr>
          <p:cNvPr id="9" name="Content Placeholder 8">
            <a:extLst>
              <a:ext uri="{FF2B5EF4-FFF2-40B4-BE49-F238E27FC236}">
                <a16:creationId xmlns:a16="http://schemas.microsoft.com/office/drawing/2014/main" id="{9C03024E-A30F-6F71-278D-EBA4BE0D416A}"/>
              </a:ext>
            </a:extLst>
          </p:cNvPr>
          <p:cNvSpPr>
            <a:spLocks noGrp="1"/>
          </p:cNvSpPr>
          <p:nvPr>
            <p:ph idx="1"/>
          </p:nvPr>
        </p:nvSpPr>
        <p:spPr>
          <a:xfrm>
            <a:off x="652072" y="1825624"/>
            <a:ext cx="11040256" cy="4328039"/>
          </a:xfrm>
        </p:spPr>
        <p:txBody>
          <a:bodyPr>
            <a:normAutofit fontScale="85000" lnSpcReduction="20000"/>
          </a:bodyPr>
          <a:lstStyle/>
          <a:p>
            <a:pPr marL="514350" indent="-514350" algn="just">
              <a:buFont typeface="+mj-lt"/>
              <a:buAutoNum type="arabicPeriod"/>
            </a:pPr>
            <a:r>
              <a:rPr lang="en-US" b="1" dirty="0"/>
              <a:t>Data Input</a:t>
            </a:r>
          </a:p>
          <a:p>
            <a:pPr lvl="1" algn="just"/>
            <a:r>
              <a:rPr lang="en-US" dirty="0"/>
              <a:t>The system receives raw data (e.g., images, text, numbers) to analyze.</a:t>
            </a:r>
          </a:p>
          <a:p>
            <a:pPr marL="514350" indent="-514350" algn="just">
              <a:buFont typeface="+mj-lt"/>
              <a:buAutoNum type="arabicPeriod"/>
            </a:pPr>
            <a:r>
              <a:rPr lang="en-US" b="1" dirty="0"/>
              <a:t>Algorithm Processing</a:t>
            </a:r>
          </a:p>
          <a:p>
            <a:pPr lvl="1" algn="just"/>
            <a:r>
              <a:rPr lang="en-US" dirty="0"/>
              <a:t>Algorithms identify patterns and relationships within the data.</a:t>
            </a:r>
          </a:p>
          <a:p>
            <a:pPr marL="514350" indent="-514350" algn="just">
              <a:buFont typeface="+mj-lt"/>
              <a:buAutoNum type="arabicPeriod"/>
            </a:pPr>
            <a:r>
              <a:rPr lang="en-US" b="1" dirty="0"/>
              <a:t>Model Training</a:t>
            </a:r>
          </a:p>
          <a:p>
            <a:pPr lvl="1" algn="just"/>
            <a:r>
              <a:rPr lang="en-US" dirty="0"/>
              <a:t>The model adjusts its internal parameters using mathematical methods to learn from data.</a:t>
            </a:r>
          </a:p>
          <a:p>
            <a:pPr marL="514350" indent="-514350" algn="just">
              <a:buFont typeface="+mj-lt"/>
              <a:buAutoNum type="arabicPeriod"/>
            </a:pPr>
            <a:r>
              <a:rPr lang="en-US" b="1" dirty="0"/>
              <a:t>Feedback Loop</a:t>
            </a:r>
          </a:p>
          <a:p>
            <a:pPr lvl="1" algn="just"/>
            <a:r>
              <a:rPr lang="en-US" dirty="0"/>
              <a:t>Predictions are compared to actual outcomes, and errors are minimized using techniques like gradient descent.</a:t>
            </a:r>
          </a:p>
          <a:p>
            <a:pPr marL="514350" indent="-514350" algn="just">
              <a:buFont typeface="+mj-lt"/>
              <a:buAutoNum type="arabicPeriod"/>
            </a:pPr>
            <a:r>
              <a:rPr lang="en-US" b="1" dirty="0"/>
              <a:t>Iteration and Learning</a:t>
            </a:r>
          </a:p>
          <a:p>
            <a:pPr lvl="1" algn="just"/>
            <a:r>
              <a:rPr lang="en-US" dirty="0"/>
              <a:t>The model improves through repeated exposure to data, enhancing accuracy over time.</a:t>
            </a:r>
          </a:p>
          <a:p>
            <a:pPr marL="514350" indent="-514350" algn="just">
              <a:buFont typeface="+mj-lt"/>
              <a:buAutoNum type="arabicPeriod"/>
            </a:pPr>
            <a:r>
              <a:rPr lang="en-US" b="1" dirty="0"/>
              <a:t>Evaluation and Generalization</a:t>
            </a:r>
          </a:p>
          <a:p>
            <a:pPr lvl="1" algn="just"/>
            <a:r>
              <a:rPr lang="en-US" dirty="0"/>
              <a:t>Performance is tested on new, unseen data to ensure real-world reliability.</a:t>
            </a:r>
          </a:p>
        </p:txBody>
      </p:sp>
      <p:cxnSp>
        <p:nvCxnSpPr>
          <p:cNvPr id="4" name="Straight Connector 3">
            <a:extLst>
              <a:ext uri="{FF2B5EF4-FFF2-40B4-BE49-F238E27FC236}">
                <a16:creationId xmlns:a16="http://schemas.microsoft.com/office/drawing/2014/main" id="{A6665050-355B-93CB-1C10-B71FD637DC33}"/>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217DFB9F-66BF-6409-0C9F-20BE08241379}"/>
              </a:ext>
            </a:extLst>
          </p:cNvPr>
          <p:cNvSpPr>
            <a:spLocks noGrp="1"/>
          </p:cNvSpPr>
          <p:nvPr>
            <p:ph type="sldNum" sz="quarter" idx="12"/>
          </p:nvPr>
        </p:nvSpPr>
        <p:spPr/>
        <p:txBody>
          <a:bodyPr/>
          <a:lstStyle/>
          <a:p>
            <a:fld id="{B645EB31-1C62-4062-9511-C82C6CC02C60}" type="slidenum">
              <a:rPr lang="en-US" smtClean="0"/>
              <a:t>11</a:t>
            </a:fld>
            <a:endParaRPr lang="en-US"/>
          </a:p>
        </p:txBody>
      </p:sp>
      <p:pic>
        <p:nvPicPr>
          <p:cNvPr id="7" name="Picture 6">
            <a:extLst>
              <a:ext uri="{FF2B5EF4-FFF2-40B4-BE49-F238E27FC236}">
                <a16:creationId xmlns:a16="http://schemas.microsoft.com/office/drawing/2014/main" id="{3097C3A8-7083-706A-0E88-503CA1975187}"/>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198065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CE73C-A74A-E669-AB8D-DB9A831CD9BF}"/>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D91D9931-81FA-D9DA-5B5F-84BD1B7AC310}"/>
              </a:ext>
            </a:extLst>
          </p:cNvPr>
          <p:cNvGraphicFramePr>
            <a:graphicFrameLocks noGrp="1"/>
          </p:cNvGraphicFramePr>
          <p:nvPr>
            <p:ph idx="1"/>
            <p:extLst>
              <p:ext uri="{D42A27DB-BD31-4B8C-83A1-F6EECF244321}">
                <p14:modId xmlns:p14="http://schemas.microsoft.com/office/powerpoint/2010/main" val="231779796"/>
              </p:ext>
            </p:extLst>
          </p:nvPr>
        </p:nvGraphicFramePr>
        <p:xfrm>
          <a:off x="838200" y="1590849"/>
          <a:ext cx="10515600" cy="4415503"/>
        </p:xfrm>
        <a:graphic>
          <a:graphicData uri="http://schemas.openxmlformats.org/drawingml/2006/table">
            <a:tbl>
              <a:tblPr firstRow="1" bandRow="1">
                <a:tableStyleId>{073A0DAA-6AF3-43AB-8588-CEC1D06C72B9}</a:tableStyleId>
              </a:tblPr>
              <a:tblGrid>
                <a:gridCol w="2103120">
                  <a:extLst>
                    <a:ext uri="{9D8B030D-6E8A-4147-A177-3AD203B41FA5}">
                      <a16:colId xmlns:a16="http://schemas.microsoft.com/office/drawing/2014/main" val="2589293776"/>
                    </a:ext>
                  </a:extLst>
                </a:gridCol>
                <a:gridCol w="2103120">
                  <a:extLst>
                    <a:ext uri="{9D8B030D-6E8A-4147-A177-3AD203B41FA5}">
                      <a16:colId xmlns:a16="http://schemas.microsoft.com/office/drawing/2014/main" val="923091458"/>
                    </a:ext>
                  </a:extLst>
                </a:gridCol>
                <a:gridCol w="2103120">
                  <a:extLst>
                    <a:ext uri="{9D8B030D-6E8A-4147-A177-3AD203B41FA5}">
                      <a16:colId xmlns:a16="http://schemas.microsoft.com/office/drawing/2014/main" val="4170409757"/>
                    </a:ext>
                  </a:extLst>
                </a:gridCol>
                <a:gridCol w="2103120">
                  <a:extLst>
                    <a:ext uri="{9D8B030D-6E8A-4147-A177-3AD203B41FA5}">
                      <a16:colId xmlns:a16="http://schemas.microsoft.com/office/drawing/2014/main" val="3526206144"/>
                    </a:ext>
                  </a:extLst>
                </a:gridCol>
                <a:gridCol w="2103120">
                  <a:extLst>
                    <a:ext uri="{9D8B030D-6E8A-4147-A177-3AD203B41FA5}">
                      <a16:colId xmlns:a16="http://schemas.microsoft.com/office/drawing/2014/main" val="959088776"/>
                    </a:ext>
                  </a:extLst>
                </a:gridCol>
              </a:tblGrid>
              <a:tr h="864116">
                <a:tc>
                  <a:txBody>
                    <a:bodyPr/>
                    <a:lstStyle/>
                    <a:p>
                      <a:r>
                        <a:rPr lang="en-US" dirty="0">
                          <a:solidFill>
                            <a:srgbClr val="FF0000"/>
                          </a:solidFill>
                        </a:rPr>
                        <a:t>Supervised Learning</a:t>
                      </a:r>
                    </a:p>
                  </a:txBody>
                  <a:tcPr/>
                </a:tc>
                <a:tc>
                  <a:txBody>
                    <a:bodyPr/>
                    <a:lstStyle/>
                    <a:p>
                      <a:r>
                        <a:rPr lang="en-US" dirty="0">
                          <a:solidFill>
                            <a:srgbClr val="FF0000"/>
                          </a:solidFill>
                        </a:rPr>
                        <a:t>Unsupervised Learning</a:t>
                      </a:r>
                    </a:p>
                  </a:txBody>
                  <a:tcPr/>
                </a:tc>
                <a:tc>
                  <a:txBody>
                    <a:bodyPr/>
                    <a:lstStyle/>
                    <a:p>
                      <a:r>
                        <a:rPr lang="en-US" dirty="0"/>
                        <a:t>Semi-supervised Learning</a:t>
                      </a:r>
                    </a:p>
                  </a:txBody>
                  <a:tcPr/>
                </a:tc>
                <a:tc>
                  <a:txBody>
                    <a:bodyPr/>
                    <a:lstStyle/>
                    <a:p>
                      <a:r>
                        <a:rPr lang="en-US" dirty="0"/>
                        <a:t>Self-supervised Learning</a:t>
                      </a:r>
                    </a:p>
                  </a:txBody>
                  <a:tcPr/>
                </a:tc>
                <a:tc>
                  <a:txBody>
                    <a:bodyPr/>
                    <a:lstStyle/>
                    <a:p>
                      <a:r>
                        <a:rPr lang="en-US" dirty="0"/>
                        <a:t>Reinforcement Learning</a:t>
                      </a:r>
                    </a:p>
                  </a:txBody>
                  <a:tcPr/>
                </a:tc>
                <a:extLst>
                  <a:ext uri="{0D108BD9-81ED-4DB2-BD59-A6C34878D82A}">
                    <a16:rowId xmlns:a16="http://schemas.microsoft.com/office/drawing/2014/main" val="588944647"/>
                  </a:ext>
                </a:extLst>
              </a:tr>
              <a:tr h="3551387">
                <a:tc>
                  <a:txBody>
                    <a:bodyPr/>
                    <a:lstStyle/>
                    <a:p>
                      <a:r>
                        <a:rPr lang="en-US" sz="1700" dirty="0"/>
                        <a:t>Involves training a model on labeled data, where each input is associated with a known output. The model learns by comparing its predictions to the correct answers and adjusting accordingly.</a:t>
                      </a:r>
                    </a:p>
                  </a:txBody>
                  <a:tcPr/>
                </a:tc>
                <a:tc>
                  <a:txBody>
                    <a:bodyPr/>
                    <a:lstStyle/>
                    <a:p>
                      <a:r>
                        <a:rPr lang="en-US" sz="1700" dirty="0"/>
                        <a:t>Models work with input data that lacks labels. The goal is to uncover hidden patterns or groupings in the data without predefined categories.</a:t>
                      </a:r>
                    </a:p>
                  </a:txBody>
                  <a:tcPr/>
                </a:tc>
                <a:tc>
                  <a:txBody>
                    <a:bodyPr/>
                    <a:lstStyle/>
                    <a:p>
                      <a:r>
                        <a:rPr lang="en-US" sz="1700" dirty="0"/>
                        <a:t>Combines a small amount of labeled data with a large volume of unlabeled data. This approach helps build models that generalize well, bridging the gap between supervised and unsupervised learning.</a:t>
                      </a:r>
                    </a:p>
                  </a:txBody>
                  <a:tcPr/>
                </a:tc>
                <a:tc>
                  <a:txBody>
                    <a:bodyPr/>
                    <a:lstStyle/>
                    <a:p>
                      <a:r>
                        <a:rPr lang="en-US" sz="1700" dirty="0"/>
                        <a:t>Uses un-labelled data to generate its own labels through pretext tasks. These automatically generated labels serve as supervision for training, enabling the model to learn useful representations without manual labeling.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Trains an agent to make decisions by interacting with an environment. Through trial and error, the agent learns to maximize cumulative rewards without explicit instructions.</a:t>
                      </a:r>
                    </a:p>
                  </a:txBody>
                  <a:tcPr/>
                </a:tc>
                <a:extLst>
                  <a:ext uri="{0D108BD9-81ED-4DB2-BD59-A6C34878D82A}">
                    <a16:rowId xmlns:a16="http://schemas.microsoft.com/office/drawing/2014/main" val="445180034"/>
                  </a:ext>
                </a:extLst>
              </a:tr>
            </a:tbl>
          </a:graphicData>
        </a:graphic>
      </p:graphicFrame>
      <p:sp>
        <p:nvSpPr>
          <p:cNvPr id="2" name="Title 1">
            <a:extLst>
              <a:ext uri="{FF2B5EF4-FFF2-40B4-BE49-F238E27FC236}">
                <a16:creationId xmlns:a16="http://schemas.microsoft.com/office/drawing/2014/main" id="{7915C8C8-FE6C-33B9-74A5-BC0BE01EEEA6}"/>
              </a:ext>
            </a:extLst>
          </p:cNvPr>
          <p:cNvSpPr>
            <a:spLocks noGrp="1"/>
          </p:cNvSpPr>
          <p:nvPr>
            <p:ph type="title"/>
          </p:nvPr>
        </p:nvSpPr>
        <p:spPr/>
        <p:txBody>
          <a:bodyPr/>
          <a:lstStyle/>
          <a:p>
            <a:r>
              <a:rPr lang="en-US" b="1" dirty="0"/>
              <a:t>Types of ML</a:t>
            </a:r>
          </a:p>
        </p:txBody>
      </p:sp>
      <p:cxnSp>
        <p:nvCxnSpPr>
          <p:cNvPr id="4" name="Straight Connector 3">
            <a:extLst>
              <a:ext uri="{FF2B5EF4-FFF2-40B4-BE49-F238E27FC236}">
                <a16:creationId xmlns:a16="http://schemas.microsoft.com/office/drawing/2014/main" id="{F1B217EA-9CB2-7305-D942-09994FEDF49F}"/>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3C65FB69-07FD-B16F-EA27-8B1B423692B1}"/>
              </a:ext>
            </a:extLst>
          </p:cNvPr>
          <p:cNvSpPr>
            <a:spLocks noGrp="1"/>
          </p:cNvSpPr>
          <p:nvPr>
            <p:ph type="sldNum" sz="quarter" idx="12"/>
          </p:nvPr>
        </p:nvSpPr>
        <p:spPr>
          <a:xfrm>
            <a:off x="9092514" y="6374885"/>
            <a:ext cx="2743200" cy="365125"/>
          </a:xfrm>
        </p:spPr>
        <p:txBody>
          <a:bodyPr/>
          <a:lstStyle/>
          <a:p>
            <a:fld id="{B645EB31-1C62-4062-9511-C82C6CC02C60}" type="slidenum">
              <a:rPr lang="en-US" smtClean="0"/>
              <a:t>12</a:t>
            </a:fld>
            <a:endParaRPr lang="en-US" dirty="0"/>
          </a:p>
        </p:txBody>
      </p:sp>
      <p:pic>
        <p:nvPicPr>
          <p:cNvPr id="7" name="Picture 6">
            <a:extLst>
              <a:ext uri="{FF2B5EF4-FFF2-40B4-BE49-F238E27FC236}">
                <a16:creationId xmlns:a16="http://schemas.microsoft.com/office/drawing/2014/main" id="{9A131EEC-C1F8-B19F-DB7B-63CC31606596}"/>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1009723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2606-1420-0978-D8E6-0B7500F09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D1D8E-333B-B154-5DB5-A94793C1D48B}"/>
              </a:ext>
            </a:extLst>
          </p:cNvPr>
          <p:cNvSpPr>
            <a:spLocks noGrp="1"/>
          </p:cNvSpPr>
          <p:nvPr>
            <p:ph type="title"/>
          </p:nvPr>
        </p:nvSpPr>
        <p:spPr/>
        <p:txBody>
          <a:bodyPr/>
          <a:lstStyle/>
          <a:p>
            <a:r>
              <a:rPr lang="en-US" b="1" dirty="0"/>
              <a:t>Supervised Learning</a:t>
            </a:r>
          </a:p>
        </p:txBody>
      </p:sp>
      <p:cxnSp>
        <p:nvCxnSpPr>
          <p:cNvPr id="4" name="Straight Connector 3">
            <a:extLst>
              <a:ext uri="{FF2B5EF4-FFF2-40B4-BE49-F238E27FC236}">
                <a16:creationId xmlns:a16="http://schemas.microsoft.com/office/drawing/2014/main" id="{000C6F75-98F5-B5DA-2F2C-B12FBEFC0E7A}"/>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2608DFCC-636F-D71E-F936-5828AF5ACB68}"/>
              </a:ext>
            </a:extLst>
          </p:cNvPr>
          <p:cNvSpPr>
            <a:spLocks noGrp="1"/>
          </p:cNvSpPr>
          <p:nvPr>
            <p:ph type="sldNum" sz="quarter" idx="12"/>
          </p:nvPr>
        </p:nvSpPr>
        <p:spPr>
          <a:xfrm>
            <a:off x="9092514" y="6374885"/>
            <a:ext cx="2743200" cy="365125"/>
          </a:xfrm>
        </p:spPr>
        <p:txBody>
          <a:bodyPr/>
          <a:lstStyle/>
          <a:p>
            <a:fld id="{B645EB31-1C62-4062-9511-C82C6CC02C60}" type="slidenum">
              <a:rPr lang="en-US" smtClean="0"/>
              <a:t>13</a:t>
            </a:fld>
            <a:endParaRPr lang="en-US" dirty="0"/>
          </a:p>
        </p:txBody>
      </p:sp>
      <p:pic>
        <p:nvPicPr>
          <p:cNvPr id="7" name="Picture 6">
            <a:extLst>
              <a:ext uri="{FF2B5EF4-FFF2-40B4-BE49-F238E27FC236}">
                <a16:creationId xmlns:a16="http://schemas.microsoft.com/office/drawing/2014/main" id="{6933700D-AAE0-12FF-42E3-CFEC58577FBE}"/>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pic>
        <p:nvPicPr>
          <p:cNvPr id="5122" name="Picture 2" descr="Lightbox">
            <a:extLst>
              <a:ext uri="{FF2B5EF4-FFF2-40B4-BE49-F238E27FC236}">
                <a16:creationId xmlns:a16="http://schemas.microsoft.com/office/drawing/2014/main" id="{C302543F-0EEF-6EDB-AD7C-F5CB60E94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2468" y="1622851"/>
            <a:ext cx="8107063" cy="488855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2689BE8-52AB-ADB6-C505-A3E8FDE0813B}"/>
              </a:ext>
            </a:extLst>
          </p:cNvPr>
          <p:cNvSpPr txBox="1"/>
          <p:nvPr/>
        </p:nvSpPr>
        <p:spPr>
          <a:xfrm>
            <a:off x="4920463" y="6416845"/>
            <a:ext cx="2165721" cy="323165"/>
          </a:xfrm>
          <a:prstGeom prst="rect">
            <a:avLst/>
          </a:prstGeom>
          <a:noFill/>
        </p:spPr>
        <p:txBody>
          <a:bodyPr wrap="none" rtlCol="0">
            <a:spAutoFit/>
          </a:bodyPr>
          <a:lstStyle/>
          <a:p>
            <a:r>
              <a:rPr lang="en-US" sz="1500" b="1" i="1" dirty="0"/>
              <a:t>Source</a:t>
            </a:r>
            <a:r>
              <a:rPr lang="en-US" sz="1500" dirty="0"/>
              <a:t>: </a:t>
            </a:r>
            <a:r>
              <a:rPr lang="en-US" sz="1500" dirty="0" err="1"/>
              <a:t>GeeksforGeeks</a:t>
            </a:r>
            <a:endParaRPr lang="en-US" sz="1500" dirty="0"/>
          </a:p>
        </p:txBody>
      </p:sp>
    </p:spTree>
    <p:extLst>
      <p:ext uri="{BB962C8B-B14F-4D97-AF65-F5344CB8AC3E}">
        <p14:creationId xmlns:p14="http://schemas.microsoft.com/office/powerpoint/2010/main" val="1535157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246B0-5ACA-706C-24DD-47CD38D2F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F3DD2-C663-FE65-2A83-E81AF39DEFB2}"/>
              </a:ext>
            </a:extLst>
          </p:cNvPr>
          <p:cNvSpPr>
            <a:spLocks noGrp="1"/>
          </p:cNvSpPr>
          <p:nvPr>
            <p:ph type="title"/>
          </p:nvPr>
        </p:nvSpPr>
        <p:spPr/>
        <p:txBody>
          <a:bodyPr/>
          <a:lstStyle/>
          <a:p>
            <a:r>
              <a:rPr lang="en-US" b="1" dirty="0"/>
              <a:t>Supervised Learning Categories</a:t>
            </a:r>
          </a:p>
        </p:txBody>
      </p:sp>
      <p:sp>
        <p:nvSpPr>
          <p:cNvPr id="9" name="Content Placeholder 8">
            <a:extLst>
              <a:ext uri="{FF2B5EF4-FFF2-40B4-BE49-F238E27FC236}">
                <a16:creationId xmlns:a16="http://schemas.microsoft.com/office/drawing/2014/main" id="{205C3F26-9FDC-6B6A-A56C-FAE41DC780C4}"/>
              </a:ext>
            </a:extLst>
          </p:cNvPr>
          <p:cNvSpPr>
            <a:spLocks noGrp="1"/>
          </p:cNvSpPr>
          <p:nvPr>
            <p:ph idx="1"/>
          </p:nvPr>
        </p:nvSpPr>
        <p:spPr>
          <a:xfrm>
            <a:off x="652072" y="1825624"/>
            <a:ext cx="11040256" cy="4667251"/>
          </a:xfrm>
        </p:spPr>
        <p:txBody>
          <a:bodyPr>
            <a:normAutofit fontScale="92500" lnSpcReduction="20000"/>
          </a:bodyPr>
          <a:lstStyle/>
          <a:p>
            <a:pPr marL="514350" indent="-514350" algn="just">
              <a:buFont typeface="+mj-lt"/>
              <a:buAutoNum type="arabicPeriod"/>
            </a:pPr>
            <a:r>
              <a:rPr lang="en-US" b="1" u="sng" dirty="0">
                <a:latin typeface="+mj-lt"/>
              </a:rPr>
              <a:t>Classification task</a:t>
            </a:r>
          </a:p>
          <a:p>
            <a:pPr lvl="1" algn="just"/>
            <a:r>
              <a:rPr lang="en-US" dirty="0">
                <a:latin typeface="+mj-lt"/>
              </a:rPr>
              <a:t>The algorithm learns to assign input data to one of several predefined categories or labels. This is useful when the output variable is </a:t>
            </a:r>
            <a:r>
              <a:rPr lang="en-US" b="1" dirty="0">
                <a:latin typeface="+mj-lt"/>
              </a:rPr>
              <a:t>categorical</a:t>
            </a:r>
            <a:r>
              <a:rPr lang="en-US" dirty="0">
                <a:latin typeface="+mj-lt"/>
              </a:rPr>
              <a:t>, meaning it represents distinct classes.</a:t>
            </a:r>
          </a:p>
          <a:p>
            <a:pPr lvl="1" algn="just"/>
            <a:r>
              <a:rPr lang="en-US" b="1" dirty="0">
                <a:latin typeface="+mj-lt"/>
              </a:rPr>
              <a:t>Example</a:t>
            </a:r>
            <a:r>
              <a:rPr lang="en-US" dirty="0">
                <a:latin typeface="+mj-lt"/>
              </a:rPr>
              <a:t>: Classify emails as “spam” or “not spam”</a:t>
            </a:r>
          </a:p>
          <a:p>
            <a:pPr lvl="1" algn="just"/>
            <a:r>
              <a:rPr lang="en-US" b="1" dirty="0">
                <a:latin typeface="+mj-lt"/>
              </a:rPr>
              <a:t>Output type</a:t>
            </a:r>
            <a:r>
              <a:rPr lang="en-US" dirty="0">
                <a:latin typeface="+mj-lt"/>
              </a:rPr>
              <a:t>: Discrete categories or classes</a:t>
            </a:r>
          </a:p>
          <a:p>
            <a:pPr lvl="1" algn="just"/>
            <a:r>
              <a:rPr lang="en-US" b="1" dirty="0">
                <a:latin typeface="+mj-lt"/>
              </a:rPr>
              <a:t>Common Algorithms:</a:t>
            </a:r>
            <a:r>
              <a:rPr lang="en-US" dirty="0">
                <a:latin typeface="+mj-lt"/>
              </a:rPr>
              <a:t> Decision Trees, Support Vector Machines (SVM), Logistic Regression, k-Nearest Neighbors (KNN), </a:t>
            </a:r>
            <a:r>
              <a:rPr lang="en-US" i="0" dirty="0">
                <a:solidFill>
                  <a:srgbClr val="273239"/>
                </a:solidFill>
                <a:effectLst/>
                <a:latin typeface="+mj-lt"/>
              </a:rPr>
              <a:t>Naive Bayes,</a:t>
            </a:r>
            <a:r>
              <a:rPr lang="en-US" b="1" i="0" dirty="0">
                <a:solidFill>
                  <a:srgbClr val="273239"/>
                </a:solidFill>
                <a:effectLst/>
                <a:latin typeface="+mj-lt"/>
              </a:rPr>
              <a:t> </a:t>
            </a:r>
            <a:r>
              <a:rPr lang="en-US" dirty="0">
                <a:latin typeface="+mj-lt"/>
              </a:rPr>
              <a:t>Neural Networks (for classification)</a:t>
            </a:r>
          </a:p>
          <a:p>
            <a:pPr marL="514350" indent="-514350" algn="just">
              <a:buFont typeface="+mj-lt"/>
              <a:buAutoNum type="arabicPeriod"/>
            </a:pPr>
            <a:r>
              <a:rPr lang="en-US" b="1" u="sng" dirty="0">
                <a:latin typeface="+mj-lt"/>
              </a:rPr>
              <a:t>Regression task</a:t>
            </a:r>
            <a:r>
              <a:rPr lang="en-US" dirty="0">
                <a:latin typeface="+mj-lt"/>
              </a:rPr>
              <a:t> </a:t>
            </a:r>
          </a:p>
          <a:p>
            <a:pPr lvl="1" algn="just"/>
            <a:r>
              <a:rPr lang="en-US" dirty="0">
                <a:latin typeface="+mj-lt"/>
              </a:rPr>
              <a:t>The goal is to predict a </a:t>
            </a:r>
            <a:r>
              <a:rPr lang="en-US" b="1" dirty="0">
                <a:latin typeface="+mj-lt"/>
              </a:rPr>
              <a:t>continuous</a:t>
            </a:r>
            <a:r>
              <a:rPr lang="en-US" dirty="0">
                <a:latin typeface="+mj-lt"/>
              </a:rPr>
              <a:t> numerical value based on input features. The algorithm tries to find the relationship between variables to make accurate numeric predictions.</a:t>
            </a:r>
          </a:p>
          <a:p>
            <a:pPr lvl="1" algn="just"/>
            <a:r>
              <a:rPr lang="en-US" b="1" dirty="0">
                <a:latin typeface="+mj-lt"/>
              </a:rPr>
              <a:t>Example</a:t>
            </a:r>
            <a:r>
              <a:rPr lang="en-US" dirty="0">
                <a:latin typeface="+mj-lt"/>
              </a:rPr>
              <a:t>: Predict future stock prices using historical data</a:t>
            </a:r>
          </a:p>
          <a:p>
            <a:pPr lvl="1" algn="just"/>
            <a:r>
              <a:rPr lang="en-US" b="1" dirty="0">
                <a:latin typeface="+mj-lt"/>
              </a:rPr>
              <a:t>Output Type:</a:t>
            </a:r>
            <a:r>
              <a:rPr lang="en-US" dirty="0">
                <a:latin typeface="+mj-lt"/>
              </a:rPr>
              <a:t> Continuous numerical values</a:t>
            </a:r>
          </a:p>
          <a:p>
            <a:pPr lvl="1" algn="just"/>
            <a:r>
              <a:rPr lang="en-US" b="1" dirty="0">
                <a:latin typeface="+mj-lt"/>
              </a:rPr>
              <a:t>Common Algorithms:</a:t>
            </a:r>
            <a:r>
              <a:rPr lang="en-US" dirty="0">
                <a:latin typeface="+mj-lt"/>
              </a:rPr>
              <a:t> Linear Regression, Ridge Regression, Random Forest Regression, Gradient Boosting Regressor, Neural Networks (for regression)</a:t>
            </a:r>
          </a:p>
        </p:txBody>
      </p:sp>
      <p:cxnSp>
        <p:nvCxnSpPr>
          <p:cNvPr id="4" name="Straight Connector 3">
            <a:extLst>
              <a:ext uri="{FF2B5EF4-FFF2-40B4-BE49-F238E27FC236}">
                <a16:creationId xmlns:a16="http://schemas.microsoft.com/office/drawing/2014/main" id="{CEF20B22-366C-74A0-A6EA-08143BB05005}"/>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85321595-5AE1-E726-0F64-0DD14E4BFA5C}"/>
              </a:ext>
            </a:extLst>
          </p:cNvPr>
          <p:cNvSpPr>
            <a:spLocks noGrp="1"/>
          </p:cNvSpPr>
          <p:nvPr>
            <p:ph type="sldNum" sz="quarter" idx="12"/>
          </p:nvPr>
        </p:nvSpPr>
        <p:spPr/>
        <p:txBody>
          <a:bodyPr/>
          <a:lstStyle/>
          <a:p>
            <a:fld id="{B645EB31-1C62-4062-9511-C82C6CC02C60}" type="slidenum">
              <a:rPr lang="en-US" smtClean="0"/>
              <a:t>14</a:t>
            </a:fld>
            <a:endParaRPr lang="en-US"/>
          </a:p>
        </p:txBody>
      </p:sp>
      <p:pic>
        <p:nvPicPr>
          <p:cNvPr id="7" name="Picture 6">
            <a:extLst>
              <a:ext uri="{FF2B5EF4-FFF2-40B4-BE49-F238E27FC236}">
                <a16:creationId xmlns:a16="http://schemas.microsoft.com/office/drawing/2014/main" id="{DCF5B7DD-70CD-D4DC-2F49-8DFA6EC6BC70}"/>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3528542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469FB-EEDA-2027-EFA3-98CB96872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CCADE-B43B-B77C-8B6C-E03DE83F7623}"/>
              </a:ext>
            </a:extLst>
          </p:cNvPr>
          <p:cNvSpPr>
            <a:spLocks noGrp="1"/>
          </p:cNvSpPr>
          <p:nvPr>
            <p:ph type="title"/>
          </p:nvPr>
        </p:nvSpPr>
        <p:spPr/>
        <p:txBody>
          <a:bodyPr/>
          <a:lstStyle/>
          <a:p>
            <a:r>
              <a:rPr lang="en-US" b="1" dirty="0"/>
              <a:t>Unsupervised Learning</a:t>
            </a:r>
          </a:p>
        </p:txBody>
      </p:sp>
      <p:cxnSp>
        <p:nvCxnSpPr>
          <p:cNvPr id="4" name="Straight Connector 3">
            <a:extLst>
              <a:ext uri="{FF2B5EF4-FFF2-40B4-BE49-F238E27FC236}">
                <a16:creationId xmlns:a16="http://schemas.microsoft.com/office/drawing/2014/main" id="{64A8AA3A-B5C5-3715-9E39-28AB0C6FCC9E}"/>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F0D59EC4-22E1-C22F-A371-9373DD5CE5E4}"/>
              </a:ext>
            </a:extLst>
          </p:cNvPr>
          <p:cNvSpPr>
            <a:spLocks noGrp="1"/>
          </p:cNvSpPr>
          <p:nvPr>
            <p:ph type="sldNum" sz="quarter" idx="12"/>
          </p:nvPr>
        </p:nvSpPr>
        <p:spPr>
          <a:xfrm>
            <a:off x="9092514" y="6374885"/>
            <a:ext cx="2743200" cy="365125"/>
          </a:xfrm>
        </p:spPr>
        <p:txBody>
          <a:bodyPr/>
          <a:lstStyle/>
          <a:p>
            <a:fld id="{B645EB31-1C62-4062-9511-C82C6CC02C60}" type="slidenum">
              <a:rPr lang="en-US" smtClean="0"/>
              <a:t>15</a:t>
            </a:fld>
            <a:endParaRPr lang="en-US" dirty="0"/>
          </a:p>
        </p:txBody>
      </p:sp>
      <p:pic>
        <p:nvPicPr>
          <p:cNvPr id="7" name="Picture 6">
            <a:extLst>
              <a:ext uri="{FF2B5EF4-FFF2-40B4-BE49-F238E27FC236}">
                <a16:creationId xmlns:a16="http://schemas.microsoft.com/office/drawing/2014/main" id="{AC84A612-4150-3EE3-BE26-A0F5A37947D5}"/>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pic>
        <p:nvPicPr>
          <p:cNvPr id="6146" name="Picture 2" descr="Lightbox">
            <a:extLst>
              <a:ext uri="{FF2B5EF4-FFF2-40B4-BE49-F238E27FC236}">
                <a16:creationId xmlns:a16="http://schemas.microsoft.com/office/drawing/2014/main" id="{6DCCC5F8-A602-8B4E-502C-0F27DA219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905625"/>
            <a:ext cx="9525000" cy="35433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9A2E231-BA89-BC7F-8E54-D1F36A3FFF71}"/>
              </a:ext>
            </a:extLst>
          </p:cNvPr>
          <p:cNvSpPr txBox="1"/>
          <p:nvPr/>
        </p:nvSpPr>
        <p:spPr>
          <a:xfrm>
            <a:off x="4803073" y="5265319"/>
            <a:ext cx="2165721" cy="323165"/>
          </a:xfrm>
          <a:prstGeom prst="rect">
            <a:avLst/>
          </a:prstGeom>
          <a:noFill/>
        </p:spPr>
        <p:txBody>
          <a:bodyPr wrap="none" rtlCol="0">
            <a:spAutoFit/>
          </a:bodyPr>
          <a:lstStyle/>
          <a:p>
            <a:r>
              <a:rPr lang="en-US" sz="1500" b="1" i="1" dirty="0"/>
              <a:t>Source</a:t>
            </a:r>
            <a:r>
              <a:rPr lang="en-US" sz="1500" dirty="0"/>
              <a:t>: </a:t>
            </a:r>
            <a:r>
              <a:rPr lang="en-US" sz="1500" dirty="0" err="1"/>
              <a:t>GeeksforGeeks</a:t>
            </a:r>
            <a:endParaRPr lang="en-US" sz="1500" dirty="0"/>
          </a:p>
        </p:txBody>
      </p:sp>
    </p:spTree>
    <p:extLst>
      <p:ext uri="{BB962C8B-B14F-4D97-AF65-F5344CB8AC3E}">
        <p14:creationId xmlns:p14="http://schemas.microsoft.com/office/powerpoint/2010/main" val="261070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B8958-2574-70A9-DD75-09133495D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68739-807D-D126-8B78-A5EAE0091BEC}"/>
              </a:ext>
            </a:extLst>
          </p:cNvPr>
          <p:cNvSpPr>
            <a:spLocks noGrp="1"/>
          </p:cNvSpPr>
          <p:nvPr>
            <p:ph type="title"/>
          </p:nvPr>
        </p:nvSpPr>
        <p:spPr/>
        <p:txBody>
          <a:bodyPr/>
          <a:lstStyle/>
          <a:p>
            <a:r>
              <a:rPr lang="en-US" b="1" dirty="0"/>
              <a:t>Unsupervised Learning Categories</a:t>
            </a:r>
          </a:p>
        </p:txBody>
      </p:sp>
      <p:sp>
        <p:nvSpPr>
          <p:cNvPr id="9" name="Content Placeholder 8">
            <a:extLst>
              <a:ext uri="{FF2B5EF4-FFF2-40B4-BE49-F238E27FC236}">
                <a16:creationId xmlns:a16="http://schemas.microsoft.com/office/drawing/2014/main" id="{55E60EBF-1840-945E-3A7F-9654B76EC161}"/>
              </a:ext>
            </a:extLst>
          </p:cNvPr>
          <p:cNvSpPr>
            <a:spLocks noGrp="1"/>
          </p:cNvSpPr>
          <p:nvPr>
            <p:ph idx="1"/>
          </p:nvPr>
        </p:nvSpPr>
        <p:spPr>
          <a:xfrm>
            <a:off x="652072" y="1825624"/>
            <a:ext cx="11040256" cy="4667251"/>
          </a:xfrm>
        </p:spPr>
        <p:txBody>
          <a:bodyPr>
            <a:normAutofit fontScale="77500" lnSpcReduction="20000"/>
          </a:bodyPr>
          <a:lstStyle/>
          <a:p>
            <a:pPr marL="514350" indent="-514350" algn="just">
              <a:buFont typeface="+mj-lt"/>
              <a:buAutoNum type="arabicPeriod"/>
            </a:pPr>
            <a:r>
              <a:rPr lang="en-US" b="1" u="sng" dirty="0"/>
              <a:t>Clustering</a:t>
            </a:r>
          </a:p>
          <a:p>
            <a:pPr lvl="1" algn="just"/>
            <a:r>
              <a:rPr lang="en-US" dirty="0"/>
              <a:t>Aims to group similar data points into clusters based on shared characteristics or distances in feature space. These clusters are formed in such a way that data points within the same group are more similar to each other than to those in other groups.</a:t>
            </a:r>
          </a:p>
          <a:p>
            <a:pPr lvl="1" algn="just"/>
            <a:r>
              <a:rPr lang="en-US" b="1" dirty="0"/>
              <a:t>Example</a:t>
            </a:r>
            <a:r>
              <a:rPr lang="en-US" dirty="0"/>
              <a:t>: Organizing articles into topics without prior labeling</a:t>
            </a:r>
          </a:p>
          <a:p>
            <a:pPr lvl="1" algn="just"/>
            <a:r>
              <a:rPr lang="en-US" b="1" dirty="0"/>
              <a:t>Common Algorithms:</a:t>
            </a:r>
            <a:r>
              <a:rPr lang="en-US" dirty="0"/>
              <a:t> k-Means, Hierarchical Clustering, Gaussian Mixture Models (GMM)</a:t>
            </a:r>
          </a:p>
          <a:p>
            <a:pPr marL="514350" indent="-514350" algn="just">
              <a:buFont typeface="+mj-lt"/>
              <a:buAutoNum type="arabicPeriod"/>
            </a:pPr>
            <a:r>
              <a:rPr lang="en-US" b="1" u="sng" dirty="0"/>
              <a:t>Dimensionality Reduction</a:t>
            </a:r>
          </a:p>
          <a:p>
            <a:pPr lvl="1" algn="just"/>
            <a:r>
              <a:rPr lang="en-US" dirty="0"/>
              <a:t>Used to reduce the number of input features while preserving the most significant patterns in the data. This helps in visualization, noise reduction, and improving the performance of other machine learning algorithms.</a:t>
            </a:r>
          </a:p>
          <a:p>
            <a:pPr lvl="1" algn="just"/>
            <a:r>
              <a:rPr lang="en-US" b="1" dirty="0"/>
              <a:t>Example</a:t>
            </a:r>
            <a:r>
              <a:rPr lang="en-US" dirty="0"/>
              <a:t>: Feature compression before feeding data into a classifier</a:t>
            </a:r>
          </a:p>
          <a:p>
            <a:pPr lvl="1" algn="just"/>
            <a:r>
              <a:rPr lang="en-US" b="1" dirty="0"/>
              <a:t>Common Algorithms:</a:t>
            </a:r>
            <a:r>
              <a:rPr lang="en-US" dirty="0"/>
              <a:t> </a:t>
            </a:r>
            <a:r>
              <a:rPr lang="fr-FR" dirty="0"/>
              <a:t>Principal Component </a:t>
            </a:r>
            <a:r>
              <a:rPr lang="fr-FR" dirty="0" err="1"/>
              <a:t>Analysis</a:t>
            </a:r>
            <a:r>
              <a:rPr lang="fr-FR" dirty="0"/>
              <a:t> (PCA), t-SNE, UMAP, </a:t>
            </a:r>
            <a:r>
              <a:rPr lang="fr-FR" dirty="0" err="1"/>
              <a:t>Autoencoders</a:t>
            </a:r>
            <a:endParaRPr lang="fr-FR" dirty="0"/>
          </a:p>
          <a:p>
            <a:pPr marL="514350" indent="-514350" algn="just">
              <a:buFont typeface="+mj-lt"/>
              <a:buAutoNum type="arabicPeriod"/>
            </a:pPr>
            <a:r>
              <a:rPr lang="en-US" b="1" u="sng" dirty="0"/>
              <a:t>Association Rule Learning</a:t>
            </a:r>
          </a:p>
          <a:p>
            <a:pPr lvl="1" algn="just"/>
            <a:r>
              <a:rPr lang="en-US" dirty="0"/>
              <a:t>Identifies interesting relationships, correlations, or co-occurrences among items in large datasets. These rules help in understanding how items or features are related.</a:t>
            </a:r>
          </a:p>
          <a:p>
            <a:pPr lvl="1" algn="just"/>
            <a:r>
              <a:rPr lang="en-US" b="1" dirty="0"/>
              <a:t>Example</a:t>
            </a:r>
            <a:r>
              <a:rPr lang="en-US" dirty="0"/>
              <a:t>: Discovering that customers who buy bread often buy butter</a:t>
            </a:r>
          </a:p>
          <a:p>
            <a:pPr lvl="1" algn="just"/>
            <a:r>
              <a:rPr lang="en-US" b="1" dirty="0"/>
              <a:t>Common Algorithms</a:t>
            </a:r>
            <a:r>
              <a:rPr lang="en-US" dirty="0"/>
              <a:t>: </a:t>
            </a:r>
            <a:r>
              <a:rPr lang="en-US" dirty="0" err="1"/>
              <a:t>Apriori</a:t>
            </a:r>
            <a:r>
              <a:rPr lang="en-US" dirty="0"/>
              <a:t>, Eclat, FP-Growth</a:t>
            </a:r>
          </a:p>
        </p:txBody>
      </p:sp>
      <p:cxnSp>
        <p:nvCxnSpPr>
          <p:cNvPr id="4" name="Straight Connector 3">
            <a:extLst>
              <a:ext uri="{FF2B5EF4-FFF2-40B4-BE49-F238E27FC236}">
                <a16:creationId xmlns:a16="http://schemas.microsoft.com/office/drawing/2014/main" id="{77398C8F-C7DA-03EA-4F8F-AE434A0BEC40}"/>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712CA194-8E57-E19A-504C-17618532ECA8}"/>
              </a:ext>
            </a:extLst>
          </p:cNvPr>
          <p:cNvSpPr>
            <a:spLocks noGrp="1"/>
          </p:cNvSpPr>
          <p:nvPr>
            <p:ph type="sldNum" sz="quarter" idx="12"/>
          </p:nvPr>
        </p:nvSpPr>
        <p:spPr/>
        <p:txBody>
          <a:bodyPr/>
          <a:lstStyle/>
          <a:p>
            <a:fld id="{B645EB31-1C62-4062-9511-C82C6CC02C60}" type="slidenum">
              <a:rPr lang="en-US" smtClean="0"/>
              <a:t>16</a:t>
            </a:fld>
            <a:endParaRPr lang="en-US"/>
          </a:p>
        </p:txBody>
      </p:sp>
      <p:pic>
        <p:nvPicPr>
          <p:cNvPr id="7" name="Picture 6">
            <a:extLst>
              <a:ext uri="{FF2B5EF4-FFF2-40B4-BE49-F238E27FC236}">
                <a16:creationId xmlns:a16="http://schemas.microsoft.com/office/drawing/2014/main" id="{2B68D571-B7A6-2C3A-7FE5-121D20B97D93}"/>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2804130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588B-1D7A-EF2B-D397-504CF999F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09D27-602A-9B86-1F5C-0C58A82710AB}"/>
              </a:ext>
            </a:extLst>
          </p:cNvPr>
          <p:cNvSpPr>
            <a:spLocks noGrp="1"/>
          </p:cNvSpPr>
          <p:nvPr>
            <p:ph type="title"/>
          </p:nvPr>
        </p:nvSpPr>
        <p:spPr/>
        <p:txBody>
          <a:bodyPr/>
          <a:lstStyle/>
          <a:p>
            <a:r>
              <a:rPr lang="en-US" b="1" dirty="0"/>
              <a:t>Learners in ML</a:t>
            </a:r>
          </a:p>
        </p:txBody>
      </p:sp>
      <p:cxnSp>
        <p:nvCxnSpPr>
          <p:cNvPr id="4" name="Straight Connector 3">
            <a:extLst>
              <a:ext uri="{FF2B5EF4-FFF2-40B4-BE49-F238E27FC236}">
                <a16:creationId xmlns:a16="http://schemas.microsoft.com/office/drawing/2014/main" id="{61616A8F-CA1D-BC9D-45EF-D7ACB61837DB}"/>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4D9BEC0A-7B14-BE10-3DA6-F3BBD06081E3}"/>
              </a:ext>
            </a:extLst>
          </p:cNvPr>
          <p:cNvSpPr>
            <a:spLocks noGrp="1"/>
          </p:cNvSpPr>
          <p:nvPr>
            <p:ph type="sldNum" sz="quarter" idx="12"/>
          </p:nvPr>
        </p:nvSpPr>
        <p:spPr/>
        <p:txBody>
          <a:bodyPr/>
          <a:lstStyle/>
          <a:p>
            <a:fld id="{B645EB31-1C62-4062-9511-C82C6CC02C60}" type="slidenum">
              <a:rPr lang="en-US" smtClean="0"/>
              <a:t>17</a:t>
            </a:fld>
            <a:endParaRPr lang="en-US"/>
          </a:p>
        </p:txBody>
      </p:sp>
      <p:pic>
        <p:nvPicPr>
          <p:cNvPr id="7" name="Picture 6">
            <a:extLst>
              <a:ext uri="{FF2B5EF4-FFF2-40B4-BE49-F238E27FC236}">
                <a16:creationId xmlns:a16="http://schemas.microsoft.com/office/drawing/2014/main" id="{A0ADEBF0-9E6D-D4AA-D5A8-E8EAC78EF65A}"/>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
        <p:nvSpPr>
          <p:cNvPr id="6" name="Content Placeholder 5">
            <a:extLst>
              <a:ext uri="{FF2B5EF4-FFF2-40B4-BE49-F238E27FC236}">
                <a16:creationId xmlns:a16="http://schemas.microsoft.com/office/drawing/2014/main" id="{8657B1EA-D6EA-B62A-2DF6-2E0FE048A3C5}"/>
              </a:ext>
            </a:extLst>
          </p:cNvPr>
          <p:cNvSpPr>
            <a:spLocks noGrp="1"/>
          </p:cNvSpPr>
          <p:nvPr>
            <p:ph idx="1"/>
          </p:nvPr>
        </p:nvSpPr>
        <p:spPr/>
        <p:txBody>
          <a:bodyPr>
            <a:normAutofit/>
          </a:bodyPr>
          <a:lstStyle/>
          <a:p>
            <a:pPr marL="514350" indent="-514350">
              <a:buFont typeface="+mj-lt"/>
              <a:buAutoNum type="arabicPeriod"/>
            </a:pPr>
            <a:r>
              <a:rPr lang="en-US" b="1" u="sng" dirty="0"/>
              <a:t>Lazy learners</a:t>
            </a:r>
            <a:r>
              <a:rPr lang="en-US" dirty="0"/>
              <a:t> do not build a model during training – they simply store the training data and wait until prediction time to generalize</a:t>
            </a:r>
          </a:p>
          <a:p>
            <a:pPr lvl="1"/>
            <a:r>
              <a:rPr lang="en-US" dirty="0"/>
              <a:t>They are slower at predicting but adapt easily to new data since they don’t assume a fixed model</a:t>
            </a:r>
          </a:p>
          <a:p>
            <a:pPr lvl="1"/>
            <a:r>
              <a:rPr lang="en-US" b="1" i="1" dirty="0"/>
              <a:t>Examples</a:t>
            </a:r>
            <a:r>
              <a:rPr lang="en-US" dirty="0"/>
              <a:t>: Classification: k-NN, Regression: k-NN Regressor, Clustering: Instance-based clustering (rare)</a:t>
            </a:r>
          </a:p>
          <a:p>
            <a:pPr marL="514350" indent="-514350" algn="just">
              <a:buFont typeface="+mj-lt"/>
              <a:buAutoNum type="arabicPeriod"/>
            </a:pPr>
            <a:r>
              <a:rPr lang="en-US" b="1" u="sng" dirty="0"/>
              <a:t>Eager Learners</a:t>
            </a:r>
            <a:r>
              <a:rPr lang="en-US" dirty="0"/>
              <a:t> create a generalized model during training, which is then used to make fast predictions on new data.</a:t>
            </a:r>
          </a:p>
          <a:p>
            <a:pPr lvl="1" algn="just"/>
            <a:r>
              <a:rPr lang="en-US" dirty="0"/>
              <a:t>They are faster at predictions but require retraining if new data is introduced.</a:t>
            </a:r>
          </a:p>
          <a:p>
            <a:pPr lvl="1" algn="just"/>
            <a:r>
              <a:rPr lang="en-US" b="1" i="1" dirty="0"/>
              <a:t>Examples</a:t>
            </a:r>
            <a:r>
              <a:rPr lang="en-US" dirty="0"/>
              <a:t>: Classification: SVM, Decision Trees, Regression: Linear Regression, Clustering: k-Means (model-based)</a:t>
            </a:r>
          </a:p>
        </p:txBody>
      </p:sp>
    </p:spTree>
    <p:extLst>
      <p:ext uri="{BB962C8B-B14F-4D97-AF65-F5344CB8AC3E}">
        <p14:creationId xmlns:p14="http://schemas.microsoft.com/office/powerpoint/2010/main" val="2747026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99A3-9F98-B454-EE33-8286206A4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97157-4B91-CB5C-E6E4-7453300DB877}"/>
              </a:ext>
            </a:extLst>
          </p:cNvPr>
          <p:cNvSpPr>
            <a:spLocks noGrp="1"/>
          </p:cNvSpPr>
          <p:nvPr>
            <p:ph type="title"/>
          </p:nvPr>
        </p:nvSpPr>
        <p:spPr/>
        <p:txBody>
          <a:bodyPr/>
          <a:lstStyle/>
          <a:p>
            <a:r>
              <a:rPr lang="en-US" b="1" dirty="0"/>
              <a:t>Lazy Learners vs Eager Learners</a:t>
            </a:r>
          </a:p>
        </p:txBody>
      </p:sp>
      <p:cxnSp>
        <p:nvCxnSpPr>
          <p:cNvPr id="4" name="Straight Connector 3">
            <a:extLst>
              <a:ext uri="{FF2B5EF4-FFF2-40B4-BE49-F238E27FC236}">
                <a16:creationId xmlns:a16="http://schemas.microsoft.com/office/drawing/2014/main" id="{CEA7C4D8-55A5-A03D-A482-58266B961E45}"/>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6F361BA6-EA76-1AF8-09DD-60630099CC82}"/>
              </a:ext>
            </a:extLst>
          </p:cNvPr>
          <p:cNvSpPr>
            <a:spLocks noGrp="1"/>
          </p:cNvSpPr>
          <p:nvPr>
            <p:ph type="sldNum" sz="quarter" idx="12"/>
          </p:nvPr>
        </p:nvSpPr>
        <p:spPr/>
        <p:txBody>
          <a:bodyPr/>
          <a:lstStyle/>
          <a:p>
            <a:fld id="{B645EB31-1C62-4062-9511-C82C6CC02C60}" type="slidenum">
              <a:rPr lang="en-US" smtClean="0"/>
              <a:t>18</a:t>
            </a:fld>
            <a:endParaRPr lang="en-US"/>
          </a:p>
        </p:txBody>
      </p:sp>
      <p:pic>
        <p:nvPicPr>
          <p:cNvPr id="7" name="Picture 6">
            <a:extLst>
              <a:ext uri="{FF2B5EF4-FFF2-40B4-BE49-F238E27FC236}">
                <a16:creationId xmlns:a16="http://schemas.microsoft.com/office/drawing/2014/main" id="{FD8801EB-CD75-D7E5-7A62-F1DD223655AA}"/>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graphicFrame>
        <p:nvGraphicFramePr>
          <p:cNvPr id="3" name="Content Placeholder 2">
            <a:extLst>
              <a:ext uri="{FF2B5EF4-FFF2-40B4-BE49-F238E27FC236}">
                <a16:creationId xmlns:a16="http://schemas.microsoft.com/office/drawing/2014/main" id="{1B2FDA07-8D6F-7A6F-9F34-5F192471F741}"/>
              </a:ext>
            </a:extLst>
          </p:cNvPr>
          <p:cNvGraphicFramePr>
            <a:graphicFrameLocks noGrp="1"/>
          </p:cNvGraphicFramePr>
          <p:nvPr>
            <p:ph idx="1"/>
            <p:extLst>
              <p:ext uri="{D42A27DB-BD31-4B8C-83A1-F6EECF244321}">
                <p14:modId xmlns:p14="http://schemas.microsoft.com/office/powerpoint/2010/main" val="3059309182"/>
              </p:ext>
            </p:extLst>
          </p:nvPr>
        </p:nvGraphicFramePr>
        <p:xfrm>
          <a:off x="652463" y="1510527"/>
          <a:ext cx="10784107" cy="4529036"/>
        </p:xfrm>
        <a:graphic>
          <a:graphicData uri="http://schemas.openxmlformats.org/drawingml/2006/table">
            <a:tbl>
              <a:tblPr/>
              <a:tblGrid>
                <a:gridCol w="1652463">
                  <a:extLst>
                    <a:ext uri="{9D8B030D-6E8A-4147-A177-3AD203B41FA5}">
                      <a16:colId xmlns:a16="http://schemas.microsoft.com/office/drawing/2014/main" val="2135346138"/>
                    </a:ext>
                  </a:extLst>
                </a:gridCol>
                <a:gridCol w="4263081">
                  <a:extLst>
                    <a:ext uri="{9D8B030D-6E8A-4147-A177-3AD203B41FA5}">
                      <a16:colId xmlns:a16="http://schemas.microsoft.com/office/drawing/2014/main" val="2952992774"/>
                    </a:ext>
                  </a:extLst>
                </a:gridCol>
                <a:gridCol w="4868563">
                  <a:extLst>
                    <a:ext uri="{9D8B030D-6E8A-4147-A177-3AD203B41FA5}">
                      <a16:colId xmlns:a16="http://schemas.microsoft.com/office/drawing/2014/main" val="49909903"/>
                    </a:ext>
                  </a:extLst>
                </a:gridCol>
              </a:tblGrid>
              <a:tr h="213252">
                <a:tc>
                  <a:txBody>
                    <a:bodyPr/>
                    <a:lstStyle/>
                    <a:p>
                      <a:pPr algn="l"/>
                      <a:r>
                        <a:rPr lang="en-US" sz="1500" b="1" dirty="0">
                          <a:solidFill>
                            <a:srgbClr val="404040"/>
                          </a:solidFill>
                          <a:effectLst/>
                        </a:rPr>
                        <a:t>Aspect</a:t>
                      </a: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l"/>
                      <a:r>
                        <a:rPr lang="en-US" sz="1500" b="1">
                          <a:solidFill>
                            <a:srgbClr val="404040"/>
                          </a:solidFill>
                          <a:effectLst/>
                        </a:rPr>
                        <a:t>Lazy Learners</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l"/>
                      <a:r>
                        <a:rPr lang="en-US" sz="1500" b="1" dirty="0">
                          <a:solidFill>
                            <a:srgbClr val="404040"/>
                          </a:solidFill>
                          <a:effectLst/>
                        </a:rPr>
                        <a:t>Eager Learners</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112819119"/>
                  </a:ext>
                </a:extLst>
              </a:tr>
              <a:tr h="504786">
                <a:tc>
                  <a:txBody>
                    <a:bodyPr/>
                    <a:lstStyle/>
                    <a:p>
                      <a:r>
                        <a:rPr lang="en-US" sz="1500" b="1" dirty="0">
                          <a:effectLst/>
                        </a:rPr>
                        <a:t>Learning Approach</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dirty="0">
                          <a:effectLst/>
                        </a:rPr>
                        <a:t>Instance-based: No explicit model is built.</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dirty="0">
                          <a:effectLst/>
                        </a:rPr>
                        <a:t>Model-based: Constructs a generalized model during training.</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91225567"/>
                  </a:ext>
                </a:extLst>
              </a:tr>
              <a:tr h="359019">
                <a:tc>
                  <a:txBody>
                    <a:bodyPr/>
                    <a:lstStyle/>
                    <a:p>
                      <a:r>
                        <a:rPr lang="en-US" sz="1500" b="1">
                          <a:effectLst/>
                        </a:rPr>
                        <a:t>Training Phase</a:t>
                      </a:r>
                      <a:endParaRPr lang="en-US" sz="150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a:effectLst/>
                        </a:rPr>
                        <a:t>Minimal computation; simply stores training data.</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dirty="0">
                          <a:effectLst/>
                        </a:rPr>
                        <a:t>Computationally intensive; builds a model from the data.</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03193060"/>
                  </a:ext>
                </a:extLst>
              </a:tr>
              <a:tr h="359019">
                <a:tc>
                  <a:txBody>
                    <a:bodyPr/>
                    <a:lstStyle/>
                    <a:p>
                      <a:r>
                        <a:rPr lang="en-US" sz="1500" b="1" dirty="0">
                          <a:effectLst/>
                        </a:rPr>
                        <a:t>Generalization Timing</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dirty="0">
                          <a:effectLst/>
                        </a:rPr>
                        <a:t>Generalizes at prediction time (on-the-fly).</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a:effectLst/>
                        </a:rPr>
                        <a:t>Generalizes during training (before seeing test data).</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81048158"/>
                  </a:ext>
                </a:extLst>
              </a:tr>
              <a:tr h="359019">
                <a:tc>
                  <a:txBody>
                    <a:bodyPr/>
                    <a:lstStyle/>
                    <a:p>
                      <a:r>
                        <a:rPr lang="en-US" sz="1500" b="1">
                          <a:effectLst/>
                        </a:rPr>
                        <a:t>Memory Usage</a:t>
                      </a:r>
                      <a:endParaRPr lang="en-US" sz="150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a:effectLst/>
                        </a:rPr>
                        <a:t>High (stores entire training dataset).</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a:effectLst/>
                        </a:rPr>
                        <a:t>Low (discards training data after model creation).</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28839530"/>
                  </a:ext>
                </a:extLst>
              </a:tr>
              <a:tr h="359019">
                <a:tc>
                  <a:txBody>
                    <a:bodyPr/>
                    <a:lstStyle/>
                    <a:p>
                      <a:r>
                        <a:rPr lang="en-US" sz="1500" b="1" dirty="0">
                          <a:effectLst/>
                        </a:rPr>
                        <a:t>Prediction Speed</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a:effectLst/>
                        </a:rPr>
                        <a:t>Slower (processes data during each query).</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a:effectLst/>
                        </a:rPr>
                        <a:t>Faster (uses pre-built model for predictions).</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36435023"/>
                  </a:ext>
                </a:extLst>
              </a:tr>
              <a:tr h="359019">
                <a:tc>
                  <a:txBody>
                    <a:bodyPr/>
                    <a:lstStyle/>
                    <a:p>
                      <a:r>
                        <a:rPr lang="en-US" sz="1500" b="1" dirty="0">
                          <a:effectLst/>
                        </a:rPr>
                        <a:t>Handling Training Data</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dirty="0">
                          <a:effectLst/>
                        </a:rPr>
                        <a:t>Retains all training data for future predictions.</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a:effectLst/>
                        </a:rPr>
                        <a:t>Discards training data after model construction.</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77742109"/>
                  </a:ext>
                </a:extLst>
              </a:tr>
              <a:tr h="359019">
                <a:tc>
                  <a:txBody>
                    <a:bodyPr/>
                    <a:lstStyle/>
                    <a:p>
                      <a:r>
                        <a:rPr lang="en-US" sz="1500" b="1" dirty="0">
                          <a:effectLst/>
                        </a:rPr>
                        <a:t>Adaptability</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dirty="0">
                          <a:effectLst/>
                        </a:rPr>
                        <a:t>Easily adapts to new data (just add to stored dataset).</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dirty="0">
                          <a:effectLst/>
                        </a:rPr>
                        <a:t>Requires retraining to incorporate new data.</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9950679"/>
                  </a:ext>
                </a:extLst>
              </a:tr>
              <a:tr h="359019">
                <a:tc>
                  <a:txBody>
                    <a:bodyPr/>
                    <a:lstStyle/>
                    <a:p>
                      <a:r>
                        <a:rPr lang="en-US" sz="1500" b="1" dirty="0">
                          <a:effectLst/>
                        </a:rPr>
                        <a:t>Training Time</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dirty="0">
                          <a:effectLst/>
                        </a:rPr>
                        <a:t>Short (only stores data).</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a:effectLst/>
                        </a:rPr>
                        <a:t>Long (computes model parameters/structures).</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7723687"/>
                  </a:ext>
                </a:extLst>
              </a:tr>
              <a:tr h="359019">
                <a:tc>
                  <a:txBody>
                    <a:bodyPr/>
                    <a:lstStyle/>
                    <a:p>
                      <a:r>
                        <a:rPr lang="en-US" sz="1500" b="1" dirty="0">
                          <a:effectLst/>
                        </a:rPr>
                        <a:t>Prediction Complexity</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dirty="0">
                          <a:effectLst/>
                        </a:rPr>
                        <a:t>High inference cost (e.g., distance calculations).</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dirty="0">
                          <a:effectLst/>
                        </a:rPr>
                        <a:t>Low inference cost (uses pre-computed model).</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56139821"/>
                  </a:ext>
                </a:extLst>
              </a:tr>
              <a:tr h="359019">
                <a:tc>
                  <a:txBody>
                    <a:bodyPr/>
                    <a:lstStyle/>
                    <a:p>
                      <a:r>
                        <a:rPr lang="en-US" sz="1500" b="1" dirty="0">
                          <a:effectLst/>
                        </a:rPr>
                        <a:t>Examples</a:t>
                      </a:r>
                      <a:endParaRPr lang="en-US" sz="1500" dirty="0">
                        <a:effectLst/>
                      </a:endParaRPr>
                    </a:p>
                  </a:txBody>
                  <a:tcPr marL="48589"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sz="1500">
                          <a:effectLst/>
                        </a:rPr>
                        <a:t>k-Nearest Neighbors (k-NN), Case-Based Reasoning.</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500" dirty="0">
                          <a:effectLst/>
                        </a:rPr>
                        <a:t>Decision Trees, SVM, Neural Networks, Linear Regression.</a:t>
                      </a:r>
                    </a:p>
                  </a:txBody>
                  <a:tcPr marL="33742" marR="33742" marT="33742" marB="337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26264792"/>
                  </a:ext>
                </a:extLst>
              </a:tr>
            </a:tbl>
          </a:graphicData>
        </a:graphic>
      </p:graphicFrame>
    </p:spTree>
    <p:extLst>
      <p:ext uri="{BB962C8B-B14F-4D97-AF65-F5344CB8AC3E}">
        <p14:creationId xmlns:p14="http://schemas.microsoft.com/office/powerpoint/2010/main" val="1581583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BC88-0FA9-25F9-2B6D-E1FF9C999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148A7-44F6-F2C9-1678-F8BB6BA0C12E}"/>
              </a:ext>
            </a:extLst>
          </p:cNvPr>
          <p:cNvSpPr>
            <a:spLocks noGrp="1"/>
          </p:cNvSpPr>
          <p:nvPr>
            <p:ph type="title"/>
          </p:nvPr>
        </p:nvSpPr>
        <p:spPr/>
        <p:txBody>
          <a:bodyPr/>
          <a:lstStyle/>
          <a:p>
            <a:r>
              <a:rPr lang="en-US" b="1" dirty="0"/>
              <a:t>Data Preprocessing</a:t>
            </a:r>
          </a:p>
        </p:txBody>
      </p:sp>
      <p:cxnSp>
        <p:nvCxnSpPr>
          <p:cNvPr id="4" name="Straight Connector 3">
            <a:extLst>
              <a:ext uri="{FF2B5EF4-FFF2-40B4-BE49-F238E27FC236}">
                <a16:creationId xmlns:a16="http://schemas.microsoft.com/office/drawing/2014/main" id="{9645CD0C-A645-48D3-0F2A-298F0BF7BCF4}"/>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CBD78C79-A0A9-4C46-8FC5-0B3129C61ACD}"/>
              </a:ext>
            </a:extLst>
          </p:cNvPr>
          <p:cNvSpPr>
            <a:spLocks noGrp="1"/>
          </p:cNvSpPr>
          <p:nvPr>
            <p:ph type="sldNum" sz="quarter" idx="12"/>
          </p:nvPr>
        </p:nvSpPr>
        <p:spPr/>
        <p:txBody>
          <a:bodyPr/>
          <a:lstStyle/>
          <a:p>
            <a:fld id="{B645EB31-1C62-4062-9511-C82C6CC02C60}" type="slidenum">
              <a:rPr lang="en-US" smtClean="0"/>
              <a:t>19</a:t>
            </a:fld>
            <a:endParaRPr lang="en-US"/>
          </a:p>
        </p:txBody>
      </p:sp>
      <p:pic>
        <p:nvPicPr>
          <p:cNvPr id="7" name="Picture 6">
            <a:extLst>
              <a:ext uri="{FF2B5EF4-FFF2-40B4-BE49-F238E27FC236}">
                <a16:creationId xmlns:a16="http://schemas.microsoft.com/office/drawing/2014/main" id="{59C50DC9-8D7B-A39E-8930-B1B66A1EE165}"/>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29DDBEBE-C3CA-A884-CE24-C2CAF8116085}"/>
              </a:ext>
            </a:extLst>
          </p:cNvPr>
          <p:cNvSpPr>
            <a:spLocks noGrp="1"/>
          </p:cNvSpPr>
          <p:nvPr>
            <p:ph idx="1"/>
          </p:nvPr>
        </p:nvSpPr>
        <p:spPr/>
        <p:txBody>
          <a:bodyPr>
            <a:normAutofit fontScale="92500" lnSpcReduction="20000"/>
          </a:bodyPr>
          <a:lstStyle/>
          <a:p>
            <a:r>
              <a:rPr lang="en-US" b="1" u="sng" dirty="0"/>
              <a:t>What</a:t>
            </a:r>
            <a:r>
              <a:rPr lang="en-US" dirty="0"/>
              <a:t>: Preparing raw data for machine learning.</a:t>
            </a:r>
          </a:p>
          <a:p>
            <a:r>
              <a:rPr lang="en-US" b="1" u="sng" dirty="0"/>
              <a:t>Why</a:t>
            </a:r>
            <a:r>
              <a:rPr lang="en-US" dirty="0"/>
              <a:t>: Garbage in = garbage out! Clean data = better models.</a:t>
            </a:r>
          </a:p>
          <a:p>
            <a:r>
              <a:rPr lang="en-US" b="1" u="sng" dirty="0"/>
              <a:t>Key Steps</a:t>
            </a:r>
            <a:r>
              <a:rPr lang="en-US" dirty="0"/>
              <a:t>:</a:t>
            </a:r>
          </a:p>
          <a:p>
            <a:pPr lvl="1"/>
            <a:r>
              <a:rPr lang="en-US" dirty="0"/>
              <a:t>Handle missing data (e.g., remove rows or fill gaps).</a:t>
            </a:r>
          </a:p>
          <a:p>
            <a:pPr lvl="1"/>
            <a:r>
              <a:rPr lang="en-US" dirty="0"/>
              <a:t>Convert text/categories to numbers (e.g., "red" → 0, "blue" → 1).</a:t>
            </a:r>
          </a:p>
          <a:p>
            <a:pPr lvl="1"/>
            <a:r>
              <a:rPr lang="en-US" dirty="0"/>
              <a:t>Scale features (e.g., normalize values between 0 and 1).</a:t>
            </a:r>
          </a:p>
          <a:p>
            <a:r>
              <a:rPr lang="en-US" b="1" u="sng" dirty="0"/>
              <a:t>Common techniques</a:t>
            </a:r>
            <a:r>
              <a:rPr lang="en-US" dirty="0"/>
              <a:t>:</a:t>
            </a:r>
            <a:endParaRPr lang="en-US" b="1" u="sng" dirty="0"/>
          </a:p>
          <a:p>
            <a:pPr lvl="1"/>
            <a:r>
              <a:rPr lang="en-US" dirty="0"/>
              <a:t>Missing Data: Use mean/median or drop rows.</a:t>
            </a:r>
          </a:p>
          <a:p>
            <a:pPr lvl="1"/>
            <a:r>
              <a:rPr lang="en-US" dirty="0"/>
              <a:t>Categorical Encoding: One-Hot Encoding (e.g., "cat" → [1,0], "dog" → [0,1]).</a:t>
            </a:r>
          </a:p>
          <a:p>
            <a:pPr lvl="1"/>
            <a:r>
              <a:rPr lang="en-US" dirty="0"/>
              <a:t>Feature Scaling: Standardization (mean=0, variance=1) vs. Min-Max Scaling.</a:t>
            </a:r>
          </a:p>
          <a:p>
            <a:pPr lvl="1"/>
            <a:r>
              <a:rPr lang="en-US" dirty="0"/>
              <a:t>Train-Test Split: Separate data into training (80%) and testing (20%).</a:t>
            </a:r>
          </a:p>
          <a:p>
            <a:pPr lvl="1"/>
            <a:r>
              <a:rPr lang="en-US" dirty="0"/>
              <a:t>Example: Preparing a dataset of house prices.</a:t>
            </a:r>
          </a:p>
        </p:txBody>
      </p:sp>
    </p:spTree>
    <p:extLst>
      <p:ext uri="{BB962C8B-B14F-4D97-AF65-F5344CB8AC3E}">
        <p14:creationId xmlns:p14="http://schemas.microsoft.com/office/powerpoint/2010/main" val="2838088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0AEC5-1BD7-C149-A34F-B219424D6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16598-AD56-20A5-C2F1-3480041E9003}"/>
              </a:ext>
            </a:extLst>
          </p:cNvPr>
          <p:cNvSpPr>
            <a:spLocks noGrp="1"/>
          </p:cNvSpPr>
          <p:nvPr>
            <p:ph type="title"/>
          </p:nvPr>
        </p:nvSpPr>
        <p:spPr/>
        <p:txBody>
          <a:bodyPr/>
          <a:lstStyle/>
          <a:p>
            <a:r>
              <a:rPr lang="en-US" b="1" dirty="0"/>
              <a:t>Model Evaluation</a:t>
            </a:r>
          </a:p>
        </p:txBody>
      </p:sp>
      <p:cxnSp>
        <p:nvCxnSpPr>
          <p:cNvPr id="4" name="Straight Connector 3">
            <a:extLst>
              <a:ext uri="{FF2B5EF4-FFF2-40B4-BE49-F238E27FC236}">
                <a16:creationId xmlns:a16="http://schemas.microsoft.com/office/drawing/2014/main" id="{117B81BA-3498-EBBC-92E5-61281B0963E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44F236F8-D26D-611E-440B-A58C4AEEFBE7}"/>
              </a:ext>
            </a:extLst>
          </p:cNvPr>
          <p:cNvSpPr>
            <a:spLocks noGrp="1"/>
          </p:cNvSpPr>
          <p:nvPr>
            <p:ph type="sldNum" sz="quarter" idx="12"/>
          </p:nvPr>
        </p:nvSpPr>
        <p:spPr/>
        <p:txBody>
          <a:bodyPr/>
          <a:lstStyle/>
          <a:p>
            <a:fld id="{B645EB31-1C62-4062-9511-C82C6CC02C60}" type="slidenum">
              <a:rPr lang="en-US" smtClean="0"/>
              <a:t>20</a:t>
            </a:fld>
            <a:endParaRPr lang="en-US"/>
          </a:p>
        </p:txBody>
      </p:sp>
      <p:pic>
        <p:nvPicPr>
          <p:cNvPr id="7" name="Picture 6">
            <a:extLst>
              <a:ext uri="{FF2B5EF4-FFF2-40B4-BE49-F238E27FC236}">
                <a16:creationId xmlns:a16="http://schemas.microsoft.com/office/drawing/2014/main" id="{D9A41FD7-0C2C-5448-26EB-B2988F592C25}"/>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0B53B846-5DC3-1145-6322-6582068715A8}"/>
              </a:ext>
            </a:extLst>
          </p:cNvPr>
          <p:cNvSpPr>
            <a:spLocks noGrp="1"/>
          </p:cNvSpPr>
          <p:nvPr>
            <p:ph idx="1"/>
          </p:nvPr>
        </p:nvSpPr>
        <p:spPr/>
        <p:txBody>
          <a:bodyPr>
            <a:normAutofit fontScale="92500" lnSpcReduction="10000"/>
          </a:bodyPr>
          <a:lstStyle/>
          <a:p>
            <a:r>
              <a:rPr lang="en-US" b="1" u="sng" dirty="0"/>
              <a:t>Goal</a:t>
            </a:r>
            <a:r>
              <a:rPr lang="en-US" dirty="0"/>
              <a:t>: Ensure models work well on new, unseen data.</a:t>
            </a:r>
          </a:p>
          <a:p>
            <a:r>
              <a:rPr lang="en-US" b="1" u="sng" dirty="0"/>
              <a:t>Overfitting</a:t>
            </a:r>
            <a:r>
              <a:rPr lang="en-US" dirty="0"/>
              <a:t>: Model memorizes training data but fails on test data.</a:t>
            </a:r>
          </a:p>
          <a:p>
            <a:r>
              <a:rPr lang="en-US" b="1" u="sng" dirty="0"/>
              <a:t>Key Terms</a:t>
            </a:r>
            <a:r>
              <a:rPr lang="en-US" dirty="0"/>
              <a:t>:</a:t>
            </a:r>
          </a:p>
          <a:p>
            <a:pPr lvl="1"/>
            <a:r>
              <a:rPr lang="en-US" dirty="0"/>
              <a:t>Accuracy: % of correct predictions (good for balanced classes).</a:t>
            </a:r>
          </a:p>
          <a:p>
            <a:pPr lvl="1"/>
            <a:r>
              <a:rPr lang="en-US" dirty="0"/>
              <a:t>Precision: Trade-off for imbalanced data (e.g., fraud detection).</a:t>
            </a:r>
          </a:p>
          <a:p>
            <a:r>
              <a:rPr lang="en-US" b="1" u="sng" dirty="0"/>
              <a:t>Metrics and validation</a:t>
            </a:r>
            <a:r>
              <a:rPr lang="en-US" dirty="0"/>
              <a:t>:</a:t>
            </a:r>
            <a:endParaRPr lang="en-US" b="1" u="sng" dirty="0"/>
          </a:p>
          <a:p>
            <a:pPr lvl="1"/>
            <a:r>
              <a:rPr lang="en-US" dirty="0"/>
              <a:t>Classification:</a:t>
            </a:r>
          </a:p>
          <a:p>
            <a:pPr lvl="2"/>
            <a:r>
              <a:rPr lang="en-US" dirty="0"/>
              <a:t>Confusion Matrix: TP, TN, FP, FN.</a:t>
            </a:r>
          </a:p>
          <a:p>
            <a:pPr lvl="2"/>
            <a:r>
              <a:rPr lang="en-US" dirty="0"/>
              <a:t>F1-Score: Balance precision and recall.</a:t>
            </a:r>
          </a:p>
          <a:p>
            <a:pPr lvl="1"/>
            <a:r>
              <a:rPr lang="en-US" dirty="0"/>
              <a:t>Regression:</a:t>
            </a:r>
          </a:p>
          <a:p>
            <a:pPr lvl="2"/>
            <a:r>
              <a:rPr lang="en-US" dirty="0"/>
              <a:t>MAE: Average error.</a:t>
            </a:r>
          </a:p>
          <a:p>
            <a:pPr lvl="2"/>
            <a:r>
              <a:rPr lang="en-US" dirty="0"/>
              <a:t>R²: How well the model explains data variance.</a:t>
            </a:r>
          </a:p>
        </p:txBody>
      </p:sp>
    </p:spTree>
    <p:extLst>
      <p:ext uri="{BB962C8B-B14F-4D97-AF65-F5344CB8AC3E}">
        <p14:creationId xmlns:p14="http://schemas.microsoft.com/office/powerpoint/2010/main" val="1387461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0F7C4-D3F9-17B2-61BC-4170CDC14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BE8A3-E5DE-3F52-D3B4-5EB3C3C91F28}"/>
              </a:ext>
            </a:extLst>
          </p:cNvPr>
          <p:cNvSpPr>
            <a:spLocks noGrp="1"/>
          </p:cNvSpPr>
          <p:nvPr>
            <p:ph type="title"/>
          </p:nvPr>
        </p:nvSpPr>
        <p:spPr/>
        <p:txBody>
          <a:bodyPr/>
          <a:lstStyle/>
          <a:p>
            <a:r>
              <a:rPr lang="en-US" b="1" dirty="0"/>
              <a:t>Ethics in ML</a:t>
            </a:r>
          </a:p>
        </p:txBody>
      </p:sp>
      <p:cxnSp>
        <p:nvCxnSpPr>
          <p:cNvPr id="4" name="Straight Connector 3">
            <a:extLst>
              <a:ext uri="{FF2B5EF4-FFF2-40B4-BE49-F238E27FC236}">
                <a16:creationId xmlns:a16="http://schemas.microsoft.com/office/drawing/2014/main" id="{0A232D34-AE19-565E-0650-570AB88BAF94}"/>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9B24DE7E-9B28-ADC2-3B48-2DB7CE7F46D4}"/>
              </a:ext>
            </a:extLst>
          </p:cNvPr>
          <p:cNvSpPr>
            <a:spLocks noGrp="1"/>
          </p:cNvSpPr>
          <p:nvPr>
            <p:ph type="sldNum" sz="quarter" idx="12"/>
          </p:nvPr>
        </p:nvSpPr>
        <p:spPr/>
        <p:txBody>
          <a:bodyPr/>
          <a:lstStyle/>
          <a:p>
            <a:fld id="{B645EB31-1C62-4062-9511-C82C6CC02C60}" type="slidenum">
              <a:rPr lang="en-US" smtClean="0"/>
              <a:t>21</a:t>
            </a:fld>
            <a:endParaRPr lang="en-US"/>
          </a:p>
        </p:txBody>
      </p:sp>
      <p:pic>
        <p:nvPicPr>
          <p:cNvPr id="7" name="Picture 6">
            <a:extLst>
              <a:ext uri="{FF2B5EF4-FFF2-40B4-BE49-F238E27FC236}">
                <a16:creationId xmlns:a16="http://schemas.microsoft.com/office/drawing/2014/main" id="{DD7DBF46-309D-5FA7-606E-1C9AB11C482D}"/>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3EF2D350-0B41-D7BA-C761-2B3DBD38AF1E}"/>
              </a:ext>
            </a:extLst>
          </p:cNvPr>
          <p:cNvSpPr>
            <a:spLocks noGrp="1"/>
          </p:cNvSpPr>
          <p:nvPr>
            <p:ph idx="1"/>
          </p:nvPr>
        </p:nvSpPr>
        <p:spPr/>
        <p:txBody>
          <a:bodyPr>
            <a:normAutofit/>
          </a:bodyPr>
          <a:lstStyle/>
          <a:p>
            <a:pPr algn="just"/>
            <a:r>
              <a:rPr lang="en-US" b="1" dirty="0"/>
              <a:t>Bias</a:t>
            </a:r>
            <a:r>
              <a:rPr lang="en-US" dirty="0"/>
              <a:t>: Models reflecting unfair stereotypes</a:t>
            </a:r>
          </a:p>
          <a:p>
            <a:pPr lvl="1" algn="just"/>
            <a:r>
              <a:rPr lang="en-US" dirty="0"/>
              <a:t>Criminal Justice Algorithms: Used to predict the likelihood of reoffending.</a:t>
            </a:r>
          </a:p>
          <a:p>
            <a:pPr lvl="1" algn="just"/>
            <a:r>
              <a:rPr lang="en-US" dirty="0"/>
              <a:t>Bias: Higher false positive rates for Black defendants</a:t>
            </a:r>
          </a:p>
          <a:p>
            <a:pPr algn="just"/>
            <a:r>
              <a:rPr lang="en-US" b="1" dirty="0"/>
              <a:t>Privacy</a:t>
            </a:r>
            <a:r>
              <a:rPr lang="en-US" dirty="0"/>
              <a:t>: Using personal data without consent</a:t>
            </a:r>
          </a:p>
          <a:p>
            <a:pPr algn="just"/>
            <a:r>
              <a:rPr lang="en-US" b="1" dirty="0"/>
              <a:t>Transparency</a:t>
            </a:r>
            <a:r>
              <a:rPr lang="en-US" dirty="0"/>
              <a:t>: "Black-box" models making unexplainable decisions</a:t>
            </a:r>
          </a:p>
          <a:p>
            <a:pPr algn="just"/>
            <a:r>
              <a:rPr lang="en-US" b="1" dirty="0"/>
              <a:t>How to tackle</a:t>
            </a:r>
            <a:r>
              <a:rPr lang="en-US" dirty="0"/>
              <a:t>:</a:t>
            </a:r>
          </a:p>
          <a:p>
            <a:pPr lvl="1" algn="just"/>
            <a:r>
              <a:rPr lang="en-US" b="1" u="sng" dirty="0"/>
              <a:t>Fairness</a:t>
            </a:r>
            <a:r>
              <a:rPr lang="en-US" dirty="0"/>
              <a:t>: Audit models for biased outcomes.</a:t>
            </a:r>
          </a:p>
          <a:p>
            <a:pPr lvl="1" algn="just"/>
            <a:r>
              <a:rPr lang="en-US" b="1" u="sng" dirty="0"/>
              <a:t>Privacy Protections</a:t>
            </a:r>
            <a:r>
              <a:rPr lang="en-US" dirty="0"/>
              <a:t>: Anonymize data; follow regulations </a:t>
            </a:r>
          </a:p>
          <a:p>
            <a:pPr lvl="1" algn="just"/>
            <a:r>
              <a:rPr lang="en-US" b="1" u="sng" dirty="0"/>
              <a:t>Transparency</a:t>
            </a:r>
            <a:r>
              <a:rPr lang="en-US" dirty="0"/>
              <a:t>: Use interpretable models (e.g., Decision Trees) or </a:t>
            </a:r>
            <a:r>
              <a:rPr lang="en-US" dirty="0" err="1"/>
              <a:t>explainability</a:t>
            </a:r>
            <a:r>
              <a:rPr lang="en-US" dirty="0"/>
              <a:t> tools.</a:t>
            </a:r>
          </a:p>
        </p:txBody>
      </p:sp>
    </p:spTree>
    <p:extLst>
      <p:ext uri="{BB962C8B-B14F-4D97-AF65-F5344CB8AC3E}">
        <p14:creationId xmlns:p14="http://schemas.microsoft.com/office/powerpoint/2010/main" val="2710765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DBBE-F757-4DBD-9A6E-2B7EEBBD9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F551E-FC1C-767C-9558-572CE7BF3821}"/>
              </a:ext>
            </a:extLst>
          </p:cNvPr>
          <p:cNvSpPr>
            <a:spLocks noGrp="1"/>
          </p:cNvSpPr>
          <p:nvPr>
            <p:ph type="title"/>
          </p:nvPr>
        </p:nvSpPr>
        <p:spPr/>
        <p:txBody>
          <a:bodyPr/>
          <a:lstStyle/>
          <a:p>
            <a:r>
              <a:rPr lang="en-US" b="1" dirty="0"/>
              <a:t>Challenges in ML</a:t>
            </a:r>
          </a:p>
        </p:txBody>
      </p:sp>
      <p:sp>
        <p:nvSpPr>
          <p:cNvPr id="9" name="Content Placeholder 8">
            <a:extLst>
              <a:ext uri="{FF2B5EF4-FFF2-40B4-BE49-F238E27FC236}">
                <a16:creationId xmlns:a16="http://schemas.microsoft.com/office/drawing/2014/main" id="{5E1E6F50-D5F6-9A9A-A8AC-0E9E4CFA4E76}"/>
              </a:ext>
            </a:extLst>
          </p:cNvPr>
          <p:cNvSpPr>
            <a:spLocks noGrp="1"/>
          </p:cNvSpPr>
          <p:nvPr>
            <p:ph idx="1"/>
          </p:nvPr>
        </p:nvSpPr>
        <p:spPr>
          <a:xfrm>
            <a:off x="652072" y="1825624"/>
            <a:ext cx="11040256" cy="4667251"/>
          </a:xfrm>
        </p:spPr>
        <p:txBody>
          <a:bodyPr>
            <a:normAutofit fontScale="85000" lnSpcReduction="20000"/>
          </a:bodyPr>
          <a:lstStyle/>
          <a:p>
            <a:pPr algn="just"/>
            <a:r>
              <a:rPr lang="en-US" b="1" dirty="0"/>
              <a:t>Data Bias and Fairness</a:t>
            </a:r>
          </a:p>
          <a:p>
            <a:pPr lvl="1" algn="just"/>
            <a:r>
              <a:rPr lang="en-US" dirty="0"/>
              <a:t>Machine Learning models are only as reliable as the data they are trained on. If the data is biased, the outcomes can be unfair or discriminatory. Ensuring fair representation and regularly auditing models is essential.</a:t>
            </a:r>
          </a:p>
          <a:p>
            <a:pPr algn="just"/>
            <a:r>
              <a:rPr lang="en-US" b="1" dirty="0"/>
              <a:t>Security and Privacy</a:t>
            </a:r>
          </a:p>
          <a:p>
            <a:pPr lvl="1" algn="just"/>
            <a:r>
              <a:rPr lang="en-US" dirty="0"/>
              <a:t>Since ML systems depend on large volumes of data, they are vulnerable to data breaches and misuse. Handling sensitive or personal information requires robust security measures and strict adherence to privacy regulations.</a:t>
            </a:r>
          </a:p>
          <a:p>
            <a:pPr algn="just"/>
            <a:r>
              <a:rPr lang="en-US" b="1" dirty="0"/>
              <a:t>Interpretability and Explainability</a:t>
            </a:r>
          </a:p>
          <a:p>
            <a:pPr lvl="1" algn="just"/>
            <a:r>
              <a:rPr lang="en-US" dirty="0"/>
              <a:t>Many advanced ML models function as “black boxes,” making it difficult to understand how decisions are made. This lack of transparency can hinder trust, accountability, and regulatory compliance.</a:t>
            </a:r>
          </a:p>
          <a:p>
            <a:pPr algn="just"/>
            <a:r>
              <a:rPr lang="en-US" b="1" dirty="0"/>
              <a:t>Job Displacement and Automation</a:t>
            </a:r>
          </a:p>
          <a:p>
            <a:pPr lvl="1" algn="just"/>
            <a:r>
              <a:rPr lang="en-US" dirty="0"/>
              <a:t>The rise of automation powered by ML may replace certain types of jobs, especially in repetitive or routine tasks. Preparing the workforce through upskilling and reskilling is key to minimizing negative social impacts.</a:t>
            </a:r>
          </a:p>
        </p:txBody>
      </p:sp>
      <p:cxnSp>
        <p:nvCxnSpPr>
          <p:cNvPr id="4" name="Straight Connector 3">
            <a:extLst>
              <a:ext uri="{FF2B5EF4-FFF2-40B4-BE49-F238E27FC236}">
                <a16:creationId xmlns:a16="http://schemas.microsoft.com/office/drawing/2014/main" id="{DC290163-7709-87AA-B883-825B9B09BD84}"/>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012F6D7B-930D-6B91-CED4-A9B63CADABCE}"/>
              </a:ext>
            </a:extLst>
          </p:cNvPr>
          <p:cNvSpPr>
            <a:spLocks noGrp="1"/>
          </p:cNvSpPr>
          <p:nvPr>
            <p:ph type="sldNum" sz="quarter" idx="12"/>
          </p:nvPr>
        </p:nvSpPr>
        <p:spPr/>
        <p:txBody>
          <a:bodyPr/>
          <a:lstStyle/>
          <a:p>
            <a:fld id="{B645EB31-1C62-4062-9511-C82C6CC02C60}" type="slidenum">
              <a:rPr lang="en-US" smtClean="0"/>
              <a:t>22</a:t>
            </a:fld>
            <a:endParaRPr lang="en-US"/>
          </a:p>
        </p:txBody>
      </p:sp>
      <p:pic>
        <p:nvPicPr>
          <p:cNvPr id="7" name="Picture 6">
            <a:extLst>
              <a:ext uri="{FF2B5EF4-FFF2-40B4-BE49-F238E27FC236}">
                <a16:creationId xmlns:a16="http://schemas.microsoft.com/office/drawing/2014/main" id="{9F9CBAC1-83E3-DFD7-5DCD-95243BE06508}"/>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1338270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71BCB-0C8F-216D-1F05-DE5524514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D33FC-A6D2-6087-FB36-80AC2F4E4F3E}"/>
              </a:ext>
            </a:extLst>
          </p:cNvPr>
          <p:cNvSpPr>
            <a:spLocks noGrp="1"/>
          </p:cNvSpPr>
          <p:nvPr>
            <p:ph type="title"/>
          </p:nvPr>
        </p:nvSpPr>
        <p:spPr/>
        <p:txBody>
          <a:bodyPr/>
          <a:lstStyle/>
          <a:p>
            <a:r>
              <a:rPr lang="en-US" b="1" dirty="0"/>
              <a:t>Current Trends</a:t>
            </a:r>
          </a:p>
        </p:txBody>
      </p:sp>
      <p:cxnSp>
        <p:nvCxnSpPr>
          <p:cNvPr id="4" name="Straight Connector 3">
            <a:extLst>
              <a:ext uri="{FF2B5EF4-FFF2-40B4-BE49-F238E27FC236}">
                <a16:creationId xmlns:a16="http://schemas.microsoft.com/office/drawing/2014/main" id="{C87D5407-4DC0-217F-BF27-D51C6A3C0C5E}"/>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2714A429-DE10-17CD-890A-F82C6EF63EE9}"/>
              </a:ext>
            </a:extLst>
          </p:cNvPr>
          <p:cNvSpPr>
            <a:spLocks noGrp="1"/>
          </p:cNvSpPr>
          <p:nvPr>
            <p:ph type="sldNum" sz="quarter" idx="12"/>
          </p:nvPr>
        </p:nvSpPr>
        <p:spPr/>
        <p:txBody>
          <a:bodyPr/>
          <a:lstStyle/>
          <a:p>
            <a:fld id="{B645EB31-1C62-4062-9511-C82C6CC02C60}" type="slidenum">
              <a:rPr lang="en-US" smtClean="0"/>
              <a:t>23</a:t>
            </a:fld>
            <a:endParaRPr lang="en-US"/>
          </a:p>
        </p:txBody>
      </p:sp>
      <p:pic>
        <p:nvPicPr>
          <p:cNvPr id="7" name="Picture 6">
            <a:extLst>
              <a:ext uri="{FF2B5EF4-FFF2-40B4-BE49-F238E27FC236}">
                <a16:creationId xmlns:a16="http://schemas.microsoft.com/office/drawing/2014/main" id="{E1A1A58C-F184-4113-F9C5-7923273A7462}"/>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AF56A5ED-CBA8-37BA-4965-169C7CEAADB0}"/>
              </a:ext>
            </a:extLst>
          </p:cNvPr>
          <p:cNvSpPr>
            <a:spLocks noGrp="1"/>
          </p:cNvSpPr>
          <p:nvPr>
            <p:ph idx="1"/>
          </p:nvPr>
        </p:nvSpPr>
        <p:spPr/>
        <p:txBody>
          <a:bodyPr>
            <a:normAutofit/>
          </a:bodyPr>
          <a:lstStyle/>
          <a:p>
            <a:pPr algn="just"/>
            <a:r>
              <a:rPr lang="en-US" b="1" dirty="0" err="1"/>
              <a:t>AutoML</a:t>
            </a:r>
            <a:r>
              <a:rPr lang="en-US" dirty="0"/>
              <a:t>: Tools like Auto-</a:t>
            </a:r>
            <a:r>
              <a:rPr lang="en-US" dirty="0" err="1"/>
              <a:t>Sklearn</a:t>
            </a:r>
            <a:r>
              <a:rPr lang="en-US" dirty="0"/>
              <a:t> automate model selection.</a:t>
            </a:r>
          </a:p>
          <a:p>
            <a:pPr algn="just"/>
            <a:r>
              <a:rPr lang="en-US" b="1" dirty="0"/>
              <a:t>Deep Learning</a:t>
            </a:r>
            <a:r>
              <a:rPr lang="en-US" dirty="0"/>
              <a:t>: Revolutionizing image/text/speech tasks.</a:t>
            </a:r>
          </a:p>
          <a:p>
            <a:pPr algn="just"/>
            <a:r>
              <a:rPr lang="en-US" b="1" dirty="0"/>
              <a:t>AI for Good</a:t>
            </a:r>
            <a:r>
              <a:rPr lang="en-US" dirty="0"/>
              <a:t>: Climate modeling, healthcare diagnostics.</a:t>
            </a:r>
          </a:p>
          <a:p>
            <a:pPr algn="just"/>
            <a:r>
              <a:rPr lang="en-US" b="1" dirty="0"/>
              <a:t>Ethical AI</a:t>
            </a:r>
            <a:r>
              <a:rPr lang="en-US" dirty="0"/>
              <a:t>: Growing focus on fairness and regulations.</a:t>
            </a:r>
          </a:p>
          <a:p>
            <a:pPr algn="just"/>
            <a:r>
              <a:rPr lang="en-US" b="1" dirty="0"/>
              <a:t>Generative AI</a:t>
            </a:r>
          </a:p>
          <a:p>
            <a:pPr lvl="1" algn="just"/>
            <a:endParaRPr lang="en-US" dirty="0"/>
          </a:p>
          <a:p>
            <a:pPr lvl="1" algn="just"/>
            <a:endParaRPr lang="en-US" dirty="0"/>
          </a:p>
        </p:txBody>
      </p:sp>
    </p:spTree>
    <p:extLst>
      <p:ext uri="{BB962C8B-B14F-4D97-AF65-F5344CB8AC3E}">
        <p14:creationId xmlns:p14="http://schemas.microsoft.com/office/powerpoint/2010/main" val="1190550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4162</TotalTime>
  <Words>2146</Words>
  <Application>Microsoft Office PowerPoint</Application>
  <PresentationFormat>Widescreen</PresentationFormat>
  <Paragraphs>246</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Comic Sans MS</vt:lpstr>
      <vt:lpstr>DeepSeek-CJK-patch</vt:lpstr>
      <vt:lpstr>Office Theme</vt:lpstr>
      <vt:lpstr> Lecture 1: Machine Learning Overview</vt:lpstr>
      <vt:lpstr>Class Information</vt:lpstr>
      <vt:lpstr>Instructor Information</vt:lpstr>
      <vt:lpstr>Tentative Marks Distribution</vt:lpstr>
      <vt:lpstr>Class Rules</vt:lpstr>
      <vt:lpstr>Let’s discuss </vt:lpstr>
      <vt:lpstr>Let’s discuss </vt:lpstr>
      <vt:lpstr>Introduction</vt:lpstr>
      <vt:lpstr>ML, AI and Deep Leaning (DL)</vt:lpstr>
      <vt:lpstr>Why ML?</vt:lpstr>
      <vt:lpstr>How ML learns?</vt:lpstr>
      <vt:lpstr>Types of ML</vt:lpstr>
      <vt:lpstr>Supervised Learning</vt:lpstr>
      <vt:lpstr>Supervised Learning Categories</vt:lpstr>
      <vt:lpstr>Unsupervised Learning</vt:lpstr>
      <vt:lpstr>Unsupervised Learning Categories</vt:lpstr>
      <vt:lpstr>Learners in ML</vt:lpstr>
      <vt:lpstr>Lazy Learners vs Eager Learners</vt:lpstr>
      <vt:lpstr>Data Preprocessing</vt:lpstr>
      <vt:lpstr>Model Evaluation</vt:lpstr>
      <vt:lpstr>Ethics in ML</vt:lpstr>
      <vt:lpstr>Challenges in ML</vt:lpstr>
      <vt:lpstr>Current Trends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Lecture 1: Machine Learning Overview</dc:title>
  <dc:creator>Jilan Samiuddin</dc:creator>
  <cp:lastModifiedBy>Jilan Samiuddin</cp:lastModifiedBy>
  <cp:revision>54</cp:revision>
  <dcterms:created xsi:type="dcterms:W3CDTF">2025-05-01T04:50:36Z</dcterms:created>
  <dcterms:modified xsi:type="dcterms:W3CDTF">2026-01-26T03:25:04Z</dcterms:modified>
</cp:coreProperties>
</file>