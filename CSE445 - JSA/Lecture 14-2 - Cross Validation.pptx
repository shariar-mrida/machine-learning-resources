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75" r:id="rId3"/>
    <p:sldId id="274" r:id="rId4"/>
    <p:sldId id="276" r:id="rId5"/>
    <p:sldId id="277" r:id="rId6"/>
    <p:sldId id="278" r:id="rId7"/>
    <p:sldId id="279" r:id="rId8"/>
    <p:sldId id="283" r:id="rId9"/>
    <p:sldId id="280" r:id="rId10"/>
    <p:sldId id="282" r:id="rId11"/>
    <p:sldId id="281" r:id="rId12"/>
    <p:sldId id="286" r:id="rId13"/>
    <p:sldId id="285" r:id="rId14"/>
    <p:sldId id="28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8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4E0159-42FF-E65A-8E4D-D784988C25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496018-5CC2-59DE-2953-7738B9834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8FED0-F494-4C8F-803A-297D5BD08D3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6F1A6-4EBD-D971-0F49-66EB5F0FDB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CC8F35-1B39-1C84-0B7A-25A637B3F2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219B2-123C-4C18-A5D8-EB8782F74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2474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6CD510-D800-49E6-BF08-298A1FE48EE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8FE62-91E1-4730-A536-75C928C6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5415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923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F14F1-BD4C-AE3F-2128-E8C7B468D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FB4BFF-8113-3A44-E69E-54BD0A0F90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38D63D-6448-8201-4D7B-EE25F9BBF0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F4983-DA5E-B0CF-2DEA-D55691477E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04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6768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66097-EB28-7145-F965-4E470FC51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909D73-6138-E82D-17CF-C726C3EB17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2C039-27BA-2BCF-6137-23BA68466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29E74-01F6-B2B3-5701-D26F546639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195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CEFFD-CFB2-6255-51A4-DDCE45083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7B9CD0-2C6F-ED34-D609-4A230CABF0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D3856F-19D7-C2C3-8075-D75FF2F3E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71084-72CF-2931-1F19-612D2EBAA8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842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6D294-D1CE-930A-275E-4FBE5AC0B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01D28A-BC38-C327-835C-CEC87BD79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DDA20F-0FD2-CC0D-311D-3E0464F2BA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D78EF-7957-655F-2C2E-E7B770E47E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3937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1A4A4-EB56-83F9-097C-635EDC777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9C9AEA-E68C-69A9-41A0-4CDC869B4D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F9DDD2-B583-C8E2-A361-B273D849C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5D0553-390C-95E2-4A7A-B22D873A5A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7120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6DD94-DE63-8FB5-C03C-5E339D5F9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7C3356-3FDA-E170-60E9-4FC0F234F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5C2FF5-F692-2834-6CA6-EA4C419CA2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2F46B-6DFF-5BF7-0B30-5B7125E9FB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446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D30CF-EC37-2BA6-0C80-6BE6C8A7C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ABC88D-72D9-1E0D-B7FC-7544CF10DC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96328B-B36A-9997-164C-9062A340A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5815A-FAFB-311B-A677-96B43B45AB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1478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70AB7-9CCE-7198-81FB-17D1DA7BC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E010F3-A0C2-C391-389C-12A2C5D0B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E355EF-8BE7-1DF9-4F9C-E38578A615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62DBD-D569-C4FE-33C2-28C7655855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0226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6E02B-1EF9-A62D-913C-9BCCDA627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54CA0D-1A7D-6916-A840-03789F0D2D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3B4441-7FE0-A714-5BC4-5ACE5DCE3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5B426-9D73-CBC9-B65C-E912CC80F8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0637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16BF3-ED79-ABAE-FBC4-552462B06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DFDF4E-26FD-D9B1-2FA1-ACBD60ECD4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087867-C0FC-380F-7393-657844F06E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F4E93-1645-79D6-B807-A028543463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2802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3FB7C-D8FB-263F-AEE3-8976372A4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468673-EED1-536F-485F-3E53D0CDAA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A4F859-4A5E-A534-377E-C00BC85FA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4C5D5-79F5-5707-33AD-71EEECFD36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567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F76BA-1BA5-5A27-97E3-429F63445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C6D45E-D26A-77C9-DC21-EC8B15A82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B12C26-5BAB-0BD5-78E5-C9C510D1E2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1BFD7-A38C-6BB3-3262-D251FC8CBC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04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803D7-70F1-1C6F-A3B7-A8287EE25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7E7C8-C452-803C-5FAC-14BDD1D43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D9D17-AB94-0B7D-C590-1F7E5184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370ED-970E-4212-BB35-C22C1D195CBC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9647B-4FB4-82CC-07BE-EFD93BF43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4B835-5F31-3FC0-10FA-FAC19E81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3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216F1-8C26-C670-B7DC-8010AD39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ADE1A-A059-2960-24A5-D405837CE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42EED-1E92-359C-10FA-4E5D3C3F9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BB735-82A6-4413-A653-62CE81350112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24E15-03A2-851D-88BC-2445BB771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F4FD2-0C66-774A-A375-1089C6654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22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5120E-FC2F-A46F-4B09-23117B464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862F9-9511-E32B-4BD7-47E0A71AD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C9156-0A2A-DB75-C8EA-248EA3DEE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75B7-2148-4A9D-995D-56145ABEAE97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D3A95-056A-D033-22AF-CDDBE987E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57329-594F-D458-6A9C-F07B09AF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53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8A64B-29CB-8665-CEC5-DF412D2F9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8CDFC-7ECF-8F07-A1A5-1C0C8B38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D181D-A96E-0D94-2062-16DE28541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00174-4A25-E989-7ACA-5C0B639C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A078-0F96-4814-AF41-4D8FAE7F8A6C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3BD85-5B63-139B-2CE7-19610007F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ABD13-EDE6-69F9-8590-026CFFF13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69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5F3A3-B693-9109-7927-708691AAD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C4F7D-CCD8-33A2-D7D0-35E5380DD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AD8A8-2AB0-25CD-201F-ED952A4CD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E13444-B5AF-C486-4E0A-7F2108ACDF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942FB4-090B-A58C-DF43-EA43DA1F16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08DE3-3255-6046-EE31-0C14E3532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CFAE0-6AEA-4322-8961-61818A5C4CC4}" type="datetime1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A5004F-5259-2B42-1938-FA9CAA92C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D354AB-D64D-E84A-BA76-66DBB6E4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54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E9BCC-F36B-F141-B6AC-0F2466147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7B0912-EE39-228C-9255-704DBA8C2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CC14-615A-40E5-878F-B7968E69ACA9}" type="datetime1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ECFC76-DAA8-A15C-4AC4-93D299980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5AFFAA-E646-0DDF-64A0-A28BAC96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07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8BE16B-802E-3074-11D1-8DE9C32B0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13215-DB23-4892-8F9A-91431A502CD2}" type="datetime1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70A2E-3D38-5D1E-AF19-F063247E7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31207-BFA9-21E9-A865-318F13DA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0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2605C-FA05-25DE-15F4-805A8CF09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4B131-EC7F-BFD9-E7B6-AB3137F4F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959E2-E99B-EDA1-628E-184C643D5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E0DFE-327E-11B6-BD8C-0F41386E7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BCFA-E3E0-4FF4-BACA-FCF5C255E5DE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88662-BCB8-828C-9BDF-DD1D1A56A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0129B-382F-9101-9ED5-631C3B88F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1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04D93-D5ED-C785-80CB-7CF60D10A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39CBA7-CE7D-C187-B782-CA09C95AF8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639DC-D960-C20C-EDEF-4E282D5FC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0A177-05FD-4F3A-55CF-3EEB7E4E8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EC14-2B3B-4EE3-949A-779D533E8478}" type="datetime1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99E7E-8ECE-4DE4-A26C-C2CAB097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AEDC0-BC10-677B-FFB3-DD53581A8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678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9DC3-0DF6-0743-E644-4A7AC5421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E063F-D43E-FD0C-D76B-188F3B72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1BACC-50F2-51B8-0376-B959E5C69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C18E-A90B-4B22-BF53-42EC149F08BB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CC8EC-0CE8-F103-3FD7-ED00AEDD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0F038-A502-BA4A-633C-2C8924FA2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40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D0902E-7688-3814-1155-474461F4B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62A82-7CD6-0470-0AF6-CCA98D9EF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BDE9E-FAFF-63E1-22C0-33E9AE7F2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4F7D-5048-4108-88DC-972512EB713E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85A15-7E8B-01A9-927C-5655A0706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D3DFA-2B27-BC65-59BF-B29EA1A3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8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CAD65-4AD5-02F3-7FA3-E760BBE79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EEE9E-8A03-0343-4D11-0133E5C0B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60B93-A586-42A5-0F99-907C96847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F7581B-AB8F-4D43-BDE7-8F5E2E8E8856}" type="datetime1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50782-3D97-A485-DC22-453A9166F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A4F32-3929-476D-213C-0F9E358D2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8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5000"/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Marker/>
                    </a14:imgEffect>
                  </a14:imgLayer>
                </a14:imgProps>
              </a:ext>
            </a:extLst>
          </a:blip>
          <a:srcRect/>
          <a:stretch>
            <a:fillRect l="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8" name="Rectangle 2077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E115A1-643A-7BF3-3A4B-2A7AF1AE9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228" y="743447"/>
            <a:ext cx="4552707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 b="1"/>
              <a:t>Lecture 14-2: </a:t>
            </a:r>
            <a:r>
              <a:rPr lang="en-US" sz="5200" b="1" dirty="0"/>
              <a:t>Cross Validation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31FF77-E09E-52C0-CD84-03CBD6D98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229" y="46292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n-US" b="1" i="1" dirty="0"/>
              <a:t>Dr. Jilan Samiuddin (JSA)</a:t>
            </a:r>
          </a:p>
          <a:p>
            <a:pPr algn="l"/>
            <a:r>
              <a:rPr lang="en-US" dirty="0"/>
              <a:t>Assistant Professor</a:t>
            </a:r>
          </a:p>
          <a:p>
            <a:pPr algn="l"/>
            <a:r>
              <a:rPr lang="en-US" dirty="0"/>
              <a:t>North South University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C301A-7024-8616-AFF2-7263B1346FFF}"/>
              </a:ext>
            </a:extLst>
          </p:cNvPr>
          <p:cNvSpPr txBox="1"/>
          <p:nvPr/>
        </p:nvSpPr>
        <p:spPr>
          <a:xfrm>
            <a:off x="952227" y="1199214"/>
            <a:ext cx="2782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CSE445 Machine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CA6BF-0DE8-9E57-6E92-74A6BC63A17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8000"/>
          </a:blip>
          <a:stretch>
            <a:fillRect/>
          </a:stretch>
        </p:blipFill>
        <p:spPr>
          <a:xfrm>
            <a:off x="392975" y="260715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640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51BEF-FA4B-58F0-8928-E7D8CAD41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0615E-F91D-48E2-CB2C-CBF336F0D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Introduction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48F4963-DC99-22A5-3994-7B1A9EBD5EB5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B81D76-4AEE-ACF1-646E-06EECD601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DB5A3F-5E5F-806F-ECB3-766E9964300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812EE0-50E9-E4E3-A463-CD1F04AAB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522888"/>
            <a:ext cx="11040256" cy="4530723"/>
          </a:xfrm>
        </p:spPr>
        <p:txBody>
          <a:bodyPr>
            <a:noAutofit/>
          </a:bodyPr>
          <a:lstStyle/>
          <a:p>
            <a:pPr algn="just"/>
            <a:r>
              <a:rPr lang="en-US" sz="2300" b="1" u="sng" dirty="0"/>
              <a:t>Cross-validation</a:t>
            </a:r>
            <a:r>
              <a:rPr lang="en-US" sz="2300" dirty="0"/>
              <a:t> is a technique used to evaluate how well a machine learning model performs on unseen data</a:t>
            </a:r>
          </a:p>
          <a:p>
            <a:pPr algn="just"/>
            <a:r>
              <a:rPr lang="en-US" sz="2300" dirty="0"/>
              <a:t>It splits the dataset into several parts (or folds)</a:t>
            </a:r>
          </a:p>
          <a:p>
            <a:pPr algn="just"/>
            <a:r>
              <a:rPr lang="en-US" sz="2300" dirty="0"/>
              <a:t>The model is trained on some parts (training set) and tested on the remaining part (validation set)</a:t>
            </a:r>
          </a:p>
          <a:p>
            <a:pPr algn="just"/>
            <a:r>
              <a:rPr lang="en-US" sz="2300" dirty="0"/>
              <a:t>This process is repeated multiple times, each time with a different fold used as the validation set</a:t>
            </a:r>
          </a:p>
          <a:p>
            <a:pPr algn="just"/>
            <a:r>
              <a:rPr lang="en-US" sz="2300" dirty="0"/>
              <a:t>The results from all validation steps are averaged to produce a more accurate estimate of the model's performance.</a:t>
            </a:r>
          </a:p>
          <a:p>
            <a:pPr algn="just"/>
            <a:r>
              <a:rPr lang="en-US" sz="2300" dirty="0"/>
              <a:t>The </a:t>
            </a:r>
            <a:r>
              <a:rPr lang="en-US" sz="2300" b="1" u="sng" dirty="0"/>
              <a:t>main purpose</a:t>
            </a:r>
            <a:r>
              <a:rPr lang="en-US" sz="2300" dirty="0"/>
              <a:t> of cross validation is to </a:t>
            </a:r>
            <a:r>
              <a:rPr lang="en-US" sz="2300" b="1" u="sng" dirty="0"/>
              <a:t>check for</a:t>
            </a:r>
            <a:r>
              <a:rPr lang="en-US" sz="2300" dirty="0"/>
              <a:t> and </a:t>
            </a:r>
            <a:r>
              <a:rPr lang="en-US" sz="2300" b="1" u="sng" dirty="0"/>
              <a:t>prevent overfitting</a:t>
            </a:r>
          </a:p>
          <a:p>
            <a:pPr algn="just"/>
            <a:r>
              <a:rPr lang="en-US" sz="2300" dirty="0"/>
              <a:t>If you want to make sure your machine learning model is not just memorizing the training data but is capable of adapting to real-world data, cross-validation is a commonly used technique to assess the model</a:t>
            </a:r>
          </a:p>
        </p:txBody>
      </p:sp>
    </p:spTree>
    <p:extLst>
      <p:ext uri="{BB962C8B-B14F-4D97-AF65-F5344CB8AC3E}">
        <p14:creationId xmlns:p14="http://schemas.microsoft.com/office/powerpoint/2010/main" val="253958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5AEE8-6F8B-9FE0-BB68-5586414E5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33528-3C14-7895-8EA3-B39964895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A Good ML Model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F1A0919-707C-DD43-2AB2-B90D62AFEA38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2440A3-F561-5513-DF30-DCC7BF98E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2826BA-4010-179D-017F-00C3FB366D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B782FC3-F038-0CB2-CBC0-A3F8A8277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522888"/>
            <a:ext cx="11040256" cy="4530723"/>
          </a:xfrm>
        </p:spPr>
        <p:txBody>
          <a:bodyPr>
            <a:noAutofit/>
          </a:bodyPr>
          <a:lstStyle/>
          <a:p>
            <a:pPr algn="just"/>
            <a:r>
              <a:rPr lang="en-US" sz="2500" dirty="0"/>
              <a:t>A good machine learning model performs well on both training data and unseen data</a:t>
            </a:r>
          </a:p>
          <a:p>
            <a:pPr algn="just"/>
            <a:r>
              <a:rPr lang="en-US" sz="2500" dirty="0"/>
              <a:t>It effectively learns patterns from the training data</a:t>
            </a:r>
          </a:p>
          <a:p>
            <a:pPr algn="just"/>
            <a:r>
              <a:rPr lang="en-US" sz="2500" dirty="0"/>
              <a:t>It generalizes well to new, unseen data</a:t>
            </a:r>
          </a:p>
          <a:p>
            <a:pPr algn="just"/>
            <a:r>
              <a:rPr lang="en-US" sz="2500" dirty="0"/>
              <a:t>To assess how well a model learns and generalizes, its performance is monitored on both the training data and a separate validation or test dataset</a:t>
            </a:r>
          </a:p>
          <a:p>
            <a:pPr algn="just"/>
            <a:r>
              <a:rPr lang="en-US" sz="2500" dirty="0"/>
              <a:t>Achieving a good balance between learning and generalization can be difficult</a:t>
            </a:r>
          </a:p>
          <a:p>
            <a:pPr algn="just"/>
            <a:r>
              <a:rPr lang="en-US" sz="2500" dirty="0"/>
              <a:t>Two common issues that impact a model’s performance and ability to generalize are overfitting and underfitting</a:t>
            </a:r>
          </a:p>
          <a:p>
            <a:pPr algn="just"/>
            <a:r>
              <a:rPr lang="en-US" sz="2500" dirty="0"/>
              <a:t>It avoids </a:t>
            </a:r>
            <a:r>
              <a:rPr lang="en-US" sz="2500" b="1" u="sng" dirty="0"/>
              <a:t>overfitting</a:t>
            </a:r>
            <a:r>
              <a:rPr lang="en-US" sz="2500" dirty="0"/>
              <a:t> (memorizing the training data)</a:t>
            </a:r>
          </a:p>
          <a:p>
            <a:pPr algn="just"/>
            <a:r>
              <a:rPr lang="en-US" sz="2500" dirty="0"/>
              <a:t>It avoids </a:t>
            </a:r>
            <a:r>
              <a:rPr lang="en-US" sz="2500" b="1" u="sng" dirty="0"/>
              <a:t>underfitting</a:t>
            </a:r>
            <a:r>
              <a:rPr lang="en-US" sz="2500" dirty="0"/>
              <a:t> (failing to capture important patterns)</a:t>
            </a:r>
          </a:p>
        </p:txBody>
      </p:sp>
    </p:spTree>
    <p:extLst>
      <p:ext uri="{BB962C8B-B14F-4D97-AF65-F5344CB8AC3E}">
        <p14:creationId xmlns:p14="http://schemas.microsoft.com/office/powerpoint/2010/main" val="1118832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281AC-0DA5-C5D9-ABA4-4C193B520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D68C-5CCB-DF2B-CAFE-8F89A0460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Bias and Variance in ML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8E6AA5-06FC-AAB6-C716-7F1E7B3B9ACA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F923BE-02AF-A3F9-DC10-0AFAE8B0A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513D8D-4F24-C4AC-489B-1C11917B9F7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8A0B93D-F7F8-92FB-E4BF-51A2F93D1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522888"/>
            <a:ext cx="11040256" cy="4530723"/>
          </a:xfrm>
        </p:spPr>
        <p:txBody>
          <a:bodyPr>
            <a:noAutofit/>
          </a:bodyPr>
          <a:lstStyle/>
          <a:p>
            <a:pPr algn="just"/>
            <a:r>
              <a:rPr lang="en-US" sz="2500" dirty="0"/>
              <a:t>Bias and variance are two main sources of error that affect a model’s performance and generalization</a:t>
            </a:r>
          </a:p>
          <a:p>
            <a:pPr lvl="1" algn="just"/>
            <a:r>
              <a:rPr lang="en-US" sz="2100" dirty="0"/>
              <a:t>High bias occurs when the model is too simple and fails to capture the underlying patterns in the data</a:t>
            </a:r>
          </a:p>
          <a:p>
            <a:pPr lvl="1" algn="just"/>
            <a:r>
              <a:rPr lang="en-US" sz="2100" dirty="0"/>
              <a:t>Leads to underfitting: poor performance on both training and test data</a:t>
            </a:r>
          </a:p>
          <a:p>
            <a:pPr algn="just"/>
            <a:r>
              <a:rPr lang="en-US" sz="2500" dirty="0"/>
              <a:t>High variance occurs when the model is too complex and captures noise along with the data patterns</a:t>
            </a:r>
          </a:p>
          <a:p>
            <a:pPr lvl="1" algn="just"/>
            <a:r>
              <a:rPr lang="en-US" sz="2100" dirty="0"/>
              <a:t>It happens when a machine learning model is too complex</a:t>
            </a:r>
          </a:p>
          <a:p>
            <a:pPr lvl="1" algn="just"/>
            <a:r>
              <a:rPr lang="en-US" sz="2100" dirty="0"/>
              <a:t>Leads to overfitting: good performance on training data but poor on unseen data</a:t>
            </a:r>
          </a:p>
          <a:p>
            <a:pPr algn="just"/>
            <a:r>
              <a:rPr lang="en-US" sz="2500" dirty="0"/>
              <a:t>Overfitting </a:t>
            </a:r>
            <a:r>
              <a:rPr lang="en-US" sz="2500" dirty="0">
                <a:sym typeface="Wingdings" panose="05000000000000000000" pitchFamily="2" charset="2"/>
              </a:rPr>
              <a:t> High variance and low bias</a:t>
            </a:r>
          </a:p>
          <a:p>
            <a:pPr algn="just"/>
            <a:r>
              <a:rPr lang="en-US" sz="2500" dirty="0">
                <a:sym typeface="Wingdings" panose="05000000000000000000" pitchFamily="2" charset="2"/>
              </a:rPr>
              <a:t>Underfitting  High bias and low variance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309495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11002-58A3-2E42-A89A-26A1FFC35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C19CB-8D59-1BD0-706B-2B0DC2524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Bias and Variance in ML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A1EB8F0-4857-E6DF-D84C-8AE6307C88D9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D503B-1E29-7A7B-D7A9-EC5F4DBD4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A32BB4-E044-D3A4-B12C-05B4B382589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AACDF29-26A2-8C8C-08FC-454E47172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522889"/>
            <a:ext cx="11040256" cy="1963546"/>
          </a:xfrm>
        </p:spPr>
        <p:txBody>
          <a:bodyPr>
            <a:noAutofit/>
          </a:bodyPr>
          <a:lstStyle/>
          <a:p>
            <a:pPr algn="just"/>
            <a:r>
              <a:rPr lang="en-US" sz="2000" b="1" u="sng" dirty="0"/>
              <a:t>Underfitting</a:t>
            </a:r>
            <a:r>
              <a:rPr lang="en-US" sz="2000" dirty="0"/>
              <a:t>: A straight line attempting to fit a curved dataset, failing to capture underlying patterns and resulting in poor performance on both training and test sets</a:t>
            </a:r>
          </a:p>
          <a:p>
            <a:pPr algn="just"/>
            <a:r>
              <a:rPr lang="en-US" sz="2000" b="1" u="sng" dirty="0"/>
              <a:t>Overfitting</a:t>
            </a:r>
            <a:r>
              <a:rPr lang="en-US" sz="2000" dirty="0"/>
              <a:t>: A complex, squiggly curve that fits all training points perfectly but fails to generalize, leading to poor performance on test data</a:t>
            </a:r>
          </a:p>
          <a:p>
            <a:pPr algn="just"/>
            <a:r>
              <a:rPr lang="en-US" sz="2000" b="1" u="sng" dirty="0"/>
              <a:t>Proper Fitting</a:t>
            </a:r>
            <a:r>
              <a:rPr lang="en-US" sz="2000" dirty="0"/>
              <a:t>: A curve that captures the true data trend without unnecessary complexity, balancing learning and generalization effectively.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06D334-B50F-C7F4-25A1-4C1A03B05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2921" y="3660247"/>
            <a:ext cx="8158557" cy="30851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0F4F52E-5044-09F3-6C37-302D88764497}"/>
              </a:ext>
            </a:extLst>
          </p:cNvPr>
          <p:cNvSpPr txBox="1"/>
          <p:nvPr/>
        </p:nvSpPr>
        <p:spPr>
          <a:xfrm rot="5400000">
            <a:off x="9282046" y="5196611"/>
            <a:ext cx="22158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Image source: </a:t>
            </a:r>
            <a:r>
              <a:rPr lang="en-US" sz="1200" dirty="0" err="1"/>
              <a:t>GeeksForGeeks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66381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679C-E3A6-D71F-AFF6-3C07463DF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F5FBA-667E-F3A5-7870-773F3178C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Types of Cross-Validation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A9374D-4494-AEC2-E843-F7D1A2A95B31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B67281-F864-D024-56E0-CCF76858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1F84E9-393B-BEC0-76E1-7765C89C17D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99035F07-C3CF-BAA6-624A-14A90ECECE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522888"/>
                <a:ext cx="11040256" cy="453072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1800" b="1" dirty="0"/>
                  <a:t>1. Holdout Validation</a:t>
                </a:r>
                <a:endParaRPr lang="en-US" sz="1800" dirty="0"/>
              </a:p>
              <a:p>
                <a:pPr lvl="1"/>
                <a:r>
                  <a:rPr lang="en-US" sz="1800" dirty="0"/>
                  <a:t>Splits the dataset into two parts: 50% for training, 50% for testing</a:t>
                </a:r>
              </a:p>
              <a:p>
                <a:pPr lvl="1"/>
                <a:r>
                  <a:rPr lang="en-US" sz="1800" dirty="0"/>
                  <a:t>Pros: Simple and fast</a:t>
                </a:r>
              </a:p>
              <a:p>
                <a:pPr lvl="1"/>
                <a:r>
                  <a:rPr lang="en-US" sz="1800" dirty="0"/>
                  <a:t>Cons: High bias risk as half the data is unused during training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2. LOOCV (Leave-One-Out Cross-Validation)</a:t>
                </a:r>
              </a:p>
              <a:p>
                <a:pPr lvl="1"/>
                <a:r>
                  <a:rPr lang="en-US" sz="1800" dirty="0"/>
                  <a:t>Trains on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800" dirty="0"/>
                  <a:t> samples and tests on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800" dirty="0"/>
                  <a:t>; repeats this for all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800" dirty="0"/>
                  <a:t> data points</a:t>
                </a:r>
              </a:p>
              <a:p>
                <a:pPr lvl="1"/>
                <a:r>
                  <a:rPr lang="en-US" sz="1800" dirty="0"/>
                  <a:t>Pros: Low bias since nearly all data is used for training</a:t>
                </a:r>
              </a:p>
              <a:p>
                <a:pPr lvl="1"/>
                <a:r>
                  <a:rPr lang="en-US" sz="1800" dirty="0"/>
                  <a:t>Cons: High variance and computationally expensive, especially with large datasets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3. K-Fold Cross-Validation</a:t>
                </a:r>
              </a:p>
              <a:p>
                <a:pPr lvl="1"/>
                <a:r>
                  <a:rPr lang="en-US" sz="1800" dirty="0"/>
                  <a:t>Splits data into k folds; trains on k−1 folds and tests on the remaining fold</a:t>
                </a:r>
              </a:p>
              <a:p>
                <a:pPr lvl="1"/>
                <a:r>
                  <a:rPr lang="en-US" sz="1800" dirty="0"/>
                  <a:t>Repeats the process k times, using a different fold for testing each time</a:t>
                </a:r>
              </a:p>
              <a:p>
                <a:pPr lvl="1"/>
                <a:r>
                  <a:rPr lang="en-US" sz="1800" dirty="0"/>
                  <a:t>Pros: Balanced trade-off between bias and variance; widely used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4. Stratified K-Folds Cross-Validation</a:t>
                </a:r>
              </a:p>
              <a:p>
                <a:pPr lvl="1"/>
                <a:r>
                  <a:rPr lang="en-US" sz="1800" dirty="0"/>
                  <a:t>Ensures each fold maintains the original class distribution (useful for imbalanced datasets)</a:t>
                </a:r>
              </a:p>
              <a:p>
                <a:pPr lvl="1"/>
                <a:r>
                  <a:rPr lang="en-US" sz="1800" dirty="0"/>
                  <a:t>Pros: More reliable evaluation for classification problems</a:t>
                </a:r>
              </a:p>
              <a:p>
                <a:pPr lvl="1"/>
                <a:r>
                  <a:rPr lang="en-US" sz="1800" dirty="0"/>
                  <a:t>Cons: Slightly more complex to implement than standard k-fold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99035F07-C3CF-BAA6-624A-14A90ECECE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522888"/>
                <a:ext cx="11040256" cy="4530723"/>
              </a:xfrm>
              <a:blipFill>
                <a:blip r:embed="rId4"/>
                <a:stretch>
                  <a:fillRect l="-497" t="-1346" b="-16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8342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BDB81-8758-1AAA-27D2-6885EA15D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B0888-F612-C254-5696-44FC74FAA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Holdout Cross Validation (LOOCV)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F842A35-51AE-E004-3D12-A536A1AB9305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6156F3-B035-60AC-CE43-E7E5ABF85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6F0BC3-E556-DF6B-4D0D-23A7F3376E7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73877BF-CCFC-ABC9-5FFE-B3D7B56D5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1" y="1522888"/>
            <a:ext cx="11040255" cy="4530723"/>
          </a:xfrm>
        </p:spPr>
        <p:txBody>
          <a:bodyPr>
            <a:noAutofit/>
          </a:bodyPr>
          <a:lstStyle/>
          <a:p>
            <a:pPr algn="just"/>
            <a:r>
              <a:rPr lang="en-US" dirty="0"/>
              <a:t>Use 50% of for training and 50% for testing</a:t>
            </a:r>
          </a:p>
          <a:p>
            <a:pPr algn="just"/>
            <a:r>
              <a:rPr lang="en-US" dirty="0"/>
              <a:t>Number of cross validation iteration is one (1)</a:t>
            </a:r>
          </a:p>
        </p:txBody>
      </p:sp>
      <p:pic>
        <p:nvPicPr>
          <p:cNvPr id="5134" name="Picture 14">
            <a:extLst>
              <a:ext uri="{FF2B5EF4-FFF2-40B4-BE49-F238E27FC236}">
                <a16:creationId xmlns:a16="http://schemas.microsoft.com/office/drawing/2014/main" id="{CEA87162-5F5D-1C27-0EEF-975C9D038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886" y="3080950"/>
            <a:ext cx="4071854" cy="2306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778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83881-856D-FE09-1B0B-4788A0F03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04C6A-2C6F-645C-5705-5BC3727EA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Leave-One-Out Cross Validation (LOOCV)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F979837-3A96-E863-6EC9-40E2B4D5A327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1235D7-5E4C-34FA-0BC5-98A5F4FC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5FDE87-77DC-A141-BDA9-2CD20244691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6B7C9847-91CC-CBAF-5E21-0B1DD45704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1" y="1522888"/>
                <a:ext cx="11040255" cy="4530723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dirty="0"/>
                  <a:t>Trains 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samples and tests 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Repeats this for 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data points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6B7C9847-91CC-CBAF-5E21-0B1DD45704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1" y="1522888"/>
                <a:ext cx="11040255" cy="4530723"/>
              </a:xfrm>
              <a:blipFill>
                <a:blip r:embed="rId4"/>
                <a:stretch>
                  <a:fillRect l="-994" t="-24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32" name="Picture 12">
            <a:extLst>
              <a:ext uri="{FF2B5EF4-FFF2-40B4-BE49-F238E27FC236}">
                <a16:creationId xmlns:a16="http://schemas.microsoft.com/office/drawing/2014/main" id="{EFABD204-C4BB-8406-0507-1951EB2FE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6668" y="2708297"/>
            <a:ext cx="6433953" cy="3895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9050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A0FB4-B31B-922E-4F69-72B07F2BD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085BF-6834-0219-49E8-4D38C2B94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K-Fold Cross Validation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B0B2234-A71E-7AE5-DF34-A4FE4C24ED40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14ACC7-2178-1B20-77FA-757411795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78F8D7-B2F9-BB25-C9E8-B41908015FF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7D69E02-A876-0F2F-0106-52D37E8BF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1" y="1522888"/>
            <a:ext cx="11040255" cy="4530723"/>
          </a:xfrm>
        </p:spPr>
        <p:txBody>
          <a:bodyPr>
            <a:noAutofit/>
          </a:bodyPr>
          <a:lstStyle/>
          <a:p>
            <a:pPr algn="just"/>
            <a:r>
              <a:rPr lang="en-US" dirty="0"/>
              <a:t>Splits data into K folds (partitions)</a:t>
            </a:r>
          </a:p>
          <a:p>
            <a:pPr algn="just"/>
            <a:r>
              <a:rPr lang="en-US" dirty="0"/>
              <a:t>Trains on K−1 folds and tests on the remaining fold</a:t>
            </a:r>
          </a:p>
          <a:p>
            <a:pPr algn="just"/>
            <a:r>
              <a:rPr lang="en-US" dirty="0"/>
              <a:t>Repeats the process K times, using a different fold for testing each time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AFE446E4-2FA0-0D12-E0F6-A488C01E63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4477" y="3100259"/>
            <a:ext cx="6006123" cy="368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5081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45A70-1A51-53C0-7E07-38BC676A6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440B0-7FEB-9193-F7D3-22B5DA5F6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K-Fold Cross Validation: Issue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DBCEC98-2802-412F-0CA0-7086F6D1BDF4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B45B47-5C35-87DC-3979-0C914C0D0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3818AE-98B7-9EBA-B518-B6926B6C103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37BCF9E-B470-4470-75FC-4E7BD820B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1" y="1522889"/>
            <a:ext cx="11040255" cy="1230292"/>
          </a:xfrm>
        </p:spPr>
        <p:txBody>
          <a:bodyPr>
            <a:noAutofit/>
          </a:bodyPr>
          <a:lstStyle/>
          <a:p>
            <a:pPr algn="just"/>
            <a:r>
              <a:rPr lang="en-US" sz="2000" dirty="0"/>
              <a:t>In each iteration, we are not taking equal representation of each class</a:t>
            </a:r>
          </a:p>
          <a:p>
            <a:pPr algn="just"/>
            <a:r>
              <a:rPr lang="en-US" sz="2000" dirty="0"/>
              <a:t>For example, in iterations 1 and, only Class 1 is used for testing, and in iteration 4, Class 3 has not been used for training at all</a:t>
            </a:r>
          </a:p>
          <a:p>
            <a:pPr algn="just"/>
            <a:r>
              <a:rPr lang="en-US" sz="2000" dirty="0"/>
              <a:t>Shuffling the data can potentially improve the situation</a:t>
            </a: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82301581-0656-2A84-D08A-F6EB62DCC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2773" y="2979777"/>
            <a:ext cx="5548003" cy="379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3365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B4E7F-48B2-4642-6F0C-F1C184A12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4EF21-0E60-F52E-D50F-F6D2065FB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Stratified K-Folds Cross-Validation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9839D78-8276-38C9-6B83-B97AC52DBD6E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FC0292-4D0B-15EB-CD77-AE5B63E57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F971DA-F1ED-12BF-4F1A-A73E8F16C4E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4E35DAD-578B-5B3D-5BC7-7A5B4D150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1" y="1522889"/>
            <a:ext cx="11040255" cy="967222"/>
          </a:xfrm>
        </p:spPr>
        <p:txBody>
          <a:bodyPr>
            <a:noAutofit/>
          </a:bodyPr>
          <a:lstStyle/>
          <a:p>
            <a:pPr algn="just"/>
            <a:r>
              <a:rPr lang="en-US" sz="2100" dirty="0"/>
              <a:t>The dataset is divided into K folds while maintaining the proportion of classes in each fold</a:t>
            </a:r>
          </a:p>
          <a:p>
            <a:pPr algn="just"/>
            <a:r>
              <a:rPr lang="en-US" sz="2100" dirty="0"/>
              <a:t>For example, for K=4, each class is divided into 4 equal parts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7C170C82-5EC5-C053-0A72-84EEB1460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9463" y="2584518"/>
            <a:ext cx="6252750" cy="4279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6373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D06C7-D421-190C-F5C6-86B81D024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DD002-E97B-F56E-7B30-280D5F7B9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Pseudo Code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9E5CB35-4293-F164-AB72-12B1091C6A78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22651-6914-085B-CAC9-02604CD0C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20991F-6B48-C19F-1A5F-0002D77E2C4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257DADF-DEF4-F149-7A44-9081D923FB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for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each fold in K-fold: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Split(Dataset,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𝐷</m:t>
                    </m:r>
                  </m:oMath>
                </a14:m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  <a:sym typeface="Wingdings" panose="05000000000000000000" pitchFamily="2" charset="2"/>
                  </a:rPr>
                  <a:t></a:t>
                </a:r>
                <a:r>
                  <a:rPr lang="en-US" dirty="0">
                    <a:cs typeface="Courier New" panose="02070309020205020404" pitchFamily="49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tra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𝑖𝑛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train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train</m:t>
                        </m:r>
                      </m:sub>
                    </m:sSub>
                  </m:oMath>
                </a14:m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est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est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ourier New" panose="02070309020205020404" pitchFamily="49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test</m:t>
                        </m:r>
                      </m:sub>
                    </m:sSub>
                  </m:oMath>
                </a14:m>
                <a:endParaRPr lang="en-US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</a:t>
                </a:r>
                <a:r>
                  <a:rPr lang="en-US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for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model in [model</a:t>
                </a:r>
                <a:r>
                  <a:rPr lang="en-US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model</a:t>
                </a:r>
                <a:r>
                  <a:rPr lang="en-US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2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model</a:t>
                </a:r>
                <a:r>
                  <a:rPr lang="en-US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3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…]: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	Initialize model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	</a:t>
                </a:r>
                <a:r>
                  <a:rPr lang="en-US" dirty="0">
                    <a:solidFill>
                      <a:srgbClr val="0070C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for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each epoch: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		update model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  <a:sym typeface="Wingdings" panose="05000000000000000000" pitchFamily="2" charset="2"/>
                  </a:rPr>
                  <a:t>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train(model,</a:t>
                </a:r>
                <a:r>
                  <a:rPr lang="en-US" dirty="0">
                    <a:cs typeface="Courier New" panose="02070309020205020404" pitchFamily="49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tra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</a:t>
                </a:r>
                <a:r>
                  <a:rPr lang="en-US" dirty="0">
                    <a:cs typeface="Courier New" panose="02070309020205020404" pitchFamily="49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train</m:t>
                        </m:r>
                      </m:sub>
                    </m:sSub>
                  </m:oMath>
                </a14:m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		accuracy dictionary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  <a:sym typeface="Wingdings" panose="05000000000000000000" pitchFamily="2" charset="2"/>
                  </a:rPr>
                  <a:t>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test(model,</a:t>
                </a:r>
                <a:r>
                  <a:rPr lang="en-US" dirty="0">
                    <a:cs typeface="Courier New" panose="02070309020205020404" pitchFamily="49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test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test</m:t>
                        </m:r>
                      </m:sub>
                    </m:sSub>
                  </m:oMath>
                </a14:m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Calculate Mean accuracy of model</a:t>
                </a:r>
                <a:r>
                  <a:rPr lang="en-US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model</a:t>
                </a:r>
                <a:r>
                  <a:rPr lang="en-US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2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model</a:t>
                </a:r>
                <a:r>
                  <a:rPr lang="en-US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3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…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257DADF-DEF4-F149-7A44-9081D923FB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1961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6217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E338F-B0E7-250D-472C-9E40C522B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3ADF8-14FB-E5E6-549C-29116287D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Python Example (contd.)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0309635-CBD0-2183-C0F5-FD6C2C985A5E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A9032B-B8BC-D6B3-AC69-81ACDAD01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D011CA-201C-FC13-DEC1-F0C1FFCBA59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42FF074-17EF-B4FC-FB89-E18E5672E9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52072" y="1521832"/>
            <a:ext cx="4137921" cy="5266445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693AD4-545C-1D39-57AC-C0CFD3CB68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8342" y="1622425"/>
            <a:ext cx="4812930" cy="506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206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4D7C3-CB03-C63A-C5A1-1C9B60629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E8F34-59BE-645F-8A02-DAC60943E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Python Example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ACB5A4D-138A-1FC7-6459-D1016FB83DA8}"/>
              </a:ext>
            </a:extLst>
          </p:cNvPr>
          <p:cNvCxnSpPr/>
          <p:nvPr/>
        </p:nvCxnSpPr>
        <p:spPr>
          <a:xfrm>
            <a:off x="652072" y="1427617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F14E77-65B1-E5E6-F077-D5BBA628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14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53F601-5039-3AE1-5920-0C52DFE1ECF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462EF212-1AD1-6B20-EF28-D40AA4E0F6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64606" y="1522207"/>
            <a:ext cx="5240362" cy="3719136"/>
          </a:xfr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ED50FCA-21B2-3A81-37E3-B4FC61F817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7033" y="1598444"/>
            <a:ext cx="5173860" cy="178333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E4E6660-3BEA-DCE8-6FA4-DCF3D4C592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2011" y="3614053"/>
            <a:ext cx="3824530" cy="2924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550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23113</TotalTime>
  <Words>929</Words>
  <Application>Microsoft Office PowerPoint</Application>
  <PresentationFormat>Widescreen</PresentationFormat>
  <Paragraphs>108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Courier New</vt:lpstr>
      <vt:lpstr>Office Theme</vt:lpstr>
      <vt:lpstr>Lecture 14-2: Cross Validation</vt:lpstr>
      <vt:lpstr>Introduction</vt:lpstr>
      <vt:lpstr>A Good ML Model</vt:lpstr>
      <vt:lpstr>Bias and Variance in ML</vt:lpstr>
      <vt:lpstr>Bias and Variance in ML (contd.)</vt:lpstr>
      <vt:lpstr>Types of Cross-Validation</vt:lpstr>
      <vt:lpstr>Holdout Cross Validation (LOOCV)</vt:lpstr>
      <vt:lpstr>Leave-One-Out Cross Validation (LOOCV)</vt:lpstr>
      <vt:lpstr>K-Fold Cross Validation</vt:lpstr>
      <vt:lpstr>K-Fold Cross Validation: Issue</vt:lpstr>
      <vt:lpstr>Stratified K-Folds Cross-Validation</vt:lpstr>
      <vt:lpstr>Pseudo Code</vt:lpstr>
      <vt:lpstr>Python Example (contd.)</vt:lpstr>
      <vt:lpstr>Python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14-2: Cross Validation</dc:title>
  <dc:creator>Jilan Samiuddin</dc:creator>
  <cp:lastModifiedBy>Jilan Samiuddin</cp:lastModifiedBy>
  <cp:revision>305</cp:revision>
  <dcterms:created xsi:type="dcterms:W3CDTF">2025-05-01T04:50:36Z</dcterms:created>
  <dcterms:modified xsi:type="dcterms:W3CDTF">2026-04-15T03:39:29Z</dcterms:modified>
</cp:coreProperties>
</file>