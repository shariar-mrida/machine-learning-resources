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1" r:id="rId3"/>
    <p:sldId id="262" r:id="rId4"/>
    <p:sldId id="265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387A-6A23-3152-C664-2E58F007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92246-CDAD-1F79-CEEF-AD793A8E7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59050-45E6-A77D-76CF-EACB09172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3CE82-AC24-77F2-4273-CC8291EF9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41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7221-F36E-0881-A841-AE91DFA9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80AD9-B5DF-EFBC-FB5C-D64C1ED6C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5CB09-A604-E7AA-D7EE-3415B39C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25009-A238-F786-D0D0-6E017B9A5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69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BEE3-0BA5-7C4A-4432-A8D5510C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09036-9339-B358-F4A5-8FF448653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11BC3-1C37-53A9-8330-D443EB616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49642-0C7F-AAF5-1EF0-950714D83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43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E1E1-7078-04DC-3465-36ECF7FA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D5AB5-AA94-A6C8-4CCA-68751A560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53DC4-05E7-4E29-8678-31C93CDF9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9F639-B2D7-5B15-5582-77FA664D5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8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BBCA2-90E8-CE82-D91F-B0947B5B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A7F0F-2F4F-DDB6-A295-B404E3191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510F8-5372-A27A-C985-92011D253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A564C-539E-9417-01FD-03EE03A10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70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377C-90DF-8C5D-9A57-8D1046E6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775EE-A0E4-21FA-DD8B-6B0280771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23B4B-A5DF-C494-0DD1-3CFAB5BE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067E5-80DE-21AE-5BDC-92BDD8761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21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34C08-349E-DFA0-EB9B-5CDA63A5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2C26E-5936-DF74-F774-2B1957D18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F8CBC-5CFE-A22F-7AC3-46A2B2238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14350-1357-F961-4FA2-F01AA3796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07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E897-B584-AEDC-E43D-1F765663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06919-D45E-F5F9-481C-484935618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9A32C-090C-BC06-1BAB-ADBA7DD03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77CFE-F56B-C622-4CED-C1B76C132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9B535-AE4C-B4B2-5729-CFD41455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103C2-0E16-C61E-0271-8471F83D0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870E8-24F9-FBDF-60F8-289BFC8A5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F4F5B-9288-9A67-390A-5EDFC47C0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13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25E3-1278-10E6-406A-FA06DC9F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C3631-6DC2-D4BB-6209-EEF0C1604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AA5C6-1613-0AB2-42E7-54A5DD86B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859D-89D9-14EF-5A00-C39320B38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65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23E6-7DCF-5F3A-EAA1-9933C812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A9FBD-F6A2-3399-6AA2-F34294F3E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EB406-52D6-80FF-AB3A-CBBCACCEC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DE8BE-F9F1-5A7A-2D3C-9CD8E8922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50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F698-703C-DE63-B232-8EF6DC7B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AC27E-CB80-2C65-9E4D-661DBCE00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46436-46AC-BF7D-D88B-12EF84B2B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67C3C-C129-71B0-F235-733C0DA32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32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DF5C-296E-E855-3509-657E11E2A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7A16E-CF52-3123-02CC-373793B94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4CF16-DD57-DCA8-4223-2C409D6D4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09766-EB8C-199F-4350-D63D7B7B8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46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1179-DFBD-2809-C71C-D5287541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AB295-35AA-C7E8-D03C-A9299DF87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A1BAB-895D-4BF4-3277-1E8ACE12D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AE35F-FC50-509F-CC2D-1BA04E2B1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43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F353-5848-39AA-0A7C-CD349D8F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C004D-DE26-5438-55D1-132AD7E29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05039-9E6E-E928-55DF-C2C48B581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DB21-7A81-B50F-AA1A-A8AC1ACFA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9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11: Random Forest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60E5FC-7FB8-7CCE-DDC6-5FA74BBB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u="sng" dirty="0"/>
              <a:t>Random Forest</a:t>
            </a:r>
            <a:r>
              <a:rPr lang="en-US" b="1" dirty="0"/>
              <a:t> </a:t>
            </a:r>
            <a:r>
              <a:rPr lang="en-US" dirty="0"/>
              <a:t>is an </a:t>
            </a:r>
            <a:r>
              <a:rPr lang="en-US" b="1" i="1" dirty="0"/>
              <a:t>ensemble learning method</a:t>
            </a:r>
            <a:r>
              <a:rPr lang="en-US" dirty="0"/>
              <a:t> and a </a:t>
            </a:r>
            <a:r>
              <a:rPr lang="en-US" b="1" i="1" dirty="0"/>
              <a:t>supervised learning algorithm</a:t>
            </a:r>
            <a:r>
              <a:rPr lang="en-US" dirty="0"/>
              <a:t> used for classification and regression tasks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builds multiple decision trees and merges them to get more accurate and stable predictions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Random Forest = Many weak learners (trees) ➜ One strong model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Outcome:</a:t>
            </a:r>
            <a:r>
              <a:rPr lang="en-US" dirty="0"/>
              <a:t> Lower overfitting + Higher accuracy + Greater robustness</a:t>
            </a:r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8EA9-55BD-08BE-7BE4-170E7A2F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5DDC-EC94-5E29-94E3-14D34877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700" b="1" dirty="0"/>
              <a:t>Why random tree instead of a single decision  tree?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794671-5193-3494-462D-56B09FD0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5000881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✅ Reduces Overfitting:</a:t>
            </a:r>
          </a:p>
          <a:p>
            <a:pPr lvl="1" algn="just"/>
            <a:r>
              <a:rPr lang="en-US" dirty="0"/>
              <a:t>Randomness in data and features helps reduce overfitting</a:t>
            </a:r>
          </a:p>
          <a:p>
            <a:pPr lvl="1" algn="just"/>
            <a:r>
              <a:rPr lang="en-US" dirty="0"/>
              <a:t>Random forest averages multiple trees, reducing variance and improving generalization</a:t>
            </a:r>
          </a:p>
          <a:p>
            <a:pPr marL="0" indent="0" algn="just">
              <a:buNone/>
            </a:pPr>
            <a:r>
              <a:rPr lang="en-US" dirty="0"/>
              <a:t>✅ Improves Accuracy:</a:t>
            </a:r>
          </a:p>
          <a:p>
            <a:pPr lvl="1" algn="just"/>
            <a:r>
              <a:rPr lang="en-US" dirty="0"/>
              <a:t>Aggregating predictions from many trees leads to more accurate and stable results</a:t>
            </a:r>
          </a:p>
          <a:p>
            <a:pPr marL="0" indent="0" algn="just">
              <a:buNone/>
            </a:pPr>
            <a:r>
              <a:rPr lang="en-US" dirty="0"/>
              <a:t>✅ Handles Noisy Data Better:</a:t>
            </a:r>
          </a:p>
          <a:p>
            <a:pPr lvl="1" algn="just"/>
            <a:r>
              <a:rPr lang="en-US" dirty="0"/>
              <a:t>Random forests are robust to outliers and noise due to the ensemble effect</a:t>
            </a:r>
          </a:p>
          <a:p>
            <a:pPr marL="0" indent="0" algn="just">
              <a:buNone/>
            </a:pPr>
            <a:r>
              <a:rPr lang="en-US" dirty="0"/>
              <a:t>✅ Works Well with High-Dimensional Data:</a:t>
            </a:r>
          </a:p>
          <a:p>
            <a:pPr lvl="1" algn="just"/>
            <a:r>
              <a:rPr lang="en-US" dirty="0"/>
              <a:t>Random feature selection at each split makes it effective even when many features are irrelevant</a:t>
            </a:r>
          </a:p>
          <a:p>
            <a:pPr marL="0" indent="0" algn="just">
              <a:buNone/>
            </a:pPr>
            <a:r>
              <a:rPr lang="en-US" dirty="0"/>
              <a:t>✅ Less Sensitive to Training Data Fluctuations:</a:t>
            </a:r>
          </a:p>
          <a:p>
            <a:pPr lvl="1" algn="just"/>
            <a:r>
              <a:rPr lang="en-US" dirty="0"/>
              <a:t>Small changes in training data drastically affect decision trees</a:t>
            </a:r>
          </a:p>
          <a:p>
            <a:pPr lvl="1" algn="just"/>
            <a:r>
              <a:rPr lang="en-US" dirty="0"/>
              <a:t>Random forests average out such inconsistencies</a:t>
            </a:r>
          </a:p>
          <a:p>
            <a:pPr marL="0" indent="0" algn="just">
              <a:buNone/>
            </a:pPr>
            <a:r>
              <a:rPr lang="en-US" dirty="0"/>
              <a:t>✅ Handles Missing Data:</a:t>
            </a:r>
          </a:p>
          <a:p>
            <a:pPr lvl="1" algn="just"/>
            <a:r>
              <a:rPr lang="en-US" dirty="0"/>
              <a:t>Can make accurate predictions even with incomplete 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68B6A7-0A78-DDFD-F48F-871A6C4F85E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14FB5-E453-29DB-671F-C9DAEA15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D6CDA-EB97-1F9E-FEBC-BC34B61F5C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8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F094-7246-5E94-17D8-BBE723FA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9662-B6CA-7A77-3227-811A1D7E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700" b="1" dirty="0"/>
              <a:t>Limitations of Random Forest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F92AFC-5793-9024-0936-88E174164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Slower to predict than individual decision trees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Less interpretable compared to a single tree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May not perform well on sparse or very high-dimensional data.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B230B1-7781-6E0A-585D-BA62D4CF970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C9A87-5F1A-125F-59C8-799ADB8E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AF7AE-FA2C-24FF-D832-A2FFA5C98E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4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D4B6-4334-441F-4787-D2B13F6A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20D9-5B52-8C9D-0B9F-8437ED98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Ensembling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E469E3-EDCF-8FDF-4D54-2396AE0B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Uses multiple small models instead of a single complex one</a:t>
            </a:r>
          </a:p>
          <a:p>
            <a:pPr algn="just"/>
            <a:r>
              <a:rPr lang="en-US" dirty="0"/>
              <a:t>Each model is weak or not highly accurate on its own</a:t>
            </a:r>
          </a:p>
          <a:p>
            <a:pPr algn="just"/>
            <a:r>
              <a:rPr lang="en-US" dirty="0"/>
              <a:t>Combines results to produce a stronger overall prediction</a:t>
            </a:r>
          </a:p>
          <a:p>
            <a:pPr algn="just"/>
            <a:r>
              <a:rPr lang="en-US" dirty="0"/>
              <a:t>Reduces errors by averaging out individual model weaknesses</a:t>
            </a:r>
          </a:p>
          <a:p>
            <a:pPr algn="just"/>
            <a:r>
              <a:rPr lang="en-US" dirty="0"/>
              <a:t>Similar to taking advice from a group rather than one person – group consensus usually leads to a more reliable outcome</a:t>
            </a:r>
          </a:p>
          <a:p>
            <a:pPr algn="just"/>
            <a:r>
              <a:rPr lang="en-US" dirty="0"/>
              <a:t>Two main types:</a:t>
            </a:r>
          </a:p>
          <a:p>
            <a:pPr lvl="1" algn="just"/>
            <a:r>
              <a:rPr lang="en-US" b="1" u="sng" dirty="0"/>
              <a:t>Bagging (Bootstrap Aggregating)</a:t>
            </a:r>
            <a:r>
              <a:rPr lang="en-US" dirty="0"/>
              <a:t>: Reduces variance by training models on random subsets of data</a:t>
            </a:r>
          </a:p>
          <a:p>
            <a:pPr lvl="1" algn="just"/>
            <a:r>
              <a:rPr lang="en-US" b="1" u="sng" dirty="0"/>
              <a:t>Boosting</a:t>
            </a:r>
            <a:r>
              <a:rPr lang="en-US" dirty="0"/>
              <a:t>: Reduces bias by sequentially improving models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Random Forest </a:t>
            </a:r>
            <a:r>
              <a:rPr lang="en-US" b="1" u="sng" dirty="0"/>
              <a:t>uses bagging</a:t>
            </a:r>
            <a:r>
              <a:rPr lang="en-US" dirty="0"/>
              <a:t> with decision trees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2FB1DB-D352-3325-8698-AFC0FCB684C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77DF0-91C4-766F-8A49-89227F04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87CCFF-2CD1-3B33-799D-4C4050B928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4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F985-3A2F-9800-CC9E-84DF0855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61A8-E3AF-DE7B-12C2-A818FD0C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How Random Forest Works?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DBE45-D236-5AEC-6680-752A71FAE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 fontScale="85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Bootstrap Sampling</a:t>
            </a:r>
          </a:p>
          <a:p>
            <a:pPr lvl="1" algn="just"/>
            <a:r>
              <a:rPr lang="en-US" dirty="0"/>
              <a:t>Create N random subsets from training data (with replacement)</a:t>
            </a:r>
          </a:p>
          <a:p>
            <a:pPr lvl="1" algn="just"/>
            <a:r>
              <a:rPr lang="en-US" dirty="0"/>
              <a:t>Ensures diversity and reduces class imbalance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Base Model Training</a:t>
            </a:r>
          </a:p>
          <a:p>
            <a:pPr lvl="1" algn="just"/>
            <a:r>
              <a:rPr lang="en-US" dirty="0"/>
              <a:t>Train independent base models on each subset</a:t>
            </a:r>
          </a:p>
          <a:p>
            <a:pPr lvl="1" algn="just"/>
            <a:r>
              <a:rPr lang="en-US" dirty="0"/>
              <a:t>Models run in parallel to save time</a:t>
            </a:r>
          </a:p>
          <a:p>
            <a:pPr lvl="1" algn="just"/>
            <a:r>
              <a:rPr lang="en-US" dirty="0"/>
              <a:t>Can use different base learners for more robustness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Prediction Aggregation</a:t>
            </a:r>
          </a:p>
          <a:p>
            <a:pPr lvl="1" algn="just"/>
            <a:r>
              <a:rPr lang="en-US" dirty="0"/>
              <a:t>Combine outputs from all base models</a:t>
            </a:r>
          </a:p>
          <a:p>
            <a:pPr lvl="1" algn="just"/>
            <a:r>
              <a:rPr lang="en-US" dirty="0"/>
              <a:t>Use majority voting (classification) or averaging (regression)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Out-of-Bag (OOB) Evaluation</a:t>
            </a:r>
          </a:p>
          <a:p>
            <a:pPr lvl="1" algn="just"/>
            <a:r>
              <a:rPr lang="en-US" dirty="0"/>
              <a:t>Use unselected samples to estimate performance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Final Prediction</a:t>
            </a:r>
          </a:p>
          <a:p>
            <a:pPr lvl="1" algn="just"/>
            <a:r>
              <a:rPr lang="en-US" dirty="0"/>
              <a:t>Output from aggregated predictions of all models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1752F-C2EC-3F7D-CF8D-15245EABD87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BEB69-D1DA-6C4E-0222-24B10140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E54B-5872-BF23-016B-46CD67DF0F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5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ED70-AF4E-895C-B665-5EFCAEB8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0FED-F99C-444C-EB1D-04B52A0D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Example: Heart Disease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2342047-DF11-8EF8-47E7-19E29F64F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463058"/>
              </p:ext>
            </p:extLst>
          </p:nvPr>
        </p:nvGraphicFramePr>
        <p:xfrm>
          <a:off x="7043351" y="2170315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890F21-6166-E3CC-DFF8-D57AFDCC90F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2F0D5-69C8-FFDF-170D-1042BD43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6C7E4-7943-F74D-1BDA-BB4180DFE8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8204F-AC57-A855-CE8F-C99DBCC2501D}"/>
              </a:ext>
            </a:extLst>
          </p:cNvPr>
          <p:cNvSpPr txBox="1"/>
          <p:nvPr/>
        </p:nvSpPr>
        <p:spPr>
          <a:xfrm>
            <a:off x="4857750" y="6492875"/>
            <a:ext cx="2185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Credit: </a:t>
            </a:r>
            <a:r>
              <a:rPr lang="en-US" b="1" dirty="0" err="1"/>
              <a:t>StatQuest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6A12B02-2746-106A-27F7-1DC371FFCEA9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8F43A078-17F9-6C23-BBF6-0ACF5A347819}"/>
              </a:ext>
            </a:extLst>
          </p:cNvPr>
          <p:cNvSpPr txBox="1">
            <a:spLocks/>
          </p:cNvSpPr>
          <p:nvPr/>
        </p:nvSpPr>
        <p:spPr>
          <a:xfrm>
            <a:off x="584110" y="2484930"/>
            <a:ext cx="6162679" cy="416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First, we create the bootstrapped dataset – same size as original </a:t>
            </a:r>
          </a:p>
          <a:p>
            <a:pPr algn="just"/>
            <a:r>
              <a:rPr lang="en-US" dirty="0"/>
              <a:t>Randomly select from the original</a:t>
            </a:r>
          </a:p>
          <a:p>
            <a:pPr algn="just"/>
            <a:r>
              <a:rPr lang="en-US" dirty="0"/>
              <a:t>Allowed to pick the same sample more than once for the same bootstrapped dataset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1CCA3-9EDF-6684-6388-374FF776514A}"/>
              </a:ext>
            </a:extLst>
          </p:cNvPr>
          <p:cNvSpPr txBox="1"/>
          <p:nvPr/>
        </p:nvSpPr>
        <p:spPr>
          <a:xfrm>
            <a:off x="8668265" y="1749400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</p:spTree>
    <p:extLst>
      <p:ext uri="{BB962C8B-B14F-4D97-AF65-F5344CB8AC3E}">
        <p14:creationId xmlns:p14="http://schemas.microsoft.com/office/powerpoint/2010/main" val="211470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C2E6-0B98-99E3-7D0C-1C1F3C00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AFD0-3F26-083D-B7FA-4F81F949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1: Bootstrapped Dataset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C441E85-D921-E731-8F6C-C59256C93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40138"/>
              </p:ext>
            </p:extLst>
          </p:nvPr>
        </p:nvGraphicFramePr>
        <p:xfrm>
          <a:off x="685803" y="2141507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DA29A1-5C53-168A-CF21-93C008D2272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BD351-EAA8-CBB5-4D04-06BD2D82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E50EC3-10B5-BAFC-9142-2CB60AAEF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526826-0CCB-6215-A3CF-25B493A3255B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88CAF-8F67-B3CE-8ED2-6A2FB59002D6}"/>
              </a:ext>
            </a:extLst>
          </p:cNvPr>
          <p:cNvSpPr txBox="1"/>
          <p:nvPr/>
        </p:nvSpPr>
        <p:spPr>
          <a:xfrm>
            <a:off x="2310717" y="1720592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4711FBCC-3FEC-629E-EF93-460FB9D205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9252720"/>
              </p:ext>
            </p:extLst>
          </p:nvPr>
        </p:nvGraphicFramePr>
        <p:xfrm>
          <a:off x="6814755" y="2170315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6D32A30-EB02-6D8E-734F-8AE2F436176F}"/>
              </a:ext>
            </a:extLst>
          </p:cNvPr>
          <p:cNvSpPr txBox="1"/>
          <p:nvPr/>
        </p:nvSpPr>
        <p:spPr>
          <a:xfrm>
            <a:off x="8189468" y="1745835"/>
            <a:ext cx="237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Bootstrapped Dataset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B3D25A-EF9F-BAC5-5F92-EA5C91E24FD6}"/>
              </a:ext>
            </a:extLst>
          </p:cNvPr>
          <p:cNvCxnSpPr/>
          <p:nvPr/>
        </p:nvCxnSpPr>
        <p:spPr>
          <a:xfrm flipV="1">
            <a:off x="5544068" y="3379573"/>
            <a:ext cx="1270687" cy="658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846223-AD2D-B4C7-B2A1-9522BB99AE2E}"/>
              </a:ext>
            </a:extLst>
          </p:cNvPr>
          <p:cNvCxnSpPr>
            <a:cxnSpLocks/>
          </p:cNvCxnSpPr>
          <p:nvPr/>
        </p:nvCxnSpPr>
        <p:spPr>
          <a:xfrm>
            <a:off x="5544068" y="3349669"/>
            <a:ext cx="1270687" cy="718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C21794-55BD-C554-5CB5-401BB66F13E9}"/>
              </a:ext>
            </a:extLst>
          </p:cNvPr>
          <p:cNvCxnSpPr>
            <a:cxnSpLocks/>
          </p:cNvCxnSpPr>
          <p:nvPr/>
        </p:nvCxnSpPr>
        <p:spPr>
          <a:xfrm flipV="1">
            <a:off x="5544068" y="4518097"/>
            <a:ext cx="1270687" cy="715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29AFDD-14E1-864A-67A2-2D24CDA6E485}"/>
              </a:ext>
            </a:extLst>
          </p:cNvPr>
          <p:cNvCxnSpPr>
            <a:cxnSpLocks/>
          </p:cNvCxnSpPr>
          <p:nvPr/>
        </p:nvCxnSpPr>
        <p:spPr>
          <a:xfrm>
            <a:off x="5544068" y="5233979"/>
            <a:ext cx="1270687" cy="13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4B1A7E4-2426-AD07-CFE0-3A44384BB9E1}"/>
              </a:ext>
            </a:extLst>
          </p:cNvPr>
          <p:cNvSpPr txBox="1"/>
          <p:nvPr/>
        </p:nvSpPr>
        <p:spPr>
          <a:xfrm>
            <a:off x="5610728" y="2754564"/>
            <a:ext cx="1192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Randomly</a:t>
            </a:r>
          </a:p>
          <a:p>
            <a:r>
              <a:rPr lang="en-US" dirty="0"/>
              <a:t>selected</a:t>
            </a:r>
          </a:p>
        </p:txBody>
      </p:sp>
    </p:spTree>
    <p:extLst>
      <p:ext uri="{BB962C8B-B14F-4D97-AF65-F5344CB8AC3E}">
        <p14:creationId xmlns:p14="http://schemas.microsoft.com/office/powerpoint/2010/main" val="3252552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3955-AE9E-CE63-401C-4C58C271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2DA7-4D91-D7E2-84CD-9D75656F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2: Decision Tree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932DA3-9A75-D0A1-D99B-B182B7B8B70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8FA4E-AECF-9FF5-F52B-B1C71B28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D0230B-A309-FDB7-7380-FFC7C5BA6A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C64B878-13BB-3956-C8BF-CAD96D3B2E85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A78D792F-85EF-DA75-5617-291099962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8367117"/>
              </p:ext>
            </p:extLst>
          </p:nvPr>
        </p:nvGraphicFramePr>
        <p:xfrm>
          <a:off x="6814755" y="2170315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D65159-380D-65AD-4C0B-5E9200843F2C}"/>
              </a:ext>
            </a:extLst>
          </p:cNvPr>
          <p:cNvSpPr txBox="1"/>
          <p:nvPr/>
        </p:nvSpPr>
        <p:spPr>
          <a:xfrm>
            <a:off x="8189468" y="1745835"/>
            <a:ext cx="237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Bootstrapped Dataset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1F6380A-2578-487C-EAF6-B970BF86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9997" cy="3623300"/>
          </a:xfrm>
        </p:spPr>
        <p:txBody>
          <a:bodyPr/>
          <a:lstStyle/>
          <a:p>
            <a:r>
              <a:rPr lang="en-US" dirty="0"/>
              <a:t>Create a decision tree using the bootstrapped dataset</a:t>
            </a:r>
          </a:p>
          <a:p>
            <a:r>
              <a:rPr lang="en-US" b="1" u="sng" dirty="0"/>
              <a:t>BUT</a:t>
            </a:r>
            <a:r>
              <a:rPr lang="en-US" dirty="0"/>
              <a:t>, only use a random subset of features at each step</a:t>
            </a:r>
          </a:p>
          <a:p>
            <a:r>
              <a:rPr lang="en-US" dirty="0"/>
              <a:t>Instead of the 4 features, we randomly select, e.g., the 2</a:t>
            </a:r>
            <a:r>
              <a:rPr lang="en-US" baseline="30000" dirty="0"/>
              <a:t>nd</a:t>
            </a:r>
            <a:r>
              <a:rPr lang="en-US" dirty="0"/>
              <a:t> and the 3</a:t>
            </a:r>
            <a:r>
              <a:rPr lang="en-US" baseline="30000" dirty="0"/>
              <a:t>rd</a:t>
            </a:r>
            <a:r>
              <a:rPr lang="en-US" dirty="0"/>
              <a:t> features, i.e., these are the features used in the root node</a:t>
            </a:r>
          </a:p>
        </p:txBody>
      </p:sp>
    </p:spTree>
    <p:extLst>
      <p:ext uri="{BB962C8B-B14F-4D97-AF65-F5344CB8AC3E}">
        <p14:creationId xmlns:p14="http://schemas.microsoft.com/office/powerpoint/2010/main" val="169662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A246-FBDF-BC4C-583D-3468B1CD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C000-BC77-A99D-DA0E-E4D6EC18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2: Decision Tree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C56FD0-0794-3B79-5956-1481C0C5D1D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8B7AA-E5E9-D6B0-85A1-46681A4C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F4E68C-21FD-484B-825C-66FD37EA1C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CA523A4-133B-7758-6058-C32FB7068145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2B857BDD-4F1C-9786-5D2C-C967C98D96C4}"/>
              </a:ext>
            </a:extLst>
          </p:cNvPr>
          <p:cNvGraphicFramePr>
            <a:graphicFrameLocks/>
          </p:cNvGraphicFramePr>
          <p:nvPr/>
        </p:nvGraphicFramePr>
        <p:xfrm>
          <a:off x="6814755" y="2170315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05ED04-CAB5-6226-62CE-1377FC8E91AD}"/>
              </a:ext>
            </a:extLst>
          </p:cNvPr>
          <p:cNvSpPr txBox="1"/>
          <p:nvPr/>
        </p:nvSpPr>
        <p:spPr>
          <a:xfrm>
            <a:off x="8189468" y="1745835"/>
            <a:ext cx="237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Bootstrapped Dataset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ED7C7C3-808D-682D-BACE-8C703E932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1" y="2517060"/>
            <a:ext cx="5701063" cy="30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72417A-0111-95E9-41D9-915ACA25CB10}"/>
              </a:ext>
            </a:extLst>
          </p:cNvPr>
          <p:cNvSpPr txBox="1"/>
          <p:nvPr/>
        </p:nvSpPr>
        <p:spPr>
          <a:xfrm>
            <a:off x="1171707" y="1838082"/>
            <a:ext cx="5121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We have our first decision tree</a:t>
            </a:r>
          </a:p>
        </p:txBody>
      </p:sp>
    </p:spTree>
    <p:extLst>
      <p:ext uri="{BB962C8B-B14F-4D97-AF65-F5344CB8AC3E}">
        <p14:creationId xmlns:p14="http://schemas.microsoft.com/office/powerpoint/2010/main" val="410793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7DAA1-7AA5-9CB6-47DC-2A1B4B7A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5D12-212A-8F91-6A20-E12EB7BA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3: Repeat Step 1 and Step 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288E0C-6F64-D731-5CA1-366AA0554BF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77272-1F8B-6E28-3349-F21B6D74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D4A37-037D-70C0-B027-0B126E9A4D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560ABB5-10FF-A924-01B1-139D51B45318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0E79D39-2818-B23F-E2C4-AFB217CCF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173" y="1632870"/>
            <a:ext cx="7860909" cy="449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1EDEC65C-6653-5E6E-8502-F0EA09F7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3367973" cy="45307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more decision trees by making new bootstrapped dataset and building a tree considering a subset of features at each step</a:t>
            </a:r>
          </a:p>
          <a:p>
            <a:r>
              <a:rPr lang="en-US" dirty="0"/>
              <a:t>Ideally, you would do it hundreds of times</a:t>
            </a:r>
          </a:p>
          <a:p>
            <a:r>
              <a:rPr lang="en-US" dirty="0"/>
              <a:t>This will result in varieties of trees making random forest more effective</a:t>
            </a:r>
          </a:p>
        </p:txBody>
      </p:sp>
    </p:spTree>
    <p:extLst>
      <p:ext uri="{BB962C8B-B14F-4D97-AF65-F5344CB8AC3E}">
        <p14:creationId xmlns:p14="http://schemas.microsoft.com/office/powerpoint/2010/main" val="353580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FB98-CDC1-7EB0-AA13-C7E99AEF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7EAF-333F-ABA3-F968-8CAAC6BB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Making Prediction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7AAD6F-345C-E047-34CF-B2EBD56A080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7F24-D705-EE71-09BE-414E6ACC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A0930-FF05-28F2-B8AC-74CB21D103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DDBA1D3-E5A3-4BE9-FA16-82ACE051E2FF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6F8218D6-6CFF-D816-F685-D19F7A6AB8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8925370"/>
              </p:ext>
            </p:extLst>
          </p:nvPr>
        </p:nvGraphicFramePr>
        <p:xfrm>
          <a:off x="713758" y="1775672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C614BFB-22DE-E09E-BAF3-6700B1060D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400723"/>
              </p:ext>
            </p:extLst>
          </p:nvPr>
        </p:nvGraphicFramePr>
        <p:xfrm>
          <a:off x="7444436" y="1626539"/>
          <a:ext cx="1997577" cy="18702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4405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858185"/>
                  </a:ext>
                </a:extLst>
              </a:tr>
            </a:tbl>
          </a:graphicData>
        </a:graphic>
      </p:graphicFrame>
      <p:pic>
        <p:nvPicPr>
          <p:cNvPr id="10248" name="Picture 8">
            <a:extLst>
              <a:ext uri="{FF2B5EF4-FFF2-40B4-BE49-F238E27FC236}">
                <a16:creationId xmlns:a16="http://schemas.microsoft.com/office/drawing/2014/main" id="{644F2E0F-4299-9636-9676-C6ED970BE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2" y="3966070"/>
            <a:ext cx="3301660" cy="180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A2A34771-023D-7267-F202-708132F58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864" y="3966070"/>
            <a:ext cx="293643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23ACD2A7-021B-7D0F-B24A-666B8146F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512" y="3966070"/>
            <a:ext cx="2208363" cy="19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>
            <a:extLst>
              <a:ext uri="{FF2B5EF4-FFF2-40B4-BE49-F238E27FC236}">
                <a16:creationId xmlns:a16="http://schemas.microsoft.com/office/drawing/2014/main" id="{5622699A-4BCC-7830-64C2-68523AD92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65" y="3966070"/>
            <a:ext cx="3013413" cy="187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18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87C7-D09C-3824-A412-1AA1D108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5871-D7FC-93C3-7587-A27EF63E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Out-Of-Bag 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0980CF-66D4-F54B-AFC1-7C76BC9403C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E7678-39E5-30A3-FD8C-054B3883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24779-131B-C325-73EF-8F80822331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7F287073-7A90-35A7-3E87-27F075B4D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549827"/>
              </p:ext>
            </p:extLst>
          </p:nvPr>
        </p:nvGraphicFramePr>
        <p:xfrm>
          <a:off x="6899226" y="1849512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EBB01B-01C9-EA8F-16E5-07A4B42A7D85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5">
                <a:extLst>
                  <a:ext uri="{FF2B5EF4-FFF2-40B4-BE49-F238E27FC236}">
                    <a16:creationId xmlns:a16="http://schemas.microsoft.com/office/drawing/2014/main" id="{09EAB8B6-134E-D980-ACEB-4288B049C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719997" cy="36233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Recall, while bootstrapping, we did not include the 3</a:t>
                </a:r>
                <a:r>
                  <a:rPr lang="en-US" baseline="30000" dirty="0"/>
                  <a:t>rd</a:t>
                </a:r>
                <a:r>
                  <a:rPr lang="en-US" dirty="0"/>
                  <a:t> sample</a:t>
                </a:r>
              </a:p>
              <a:p>
                <a:r>
                  <a:rPr lang="en-US" dirty="0"/>
                  <a:t>Typically, about  one-third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1/3</m:t>
                    </m:r>
                  </m:oMath>
                </a14:m>
                <a:r>
                  <a:rPr lang="en-US" dirty="0"/>
                  <a:t>) of data does not end up in the bootstrapped dataset</a:t>
                </a:r>
              </a:p>
              <a:p>
                <a:r>
                  <a:rPr lang="en-US" dirty="0"/>
                  <a:t>The data that are excluded together are called the </a:t>
                </a:r>
                <a:r>
                  <a:rPr lang="en-US" b="1" u="sng" dirty="0"/>
                  <a:t>Out-Of-Bag Dataset</a:t>
                </a:r>
              </a:p>
            </p:txBody>
          </p:sp>
        </mc:Choice>
        <mc:Fallback xmlns="">
          <p:sp>
            <p:nvSpPr>
              <p:cNvPr id="11" name="Content Placeholder 15">
                <a:extLst>
                  <a:ext uri="{FF2B5EF4-FFF2-40B4-BE49-F238E27FC236}">
                    <a16:creationId xmlns:a16="http://schemas.microsoft.com/office/drawing/2014/main" id="{09EAB8B6-134E-D980-ACEB-4288B049C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719997" cy="3623300"/>
              </a:xfrm>
              <a:prstGeom prst="rect">
                <a:avLst/>
              </a:prstGeom>
              <a:blipFill>
                <a:blip r:embed="rId3"/>
                <a:stretch>
                  <a:fillRect l="-1919" t="-2857" r="-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93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C724-A85A-8251-9709-41B9BFA4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3F14-2545-3245-A0E6-2A5C2228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Out-Of-Bag Dataset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94D0E6-F718-0CE4-FB8C-40B848B2038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C92FA-A3DA-7E0D-5EB1-358AAA7B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694FD-6889-F0C3-B492-018CCBC9E2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006D812D-79DF-BECA-F4D0-9AA3E90528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380196"/>
              </p:ext>
            </p:extLst>
          </p:nvPr>
        </p:nvGraphicFramePr>
        <p:xfrm>
          <a:off x="6899226" y="1849512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Chest</a:t>
                      </a:r>
                    </a:p>
                    <a:p>
                      <a:pPr algn="ctr"/>
                      <a:r>
                        <a:rPr lang="en-US" dirty="0"/>
                        <a:t>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250DC4-561B-9CD9-DDE1-3623E25247E4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0DF5AB84-DCBD-6D75-C6B9-4988296B5EB9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5719997" cy="47400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pass the out-of-bag data through the decision trees</a:t>
            </a:r>
          </a:p>
          <a:p>
            <a:r>
              <a:rPr lang="en-US" dirty="0"/>
              <a:t>Let’s say the random forest correctly predicts the label</a:t>
            </a:r>
          </a:p>
          <a:p>
            <a:r>
              <a:rPr lang="en-US" dirty="0"/>
              <a:t>We repeat the process for all out-of-bag dataset samples and keep track of how many were predicted correctly and incorrectly</a:t>
            </a:r>
          </a:p>
          <a:p>
            <a:r>
              <a:rPr lang="en-US" dirty="0"/>
              <a:t>The proportion of out-of-bag samples that were predicted incorrectly is the “</a:t>
            </a:r>
            <a:r>
              <a:rPr lang="en-US" b="1" u="sng" dirty="0"/>
              <a:t>out-of-bag error</a:t>
            </a:r>
            <a:r>
              <a:rPr lang="en-US" dirty="0"/>
              <a:t>” which tells us about the accuracy of the model</a:t>
            </a:r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FB1EDBE8-5451-5A89-D61E-6613AB260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04675"/>
              </p:ext>
            </p:extLst>
          </p:nvPr>
        </p:nvGraphicFramePr>
        <p:xfrm>
          <a:off x="8329569" y="3936715"/>
          <a:ext cx="1997577" cy="18702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4405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Disease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85818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D47225-48D5-3810-0661-A17D39FF5A7E}"/>
              </a:ext>
            </a:extLst>
          </p:cNvPr>
          <p:cNvCxnSpPr>
            <a:cxnSpLocks/>
          </p:cNvCxnSpPr>
          <p:nvPr/>
        </p:nvCxnSpPr>
        <p:spPr>
          <a:xfrm>
            <a:off x="5292775" y="2941905"/>
            <a:ext cx="2891855" cy="1253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91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A591-1EE1-E1E7-4BC0-E5A302BC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0E1-4435-DDBB-A02B-33DA4478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Finding the “best” model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D9D5AD-4C08-5300-E8DB-DDFD77F3FB4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1C5E4-1E2A-D4DB-C75F-4E319C57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4A20F-E15F-853C-AC5B-6A6A06F51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E73667-90EC-92A9-F016-6905A070B141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5443928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CFD10BDD-1273-834A-4D0F-9C28172088BE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854128" cy="4740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Build a random forest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the accuracy of the random forest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 the number of features used (previously we chose 2 features and now we can choose 3) and go back to step 1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several times and choose the most accurate random forest model</a:t>
            </a:r>
          </a:p>
        </p:txBody>
      </p:sp>
    </p:spTree>
    <p:extLst>
      <p:ext uri="{BB962C8B-B14F-4D97-AF65-F5344CB8AC3E}">
        <p14:creationId xmlns:p14="http://schemas.microsoft.com/office/powerpoint/2010/main" val="423111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Missing Data: Types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60E5FC-7FB8-7CCE-DDC6-5FA74BBB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Structurally Missing Data</a:t>
            </a:r>
          </a:p>
          <a:p>
            <a:pPr lvl="1" algn="just"/>
            <a:r>
              <a:rPr lang="en-US" dirty="0"/>
              <a:t>Data not meant to exist (e.g., age of a child when there are no children)</a:t>
            </a:r>
          </a:p>
          <a:p>
            <a:pPr lvl="1" algn="just"/>
            <a:r>
              <a:rPr lang="en-US" dirty="0"/>
              <a:t>Best handled by excluding such observations</a:t>
            </a:r>
          </a:p>
          <a:p>
            <a:pPr algn="just"/>
            <a:r>
              <a:rPr lang="en-US" b="1" dirty="0"/>
              <a:t>MCAR – Missing Completely At Random</a:t>
            </a:r>
          </a:p>
          <a:p>
            <a:pPr lvl="1" algn="just"/>
            <a:r>
              <a:rPr lang="en-US" dirty="0"/>
              <a:t>Missing data entirely at random with no pattern or reason</a:t>
            </a:r>
          </a:p>
          <a:p>
            <a:pPr lvl="1" algn="just"/>
            <a:r>
              <a:rPr lang="en-US" dirty="0"/>
              <a:t>Example: Machine failure causing random data loss</a:t>
            </a:r>
          </a:p>
          <a:p>
            <a:pPr algn="just"/>
            <a:r>
              <a:rPr lang="en-US" b="1" dirty="0"/>
              <a:t>MAR – Missing At Random</a:t>
            </a:r>
          </a:p>
          <a:p>
            <a:pPr lvl="1" algn="just"/>
            <a:r>
              <a:rPr lang="en-US" dirty="0"/>
              <a:t>Missingness related to other observed variables</a:t>
            </a:r>
          </a:p>
          <a:p>
            <a:pPr lvl="1" algn="just"/>
            <a:r>
              <a:rPr lang="en-US" dirty="0"/>
              <a:t>Example: Missing height inferred from age, gender, etc.</a:t>
            </a:r>
          </a:p>
          <a:p>
            <a:pPr lvl="1" algn="just"/>
            <a:r>
              <a:rPr lang="en-US" dirty="0"/>
              <a:t>Can be imputed using statistical techniques</a:t>
            </a:r>
          </a:p>
          <a:p>
            <a:pPr algn="just"/>
            <a:r>
              <a:rPr lang="en-US" b="1" dirty="0"/>
              <a:t>NMAR – Not Missing At Random</a:t>
            </a:r>
          </a:p>
          <a:p>
            <a:pPr lvl="1" algn="just"/>
            <a:r>
              <a:rPr lang="en-US" dirty="0"/>
              <a:t>Missing due to unobserved reasons or intentional skipping</a:t>
            </a:r>
          </a:p>
          <a:p>
            <a:pPr lvl="1" algn="just"/>
            <a:r>
              <a:rPr lang="en-US" dirty="0"/>
              <a:t>Example: Participants avoiding certain survey questions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/>
              <a:t>***</a:t>
            </a:r>
            <a:r>
              <a:rPr lang="en-US" b="1" u="sng" dirty="0"/>
              <a:t>Imputation</a:t>
            </a:r>
            <a:r>
              <a:rPr lang="en-US" dirty="0"/>
              <a:t>: the assignment of a value to something </a:t>
            </a:r>
            <a:r>
              <a:rPr lang="en-US" b="1" u="sng" dirty="0"/>
              <a:t>by inference</a:t>
            </a:r>
            <a:r>
              <a:rPr lang="en-US" dirty="0"/>
              <a:t> from the value of processes to which it contributes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26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5BBE-DD98-DC63-6C6A-B772923EE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820D-6324-5BC3-AAB3-30F08912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Imputation using Random Forest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4F3BDE-FDB1-113F-0ED9-5844C4D8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/>
          </a:bodyPr>
          <a:lstStyle/>
          <a:p>
            <a:r>
              <a:rPr lang="en-US" dirty="0"/>
              <a:t>Powerful and efficient imputation method</a:t>
            </a:r>
          </a:p>
          <a:p>
            <a:r>
              <a:rPr lang="en-US" dirty="0"/>
              <a:t>Scales well to large datasets</a:t>
            </a:r>
          </a:p>
          <a:p>
            <a:r>
              <a:rPr lang="en-US" dirty="0"/>
              <a:t>Handles non-linear relationships and outliers</a:t>
            </a:r>
          </a:p>
          <a:p>
            <a:r>
              <a:rPr lang="en-US" dirty="0"/>
              <a:t>Supports both numerical and categorical data</a:t>
            </a:r>
          </a:p>
          <a:p>
            <a:r>
              <a:rPr lang="en-US" dirty="0"/>
              <a:t>Includes built-in feature selection</a:t>
            </a:r>
          </a:p>
          <a:p>
            <a:r>
              <a:rPr lang="en-US" dirty="0"/>
              <a:t>Often outperforms KNN and other imputation techniques</a:t>
            </a:r>
          </a:p>
          <a:p>
            <a:pPr marL="0" indent="0" algn="just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AA4C2C-32F6-8F41-DFF2-1FC8C0334EA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B9A99-B8FC-36BF-12F7-F9EDB3DC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FA675-AC4D-3929-8784-5BA3585F94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8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ED70-AF4E-895C-B665-5EFCAEB8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0FED-F99C-444C-EB1D-04B52A0D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Example: Heart Disease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2342047-DF11-8EF8-47E7-19E29F64FB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16747" y="2177292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890F21-6166-E3CC-DFF8-D57AFDCC90F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2F0D5-69C8-FFDF-170D-1042BD43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6C7E4-7943-F74D-1BDA-BB4180DFE8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8204F-AC57-A855-CE8F-C99DBCC2501D}"/>
              </a:ext>
            </a:extLst>
          </p:cNvPr>
          <p:cNvSpPr txBox="1"/>
          <p:nvPr/>
        </p:nvSpPr>
        <p:spPr>
          <a:xfrm>
            <a:off x="4857750" y="6492875"/>
            <a:ext cx="2185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Credit: </a:t>
            </a:r>
            <a:r>
              <a:rPr lang="en-US" b="1" dirty="0" err="1"/>
              <a:t>StatQuest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8F43A078-17F9-6C23-BBF6-0ACF5A347819}"/>
              </a:ext>
            </a:extLst>
          </p:cNvPr>
          <p:cNvSpPr txBox="1">
            <a:spLocks/>
          </p:cNvSpPr>
          <p:nvPr/>
        </p:nvSpPr>
        <p:spPr>
          <a:xfrm>
            <a:off x="584110" y="2484930"/>
            <a:ext cx="6162679" cy="416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1CCA3-9EDF-6684-6388-374FF776514A}"/>
              </a:ext>
            </a:extLst>
          </p:cNvPr>
          <p:cNvSpPr txBox="1"/>
          <p:nvPr/>
        </p:nvSpPr>
        <p:spPr>
          <a:xfrm>
            <a:off x="5041661" y="1756377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</p:spTree>
    <p:extLst>
      <p:ext uri="{BB962C8B-B14F-4D97-AF65-F5344CB8AC3E}">
        <p14:creationId xmlns:p14="http://schemas.microsoft.com/office/powerpoint/2010/main" val="52158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6992-7A4B-34CF-384A-84AE0F48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C9C8-EDFD-753A-A256-614D838F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Missing Data to create a Random Forest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50E3D45-F775-DBE1-9281-6765BAF862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32917" y="2109029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5DCAE4-7ACD-6E82-73F8-670E4CE23BC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78D99-2CA0-5C92-DCD5-96A0E699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C306D6-EEBD-B0C3-B1C0-D2B689759E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570EC-771C-878C-3612-2E912BC66ADE}"/>
              </a:ext>
            </a:extLst>
          </p:cNvPr>
          <p:cNvSpPr txBox="1"/>
          <p:nvPr/>
        </p:nvSpPr>
        <p:spPr>
          <a:xfrm>
            <a:off x="8557831" y="1688114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23AE31B-4D81-12CB-0023-FCB2287CF845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6097440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The general idea is:</a:t>
            </a:r>
          </a:p>
          <a:p>
            <a:pPr lvl="1" algn="just"/>
            <a:r>
              <a:rPr lang="en-US" sz="3000" dirty="0"/>
              <a:t>Make an initial guess (</a:t>
            </a:r>
            <a:r>
              <a:rPr lang="en-US" sz="3000" b="1" u="sng" dirty="0"/>
              <a:t>can be a bad guess</a:t>
            </a:r>
            <a:r>
              <a:rPr lang="en-US" sz="3000" dirty="0"/>
              <a:t>)</a:t>
            </a:r>
          </a:p>
          <a:p>
            <a:pPr lvl="1" algn="just"/>
            <a:r>
              <a:rPr lang="en-US" sz="3000" dirty="0"/>
              <a:t>Gradually refine the guess until it is a good guess</a:t>
            </a:r>
          </a:p>
        </p:txBody>
      </p:sp>
    </p:spTree>
    <p:extLst>
      <p:ext uri="{BB962C8B-B14F-4D97-AF65-F5344CB8AC3E}">
        <p14:creationId xmlns:p14="http://schemas.microsoft.com/office/powerpoint/2010/main" val="277757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6D759-BEA6-B779-9374-8DC597C97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DB22-AF66-C88C-A003-ECFDE77C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Initial Guess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3197997-FEB8-E0C5-3A2D-82B78A0983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32917" y="2109029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017C04-6E90-4482-AF19-54936525E9F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ADF87-1CBE-9EFE-9F16-ACE7A9CF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42A134-5E3F-7179-4D73-81DDC0DD8E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20FA772-D629-53B4-A126-E0F8CA451BE1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6097440" cy="46357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b="1" dirty="0"/>
              <a:t>Blocked Arteries</a:t>
            </a:r>
            <a:r>
              <a:rPr lang="en-US" sz="3000" dirty="0"/>
              <a:t>:</a:t>
            </a:r>
          </a:p>
          <a:p>
            <a:pPr lvl="1" algn="just"/>
            <a:r>
              <a:rPr lang="en-US" sz="2600" dirty="0"/>
              <a:t>Among the people who do not have heart disease, “No” is the most common value for “Blocked Arteries” – occurs 2 out 2 samples</a:t>
            </a:r>
          </a:p>
          <a:p>
            <a:pPr lvl="1" algn="just"/>
            <a:r>
              <a:rPr lang="en-US" sz="2600" dirty="0"/>
              <a:t>So “No” is our initial guess</a:t>
            </a:r>
          </a:p>
          <a:p>
            <a:pPr algn="just"/>
            <a:r>
              <a:rPr lang="en-US" sz="3000" b="1" dirty="0"/>
              <a:t>Weight</a:t>
            </a:r>
            <a:r>
              <a:rPr lang="en-US" sz="3000" dirty="0"/>
              <a:t>:</a:t>
            </a:r>
          </a:p>
          <a:p>
            <a:pPr lvl="1" algn="just"/>
            <a:r>
              <a:rPr lang="en-US" sz="2600" dirty="0"/>
              <a:t>Since weight is numeric, our initial guess will be the median value of the patients who did not have a heart disease</a:t>
            </a:r>
          </a:p>
          <a:p>
            <a:pPr lvl="1" algn="just"/>
            <a:r>
              <a:rPr lang="en-US" sz="2600" dirty="0"/>
              <a:t>The median of 125 and 210 is 167.5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8E02EF-CF45-F9F6-1FD6-6A39C8A29F6E}"/>
              </a:ext>
            </a:extLst>
          </p:cNvPr>
          <p:cNvSpPr/>
          <p:nvPr/>
        </p:nvSpPr>
        <p:spPr>
          <a:xfrm>
            <a:off x="8874072" y="4717540"/>
            <a:ext cx="734877" cy="731385"/>
          </a:xfrm>
          <a:prstGeom prst="ellipse">
            <a:avLst/>
          </a:prstGeom>
          <a:solidFill>
            <a:srgbClr val="00B0F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CDF602-83ED-57B1-BE0E-AD29191F3675}"/>
              </a:ext>
            </a:extLst>
          </p:cNvPr>
          <p:cNvSpPr/>
          <p:nvPr/>
        </p:nvSpPr>
        <p:spPr>
          <a:xfrm>
            <a:off x="9894377" y="4694293"/>
            <a:ext cx="734877" cy="731385"/>
          </a:xfrm>
          <a:prstGeom prst="ellipse">
            <a:avLst/>
          </a:prstGeom>
          <a:solidFill>
            <a:srgbClr val="00B0F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80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B6BE-3A86-6D4F-11CE-18254A31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ABB7-339F-C1E3-AEF9-02D2B57F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Refining the Guesses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D63F3A8-6421-ECFF-D3B1-C086F3B16D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32917" y="2109029"/>
          <a:ext cx="4858265" cy="3408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C0728A-6BF9-C674-568D-F480C2A50CC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83CF5-87F7-F0D4-C4EA-F1B7D612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6E5C0-8FFA-B064-ADBF-1D4ED4FF0C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8B4B2A6-70A4-9063-C99D-C203AA8E30E7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6097440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b="1" u="sng" dirty="0"/>
              <a:t>Step 1</a:t>
            </a:r>
            <a:r>
              <a:rPr lang="en-US" sz="3000" dirty="0"/>
              <a:t>:</a:t>
            </a:r>
            <a:r>
              <a:rPr lang="en-US" sz="3000" b="1" dirty="0"/>
              <a:t> </a:t>
            </a:r>
            <a:r>
              <a:rPr lang="en-US" sz="3000" dirty="0"/>
              <a:t>Build a random forest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A481F-9739-19B1-6E29-0C5DE03F61DD}"/>
              </a:ext>
            </a:extLst>
          </p:cNvPr>
          <p:cNvSpPr txBox="1"/>
          <p:nvPr/>
        </p:nvSpPr>
        <p:spPr>
          <a:xfrm>
            <a:off x="7968896" y="1688114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with initial guesses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2F13494-41E1-92A6-5BFC-9D221222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8" y="2734638"/>
            <a:ext cx="6163199" cy="352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65096E-D8DE-E68E-B2D5-60FE9AE1E54F}"/>
              </a:ext>
            </a:extLst>
          </p:cNvPr>
          <p:cNvSpPr txBox="1"/>
          <p:nvPr/>
        </p:nvSpPr>
        <p:spPr>
          <a:xfrm>
            <a:off x="1509358" y="2388166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60396-E841-85E1-573E-EFB173690C85}"/>
              </a:ext>
            </a:extLst>
          </p:cNvPr>
          <p:cNvSpPr txBox="1"/>
          <p:nvPr/>
        </p:nvSpPr>
        <p:spPr>
          <a:xfrm>
            <a:off x="4877398" y="2365306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A5F10-E63D-0D73-EBB3-489481DDE09A}"/>
              </a:ext>
            </a:extLst>
          </p:cNvPr>
          <p:cNvSpPr txBox="1"/>
          <p:nvPr/>
        </p:nvSpPr>
        <p:spPr>
          <a:xfrm>
            <a:off x="1425538" y="4384606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8AC930-8C32-9841-95ED-13E06A2255C8}"/>
              </a:ext>
            </a:extLst>
          </p:cNvPr>
          <p:cNvSpPr txBox="1"/>
          <p:nvPr/>
        </p:nvSpPr>
        <p:spPr>
          <a:xfrm>
            <a:off x="4877398" y="4339885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5479CC-E5C2-9A65-C47C-18415ADDB8CE}"/>
              </a:ext>
            </a:extLst>
          </p:cNvPr>
          <p:cNvSpPr txBox="1"/>
          <p:nvPr/>
        </p:nvSpPr>
        <p:spPr>
          <a:xfrm>
            <a:off x="5122258" y="6447199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….. Tree 10</a:t>
            </a:r>
          </a:p>
        </p:txBody>
      </p:sp>
    </p:spTree>
    <p:extLst>
      <p:ext uri="{BB962C8B-B14F-4D97-AF65-F5344CB8AC3E}">
        <p14:creationId xmlns:p14="http://schemas.microsoft.com/office/powerpoint/2010/main" val="697803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2E51-D503-4397-29CC-A6DC4EC4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C8C9-D3AA-83DB-E6AB-DBE63AB3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Refining the Guesses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EBA18-FC01-4C93-BB31-84715E5A78B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FC34D-F8E3-4072-FBB2-B1E54F37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FA3B16-2E45-EC46-97BA-864392C95D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41796A4A-92F4-03CD-F3CF-BD77D77E93D3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6097440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b="1" u="sng" dirty="0"/>
              <a:t>Step 2</a:t>
            </a:r>
            <a:r>
              <a:rPr lang="en-US" sz="3000" dirty="0"/>
              <a:t>:</a:t>
            </a:r>
            <a:r>
              <a:rPr lang="en-US" sz="3000" b="1" dirty="0"/>
              <a:t> </a:t>
            </a:r>
            <a:r>
              <a:rPr lang="en-US" sz="3000" dirty="0"/>
              <a:t>Run all the data down all of the trees</a:t>
            </a:r>
          </a:p>
          <a:p>
            <a:pPr lvl="1" algn="just"/>
            <a:r>
              <a:rPr lang="en-US" sz="2600" dirty="0"/>
              <a:t>Running through </a:t>
            </a:r>
            <a:r>
              <a:rPr lang="en-US" sz="2600" b="1" dirty="0"/>
              <a:t>Tree 1</a:t>
            </a:r>
            <a:r>
              <a:rPr lang="en-US" sz="2600" dirty="0"/>
              <a:t>:</a:t>
            </a:r>
          </a:p>
          <a:p>
            <a:pPr lvl="2" algn="just"/>
            <a:r>
              <a:rPr lang="en-US" sz="2200" dirty="0"/>
              <a:t>Notice that </a:t>
            </a:r>
            <a:r>
              <a:rPr lang="en-US" sz="2200" b="1" u="sng" dirty="0"/>
              <a:t>Sample 3 and Sample 4 </a:t>
            </a:r>
            <a:r>
              <a:rPr lang="en-US" sz="2200" dirty="0"/>
              <a:t>both ended up at the </a:t>
            </a:r>
            <a:r>
              <a:rPr lang="en-US" sz="2200" b="1" u="sng" dirty="0"/>
              <a:t>same leaf node</a:t>
            </a:r>
            <a:r>
              <a:rPr lang="en-US" sz="2200" dirty="0"/>
              <a:t>, i.e., they are </a:t>
            </a:r>
            <a:r>
              <a:rPr lang="en-US" sz="2200" b="1" u="sng" dirty="0"/>
              <a:t>similar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02058A-D2D9-D883-CF69-B996EF21C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64" y="4545193"/>
            <a:ext cx="3346548" cy="18187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163189-3647-AA3E-250A-5727D3D70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606" y="4537573"/>
            <a:ext cx="3346548" cy="1818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22BA55-9E52-9776-C7AA-3CB10ABF8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044" y="2137977"/>
            <a:ext cx="3346548" cy="18187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E9841D-B88C-7005-86AB-A41F9191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000" y="4537573"/>
            <a:ext cx="3346548" cy="18187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E750D8-327C-D766-ABDC-28AF3A467CE9}"/>
              </a:ext>
            </a:extLst>
          </p:cNvPr>
          <p:cNvSpPr txBox="1"/>
          <p:nvPr/>
        </p:nvSpPr>
        <p:spPr>
          <a:xfrm>
            <a:off x="1638898" y="403847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1E3B3B-353A-CFC1-BF95-C6B3FF8884BF}"/>
              </a:ext>
            </a:extLst>
          </p:cNvPr>
          <p:cNvSpPr txBox="1"/>
          <p:nvPr/>
        </p:nvSpPr>
        <p:spPr>
          <a:xfrm>
            <a:off x="5144098" y="407129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F076D-0992-0B39-0D19-2BE5C457BCC3}"/>
              </a:ext>
            </a:extLst>
          </p:cNvPr>
          <p:cNvSpPr txBox="1"/>
          <p:nvPr/>
        </p:nvSpPr>
        <p:spPr>
          <a:xfrm>
            <a:off x="8725498" y="176864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A783EC-097E-B822-0A76-5B1821E0B5B5}"/>
              </a:ext>
            </a:extLst>
          </p:cNvPr>
          <p:cNvSpPr txBox="1"/>
          <p:nvPr/>
        </p:nvSpPr>
        <p:spPr>
          <a:xfrm>
            <a:off x="8610600" y="4141419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FEC8E0-925B-02C3-0838-FE4E67C36536}"/>
              </a:ext>
            </a:extLst>
          </p:cNvPr>
          <p:cNvSpPr/>
          <p:nvPr/>
        </p:nvSpPr>
        <p:spPr>
          <a:xfrm>
            <a:off x="2674620" y="6019800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CF7DA3D-B767-5694-D330-59A239236781}"/>
              </a:ext>
            </a:extLst>
          </p:cNvPr>
          <p:cNvSpPr/>
          <p:nvPr/>
        </p:nvSpPr>
        <p:spPr>
          <a:xfrm>
            <a:off x="3947166" y="6019800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52F49D-299D-1C05-4512-6943B45F22A8}"/>
              </a:ext>
            </a:extLst>
          </p:cNvPr>
          <p:cNvSpPr/>
          <p:nvPr/>
        </p:nvSpPr>
        <p:spPr>
          <a:xfrm>
            <a:off x="8225240" y="3622409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20AD399-8704-26C1-86DA-1126EA5779B9}"/>
              </a:ext>
            </a:extLst>
          </p:cNvPr>
          <p:cNvSpPr/>
          <p:nvPr/>
        </p:nvSpPr>
        <p:spPr>
          <a:xfrm>
            <a:off x="8176858" y="6022006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3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6B49-5C21-40A1-B776-840E9E0F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8F8D-70A1-8099-CA9B-CAC7EECE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Proximity Matrix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591710-6CA7-E086-1B9E-9FD772738AB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B6B24-11A3-BD69-97F2-C6748861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A127AA-F010-3645-7F86-9B4252C3F7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7966BCAC-5F8E-FE76-BD8D-2B2A82257DD7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To </a:t>
            </a:r>
            <a:r>
              <a:rPr lang="en-US" sz="3000" b="1" u="sng" dirty="0"/>
              <a:t>keep track of similar samples</a:t>
            </a:r>
          </a:p>
          <a:p>
            <a:pPr algn="just"/>
            <a:r>
              <a:rPr lang="en-US" sz="3000" dirty="0"/>
              <a:t>Since Sample 3 and Sample 4 are similar, we put 1 in the positions representing pairs of samples 3 and 4</a:t>
            </a:r>
          </a:p>
          <a:p>
            <a:pPr algn="just"/>
            <a:r>
              <a:rPr lang="en-US" sz="3000" dirty="0"/>
              <a:t>Since no other samples ended in the same leaf node, the proximity matrix result in this after running the samples through the first tree</a:t>
            </a:r>
            <a:endParaRPr 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969504-1D85-C603-B9D3-1F7B021E9117}"/>
              </a:ext>
            </a:extLst>
          </p:cNvPr>
          <p:cNvGraphicFramePr>
            <a:graphicFrameLocks noGrp="1"/>
          </p:cNvGraphicFramePr>
          <p:nvPr/>
        </p:nvGraphicFramePr>
        <p:xfrm>
          <a:off x="4415784" y="4684712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689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B865-C6FF-E139-D267-EB8051BD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FC17129-46A9-0457-656F-379633EB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845" y="4465703"/>
            <a:ext cx="2149979" cy="1966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320140-8A55-627B-2014-B19B3845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179" y="2174975"/>
            <a:ext cx="2149979" cy="1966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A32AC-FACC-F140-F534-09E1CB6A5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105" y="4463739"/>
            <a:ext cx="2149979" cy="1966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CE4ADD-2B66-E5A1-74FD-E6BC19E2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368" y="4463739"/>
            <a:ext cx="2149979" cy="19664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A4CC-FE88-3EE8-2EEF-89985F9E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Running through Tree 2…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380276-E426-B0BD-994D-EEF0354AE16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9EBFE-3A51-97B6-09B4-807C0691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5ECBA-D8BD-4EAD-5649-C62FC6C0726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B18BEC0-2884-FE65-015A-FF4997A55689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6097440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Notice that </a:t>
            </a:r>
            <a:r>
              <a:rPr lang="en-US" sz="3000" b="1" u="sng" dirty="0"/>
              <a:t>Sample 2, Sample 3 and Sample 4</a:t>
            </a:r>
            <a:r>
              <a:rPr lang="en-US" sz="3000" b="1" dirty="0"/>
              <a:t> </a:t>
            </a:r>
            <a:r>
              <a:rPr lang="en-US" sz="3000" dirty="0"/>
              <a:t>all three ended up at the </a:t>
            </a:r>
            <a:r>
              <a:rPr lang="en-US" sz="3000" b="1" u="sng" dirty="0"/>
              <a:t>same leaf node</a:t>
            </a:r>
            <a:r>
              <a:rPr lang="en-US" sz="3000" dirty="0"/>
              <a:t>, i.e., they are </a:t>
            </a:r>
            <a:r>
              <a:rPr lang="en-US" sz="3000" b="1" u="sng" dirty="0"/>
              <a:t>similar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71A73-E851-E757-AE44-4A6799253AED}"/>
              </a:ext>
            </a:extLst>
          </p:cNvPr>
          <p:cNvSpPr txBox="1"/>
          <p:nvPr/>
        </p:nvSpPr>
        <p:spPr>
          <a:xfrm>
            <a:off x="1638898" y="403847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068FE1-EB00-4636-5F69-06829002BABA}"/>
              </a:ext>
            </a:extLst>
          </p:cNvPr>
          <p:cNvSpPr txBox="1"/>
          <p:nvPr/>
        </p:nvSpPr>
        <p:spPr>
          <a:xfrm>
            <a:off x="5144098" y="407129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9E1CB-CC7F-EE26-20C6-2D799B681210}"/>
              </a:ext>
            </a:extLst>
          </p:cNvPr>
          <p:cNvSpPr txBox="1"/>
          <p:nvPr/>
        </p:nvSpPr>
        <p:spPr>
          <a:xfrm>
            <a:off x="8725498" y="176864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99D9F8-1E10-64B3-4AA8-081441F9D918}"/>
              </a:ext>
            </a:extLst>
          </p:cNvPr>
          <p:cNvSpPr txBox="1"/>
          <p:nvPr/>
        </p:nvSpPr>
        <p:spPr>
          <a:xfrm>
            <a:off x="8610600" y="4141419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AF348B-3734-92B5-7499-66B28A24F832}"/>
              </a:ext>
            </a:extLst>
          </p:cNvPr>
          <p:cNvSpPr/>
          <p:nvPr/>
        </p:nvSpPr>
        <p:spPr>
          <a:xfrm>
            <a:off x="2342848" y="6052168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A3197E-ED61-54BC-E82D-117254051C70}"/>
              </a:ext>
            </a:extLst>
          </p:cNvPr>
          <p:cNvSpPr/>
          <p:nvPr/>
        </p:nvSpPr>
        <p:spPr>
          <a:xfrm>
            <a:off x="4287032" y="5056848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D1C33ED-5B4B-F7B4-BAA3-0A8E06F2EA0B}"/>
              </a:ext>
            </a:extLst>
          </p:cNvPr>
          <p:cNvSpPr/>
          <p:nvPr/>
        </p:nvSpPr>
        <p:spPr>
          <a:xfrm>
            <a:off x="8560099" y="2763592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72DC85-4E1F-F09E-EA70-6044544F9E14}"/>
              </a:ext>
            </a:extLst>
          </p:cNvPr>
          <p:cNvSpPr/>
          <p:nvPr/>
        </p:nvSpPr>
        <p:spPr>
          <a:xfrm>
            <a:off x="8487271" y="5051606"/>
            <a:ext cx="507878" cy="2438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41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8A84-F266-72B0-4D70-D15C2263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AD35207-0046-EF6F-8E29-9290F46FA5E0}"/>
              </a:ext>
            </a:extLst>
          </p:cNvPr>
          <p:cNvSpPr txBox="1">
            <a:spLocks/>
          </p:cNvSpPr>
          <p:nvPr/>
        </p:nvSpPr>
        <p:spPr>
          <a:xfrm>
            <a:off x="652072" y="1557403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300" dirty="0"/>
              <a:t>After running down Tree 2</a:t>
            </a:r>
          </a:p>
          <a:p>
            <a:pPr algn="just"/>
            <a:endParaRPr lang="en-US" sz="2300" dirty="0"/>
          </a:p>
          <a:p>
            <a:pPr algn="just"/>
            <a:endParaRPr lang="en-US" sz="2300" dirty="0"/>
          </a:p>
          <a:p>
            <a:pPr algn="just"/>
            <a:endParaRPr lang="en-US" sz="2300" dirty="0"/>
          </a:p>
          <a:p>
            <a:pPr algn="just"/>
            <a:endParaRPr lang="en-US" sz="2300" dirty="0"/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Similarly, after running down Tree 3 (only samples 3 and 4 in the same leaf node)</a:t>
            </a:r>
          </a:p>
          <a:p>
            <a:pPr algn="just"/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498A3-6BCC-FF81-3854-9B71039D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Update Proximity Matrix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F2E72F-375D-69A6-6935-2123FED19FA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33CE5-AF98-A4C3-4BAC-E1950E1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1B340-D20B-9572-C7B8-DB50BB98AB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0C8EB103-1199-6CEC-14DB-2E8FD3018537}"/>
              </a:ext>
            </a:extLst>
          </p:cNvPr>
          <p:cNvSpPr txBox="1">
            <a:spLocks/>
          </p:cNvSpPr>
          <p:nvPr/>
        </p:nvSpPr>
        <p:spPr>
          <a:xfrm>
            <a:off x="652072" y="1720592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0C1474-97B3-8EEC-07EA-602383216C01}"/>
              </a:ext>
            </a:extLst>
          </p:cNvPr>
          <p:cNvGraphicFramePr>
            <a:graphicFrameLocks noGrp="1"/>
          </p:cNvGraphicFramePr>
          <p:nvPr/>
        </p:nvGraphicFramePr>
        <p:xfrm>
          <a:off x="7366006" y="2095260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F75C9A-CC35-B053-FD2B-A120A22AD3EE}"/>
              </a:ext>
            </a:extLst>
          </p:cNvPr>
          <p:cNvGraphicFramePr>
            <a:graphicFrameLocks noGrp="1"/>
          </p:cNvGraphicFramePr>
          <p:nvPr/>
        </p:nvGraphicFramePr>
        <p:xfrm>
          <a:off x="1688768" y="2095260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FEF288-058E-FA0A-71B4-8489AD6688EA}"/>
              </a:ext>
            </a:extLst>
          </p:cNvPr>
          <p:cNvCxnSpPr/>
          <p:nvPr/>
        </p:nvCxnSpPr>
        <p:spPr>
          <a:xfrm>
            <a:off x="5567321" y="3022360"/>
            <a:ext cx="1432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ECB98D-3A93-6D6D-F379-2E48C42786B4}"/>
              </a:ext>
            </a:extLst>
          </p:cNvPr>
          <p:cNvSpPr txBox="1"/>
          <p:nvPr/>
        </p:nvSpPr>
        <p:spPr>
          <a:xfrm>
            <a:off x="5853121" y="2653028"/>
            <a:ext cx="88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630AAD-B0C7-D828-5D45-5342065C7564}"/>
              </a:ext>
            </a:extLst>
          </p:cNvPr>
          <p:cNvGraphicFramePr>
            <a:graphicFrameLocks noGrp="1"/>
          </p:cNvGraphicFramePr>
          <p:nvPr/>
        </p:nvGraphicFramePr>
        <p:xfrm>
          <a:off x="1688768" y="4867275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68482C-80B0-590E-83C8-2ECACEF8F358}"/>
              </a:ext>
            </a:extLst>
          </p:cNvPr>
          <p:cNvGraphicFramePr>
            <a:graphicFrameLocks noGrp="1"/>
          </p:cNvGraphicFramePr>
          <p:nvPr/>
        </p:nvGraphicFramePr>
        <p:xfrm>
          <a:off x="7366006" y="4867275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1B9E63-D891-B251-3655-C283045829DC}"/>
              </a:ext>
            </a:extLst>
          </p:cNvPr>
          <p:cNvCxnSpPr/>
          <p:nvPr/>
        </p:nvCxnSpPr>
        <p:spPr>
          <a:xfrm>
            <a:off x="5567321" y="5885592"/>
            <a:ext cx="1432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26E68C2-46F1-BBDA-7592-09ADD89FB54E}"/>
              </a:ext>
            </a:extLst>
          </p:cNvPr>
          <p:cNvSpPr txBox="1"/>
          <p:nvPr/>
        </p:nvSpPr>
        <p:spPr>
          <a:xfrm>
            <a:off x="5853121" y="5516260"/>
            <a:ext cx="88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664913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C8AD-7CF5-5F1A-6F92-1E4DE079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76FE527-5783-7841-CE60-8BA21BCA9394}"/>
              </a:ext>
            </a:extLst>
          </p:cNvPr>
          <p:cNvSpPr txBox="1">
            <a:spLocks/>
          </p:cNvSpPr>
          <p:nvPr/>
        </p:nvSpPr>
        <p:spPr>
          <a:xfrm>
            <a:off x="652072" y="1557403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766D7-6773-5584-4A9C-28C3CD8F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After running through 10 trees…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0106A2-B3D7-1854-25DB-E58049A2445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6A80C-1826-137B-8AC3-0CB7690E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749AC-0AAB-F990-F37A-62A4EA2050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26B9B261-E209-B8D3-2582-CCA5E0F14DB4}"/>
              </a:ext>
            </a:extLst>
          </p:cNvPr>
          <p:cNvSpPr txBox="1">
            <a:spLocks/>
          </p:cNvSpPr>
          <p:nvPr/>
        </p:nvSpPr>
        <p:spPr>
          <a:xfrm>
            <a:off x="652072" y="1518292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Final updated proximity matrix:</a:t>
            </a:r>
          </a:p>
          <a:p>
            <a:pPr algn="just"/>
            <a:endParaRPr lang="en-US" sz="3500" dirty="0"/>
          </a:p>
          <a:p>
            <a:pPr algn="just"/>
            <a:endParaRPr lang="en-US" sz="3500" dirty="0"/>
          </a:p>
          <a:p>
            <a:pPr algn="just"/>
            <a:endParaRPr lang="en-US" sz="3500" b="1" u="sng" dirty="0"/>
          </a:p>
          <a:p>
            <a:pPr algn="just"/>
            <a:r>
              <a:rPr lang="en-US" sz="3500" b="1" u="sng" dirty="0"/>
              <a:t>Step 3</a:t>
            </a:r>
            <a:r>
              <a:rPr lang="en-US" sz="3500" dirty="0"/>
              <a:t>: Divide each proximity value by the total number of trees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1F473A-A7E1-79A4-643C-8AC461A3CCA9}"/>
              </a:ext>
            </a:extLst>
          </p:cNvPr>
          <p:cNvGraphicFramePr>
            <a:graphicFrameLocks noGrp="1"/>
          </p:cNvGraphicFramePr>
          <p:nvPr/>
        </p:nvGraphicFramePr>
        <p:xfrm>
          <a:off x="7212258" y="1849512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0FA5E3-FCDF-6323-67AB-78674219E759}"/>
              </a:ext>
            </a:extLst>
          </p:cNvPr>
          <p:cNvGraphicFramePr>
            <a:graphicFrameLocks noGrp="1"/>
          </p:cNvGraphicFramePr>
          <p:nvPr/>
        </p:nvGraphicFramePr>
        <p:xfrm>
          <a:off x="3885083" y="4637028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146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02BE-5804-FD1E-A3DD-94DABF99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7798BE2-9090-10A1-44DD-6359D5315ABE}"/>
              </a:ext>
            </a:extLst>
          </p:cNvPr>
          <p:cNvSpPr txBox="1">
            <a:spLocks/>
          </p:cNvSpPr>
          <p:nvPr/>
        </p:nvSpPr>
        <p:spPr>
          <a:xfrm>
            <a:off x="652072" y="1557403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5C2BE-F962-7400-5D4B-46A5F66D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4: Update the missing values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362B55-A6CD-CEC5-1CE2-BAE4107D009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E8DCA-ABAE-CB46-7257-BF368BA9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AEB743-953E-26FD-61EA-A0CB980632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D02FD3C6-C358-7F74-3C66-52E54B2962DA}"/>
              </a:ext>
            </a:extLst>
          </p:cNvPr>
          <p:cNvSpPr txBox="1">
            <a:spLocks/>
          </p:cNvSpPr>
          <p:nvPr/>
        </p:nvSpPr>
        <p:spPr>
          <a:xfrm>
            <a:off x="652072" y="1518292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Blocked Arteries:</a:t>
            </a:r>
          </a:p>
          <a:p>
            <a:pPr lvl="1" algn="just"/>
            <a:r>
              <a:rPr lang="en-US" sz="3100" dirty="0"/>
              <a:t>Yes </a:t>
            </a:r>
            <a:r>
              <a:rPr lang="en-US" sz="3100" dirty="0">
                <a:sym typeface="Wingdings" panose="05000000000000000000" pitchFamily="2" charset="2"/>
              </a:rPr>
              <a:t> 1/3, No  2/3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85428E-F033-C9A0-EE93-C045D0CB6287}"/>
              </a:ext>
            </a:extLst>
          </p:cNvPr>
          <p:cNvGraphicFramePr>
            <a:graphicFrameLocks noGrp="1"/>
          </p:cNvGraphicFramePr>
          <p:nvPr/>
        </p:nvGraphicFramePr>
        <p:xfrm>
          <a:off x="7495034" y="4299849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DECAC9B-976D-E7EC-4295-45D5DF9DCB3C}"/>
              </a:ext>
            </a:extLst>
          </p:cNvPr>
          <p:cNvSpPr/>
          <p:nvPr/>
        </p:nvSpPr>
        <p:spPr>
          <a:xfrm>
            <a:off x="7512770" y="5781239"/>
            <a:ext cx="3512832" cy="36414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8F40EEB-49F9-593C-09AA-66D13E80AD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0191" y="1543971"/>
          <a:ext cx="4858265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357657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35603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36414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35443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0E770D7-0071-CBD2-4275-AD1402283D84}"/>
              </a:ext>
            </a:extLst>
          </p:cNvPr>
          <p:cNvSpPr/>
          <p:nvPr/>
        </p:nvSpPr>
        <p:spPr>
          <a:xfrm>
            <a:off x="8779859" y="2453027"/>
            <a:ext cx="1100516" cy="1097490"/>
          </a:xfrm>
          <a:prstGeom prst="rect">
            <a:avLst/>
          </a:prstGeom>
          <a:solidFill>
            <a:srgbClr val="00B0F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328E5-60DB-1413-837C-59F51C1F5FFD}"/>
                  </a:ext>
                </a:extLst>
              </p:cNvPr>
              <p:cNvSpPr txBox="1"/>
              <p:nvPr/>
            </p:nvSpPr>
            <p:spPr>
              <a:xfrm>
                <a:off x="628157" y="3019346"/>
                <a:ext cx="6166753" cy="35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for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 “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Yes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”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Proximity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of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"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Yes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"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All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Proximities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0.1+0.1+0.8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=0.1</m:t>
                      </m:r>
                    </m:oMath>
                  </m:oMathPara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Weighted frequency for “Yes”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×0.1=0.03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for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“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No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”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Proximity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of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"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No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"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All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Proximities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+0.8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0.1+0.1+0.8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9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Weighted frequency for “No”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6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b="1" u="sng" dirty="0">
                    <a:sym typeface="Wingdings" panose="05000000000000000000" pitchFamily="2" charset="2"/>
                  </a:rPr>
                  <a:t>“No” wins</a:t>
                </a:r>
                <a:r>
                  <a:rPr lang="en-US" dirty="0">
                    <a:sym typeface="Wingdings" panose="05000000000000000000" pitchFamily="2" charset="2"/>
                  </a:rPr>
                  <a:t> since it has higher weighted frequency!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328E5-60DB-1413-837C-59F51C1F5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7" y="3019346"/>
                <a:ext cx="6166753" cy="3510000"/>
              </a:xfrm>
              <a:prstGeom prst="rect">
                <a:avLst/>
              </a:prstGeom>
              <a:blipFill>
                <a:blip r:embed="rId4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682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CB8C-30B9-590B-7DB4-A9B090DD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86343AF-065C-3354-BC46-42D07C0FAD9A}"/>
              </a:ext>
            </a:extLst>
          </p:cNvPr>
          <p:cNvSpPr txBox="1">
            <a:spLocks/>
          </p:cNvSpPr>
          <p:nvPr/>
        </p:nvSpPr>
        <p:spPr>
          <a:xfrm>
            <a:off x="652072" y="1557403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5F76D-A06F-6CFE-CA1A-3CA4D62B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4: Update the missing values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EC9A8C-8900-F6C2-F3F4-EC6C644ED14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19DA0-A5AD-292D-59DB-95954AFC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687C7-EC19-B381-A7A2-1B9188C203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10235134-4F1A-004A-AAB2-BBB4F3B23739}"/>
              </a:ext>
            </a:extLst>
          </p:cNvPr>
          <p:cNvSpPr txBox="1">
            <a:spLocks/>
          </p:cNvSpPr>
          <p:nvPr/>
        </p:nvSpPr>
        <p:spPr>
          <a:xfrm>
            <a:off x="652072" y="1518292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Weight: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FD055A-7855-8943-1956-43CD56164B7B}"/>
              </a:ext>
            </a:extLst>
          </p:cNvPr>
          <p:cNvGraphicFramePr>
            <a:graphicFrameLocks noGrp="1"/>
          </p:cNvGraphicFramePr>
          <p:nvPr/>
        </p:nvGraphicFramePr>
        <p:xfrm>
          <a:off x="7495034" y="4299849"/>
          <a:ext cx="351283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4872">
                  <a:extLst>
                    <a:ext uri="{9D8B030D-6E8A-4147-A177-3AD203B41FA5}">
                      <a16:colId xmlns:a16="http://schemas.microsoft.com/office/drawing/2014/main" val="49048878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94139861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689541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70912435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33113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6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175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DC942EF-8686-4286-CFD9-26C70E4025FE}"/>
              </a:ext>
            </a:extLst>
          </p:cNvPr>
          <p:cNvSpPr/>
          <p:nvPr/>
        </p:nvSpPr>
        <p:spPr>
          <a:xfrm>
            <a:off x="7512770" y="5781239"/>
            <a:ext cx="3512832" cy="36414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DFBF6F5-6F5D-36BF-8309-5994C66829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0191" y="1543971"/>
          <a:ext cx="4858265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357657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35603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36414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35443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C7E920A-E954-A5D6-73E3-0E80C1706986}"/>
              </a:ext>
            </a:extLst>
          </p:cNvPr>
          <p:cNvSpPr/>
          <p:nvPr/>
        </p:nvSpPr>
        <p:spPr>
          <a:xfrm>
            <a:off x="9864191" y="2453027"/>
            <a:ext cx="979132" cy="1097490"/>
          </a:xfrm>
          <a:prstGeom prst="rect">
            <a:avLst/>
          </a:prstGeom>
          <a:solidFill>
            <a:srgbClr val="00B0F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B26ED-E7C4-F90A-74DA-4ABA07F83C22}"/>
                  </a:ext>
                </a:extLst>
              </p:cNvPr>
              <p:cNvSpPr txBox="1"/>
              <p:nvPr/>
            </p:nvSpPr>
            <p:spPr>
              <a:xfrm>
                <a:off x="652071" y="2217106"/>
                <a:ext cx="6350383" cy="32370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Weighted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average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(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Sample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1)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0.1+0.1+0.8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=0.1</m:t>
                      </m:r>
                    </m:oMath>
                  </m:oMathPara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Weighted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average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(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Sample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2)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0.1+0.1+0.8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=0.1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algn="just"/>
                <a:endParaRPr lang="en-US" dirty="0">
                  <a:sym typeface="Wingdings" panose="05000000000000000000" pitchFamily="2" charset="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Weighted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average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(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Sample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 3)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0.1+0.1+0.8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8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algn="just"/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Weighted average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=125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×0.1+180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0.1+210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0.8=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𝟏𝟗𝟖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𝟓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B26ED-E7C4-F90A-74DA-4ABA07F83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71" y="2217106"/>
                <a:ext cx="6350383" cy="3237040"/>
              </a:xfrm>
              <a:prstGeom prst="rect">
                <a:avLst/>
              </a:prstGeom>
              <a:blipFill>
                <a:blip r:embed="rId4"/>
                <a:stretch>
                  <a:fillRect l="-2303" r="-1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52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2AC3-D519-233D-DDB8-20358BB1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F6705D5-A08E-DCB7-8713-EC92D45E2DEE}"/>
              </a:ext>
            </a:extLst>
          </p:cNvPr>
          <p:cNvSpPr txBox="1">
            <a:spLocks/>
          </p:cNvSpPr>
          <p:nvPr/>
        </p:nvSpPr>
        <p:spPr>
          <a:xfrm>
            <a:off x="652072" y="1557403"/>
            <a:ext cx="11040256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6D5EE-4C91-3E41-89A0-D7040586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4: Revised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736C52-73D7-97E9-5802-24A81F11360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DE8F9-2DD5-1DF4-DB47-85975C9B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75DB7-F726-CE78-5E51-EB2EE5006B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B8CAB5F-4E64-5BFD-1C14-6629B3FCE3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94959" y="1849512"/>
          <a:ext cx="4858265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357657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64533"/>
                  </a:ext>
                </a:extLst>
              </a:tr>
              <a:tr h="35603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4999"/>
                  </a:ext>
                </a:extLst>
              </a:tr>
              <a:tr h="36414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30619"/>
                  </a:ext>
                </a:extLst>
              </a:tr>
              <a:tr h="354431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223B79C-1212-3E8E-7067-C459476EF5D7}"/>
              </a:ext>
            </a:extLst>
          </p:cNvPr>
          <p:cNvSpPr txBox="1"/>
          <p:nvPr/>
        </p:nvSpPr>
        <p:spPr>
          <a:xfrm>
            <a:off x="757280" y="4825671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u="sng" dirty="0"/>
              <a:t>Step 5</a:t>
            </a:r>
            <a:r>
              <a:rPr lang="en-US" sz="3000" dirty="0"/>
              <a:t>: Repeat the same procedure (i.e., build a random tree with the revised dataset, recalculate the proximities and recalculate the missing values) until the missing values converge (i.e., no longer change each time recalculated)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E4488-9078-86CB-D2D8-67FA75398D58}"/>
              </a:ext>
            </a:extLst>
          </p:cNvPr>
          <p:cNvSpPr txBox="1"/>
          <p:nvPr/>
        </p:nvSpPr>
        <p:spPr>
          <a:xfrm>
            <a:off x="4052087" y="4228399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We have revised our guesses once.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71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89E2-F815-B339-E7B6-EE6F875D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052D-7DB3-12A8-0789-81CB4FA6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Missing Data in a New Sample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FBA6285-CF03-45F7-2CAC-6258119216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66867" y="3911109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043B7-D95A-0639-8375-265CB9A0BFA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FDFFB-E843-5896-90D0-B5A2F844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A7228-1685-76C3-C5A5-9FF0FB4A9F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3677CB86-225E-60EC-707E-8E359BD4456E}"/>
              </a:ext>
            </a:extLst>
          </p:cNvPr>
          <p:cNvSpPr txBox="1">
            <a:spLocks/>
          </p:cNvSpPr>
          <p:nvPr/>
        </p:nvSpPr>
        <p:spPr>
          <a:xfrm>
            <a:off x="652071" y="1720592"/>
            <a:ext cx="11040255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Suppose we already have built a Random Forest (10 decision trees in the forest) using the existing data</a:t>
            </a:r>
          </a:p>
          <a:p>
            <a:pPr algn="just"/>
            <a:r>
              <a:rPr lang="en-US" sz="3000" dirty="0"/>
              <a:t>Now we want to classify a new patient if he/she has heart disease or not:</a:t>
            </a:r>
          </a:p>
        </p:txBody>
      </p:sp>
    </p:spTree>
    <p:extLst>
      <p:ext uri="{BB962C8B-B14F-4D97-AF65-F5344CB8AC3E}">
        <p14:creationId xmlns:p14="http://schemas.microsoft.com/office/powerpoint/2010/main" val="3063268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76AE-8DB3-7A0B-6964-717C729F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047C-994B-F49D-14FD-39965A15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1: Create two copies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29EAC2F-A01F-DC43-E7E2-02F081E367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2850" y="2385050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81BD-D0F4-D8CA-A4D4-7DFD26CC155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4EAB6-4B78-38D7-83CA-33CB1D01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2066C-BD28-617D-BE97-31F37365CE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47877889-1814-9A20-72BB-E0464C19179D}"/>
              </a:ext>
            </a:extLst>
          </p:cNvPr>
          <p:cNvSpPr txBox="1">
            <a:spLocks/>
          </p:cNvSpPr>
          <p:nvPr/>
        </p:nvSpPr>
        <p:spPr>
          <a:xfrm>
            <a:off x="652071" y="1720592"/>
            <a:ext cx="11040255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Copy#1: Has heart disease</a:t>
            </a:r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algn="just"/>
            <a:r>
              <a:rPr lang="en-US" sz="3000" dirty="0"/>
              <a:t>Copy#2: Does not have heart disease </a:t>
            </a: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9471EF6A-1600-5A9C-A045-860595677E98}"/>
              </a:ext>
            </a:extLst>
          </p:cNvPr>
          <p:cNvGraphicFramePr>
            <a:graphicFrameLocks/>
          </p:cNvGraphicFramePr>
          <p:nvPr/>
        </p:nvGraphicFramePr>
        <p:xfrm>
          <a:off x="3042851" y="5064406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05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002E-0AF9-DB7D-542F-8243D46E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BDA167F-1672-A5BB-5376-67DDFE41D8DE}"/>
              </a:ext>
            </a:extLst>
          </p:cNvPr>
          <p:cNvSpPr txBox="1">
            <a:spLocks/>
          </p:cNvSpPr>
          <p:nvPr/>
        </p:nvSpPr>
        <p:spPr>
          <a:xfrm>
            <a:off x="652071" y="1720592"/>
            <a:ext cx="11040255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Update the missing value iteratively (as discussed in previous slides 4-15) using Copy#1:</a:t>
            </a:r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algn="just"/>
            <a:r>
              <a:rPr lang="en-US" sz="3000" dirty="0"/>
              <a:t>Update the missing value iteratively (as discussed in previous slides 4-15) using Copy#2: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B17F5-6BC2-CF60-1373-C48583B5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2: Update the missing values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7C96C75-F877-7710-0773-C93CF25455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63629" y="2453026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57AEE6-FFB3-7FE3-B8FC-B0D8B38AA2F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9F153-30D6-366F-E83B-C7398569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AABB7-1727-573D-9253-AE158EE0CB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1FD14151-5330-A39B-0C82-AA043703CCC1}"/>
              </a:ext>
            </a:extLst>
          </p:cNvPr>
          <p:cNvGraphicFramePr>
            <a:graphicFrameLocks/>
          </p:cNvGraphicFramePr>
          <p:nvPr/>
        </p:nvGraphicFramePr>
        <p:xfrm>
          <a:off x="5563629" y="5001096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90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D014-BF41-AE5B-A9C9-838FB5E3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193E9C39-E428-E5D1-4209-482028B2009C}"/>
              </a:ext>
            </a:extLst>
          </p:cNvPr>
          <p:cNvSpPr txBox="1">
            <a:spLocks/>
          </p:cNvSpPr>
          <p:nvPr/>
        </p:nvSpPr>
        <p:spPr>
          <a:xfrm>
            <a:off x="652071" y="1720592"/>
            <a:ext cx="11040255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After running updated Copy#1, suppose it was correctly labeled in 7 out of 10 trees</a:t>
            </a:r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algn="just"/>
            <a:r>
              <a:rPr lang="en-US" sz="3000" dirty="0"/>
              <a:t>After running updated Copy#2, suppose it was correctly labeled in 3 out of 10 trees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D2C89-C938-1D7A-9707-4796D562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600" b="1" dirty="0"/>
              <a:t>Step 3: Run both the options through all the trees in the Random Forest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B26DFB-4FC7-62F5-652A-68F81B5195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63629" y="2453026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910EC4-7974-D818-5EA5-E4B5B3FBF22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48155-B267-8643-7A81-10E6748E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DEDFB1-77BC-ADB3-3DC6-A3B198513C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EEF6987C-DE21-2B66-03BC-3BD8524776B9}"/>
              </a:ext>
            </a:extLst>
          </p:cNvPr>
          <p:cNvGraphicFramePr>
            <a:graphicFrameLocks/>
          </p:cNvGraphicFramePr>
          <p:nvPr/>
        </p:nvGraphicFramePr>
        <p:xfrm>
          <a:off x="5563629" y="5001096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341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343F-E599-1AA0-8D71-CA19BF03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60341E4F-FA00-36D5-FB99-7B491E8A3C93}"/>
              </a:ext>
            </a:extLst>
          </p:cNvPr>
          <p:cNvSpPr txBox="1">
            <a:spLocks/>
          </p:cNvSpPr>
          <p:nvPr/>
        </p:nvSpPr>
        <p:spPr>
          <a:xfrm>
            <a:off x="652071" y="1720592"/>
            <a:ext cx="11040255" cy="463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dirty="0"/>
              <a:t>Since the updated Copy#1 was correctly labeled in 7 out of 10 trees, this option wins</a:t>
            </a:r>
          </a:p>
          <a:p>
            <a:pPr algn="just"/>
            <a:r>
              <a:rPr lang="en-US" sz="3000" dirty="0"/>
              <a:t>We have now not only filled the missing data from the input sample, but we also have classified the sample</a:t>
            </a:r>
          </a:p>
          <a:p>
            <a:pPr marL="0" indent="0" algn="just">
              <a:buNone/>
            </a:pPr>
            <a:endParaRPr lang="en-US" sz="3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A2D4D-ED38-2194-8D29-31A85391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4: Vote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8257A75-B47C-4279-6C37-386299D422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49477" y="4139723"/>
          <a:ext cx="4858265" cy="15378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7627">
                  <a:extLst>
                    <a:ext uri="{9D8B030D-6E8A-4147-A177-3AD203B41FA5}">
                      <a16:colId xmlns:a16="http://schemas.microsoft.com/office/drawing/2014/main" val="3468597409"/>
                    </a:ext>
                  </a:extLst>
                </a:gridCol>
                <a:gridCol w="887627">
                  <a:extLst>
                    <a:ext uri="{9D8B030D-6E8A-4147-A177-3AD203B41FA5}">
                      <a16:colId xmlns:a16="http://schemas.microsoft.com/office/drawing/2014/main" val="3935002003"/>
                    </a:ext>
                  </a:extLst>
                </a:gridCol>
                <a:gridCol w="1086585">
                  <a:extLst>
                    <a:ext uri="{9D8B030D-6E8A-4147-A177-3AD203B41FA5}">
                      <a16:colId xmlns:a16="http://schemas.microsoft.com/office/drawing/2014/main" val="1852655347"/>
                    </a:ext>
                  </a:extLst>
                </a:gridCol>
                <a:gridCol w="953254">
                  <a:extLst>
                    <a:ext uri="{9D8B030D-6E8A-4147-A177-3AD203B41FA5}">
                      <a16:colId xmlns:a16="http://schemas.microsoft.com/office/drawing/2014/main" val="335539652"/>
                    </a:ext>
                  </a:extLst>
                </a:gridCol>
                <a:gridCol w="1043172">
                  <a:extLst>
                    <a:ext uri="{9D8B030D-6E8A-4147-A177-3AD203B41FA5}">
                      <a16:colId xmlns:a16="http://schemas.microsoft.com/office/drawing/2014/main" val="3567187897"/>
                    </a:ext>
                  </a:extLst>
                </a:gridCol>
              </a:tblGrid>
              <a:tr h="623416">
                <a:tc>
                  <a:txBody>
                    <a:bodyPr/>
                    <a:lstStyle/>
                    <a:p>
                      <a:r>
                        <a:rPr lang="en-US" dirty="0" err="1"/>
                        <a:t>ChestPain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Blood Circ.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Arteries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Heart Disease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02570"/>
                  </a:ext>
                </a:extLst>
              </a:tr>
              <a:tr h="623416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07005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8012A6-AA4D-5F99-BE39-9FA4FE2E108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57621-1EE7-DDD7-B376-48A54290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D9753-33B3-8EB1-29AE-A695AFC756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7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16112</TotalTime>
  <Words>2409</Words>
  <Application>Microsoft Office PowerPoint</Application>
  <PresentationFormat>Widescreen</PresentationFormat>
  <Paragraphs>870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Office Theme</vt:lpstr>
      <vt:lpstr>Lecture 11: Random Forest</vt:lpstr>
      <vt:lpstr>Introduction</vt:lpstr>
      <vt:lpstr>Why random tree instead of a single decision  tree?</vt:lpstr>
      <vt:lpstr>Limitations of Random Forest</vt:lpstr>
      <vt:lpstr>Ensembling</vt:lpstr>
      <vt:lpstr>How Random Forest Works?</vt:lpstr>
      <vt:lpstr>Example: Heart Disease</vt:lpstr>
      <vt:lpstr>Step 1: Bootstrapped Dataset</vt:lpstr>
      <vt:lpstr>Step 2: Decision Tree</vt:lpstr>
      <vt:lpstr>Step 2: Decision Tree (contd.)</vt:lpstr>
      <vt:lpstr>Step 3: Repeat Step 1 and Step 2</vt:lpstr>
      <vt:lpstr>Making Prediction</vt:lpstr>
      <vt:lpstr>Out-Of-Bag Dataset</vt:lpstr>
      <vt:lpstr>Out-Of-Bag Dataset (contd.)</vt:lpstr>
      <vt:lpstr>Finding the “best” model</vt:lpstr>
      <vt:lpstr>Missing Data: Types</vt:lpstr>
      <vt:lpstr>Imputation using Random Forest</vt:lpstr>
      <vt:lpstr>Example: Heart Disease</vt:lpstr>
      <vt:lpstr>Missing Data to create a Random Forest</vt:lpstr>
      <vt:lpstr>Initial Guess</vt:lpstr>
      <vt:lpstr>Refining the Guesses</vt:lpstr>
      <vt:lpstr>Refining the Guesses (contd.)</vt:lpstr>
      <vt:lpstr>Proximity Matrix</vt:lpstr>
      <vt:lpstr>Running through Tree 2…</vt:lpstr>
      <vt:lpstr>Update Proximity Matrix</vt:lpstr>
      <vt:lpstr>After running through 10 trees…</vt:lpstr>
      <vt:lpstr>Step 4: Update the missing values</vt:lpstr>
      <vt:lpstr>Step 4: Update the missing values</vt:lpstr>
      <vt:lpstr>Step 4: Revised Table</vt:lpstr>
      <vt:lpstr>Missing Data in a New Sample</vt:lpstr>
      <vt:lpstr>Step 1: Create two copies </vt:lpstr>
      <vt:lpstr>Step 2: Update the missing values</vt:lpstr>
      <vt:lpstr>Step 3: Run both the options through all the trees in the Random Forest</vt:lpstr>
      <vt:lpstr>Step 4: Vote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Random Forest (Part I)</dc:title>
  <dc:creator>Jilan Samiuddin</dc:creator>
  <cp:lastModifiedBy>Jilan Samiuddin</cp:lastModifiedBy>
  <cp:revision>197</cp:revision>
  <dcterms:created xsi:type="dcterms:W3CDTF">2025-05-01T04:50:36Z</dcterms:created>
  <dcterms:modified xsi:type="dcterms:W3CDTF">2026-04-01T03:41:18Z</dcterms:modified>
</cp:coreProperties>
</file>