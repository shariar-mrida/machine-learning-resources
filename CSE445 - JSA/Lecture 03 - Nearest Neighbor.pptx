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74" r:id="rId9"/>
    <p:sldId id="275" r:id="rId10"/>
    <p:sldId id="277" r:id="rId11"/>
    <p:sldId id="278" r:id="rId12"/>
    <p:sldId id="279" r:id="rId13"/>
    <p:sldId id="280" r:id="rId14"/>
    <p:sldId id="261" r:id="rId15"/>
    <p:sldId id="264" r:id="rId16"/>
    <p:sldId id="276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0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70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4.png"/><Relationship Id="rId4" Type="http://schemas.openxmlformats.org/officeDocument/2006/relationships/image" Target="../media/image2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br>
              <a:rPr lang="en-US" sz="5200" b="1" dirty="0"/>
            </a:br>
            <a:r>
              <a:rPr lang="en-US" sz="5200" b="1" dirty="0"/>
              <a:t>Lecture 3: Nearest Neighbor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Jilan Samiuddin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F7D2-52DD-129E-DA62-E86E6903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Nearest Neighbor Algorithm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6A8FFCC-CB1A-7AFD-1E29-764FC879F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52390" cy="1603375"/>
              </a:xfrm>
            </p:spPr>
            <p:txBody>
              <a:bodyPr/>
              <a:lstStyle/>
              <a:p>
                <a:r>
                  <a:rPr lang="en-US" dirty="0"/>
                  <a:t>Two classes (red and blue) defined by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Query: Does the yellow datapoint belong to the red class or the blue class?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6A8FFCC-CB1A-7AFD-1E29-764FC879F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52390" cy="1603375"/>
              </a:xfrm>
              <a:blipFill>
                <a:blip r:embed="rId2"/>
                <a:stretch>
                  <a:fillRect l="-1040" t="-6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3A0A4015-0796-CE88-4DD2-93813B0A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73" y="3644901"/>
            <a:ext cx="2836514" cy="3098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67F869-CD25-6866-B662-0DBD33D50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249" y="3682890"/>
            <a:ext cx="2777420" cy="3022239"/>
          </a:xfrm>
          <a:prstGeom prst="rect">
            <a:avLst/>
          </a:prstGeom>
        </p:spPr>
      </p:pic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84AD87C5-355B-5A7A-A7D8-A680F7F4CA9F}"/>
              </a:ext>
            </a:extLst>
          </p:cNvPr>
          <p:cNvSpPr txBox="1">
            <a:spLocks/>
          </p:cNvSpPr>
          <p:nvPr/>
        </p:nvSpPr>
        <p:spPr>
          <a:xfrm>
            <a:off x="801410" y="3286567"/>
            <a:ext cx="9564418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Answer is </a:t>
            </a:r>
            <a:r>
              <a:rPr lang="en-US" b="1" u="sng" dirty="0"/>
              <a:t>blue</a:t>
            </a:r>
            <a:r>
              <a:rPr lang="en-US" dirty="0"/>
              <a:t> because the nearby points are blue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9A77C0-7299-E288-8330-26271E0F6E1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79C25-5251-03F7-1CF7-B17B7E87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CCFC7-D2D0-E752-7425-7AF4E2E2CB6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9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03C3-189C-9E51-5C0B-7919B2D40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48BF3-2D5C-AFE4-EE32-6971F2A3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>
                <a:effectLst/>
              </a:rPr>
              <a:t>Voronoi Tessellation and Decision Boundary</a:t>
            </a:r>
            <a:endParaRPr lang="en-US" sz="40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F44441-326D-C734-F6BA-634093B36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0807" cy="4488465"/>
          </a:xfrm>
        </p:spPr>
        <p:txBody>
          <a:bodyPr>
            <a:noAutofit/>
          </a:bodyPr>
          <a:lstStyle/>
          <a:p>
            <a:r>
              <a:rPr lang="en-US" dirty="0"/>
              <a:t>Voronoi </a:t>
            </a:r>
            <a:r>
              <a:rPr lang="en-US" dirty="0" err="1"/>
              <a:t>Tesselation</a:t>
            </a:r>
            <a:endParaRPr lang="en-US" dirty="0"/>
          </a:p>
          <a:p>
            <a:pPr lvl="1"/>
            <a:r>
              <a:rPr lang="en-US" sz="2800" dirty="0"/>
              <a:t>Partitions space into regions</a:t>
            </a:r>
          </a:p>
          <a:p>
            <a:pPr lvl="1"/>
            <a:r>
              <a:rPr lang="en-US" sz="2800" dirty="0"/>
              <a:t>Points on the boundary are at same distance from two different training examples</a:t>
            </a:r>
          </a:p>
          <a:p>
            <a:r>
              <a:rPr lang="en-US" dirty="0"/>
              <a:t>Decision Boundary</a:t>
            </a:r>
          </a:p>
          <a:p>
            <a:pPr lvl="1"/>
            <a:r>
              <a:rPr lang="en-US" sz="2800" dirty="0"/>
              <a:t>Nonlinear</a:t>
            </a:r>
          </a:p>
          <a:p>
            <a:pPr lvl="1"/>
            <a:r>
              <a:rPr lang="en-US" sz="2800" dirty="0"/>
              <a:t>Classifies the two classes well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4CB42-8B5A-F25E-0F47-EA25F3E97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481" y="1611858"/>
            <a:ext cx="6198476" cy="495878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431545-7705-CFE0-AD3D-4356FCF7B7E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83F5E-BF8C-D27F-574B-69CC812B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7C4DEB-E9D4-16D7-69B9-C6796F79B2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1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E175-1306-03F7-CCF0-203EF06C9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150743-24C1-26D1-0ECC-62F4012CFEB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660D96D-8C80-6516-A16B-5948F424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>
                <a:effectLst/>
              </a:rPr>
              <a:t>Outliers</a:t>
            </a:r>
            <a:endParaRPr lang="en-US" sz="40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972708-43B6-4CCC-CA56-AA9BC3767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0807" cy="4488465"/>
          </a:xfrm>
        </p:spPr>
        <p:txBody>
          <a:bodyPr>
            <a:noAutofit/>
          </a:bodyPr>
          <a:lstStyle/>
          <a:p>
            <a:r>
              <a:rPr lang="en-US" dirty="0"/>
              <a:t>Algorithm is sensitive to outliers</a:t>
            </a:r>
          </a:p>
          <a:p>
            <a:r>
              <a:rPr lang="en-US" i="0" dirty="0">
                <a:solidFill>
                  <a:srgbClr val="404040"/>
                </a:solidFill>
                <a:effectLst/>
                <a:latin typeface="DeepSeek-CJK-patch"/>
              </a:rPr>
              <a:t>Distorted decision </a:t>
            </a:r>
            <a:r>
              <a:rPr lang="en-US" dirty="0">
                <a:solidFill>
                  <a:srgbClr val="404040"/>
                </a:solidFill>
                <a:latin typeface="DeepSeek-CJK-patch"/>
              </a:rPr>
              <a:t>b</a:t>
            </a:r>
            <a:r>
              <a:rPr lang="en-US" i="0" dirty="0">
                <a:solidFill>
                  <a:srgbClr val="404040"/>
                </a:solidFill>
                <a:effectLst/>
                <a:latin typeface="DeepSeek-CJK-patch"/>
              </a:rPr>
              <a:t>oundaries</a:t>
            </a:r>
            <a:endParaRPr lang="en-US" dirty="0"/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Points near the outlier might be misclassified</a:t>
            </a:r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A single wrongly labeled or extreme data point can affect predictions for many test cases</a:t>
            </a:r>
          </a:p>
          <a:p>
            <a:r>
              <a:rPr lang="en-US" b="1" dirty="0">
                <a:solidFill>
                  <a:srgbClr val="404040"/>
                </a:solidFill>
                <a:latin typeface="DeepSeek-CJK-patch"/>
              </a:rPr>
              <a:t>Idea</a:t>
            </a:r>
            <a:r>
              <a:rPr lang="en-US" dirty="0">
                <a:solidFill>
                  <a:srgbClr val="404040"/>
                </a:solidFill>
                <a:latin typeface="DeepSeek-CJK-patch"/>
              </a:rPr>
              <a:t>:</a:t>
            </a:r>
          </a:p>
          <a:p>
            <a:pPr lvl="1"/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Use more than one nearest neighbor to make decision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F6595-7D20-9161-929D-D50F73689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4" y="843455"/>
            <a:ext cx="5969644" cy="53602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D2F4A-10FB-6261-CD9A-B1AA4729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730739-00FA-351D-D6D3-C5F815BA220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76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68B5-B31D-6E5B-7FEC-B501B43DE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B8DF49-D215-CC57-29F4-1571DD6D46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b="1" i="0" dirty="0">
                    <a:solidFill>
                      <a:srgbClr val="000000"/>
                    </a:solidFill>
                    <a:effectLst/>
                  </a:rPr>
                  <a:t>-Nearest Neighbors Algorithm (</a:t>
                </a:r>
                <a:r>
                  <a:rPr lang="en-US" b="1" dirty="0">
                    <a:solidFill>
                      <a:srgbClr val="000000"/>
                    </a:solidFill>
                  </a:rPr>
                  <a:t>K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</a:rPr>
                  <a:t>NN)</a:t>
                </a:r>
                <a:endParaRPr lang="en-US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B8DF49-D215-CC57-29F4-1571DD6D4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D5CF57B-DF26-AEDD-4981-DC41D472D6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</p:spPr>
            <p:txBody>
              <a:bodyPr>
                <a:no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A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supervised machine learning algorithm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T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o classify data points although it can perform regression as well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in KNN is the number of neighborhood points to a query point</a:t>
                </a:r>
              </a:p>
              <a:p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The class label will be assigned based on the majority class label out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neighborhood points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D5CF57B-DF26-AEDD-4981-DC41D472D6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  <a:blipFill>
                <a:blip r:embed="rId4"/>
                <a:stretch>
                  <a:fillRect l="-1000" t="-2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265E53B-5F14-6224-1167-8760FD12096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1B336-D719-D341-FD61-35B4F21C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274E99-63A3-4C2C-B1B6-3F55CC1E6C9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85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74EA-BF3E-DF80-B4F2-129FF5DC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DB86-8DD6-951F-8D26-E7D0F596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 using KNN – Steps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520E77C-5519-CBD9-B761-898D9DA717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Given testing point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, 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we want to predict its class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(e.g., digits, profession, etc.)</a:t>
                </a:r>
                <a:endParaRPr lang="en-US" b="1" u="sng" dirty="0">
                  <a:solidFill>
                    <a:srgbClr val="000000"/>
                  </a:solidFill>
                  <a:latin typeface="Roboto" panose="02000000000000000000" pitchFamily="2" charset="0"/>
                </a:endParaRPr>
              </a:p>
              <a:p>
                <a:pPr algn="just"/>
                <a:r>
                  <a:rPr lang="en-US" b="1" u="sng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Step 1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: </a:t>
                </a:r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Decide a value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>
                  <a:solidFill>
                    <a:srgbClr val="000000"/>
                  </a:solidFill>
                  <a:latin typeface="Roboto" panose="02000000000000000000" pitchFamily="2" charset="0"/>
                </a:endParaRPr>
              </a:p>
              <a:p>
                <a:pPr algn="just"/>
                <a:r>
                  <a:rPr lang="en-US" b="1" u="sng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Step 2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: </a:t>
                </a:r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Given 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training exa</a:t>
                </a:r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mples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, where,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sym typeface="Wingdings" panose="05000000000000000000" pitchFamily="2" charset="2"/>
                  </a:rPr>
                  <a:t> attribute/feature value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sym typeface="Wingdings" panose="05000000000000000000" pitchFamily="2" charset="2"/>
                  </a:rPr>
                  <a:t> class,</a:t>
                </a:r>
              </a:p>
              <a:p>
                <a:pPr lvl="1" algn="just"/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Compute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to every training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.</a:t>
                </a:r>
              </a:p>
              <a:p>
                <a:pPr algn="just"/>
                <a:r>
                  <a:rPr lang="en-US" b="1" u="sng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Step 3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: 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Select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closest instances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and their labels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endParaRPr lang="en-US" i="0" dirty="0">
                  <a:solidFill>
                    <a:srgbClr val="000000"/>
                  </a:solidFill>
                  <a:effectLst/>
                  <a:latin typeface="Roboto" panose="02000000000000000000" pitchFamily="2" charset="0"/>
                </a:endParaRPr>
              </a:p>
              <a:p>
                <a:pPr algn="just"/>
                <a:r>
                  <a:rPr lang="en-US" b="1" u="sng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Step 5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: </a:t>
                </a:r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Output the class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	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which is most frequent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endParaRPr lang="en-US" i="0" dirty="0">
                  <a:solidFill>
                    <a:srgbClr val="000000"/>
                  </a:solidFill>
                  <a:effectLst/>
                  <a:latin typeface="Roboto" panose="02000000000000000000" pitchFamily="2" charset="0"/>
                </a:endParaRPr>
              </a:p>
              <a:p>
                <a:pPr lvl="1" algn="just"/>
                <a:endParaRPr lang="en-US" b="1" i="0" dirty="0">
                  <a:solidFill>
                    <a:srgbClr val="000000"/>
                  </a:solidFill>
                  <a:effectLst/>
                  <a:latin typeface="Roboto" panose="02000000000000000000" pitchFamily="2" charset="0"/>
                </a:endParaRP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520E77C-5519-CBD9-B761-898D9DA717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  <a:blipFill>
                <a:blip r:embed="rId3"/>
                <a:stretch>
                  <a:fillRect l="-1000" t="-2307" r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DD054F-452C-FEED-A285-90782D06968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F3391-8159-E3F2-CA50-708E603D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0B955-A6B8-6262-530C-6F6063F44E4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0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5B53-B336-BE23-010C-FFC60628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55D0-71CA-3CB6-1372-79B28E28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05"/>
            <a:ext cx="10515600" cy="1325563"/>
          </a:xfrm>
        </p:spPr>
        <p:txBody>
          <a:bodyPr/>
          <a:lstStyle/>
          <a:p>
            <a:r>
              <a:rPr lang="en-US" b="1" dirty="0"/>
              <a:t>Example: Handwritten Digits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A932AB3-AED7-D8CF-37A7-F890E41D8A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535732" cy="448846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Dataset: MNIST Dataset</a:t>
                </a:r>
              </a:p>
              <a:p>
                <a:pPr algn="just"/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Euclidean distance over raw pixels</a:t>
                </a:r>
              </a:p>
              <a:p>
                <a:pPr algn="just"/>
                <a:endParaRPr lang="en-US" dirty="0">
                  <a:solidFill>
                    <a:srgbClr val="000000"/>
                  </a:solidFill>
                  <a:latin typeface="Roboto" panose="02000000000000000000" pitchFamily="2" charset="0"/>
                </a:endParaRP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  <m: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  <m: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rad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Roboto" panose="02000000000000000000" pitchFamily="2" charset="0"/>
                </a:endParaRPr>
              </a:p>
              <a:p>
                <a:pPr algn="just"/>
                <a:r>
                  <a:rPr lang="en-US" dirty="0"/>
                  <a:t>For 28x28 MNIST images </a:t>
                </a:r>
                <a:r>
                  <a:rPr lang="en-US" b="0" i="0" dirty="0">
                    <a:solidFill>
                      <a:srgbClr val="404040"/>
                    </a:solidFill>
                    <a:effectLst/>
                    <a:latin typeface="DeepSeek-CJK-patch"/>
                  </a:rPr>
                  <a:t>(flattened to 784 pixels):</a:t>
                </a:r>
              </a:p>
              <a:p>
                <a:pPr lvl="1" algn="just"/>
                <a:r>
                  <a:rPr lang="en-US" dirty="0">
                    <a:solidFill>
                      <a:srgbClr val="404040"/>
                    </a:solidFill>
                    <a:latin typeface="DeepSeek-CJK-patch"/>
                  </a:rPr>
                  <a:t>Training pixel values: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784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 algn="just"/>
                <a:r>
                  <a:rPr lang="en-US" dirty="0">
                    <a:solidFill>
                      <a:srgbClr val="404040"/>
                    </a:solidFill>
                    <a:latin typeface="DeepSeek-CJK-patch"/>
                  </a:rPr>
                  <a:t>Target pixel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784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784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784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Accuracy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dirty="0"/>
                  <a:t>: ~94.3%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A932AB3-AED7-D8CF-37A7-F890E41D8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535732" cy="4488465"/>
              </a:xfrm>
              <a:blipFill>
                <a:blip r:embed="rId2"/>
                <a:stretch>
                  <a:fillRect l="-1151" t="-2307" b="-6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DD2C396-55E6-4BA8-AF67-9E369A7A381F}"/>
              </a:ext>
            </a:extLst>
          </p:cNvPr>
          <p:cNvGrpSpPr/>
          <p:nvPr/>
        </p:nvGrpSpPr>
        <p:grpSpPr>
          <a:xfrm>
            <a:off x="7016087" y="1285003"/>
            <a:ext cx="3190420" cy="1738312"/>
            <a:chOff x="5586532" y="1690688"/>
            <a:chExt cx="2076557" cy="11919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667ACC1-821B-1F98-769F-50299C12A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6532" y="1942822"/>
              <a:ext cx="2076557" cy="93984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7E62C3-9012-D594-515B-1DE6BB55B246}"/>
                </a:ext>
              </a:extLst>
            </p:cNvPr>
            <p:cNvSpPr/>
            <p:nvPr/>
          </p:nvSpPr>
          <p:spPr>
            <a:xfrm>
              <a:off x="5641631" y="2793658"/>
              <a:ext cx="71562" cy="75537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FB541F-5F70-8311-D44E-8C1CB326060A}"/>
                </a:ext>
              </a:extLst>
            </p:cNvPr>
            <p:cNvSpPr/>
            <p:nvPr/>
          </p:nvSpPr>
          <p:spPr>
            <a:xfrm>
              <a:off x="6740456" y="2802491"/>
              <a:ext cx="71562" cy="75537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0FA3B3-F9B1-36D4-5C96-A6E21124A7B6}"/>
                </a:ext>
              </a:extLst>
            </p:cNvPr>
            <p:cNvSpPr txBox="1"/>
            <p:nvPr/>
          </p:nvSpPr>
          <p:spPr>
            <a:xfrm>
              <a:off x="5916162" y="1690688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123BFF-1223-9979-9728-1F5E7B58263D}"/>
                </a:ext>
              </a:extLst>
            </p:cNvPr>
            <p:cNvSpPr txBox="1"/>
            <p:nvPr/>
          </p:nvSpPr>
          <p:spPr>
            <a:xfrm>
              <a:off x="7018743" y="1690688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9E5E440-522D-C9AC-6629-B3741BB8959D}"/>
              </a:ext>
            </a:extLst>
          </p:cNvPr>
          <p:cNvSpPr/>
          <p:nvPr/>
        </p:nvSpPr>
        <p:spPr>
          <a:xfrm>
            <a:off x="5823571" y="3441878"/>
            <a:ext cx="570776" cy="576330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225513-BAD4-0309-D3F9-F65F3D64F9DE}"/>
              </a:ext>
            </a:extLst>
          </p:cNvPr>
          <p:cNvSpPr/>
          <p:nvPr/>
        </p:nvSpPr>
        <p:spPr>
          <a:xfrm>
            <a:off x="6705961" y="3441878"/>
            <a:ext cx="570776" cy="576330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35EF5F-B269-A7DC-E251-ADC8092CB299}"/>
              </a:ext>
            </a:extLst>
          </p:cNvPr>
          <p:cNvCxnSpPr>
            <a:cxnSpLocks/>
          </p:cNvCxnSpPr>
          <p:nvPr/>
        </p:nvCxnSpPr>
        <p:spPr>
          <a:xfrm flipH="1">
            <a:off x="6181859" y="2952506"/>
            <a:ext cx="892179" cy="463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5B06D3-B7BE-4AE5-4F13-A1DD917A47D6}"/>
              </a:ext>
            </a:extLst>
          </p:cNvPr>
          <p:cNvCxnSpPr>
            <a:cxnSpLocks/>
          </p:cNvCxnSpPr>
          <p:nvPr/>
        </p:nvCxnSpPr>
        <p:spPr>
          <a:xfrm flipH="1">
            <a:off x="7276737" y="2978262"/>
            <a:ext cx="1512238" cy="450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1F04DFC-6BF2-12C9-FD31-F10CB41CDEEB}"/>
              </a:ext>
            </a:extLst>
          </p:cNvPr>
          <p:cNvGrpSpPr/>
          <p:nvPr/>
        </p:nvGrpSpPr>
        <p:grpSpPr>
          <a:xfrm>
            <a:off x="8898923" y="3615184"/>
            <a:ext cx="3037618" cy="2583802"/>
            <a:chOff x="8898923" y="3615184"/>
            <a:chExt cx="3037618" cy="25838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0D36F7-2A2B-3F75-0260-B9D8EAEC9B4F}"/>
                    </a:ext>
                  </a:extLst>
                </p:cNvPr>
                <p:cNvSpPr txBox="1"/>
                <p:nvPr/>
              </p:nvSpPr>
              <p:spPr>
                <a:xfrm>
                  <a:off x="10121617" y="3615184"/>
                  <a:ext cx="1258101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3000" i="1" dirty="0" smtClean="0">
                            <a:latin typeface="Cambria Math" panose="02040503050406030204" pitchFamily="18" charset="0"/>
                          </a:rPr>
                          <m:t>=7</m:t>
                        </m:r>
                      </m:oMath>
                    </m:oMathPara>
                  </a14:m>
                  <a:endParaRPr lang="en-US" sz="3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C0D36F7-2A2B-3F75-0260-B9D8EAEC9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1617" y="3615184"/>
                  <a:ext cx="1258101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FBF8-8C7C-5018-C7F2-6925DAB03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8923" y="4104077"/>
              <a:ext cx="3037618" cy="2094909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C13894-58EC-EBD6-E1B5-4600F0EBAB7D}"/>
              </a:ext>
            </a:extLst>
          </p:cNvPr>
          <p:cNvCxnSpPr/>
          <p:nvPr/>
        </p:nvCxnSpPr>
        <p:spPr>
          <a:xfrm>
            <a:off x="652072" y="113925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DD28083-0DAA-94B6-A157-83658630E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3A3BA27-B8E3-5E6C-66FA-670FFAABA51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0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2E7A3-44DC-DA2A-6741-B401B5F7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48431-6B65-6C66-5D3B-2C1EC9364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05"/>
            <a:ext cx="10515600" cy="1325563"/>
          </a:xfrm>
        </p:spPr>
        <p:txBody>
          <a:bodyPr/>
          <a:lstStyle/>
          <a:p>
            <a:r>
              <a:rPr lang="en-US" b="1" dirty="0"/>
              <a:t>Example: Mathematical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413E431-04C2-BE5E-7710-6FDFE6DC2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35732" cy="4488465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Suppose, we take two pixels from the 28x28 grid: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0F8AB3-EFA2-E4BE-13CE-DA35F5CEBEDB}"/>
              </a:ext>
            </a:extLst>
          </p:cNvPr>
          <p:cNvCxnSpPr/>
          <p:nvPr/>
        </p:nvCxnSpPr>
        <p:spPr>
          <a:xfrm>
            <a:off x="652072" y="113925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4EF0287-15AB-B361-9CA1-0675D83C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3506D3-AF66-CBE4-68CD-B3243D74E7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6F9D9F-2BB9-E38E-309B-6B81BD9E1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473" y="2379317"/>
            <a:ext cx="5054860" cy="1778091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FA4781C-33A7-FA7E-DA81-554E4A20092A}"/>
              </a:ext>
            </a:extLst>
          </p:cNvPr>
          <p:cNvGrpSpPr/>
          <p:nvPr/>
        </p:nvGrpSpPr>
        <p:grpSpPr>
          <a:xfrm>
            <a:off x="1862201" y="4484895"/>
            <a:ext cx="6871191" cy="323165"/>
            <a:chOff x="2387363" y="4484895"/>
            <a:chExt cx="6871191" cy="32316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A6937C9-A480-9A5D-AB1B-94A97F82D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98667" y="4484895"/>
              <a:ext cx="6559887" cy="27306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67B711F-C42B-B415-1AD7-7A809AA07DE2}"/>
                </a:ext>
              </a:extLst>
            </p:cNvPr>
            <p:cNvSpPr txBox="1"/>
            <p:nvPr/>
          </p:nvSpPr>
          <p:spPr>
            <a:xfrm>
              <a:off x="2387363" y="4484895"/>
              <a:ext cx="31130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ambria" panose="02040503050406030204" pitchFamily="18" charset="0"/>
                  <a:ea typeface="Cambria" panose="02040503050406030204" pitchFamily="18" charset="0"/>
                </a:rPr>
                <a:t>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6D397DA-DCA4-A2D5-62D2-D7ED040823A7}"/>
                  </a:ext>
                </a:extLst>
              </p:cNvPr>
              <p:cNvSpPr txBox="1"/>
              <p:nvPr/>
            </p:nvSpPr>
            <p:spPr>
              <a:xfrm>
                <a:off x="1037967" y="5166692"/>
                <a:ext cx="9595022" cy="1535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 practice, KNN uses all 28x28=784 pixels for each training data.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784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784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Also,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calculated against all the training images. So, if there are, e.g., 100 training images, D will be calculated 100 times.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6D397DA-DCA4-A2D5-62D2-D7ED04082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67" y="5166692"/>
                <a:ext cx="9595022" cy="1535741"/>
              </a:xfrm>
              <a:prstGeom prst="rect">
                <a:avLst/>
              </a:prstGeom>
              <a:blipFill>
                <a:blip r:embed="rId5"/>
                <a:stretch>
                  <a:fillRect l="-381" t="-1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985AA97-264D-CDCD-2BDD-85DFF2EE50CA}"/>
              </a:ext>
            </a:extLst>
          </p:cNvPr>
          <p:cNvSpPr txBox="1"/>
          <p:nvPr/>
        </p:nvSpPr>
        <p:spPr>
          <a:xfrm>
            <a:off x="8308333" y="3347541"/>
            <a:ext cx="36644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u="sng" dirty="0">
                <a:solidFill>
                  <a:srgbClr val="FF0000"/>
                </a:solidFill>
              </a:rPr>
              <a:t>Note</a:t>
            </a:r>
            <a:r>
              <a:rPr lang="en-US" sz="1500" dirty="0"/>
              <a:t>: The pixel values are taken randomly,</a:t>
            </a:r>
          </a:p>
          <a:p>
            <a:r>
              <a:rPr lang="en-US" sz="1500" dirty="0"/>
              <a:t>and are not from actual MNIST dataset</a:t>
            </a:r>
          </a:p>
        </p:txBody>
      </p:sp>
    </p:spTree>
    <p:extLst>
      <p:ext uri="{BB962C8B-B14F-4D97-AF65-F5344CB8AC3E}">
        <p14:creationId xmlns:p14="http://schemas.microsoft.com/office/powerpoint/2010/main" val="2877134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AEC2-9DDD-6F52-9846-9DB05D88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E7BB-8860-1916-3E29-CD31B3D7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05"/>
            <a:ext cx="10515600" cy="1325563"/>
          </a:xfrm>
        </p:spPr>
        <p:txBody>
          <a:bodyPr/>
          <a:lstStyle/>
          <a:p>
            <a:r>
              <a:rPr lang="en-US" b="1" dirty="0"/>
              <a:t>Let’s code MNIST classification using KNN!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0F377C-8EA3-E72A-7F67-6D685DD236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3551"/>
            <a:ext cx="3340272" cy="1695537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88A5D6-9E03-0542-33F2-E7358C75225B}"/>
              </a:ext>
            </a:extLst>
          </p:cNvPr>
          <p:cNvCxnSpPr/>
          <p:nvPr/>
        </p:nvCxnSpPr>
        <p:spPr>
          <a:xfrm>
            <a:off x="652072" y="113925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0F3849C-06FF-0444-844B-7D8BFC41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1F1C2A-141C-9D0D-3A0C-AB992B6AB1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9D06B6-4650-D784-FCF3-16A18C7E8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23958"/>
            <a:ext cx="9646146" cy="36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2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7D0D-A1CE-A559-903E-C93B8C05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B7CE-BA87-B6B7-AD57-77AB92F3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05"/>
            <a:ext cx="10515600" cy="1325563"/>
          </a:xfrm>
        </p:spPr>
        <p:txBody>
          <a:bodyPr/>
          <a:lstStyle/>
          <a:p>
            <a:r>
              <a:rPr lang="en-US" b="1" dirty="0"/>
              <a:t>Code (contd.)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9587209-869D-EAB7-C6D1-81EC6D03E784}"/>
              </a:ext>
            </a:extLst>
          </p:cNvPr>
          <p:cNvCxnSpPr/>
          <p:nvPr/>
        </p:nvCxnSpPr>
        <p:spPr>
          <a:xfrm>
            <a:off x="652072" y="113925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EB8DC8-BA48-04DE-B748-D3F87D49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F3042F7-FB19-314B-D080-1DD0477ED6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9F622A3-BFBB-97DD-F0DB-C3FEDFA76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2072" y="1230657"/>
            <a:ext cx="10179573" cy="190509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48FEA2-1D72-0BFA-63A6-B05D31E43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72" y="3170802"/>
            <a:ext cx="3428106" cy="35918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E96F1D-75FA-7C4A-E989-3A459F497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504" y="3358758"/>
            <a:ext cx="3331854" cy="340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65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1F41C-97B9-CAFE-32C1-E5C2EDCB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6F69-5F42-3F49-F7DD-0ECF22FF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05"/>
            <a:ext cx="10515600" cy="1325563"/>
          </a:xfrm>
        </p:spPr>
        <p:txBody>
          <a:bodyPr/>
          <a:lstStyle/>
          <a:p>
            <a:r>
              <a:rPr lang="en-US" b="1" dirty="0"/>
              <a:t>Code (contd.)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5B88BC-568F-6D5A-7289-0984CDB8F893}"/>
              </a:ext>
            </a:extLst>
          </p:cNvPr>
          <p:cNvCxnSpPr/>
          <p:nvPr/>
        </p:nvCxnSpPr>
        <p:spPr>
          <a:xfrm>
            <a:off x="652072" y="113925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71E6CBE-C0DF-60E9-BD12-58E5B8E4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3DBA6B0-1E14-A793-080D-07D9935D87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14DC450-6F1F-9BE4-6BAA-D0CD504B7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5179" y="1322134"/>
            <a:ext cx="8636883" cy="5268317"/>
          </a:xfrm>
        </p:spPr>
      </p:pic>
    </p:spTree>
    <p:extLst>
      <p:ext uri="{BB962C8B-B14F-4D97-AF65-F5344CB8AC3E}">
        <p14:creationId xmlns:p14="http://schemas.microsoft.com/office/powerpoint/2010/main" val="54641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06603-603C-A79D-C46D-768A83D0A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F6F3-7DAA-C539-B814-DBEFAA9EE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05"/>
            <a:ext cx="10515600" cy="1325563"/>
          </a:xfrm>
        </p:spPr>
        <p:txBody>
          <a:bodyPr/>
          <a:lstStyle/>
          <a:p>
            <a:r>
              <a:rPr lang="en-US" b="1" dirty="0"/>
              <a:t>Code (contd.)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740308-3A48-4EE5-7D40-C3B31EA920E0}"/>
              </a:ext>
            </a:extLst>
          </p:cNvPr>
          <p:cNvCxnSpPr/>
          <p:nvPr/>
        </p:nvCxnSpPr>
        <p:spPr>
          <a:xfrm>
            <a:off x="652072" y="113925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453B3A4-1697-E50A-64D3-67C5ADA0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6CBFFF-A49C-518E-BA17-D73F47DBA3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C02D89-D75B-650D-87B8-26CB830F8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1786" y="1394426"/>
            <a:ext cx="9290713" cy="5004254"/>
          </a:xfrm>
        </p:spPr>
      </p:pic>
    </p:spTree>
    <p:extLst>
      <p:ext uri="{BB962C8B-B14F-4D97-AF65-F5344CB8AC3E}">
        <p14:creationId xmlns:p14="http://schemas.microsoft.com/office/powerpoint/2010/main" val="1657394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9778E-5157-5F8D-313E-56D6C590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FA5F1-57F5-65BF-5FFC-91FA02DB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05"/>
            <a:ext cx="10515600" cy="1325563"/>
          </a:xfrm>
        </p:spPr>
        <p:txBody>
          <a:bodyPr/>
          <a:lstStyle/>
          <a:p>
            <a:r>
              <a:rPr lang="en-US" b="1" dirty="0"/>
              <a:t>Code (contd.)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3EACB4-E200-EE67-893A-316DD525798C}"/>
              </a:ext>
            </a:extLst>
          </p:cNvPr>
          <p:cNvCxnSpPr/>
          <p:nvPr/>
        </p:nvCxnSpPr>
        <p:spPr>
          <a:xfrm>
            <a:off x="652072" y="113925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0A7A27B-9A7B-B4C0-2D32-73123D81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343303-12BA-5FD2-D56A-62F51B63CA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9BEB48F-6A5D-C032-78F9-7EA01BC5A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2026" y="1240718"/>
            <a:ext cx="7414289" cy="5617282"/>
          </a:xfrm>
        </p:spPr>
      </p:pic>
    </p:spTree>
    <p:extLst>
      <p:ext uri="{BB962C8B-B14F-4D97-AF65-F5344CB8AC3E}">
        <p14:creationId xmlns:p14="http://schemas.microsoft.com/office/powerpoint/2010/main" val="3381737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F5C69-9959-62A0-A20A-83E23028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5CE6-B39F-BA15-CE25-954BD73F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Regression using KNN – Steps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D9DEFD3-5A91-24FA-83AA-61F9D81789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Given testing point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, 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we want to predict</a:t>
                </a:r>
                <a:r>
                  <a:rPr lang="en-US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sym typeface="Wingdings" panose="05000000000000000000" pitchFamily="2" charset="2"/>
                  </a:rPr>
                  <a:t> 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sym typeface="Wingdings" panose="05000000000000000000" pitchFamily="2" charset="2"/>
                  </a:rPr>
                  <a:t>(e.g., profit, rating of a product, etc.)</a:t>
                </a:r>
                <a:endParaRPr lang="en-US" b="1" u="sng" dirty="0">
                  <a:solidFill>
                    <a:srgbClr val="000000"/>
                  </a:solidFill>
                  <a:latin typeface="Roboto" panose="02000000000000000000" pitchFamily="2" charset="0"/>
                </a:endParaRPr>
              </a:p>
              <a:p>
                <a:pPr algn="just"/>
                <a:r>
                  <a:rPr lang="en-US" b="1" u="sng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Step 1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: </a:t>
                </a:r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Decide a value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>
                  <a:solidFill>
                    <a:srgbClr val="000000"/>
                  </a:solidFill>
                  <a:latin typeface="Roboto" panose="02000000000000000000" pitchFamily="2" charset="0"/>
                </a:endParaRPr>
              </a:p>
              <a:p>
                <a:pPr algn="just"/>
                <a:r>
                  <a:rPr lang="en-US" b="1" u="sng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Step 2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: </a:t>
                </a:r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Given 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training exa</a:t>
                </a:r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mples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, where,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sym typeface="Wingdings" panose="05000000000000000000" pitchFamily="2" charset="2"/>
                  </a:rPr>
                  <a:t> attribute/feature value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sym typeface="Wingdings" panose="05000000000000000000" pitchFamily="2" charset="2"/>
                  </a:rPr>
                  <a:t> target value,</a:t>
                </a:r>
              </a:p>
              <a:p>
                <a:pPr lvl="1" algn="just"/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Compute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to every training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.</a:t>
                </a:r>
              </a:p>
              <a:p>
                <a:pPr algn="just"/>
                <a:r>
                  <a:rPr lang="en-US" b="1" u="sng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Step 3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: </a:t>
                </a:r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Select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closest instances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and their labels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endParaRPr lang="en-US" i="0" dirty="0">
                  <a:solidFill>
                    <a:srgbClr val="000000"/>
                  </a:solidFill>
                  <a:effectLst/>
                  <a:latin typeface="Roboto" panose="02000000000000000000" pitchFamily="2" charset="0"/>
                </a:endParaRPr>
              </a:p>
              <a:p>
                <a:pPr algn="just"/>
                <a:r>
                  <a:rPr lang="en-US" b="1" u="sng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Step 5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: </a:t>
                </a:r>
                <a:r>
                  <a:rPr lang="en-US" b="1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Output is the mean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i="0" dirty="0">
                  <a:solidFill>
                    <a:srgbClr val="000000"/>
                  </a:solidFill>
                  <a:effectLst/>
                  <a:latin typeface="Roboto" panose="02000000000000000000" pitchFamily="2" charset="0"/>
                </a:endParaRPr>
              </a:p>
              <a:p>
                <a:pPr lvl="1" algn="just"/>
                <a:endParaRPr lang="en-US" b="1" i="0" dirty="0">
                  <a:solidFill>
                    <a:srgbClr val="000000"/>
                  </a:solidFill>
                  <a:effectLst/>
                  <a:latin typeface="Roboto" panose="02000000000000000000" pitchFamily="2" charset="0"/>
                </a:endParaRP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D9DEFD3-5A91-24FA-83AA-61F9D81789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  <a:blipFill>
                <a:blip r:embed="rId3"/>
                <a:stretch>
                  <a:fillRect l="-1000" t="-2307" r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9FD8F90-A6BA-6D38-3967-3D6F3ABB0C9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F7A1D-1DF2-7686-67E7-2B7DEDF46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019214-DE4C-2A46-1936-47A0ADE6E7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88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4999-D8A7-564F-8532-4CE7B41B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loud 10">
            <a:extLst>
              <a:ext uri="{FF2B5EF4-FFF2-40B4-BE49-F238E27FC236}">
                <a16:creationId xmlns:a16="http://schemas.microsoft.com/office/drawing/2014/main" id="{F43D555B-ADC2-4740-26C8-D3082D4AF85A}"/>
              </a:ext>
            </a:extLst>
          </p:cNvPr>
          <p:cNvSpPr/>
          <p:nvPr/>
        </p:nvSpPr>
        <p:spPr>
          <a:xfrm>
            <a:off x="7361499" y="2864734"/>
            <a:ext cx="4454756" cy="3281423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EFB97-45EF-76AB-C89B-689BAC0A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Polynomial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EC69084-6A56-6390-7EF4-DA81248FE0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What is the target value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b="1" dirty="0"/>
                  <a:t>?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EC69084-6A56-6390-7EF4-DA81248FE0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  <a:blipFill>
                <a:blip r:embed="rId3"/>
                <a:stretch>
                  <a:fillRect l="-1000" t="-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black dots&#10;&#10;AI-generated content may be incorrect.">
            <a:extLst>
              <a:ext uri="{FF2B5EF4-FFF2-40B4-BE49-F238E27FC236}">
                <a16:creationId xmlns:a16="http://schemas.microsoft.com/office/drawing/2014/main" id="{9C301688-9B17-8942-986F-309E7C6C2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854" y="3936368"/>
            <a:ext cx="4112851" cy="27132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D6BBAF3-B1A6-7CC0-222A-42E06B4C69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78402"/>
                  </p:ext>
                </p:extLst>
              </p:nvPr>
            </p:nvGraphicFramePr>
            <p:xfrm>
              <a:off x="1193999" y="2488283"/>
              <a:ext cx="5300562" cy="111252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883427">
                      <a:extLst>
                        <a:ext uri="{9D8B030D-6E8A-4147-A177-3AD203B41FA5}">
                          <a16:colId xmlns:a16="http://schemas.microsoft.com/office/drawing/2014/main" val="142738955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234144700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27203318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279405467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2624107588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371463945"/>
                        </a:ext>
                      </a:extLst>
                    </a:gridCol>
                  </a:tblGrid>
                  <a:tr h="370840">
                    <a:tc gridSpan="6">
                      <a:txBody>
                        <a:bodyPr/>
                        <a:lstStyle/>
                        <a:p>
                          <a:r>
                            <a:rPr lang="en-US" b="0" dirty="0"/>
                            <a:t>Training Data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05422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90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01406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D6BBAF3-B1A6-7CC0-222A-42E06B4C69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78402"/>
                  </p:ext>
                </p:extLst>
              </p:nvPr>
            </p:nvGraphicFramePr>
            <p:xfrm>
              <a:off x="1193999" y="2488283"/>
              <a:ext cx="5300562" cy="111252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883427">
                      <a:extLst>
                        <a:ext uri="{9D8B030D-6E8A-4147-A177-3AD203B41FA5}">
                          <a16:colId xmlns:a16="http://schemas.microsoft.com/office/drawing/2014/main" val="142738955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234144700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27203318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279405467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2624107588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371463945"/>
                        </a:ext>
                      </a:extLst>
                    </a:gridCol>
                  </a:tblGrid>
                  <a:tr h="370840">
                    <a:tc gridSpan="6">
                      <a:txBody>
                        <a:bodyPr/>
                        <a:lstStyle/>
                        <a:p>
                          <a:r>
                            <a:rPr lang="en-US" b="0" dirty="0"/>
                            <a:t>Training Data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05422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106557" r="-503448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90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90" t="-206557" r="-503448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01406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09315FB-AB5F-3785-F84A-7592F2148021}"/>
              </a:ext>
            </a:extLst>
          </p:cNvPr>
          <p:cNvSpPr txBox="1"/>
          <p:nvPr/>
        </p:nvSpPr>
        <p:spPr>
          <a:xfrm>
            <a:off x="7891809" y="3788221"/>
            <a:ext cx="35223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Practice: Write a Python code to</a:t>
            </a:r>
          </a:p>
          <a:p>
            <a:r>
              <a:rPr lang="en-US" b="1" u="sng" dirty="0"/>
              <a:t>solve the problem using KNN. </a:t>
            </a:r>
          </a:p>
          <a:p>
            <a:r>
              <a:rPr lang="en-US" b="1" u="sng" dirty="0"/>
              <a:t>Results are on the next slide for </a:t>
            </a:r>
          </a:p>
          <a:p>
            <a:r>
              <a:rPr lang="en-US" b="1" u="sng" dirty="0"/>
              <a:t>you to compare.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B4CA94-5B05-FEBA-6C19-F829645C9CA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AEBED-5094-1A51-3E52-601438E6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FA9B7C-6FE6-2201-ECDA-5C821FBB662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27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F3827-E97B-EFD7-3C77-E79E8FE5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2D1C-AF70-A4D7-D206-8650FBB5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Mathematical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92A5E71-4224-48DB-2E41-B7CD90B1B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b="1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What is the target value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b="1" dirty="0"/>
                  <a:t>?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92A5E71-4224-48DB-2E41-B7CD90B1B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78055" cy="4488465"/>
              </a:xfrm>
              <a:blipFill>
                <a:blip r:embed="rId2"/>
                <a:stretch>
                  <a:fillRect l="-1000" t="-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77C4F3B-F6C8-494C-A1F1-B0B12AE47D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93999" y="2488283"/>
              <a:ext cx="5300562" cy="111252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883427">
                      <a:extLst>
                        <a:ext uri="{9D8B030D-6E8A-4147-A177-3AD203B41FA5}">
                          <a16:colId xmlns:a16="http://schemas.microsoft.com/office/drawing/2014/main" val="142738955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234144700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27203318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279405467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2624107588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371463945"/>
                        </a:ext>
                      </a:extLst>
                    </a:gridCol>
                  </a:tblGrid>
                  <a:tr h="370840">
                    <a:tc gridSpan="6">
                      <a:txBody>
                        <a:bodyPr/>
                        <a:lstStyle/>
                        <a:p>
                          <a:r>
                            <a:rPr lang="en-US" b="0" dirty="0"/>
                            <a:t>Training Data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05422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90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01406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77C4F3B-F6C8-494C-A1F1-B0B12AE47D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93999" y="2488283"/>
              <a:ext cx="5300562" cy="111252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883427">
                      <a:extLst>
                        <a:ext uri="{9D8B030D-6E8A-4147-A177-3AD203B41FA5}">
                          <a16:colId xmlns:a16="http://schemas.microsoft.com/office/drawing/2014/main" val="142738955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234144700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27203318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279405467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2624107588"/>
                        </a:ext>
                      </a:extLst>
                    </a:gridCol>
                    <a:gridCol w="883427">
                      <a:extLst>
                        <a:ext uri="{9D8B030D-6E8A-4147-A177-3AD203B41FA5}">
                          <a16:colId xmlns:a16="http://schemas.microsoft.com/office/drawing/2014/main" val="1371463945"/>
                        </a:ext>
                      </a:extLst>
                    </a:gridCol>
                  </a:tblGrid>
                  <a:tr h="370840">
                    <a:tc gridSpan="6">
                      <a:txBody>
                        <a:bodyPr/>
                        <a:lstStyle/>
                        <a:p>
                          <a:r>
                            <a:rPr lang="en-US" b="0" dirty="0"/>
                            <a:t>Training Data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05422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0" t="-106557" r="-503448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090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0" t="-206557" r="-503448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014061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9B8F2D4-103F-50D5-0088-314BAB982F1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0F3E5-E83D-761C-7884-A3EB5481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FE3AD0-AB42-B8F8-2D4C-8E43DE4BEF8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C542A86-6EE0-EBD3-76D8-658F2891CC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9415090"/>
                  </p:ext>
                </p:extLst>
              </p:nvPr>
            </p:nvGraphicFramePr>
            <p:xfrm>
              <a:off x="1489557" y="4099145"/>
              <a:ext cx="4837670" cy="253931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75593">
                      <a:extLst>
                        <a:ext uri="{9D8B030D-6E8A-4147-A177-3AD203B41FA5}">
                          <a16:colId xmlns:a16="http://schemas.microsoft.com/office/drawing/2014/main" val="4278047089"/>
                        </a:ext>
                      </a:extLst>
                    </a:gridCol>
                    <a:gridCol w="2762077">
                      <a:extLst>
                        <a:ext uri="{9D8B030D-6E8A-4147-A177-3AD203B41FA5}">
                          <a16:colId xmlns:a16="http://schemas.microsoft.com/office/drawing/2014/main" val="14963313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Training Point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Distance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973125"/>
                      </a:ext>
                    </a:extLst>
                  </a:tr>
                  <a:tr h="45731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5−1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8311048"/>
                      </a:ext>
                    </a:extLst>
                  </a:tr>
                  <a:tr h="42294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5−3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b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0457477"/>
                      </a:ext>
                    </a:extLst>
                  </a:tr>
                  <a:tr h="42858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5−4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b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505574"/>
                      </a:ext>
                    </a:extLst>
                  </a:tr>
                  <a:tr h="41730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5−7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b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4907167"/>
                      </a:ext>
                    </a:extLst>
                  </a:tr>
                  <a:tr h="44043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5−8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1441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C542A86-6EE0-EBD3-76D8-658F2891CC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9415090"/>
                  </p:ext>
                </p:extLst>
              </p:nvPr>
            </p:nvGraphicFramePr>
            <p:xfrm>
              <a:off x="1489557" y="4099145"/>
              <a:ext cx="4837670" cy="254223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75593">
                      <a:extLst>
                        <a:ext uri="{9D8B030D-6E8A-4147-A177-3AD203B41FA5}">
                          <a16:colId xmlns:a16="http://schemas.microsoft.com/office/drawing/2014/main" val="4278047089"/>
                        </a:ext>
                      </a:extLst>
                    </a:gridCol>
                    <a:gridCol w="2762077">
                      <a:extLst>
                        <a:ext uri="{9D8B030D-6E8A-4147-A177-3AD203B41FA5}">
                          <a16:colId xmlns:a16="http://schemas.microsoft.com/office/drawing/2014/main" val="149633133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Training Point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Distance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973125"/>
                      </a:ext>
                    </a:extLst>
                  </a:tr>
                  <a:tr h="45731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5497" t="-85333" r="-1104" b="-38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8311048"/>
                      </a:ext>
                    </a:extLst>
                  </a:tr>
                  <a:tr h="4250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5497" t="-198571" r="-1104" b="-3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0457477"/>
                      </a:ext>
                    </a:extLst>
                  </a:tr>
                  <a:tr h="42858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5497" t="-294366" r="-1104" b="-205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505574"/>
                      </a:ext>
                    </a:extLst>
                  </a:tr>
                  <a:tr h="4250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5497" t="-400000" r="-1104" b="-1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4907167"/>
                      </a:ext>
                    </a:extLst>
                  </a:tr>
                  <a:tr h="44043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x=8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5497" t="-486111" r="-1104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1441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B1AF3F-B110-D005-DD24-EA6627DE5137}"/>
                  </a:ext>
                </a:extLst>
              </p:cNvPr>
              <p:cNvSpPr txBox="1"/>
              <p:nvPr/>
            </p:nvSpPr>
            <p:spPr>
              <a:xfrm>
                <a:off x="6716578" y="3960340"/>
                <a:ext cx="5003293" cy="1172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7+5+10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=7.33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i.e., </a:t>
                </a:r>
                <a:r>
                  <a:rPr lang="en-US" b="1" u="sng" dirty="0"/>
                  <a:t>when x=5, y is approximately 7.33 with K=3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B1AF3F-B110-D005-DD24-EA6627DE5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578" y="3960340"/>
                <a:ext cx="5003293" cy="1172309"/>
              </a:xfrm>
              <a:prstGeom prst="rect">
                <a:avLst/>
              </a:prstGeom>
              <a:blipFill>
                <a:blip r:embed="rId6"/>
                <a:stretch>
                  <a:fillRect l="-1096"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441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4252-4A3D-13CA-DD78-D0179820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3C4E-4462-EFC9-CC4E-9FC2AA721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477"/>
            <a:ext cx="10515600" cy="1325563"/>
          </a:xfrm>
        </p:spPr>
        <p:txBody>
          <a:bodyPr/>
          <a:lstStyle/>
          <a:p>
            <a:r>
              <a:rPr lang="en-US" b="1" dirty="0"/>
              <a:t>Solution for the regression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3726A-D319-E11E-5605-D83062E14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192" y="4214763"/>
            <a:ext cx="4663740" cy="2643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D60588-53D0-1E9A-9E4A-60CCE3A2A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24" y="1464208"/>
            <a:ext cx="4703927" cy="26532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CCEB3D-BFBF-566F-C955-B4DA3A79F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481" y="1424662"/>
            <a:ext cx="4819163" cy="2720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F507CB-3816-375A-FC1F-3AE95F2A0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70" y="4214763"/>
            <a:ext cx="4614881" cy="26054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9A11C0-DEB6-56EB-8E57-0D5F575434AB}"/>
              </a:ext>
            </a:extLst>
          </p:cNvPr>
          <p:cNvCxnSpPr/>
          <p:nvPr/>
        </p:nvCxnSpPr>
        <p:spPr>
          <a:xfrm>
            <a:off x="652072" y="1281660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9A9FD-F835-ACF9-FB92-E5D2004A0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E9CCC-E210-5CD2-CB1A-B55514437D5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77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04BF-091E-7059-5EA7-29CA4B8D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3587-1463-0CAB-F908-A90DB534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fontAlgn="base">
              <a:spcAft>
                <a:spcPts val="15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Distance measures in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D8F3D384-0768-640B-6474-04BD3BC0A43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98727063"/>
                  </p:ext>
                </p:extLst>
              </p:nvPr>
            </p:nvGraphicFramePr>
            <p:xfrm>
              <a:off x="838200" y="1825625"/>
              <a:ext cx="10609164" cy="324967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1050">
                      <a:extLst>
                        <a:ext uri="{9D8B030D-6E8A-4147-A177-3AD203B41FA5}">
                          <a16:colId xmlns:a16="http://schemas.microsoft.com/office/drawing/2014/main" val="1615839908"/>
                        </a:ext>
                      </a:extLst>
                    </a:gridCol>
                    <a:gridCol w="3253532">
                      <a:extLst>
                        <a:ext uri="{9D8B030D-6E8A-4147-A177-3AD203B41FA5}">
                          <a16:colId xmlns:a16="http://schemas.microsoft.com/office/drawing/2014/main" val="3493411442"/>
                        </a:ext>
                      </a:extLst>
                    </a:gridCol>
                    <a:gridCol w="2652291">
                      <a:extLst>
                        <a:ext uri="{9D8B030D-6E8A-4147-A177-3AD203B41FA5}">
                          <a16:colId xmlns:a16="http://schemas.microsoft.com/office/drawing/2014/main" val="550511187"/>
                        </a:ext>
                      </a:extLst>
                    </a:gridCol>
                    <a:gridCol w="2652291">
                      <a:extLst>
                        <a:ext uri="{9D8B030D-6E8A-4147-A177-3AD203B41FA5}">
                          <a16:colId xmlns:a16="http://schemas.microsoft.com/office/drawing/2014/main" val="7562525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Advantage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Disadvantage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89920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Euclidean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/>
                            </a:rPr>
                            <a:t>Intuitive (straight-line distance), works well for low-dimensional data</a:t>
                          </a:r>
                        </a:p>
                      </a:txBody>
                      <a:tcPr marL="63500" marR="63500" marT="63500" marB="6350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Sensitive to outliers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7614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Manhattan 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Less affected by outliers than Euclidean, works better for high-dim data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May produce less intuitive results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84812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effectLst/>
                            </a:rPr>
                            <a:t>Cosine Similarity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marR="63500" marT="63500" marB="6350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effectLst/>
                            <a:latin typeface="KaTeX_Main"/>
                          </a:endParaRPr>
                        </a:p>
                      </a:txBody>
                      <a:tcPr marL="63500" marR="63500" marT="63500" marB="6350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Works well with sparse data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Only measures direction not magnitude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1344978"/>
                      </a:ext>
                    </a:extLst>
                  </a:tr>
                  <a:tr h="370840">
                    <a:tc gridSpan="4">
                      <a:txBody>
                        <a:bodyPr/>
                        <a:lstStyle/>
                        <a:p>
                          <a:r>
                            <a:rPr lang="en-US" b="1" dirty="0"/>
                            <a:t>and many more…!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73035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D8F3D384-0768-640B-6474-04BD3BC0A43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98727063"/>
                  </p:ext>
                </p:extLst>
              </p:nvPr>
            </p:nvGraphicFramePr>
            <p:xfrm>
              <a:off x="838200" y="1825625"/>
              <a:ext cx="10609164" cy="324967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51050">
                      <a:extLst>
                        <a:ext uri="{9D8B030D-6E8A-4147-A177-3AD203B41FA5}">
                          <a16:colId xmlns:a16="http://schemas.microsoft.com/office/drawing/2014/main" val="1615839908"/>
                        </a:ext>
                      </a:extLst>
                    </a:gridCol>
                    <a:gridCol w="3253532">
                      <a:extLst>
                        <a:ext uri="{9D8B030D-6E8A-4147-A177-3AD203B41FA5}">
                          <a16:colId xmlns:a16="http://schemas.microsoft.com/office/drawing/2014/main" val="3493411442"/>
                        </a:ext>
                      </a:extLst>
                    </a:gridCol>
                    <a:gridCol w="2652291">
                      <a:extLst>
                        <a:ext uri="{9D8B030D-6E8A-4147-A177-3AD203B41FA5}">
                          <a16:colId xmlns:a16="http://schemas.microsoft.com/office/drawing/2014/main" val="550511187"/>
                        </a:ext>
                      </a:extLst>
                    </a:gridCol>
                    <a:gridCol w="2652291">
                      <a:extLst>
                        <a:ext uri="{9D8B030D-6E8A-4147-A177-3AD203B41FA5}">
                          <a16:colId xmlns:a16="http://schemas.microsoft.com/office/drawing/2014/main" val="7562525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Advantage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Disadvantage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8992089"/>
                      </a:ext>
                    </a:extLst>
                  </a:tr>
                  <a:tr h="949960">
                    <a:tc>
                      <a:txBody>
                        <a:bodyPr/>
                        <a:lstStyle/>
                        <a:p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Euclidean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3296" t="-41667" r="-163858" b="-213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effectLst/>
                            </a:rPr>
                            <a:t>Intuitive (straight-line distance), works well for low-dimensional data</a:t>
                          </a:r>
                        </a:p>
                      </a:txBody>
                      <a:tcPr marL="63500" marR="63500" marT="63500" marB="6350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Sensitive to outliers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76149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Manhattan 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3296" t="-147333" r="-163858" b="-1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Less affected by outliers than Euclidean, works better for high-dim data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May produce less intuitive results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8481285"/>
                      </a:ext>
                    </a:extLst>
                  </a:tr>
                  <a:tr h="643636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effectLst/>
                            </a:rPr>
                            <a:t>Cosine Similarity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marR="63500" marT="63500" marB="635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blipFill>
                          <a:blip r:embed="rId2"/>
                          <a:stretch>
                            <a:fillRect l="-63296" t="-350000" r="-163858" b="-7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Works well with sparse data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Only measures direction not magnitude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1344978"/>
                      </a:ext>
                    </a:extLst>
                  </a:tr>
                  <a:tr h="370840">
                    <a:tc gridSpan="4">
                      <a:txBody>
                        <a:bodyPr/>
                        <a:lstStyle/>
                        <a:p>
                          <a:r>
                            <a:rPr lang="en-US" b="1" dirty="0"/>
                            <a:t>and many more…!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730353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8C32B9-F457-4716-6B13-3C8AECE57F7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A260F-00B6-F9E3-2134-5218BD72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F76CD2-03FA-8DC0-A6AB-42C4DE9A5B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97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354A-5A2A-EE3C-89A4-6FCBD768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DB781E-132E-E6C2-18AD-9D92DB56DAD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4925"/>
                <a:ext cx="10515600" cy="1325563"/>
              </a:xfrm>
            </p:spPr>
            <p:txBody>
              <a:bodyPr/>
              <a:lstStyle/>
              <a:p>
                <a:r>
                  <a:rPr lang="en-US" b="1" dirty="0"/>
                  <a:t>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DB781E-132E-E6C2-18AD-9D92DB56DA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4925"/>
                <a:ext cx="10515600" cy="1325563"/>
              </a:xfrm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9AD76FC-8B1C-B1C5-EBDF-CAE10CC426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2651" y="1222375"/>
                <a:ext cx="10160000" cy="2060575"/>
              </a:xfrm>
            </p:spPr>
            <p:txBody>
              <a:bodyPr>
                <a:noAutofit/>
              </a:bodyPr>
              <a:lstStyle/>
              <a:p>
                <a:r>
                  <a:rPr lang="en-US" sz="2500" dirty="0">
                    <a:solidFill>
                      <a:srgbClr val="000000"/>
                    </a:solidFill>
                    <a:latin typeface="Roboto" panose="02000000000000000000" pitchFamily="2" charset="0"/>
                  </a:rPr>
                  <a:t>Large value </a:t>
                </a:r>
                <a:r>
                  <a:rPr lang="en-US" sz="2500" dirty="0">
                    <a:solidFill>
                      <a:srgbClr val="000000"/>
                    </a:solidFill>
                    <a:latin typeface="Roboto" panose="02000000000000000000" pitchFamily="2" charset="0"/>
                    <a:sym typeface="Wingdings" panose="05000000000000000000" pitchFamily="2" charset="2"/>
                  </a:rPr>
                  <a:t> Underfitting, </a:t>
                </a:r>
                <a:r>
                  <a:rPr lang="en-US" sz="2500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sym typeface="Wingdings" panose="05000000000000000000" pitchFamily="2" charset="2"/>
                  </a:rPr>
                  <a:t>Small valu</a:t>
                </a:r>
                <a:r>
                  <a:rPr lang="en-US" sz="2500" dirty="0">
                    <a:solidFill>
                      <a:srgbClr val="000000"/>
                    </a:solidFill>
                    <a:latin typeface="Roboto" panose="02000000000000000000" pitchFamily="2" charset="0"/>
                    <a:sym typeface="Wingdings" panose="05000000000000000000" pitchFamily="2" charset="2"/>
                  </a:rPr>
                  <a:t>e  Overfitting</a:t>
                </a:r>
              </a:p>
              <a:p>
                <a:r>
                  <a:rPr lang="en-US" sz="2500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sym typeface="Wingdings" panose="05000000000000000000" pitchFamily="2" charset="2"/>
                  </a:rPr>
                  <a:t>Set aside a portion of training data as a validation set, i.e., vary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𝐾</m:t>
                    </m:r>
                  </m:oMath>
                </a14:m>
                <a:r>
                  <a:rPr lang="en-US" sz="2500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</a:rPr>
                  <a:t> and observe training and validation error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9AD76FC-8B1C-B1C5-EBDF-CAE10CC426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2651" y="1222375"/>
                <a:ext cx="10160000" cy="2060575"/>
              </a:xfrm>
              <a:blipFill>
                <a:blip r:embed="rId4"/>
                <a:stretch>
                  <a:fillRect l="-900" t="-4734" r="-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ollage of different colored shapes&#10;&#10;AI-generated content may be incorrect.">
            <a:extLst>
              <a:ext uri="{FF2B5EF4-FFF2-40B4-BE49-F238E27FC236}">
                <a16:creationId xmlns:a16="http://schemas.microsoft.com/office/drawing/2014/main" id="{48506FA6-31F0-4033-2580-E5E14A036C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2454150"/>
            <a:ext cx="8623300" cy="429095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E8C5F2-C018-B5D8-343A-494B1AE37298}"/>
              </a:ext>
            </a:extLst>
          </p:cNvPr>
          <p:cNvCxnSpPr/>
          <p:nvPr/>
        </p:nvCxnSpPr>
        <p:spPr>
          <a:xfrm>
            <a:off x="652072" y="996848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3D5C8-FD3F-F4A5-FD12-D50BDFE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8D3DA3-16F6-C4E3-B628-623D1F2F11A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622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715AB-155A-E551-4D6B-0F1587AA0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7A2C-C044-A0CA-728F-D97C628C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Resolving 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E53BD2F-E71F-4A0E-6A26-9FDC7AC63B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2651" y="2132086"/>
                <a:ext cx="10160000" cy="4562475"/>
              </a:xfrm>
            </p:spPr>
            <p:txBody>
              <a:bodyPr>
                <a:noAutofit/>
              </a:bodyPr>
              <a:lstStyle/>
              <a:p>
                <a:r>
                  <a:rPr lang="en-US" b="0" i="0" dirty="0">
                    <a:solidFill>
                      <a:srgbClr val="000000"/>
                    </a:solidFill>
                    <a:effectLst/>
                    <a:latin typeface="+mj-lt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+mj-lt"/>
                  </a:rPr>
                  <a:t> odd positive integers to avoid ties in classification problems (does not solve multi-class problems)</a:t>
                </a:r>
              </a:p>
              <a:p>
                <a:endParaRPr lang="en-US" b="0" i="0" dirty="0">
                  <a:solidFill>
                    <a:srgbClr val="000000"/>
                  </a:solidFill>
                  <a:effectLst/>
                  <a:latin typeface="+mj-lt"/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  <a:latin typeface="+mj-lt"/>
                  </a:rPr>
                  <a:t>Breaking ties:</a:t>
                </a:r>
              </a:p>
              <a:p>
                <a:pPr lvl="1"/>
                <a:r>
                  <a:rPr lang="en-US" sz="2800" b="1" i="0" dirty="0">
                    <a:solidFill>
                      <a:srgbClr val="000000"/>
                    </a:solidFill>
                    <a:effectLst/>
                    <a:latin typeface="+mj-lt"/>
                  </a:rPr>
                  <a:t>Random</a:t>
                </a:r>
                <a:r>
                  <a:rPr lang="en-US" sz="2800" b="0" i="0" dirty="0">
                    <a:solidFill>
                      <a:srgbClr val="000000"/>
                    </a:solidFill>
                    <a:effectLst/>
                    <a:latin typeface="+mj-lt"/>
                  </a:rPr>
                  <a:t>: flip a coin to decide</a:t>
                </a:r>
              </a:p>
              <a:p>
                <a:pPr lvl="1"/>
                <a:r>
                  <a:rPr lang="en-US" sz="2800" b="1" dirty="0">
                    <a:solidFill>
                      <a:srgbClr val="000000"/>
                    </a:solidFill>
                    <a:latin typeface="+mj-lt"/>
                  </a:rPr>
                  <a:t>Prior</a:t>
                </a:r>
                <a:r>
                  <a:rPr lang="en-US" sz="2800" dirty="0">
                    <a:solidFill>
                      <a:srgbClr val="000000"/>
                    </a:solidFill>
                    <a:latin typeface="+mj-lt"/>
                  </a:rPr>
                  <a:t>: Pick the class with greater prior</a:t>
                </a:r>
              </a:p>
              <a:p>
                <a:pPr lvl="1"/>
                <a:r>
                  <a:rPr lang="en-US" sz="2800" b="1" dirty="0">
                    <a:solidFill>
                      <a:srgbClr val="000000"/>
                    </a:solidFill>
                    <a:latin typeface="+mj-lt"/>
                  </a:rPr>
                  <a:t>Nearest</a:t>
                </a:r>
                <a:r>
                  <a:rPr lang="en-US" sz="2800" dirty="0">
                    <a:solidFill>
                      <a:srgbClr val="000000"/>
                    </a:solidFill>
                    <a:latin typeface="+mj-lt"/>
                  </a:rPr>
                  <a:t>: use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latin typeface="+mj-lt"/>
                  </a:rPr>
                  <a:t>, i.e., 1-NN classifier to decide</a:t>
                </a:r>
              </a:p>
              <a:p>
                <a:pPr lvl="1"/>
                <a:endParaRPr lang="en-US" sz="280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E53BD2F-E71F-4A0E-6A26-9FDC7AC63B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2651" y="2132086"/>
                <a:ext cx="10160000" cy="4562475"/>
              </a:xfrm>
              <a:blipFill>
                <a:blip r:embed="rId2"/>
                <a:stretch>
                  <a:fillRect l="-1080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C8062-A273-3B90-6147-15AE36C8151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4CC93-D274-E24B-636D-61E3E6AB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93F547-2AAA-4569-01A0-518188E2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06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F8742-6F8C-2C9E-61EA-E3646B7C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EE44-4D7A-A541-6435-B96AA5F7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Advantages</a:t>
            </a:r>
            <a:endParaRPr 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0B30D39-0E02-B362-2CBB-CD0138ACA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511199"/>
              </p:ext>
            </p:extLst>
          </p:nvPr>
        </p:nvGraphicFramePr>
        <p:xfrm>
          <a:off x="838200" y="1998621"/>
          <a:ext cx="10515600" cy="2377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96978">
                  <a:extLst>
                    <a:ext uri="{9D8B030D-6E8A-4147-A177-3AD203B41FA5}">
                      <a16:colId xmlns:a16="http://schemas.microsoft.com/office/drawing/2014/main" val="4193049480"/>
                    </a:ext>
                  </a:extLst>
                </a:gridCol>
                <a:gridCol w="7918622">
                  <a:extLst>
                    <a:ext uri="{9D8B030D-6E8A-4147-A177-3AD203B41FA5}">
                      <a16:colId xmlns:a16="http://schemas.microsoft.com/office/drawing/2014/main" val="379252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</a:rPr>
                        <a:t>Advantages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</a:rPr>
                        <a:t>Explanation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Simple &amp; Intuitive</a:t>
                      </a:r>
                      <a:endParaRPr lang="en-US" dirty="0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Easy to understand and implement—no complex math required.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64653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No Training Phase</a:t>
                      </a:r>
                      <a:endParaRPr lang="en-US" dirty="0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Immediately ready for predictions after storing the dataset (lazy learning).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291914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Adapts to New Data</a:t>
                      </a:r>
                      <a:endParaRPr lang="en-US" dirty="0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Dynamically updates predictions as new data arrives.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7561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Versatile</a:t>
                      </a:r>
                      <a:endParaRPr lang="en-US" dirty="0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Works for both classification and regression tasks.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24523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Interpretable</a:t>
                      </a:r>
                      <a:endParaRPr lang="en-US" dirty="0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Decisions are based on actual data points (explainable predictions).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642034960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DD7C95-07CC-118B-0F2B-C23002B354E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60DC1-38BE-9D09-44CC-578E4742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19F652-EB84-C76F-E09F-FEA38E569D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95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F932-459A-0F86-209F-7324942C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ED12-CA55-36C2-A62C-FE46AEFF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790"/>
            <a:ext cx="10515600" cy="1325563"/>
          </a:xfrm>
        </p:spPr>
        <p:txBody>
          <a:bodyPr/>
          <a:lstStyle/>
          <a:p>
            <a:r>
              <a:rPr lang="en-US" b="1" dirty="0"/>
              <a:t>Disadvantages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44F7BF9-B42C-1414-93DB-369C096B3B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040422"/>
              </p:ext>
            </p:extLst>
          </p:nvPr>
        </p:nvGraphicFramePr>
        <p:xfrm>
          <a:off x="912341" y="1568022"/>
          <a:ext cx="10515600" cy="400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96978">
                  <a:extLst>
                    <a:ext uri="{9D8B030D-6E8A-4147-A177-3AD203B41FA5}">
                      <a16:colId xmlns:a16="http://schemas.microsoft.com/office/drawing/2014/main" val="4193049480"/>
                    </a:ext>
                  </a:extLst>
                </a:gridCol>
                <a:gridCol w="7918622">
                  <a:extLst>
                    <a:ext uri="{9D8B030D-6E8A-4147-A177-3AD203B41FA5}">
                      <a16:colId xmlns:a16="http://schemas.microsoft.com/office/drawing/2014/main" val="379252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</a:rPr>
                        <a:t>Disadvantages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</a:rPr>
                        <a:t>Explanation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Computationally Expensive</a:t>
                      </a:r>
                      <a:endParaRPr lang="en-US" dirty="0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Slow for large datasets (must compute distances to all training points)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64653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Curse of Dimensionality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Performance degrades with high-dimensional data (distances become meaningless)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38706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Sensitive to Noise/Outliers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Misleading neighbors skew predictions (especially for small K)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044886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Choice of K and Distance Metric</a:t>
                      </a:r>
                      <a:endParaRPr lang="en-US" dirty="0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Poor choices lead to overfitting (small K) or underfitting (large K)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291914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Feature Scaling Required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Sensitive to feature scales (e.g., Euclidean distance favors larger ranges)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7561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Memory Intensive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Stores the entire training dataset (problematic for big data)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24523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Imbalanced Data Issues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Biased toward majority classes if K is large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642034960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643A531-26B8-D920-83E6-3966DF4145BD}"/>
              </a:ext>
            </a:extLst>
          </p:cNvPr>
          <p:cNvCxnSpPr/>
          <p:nvPr/>
        </p:nvCxnSpPr>
        <p:spPr>
          <a:xfrm>
            <a:off x="652072" y="1161740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687D1-C4DD-FDF1-E1C6-A7C0A766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9D7DFB-518D-9904-D8AD-721376E958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32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E5D2-08CB-0BF6-8A75-0A674DC3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8E62-7D7E-0FB5-0478-4B2723F7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Speed of KNN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2D387BD-4922-4FDC-C07C-5DF15EE77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2651" y="1622425"/>
                <a:ext cx="10160000" cy="4562475"/>
              </a:xfrm>
            </p:spPr>
            <p:txBody>
              <a:bodyPr>
                <a:noAutofit/>
              </a:bodyPr>
              <a:lstStyle/>
              <a:p>
                <a:r>
                  <a:rPr lang="en-US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Training: 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KNN actually does not train rather it simply stores training data –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samples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features for each sample</a:t>
                </a:r>
              </a:p>
              <a:p>
                <a:pPr lvl="1"/>
                <a:r>
                  <a:rPr lang="en-US" b="0" i="0" dirty="0">
                    <a:solidFill>
                      <a:srgbClr val="40404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No computation occurs beyond storing the data</a:t>
                </a:r>
              </a:p>
              <a:p>
                <a:pPr lvl="1"/>
                <a:r>
                  <a:rPr lang="en-US" b="0" i="0" dirty="0">
                    <a:solidFill>
                      <a:srgbClr val="40404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Per-sample cost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Wingdings" panose="05000000000000000000" pitchFamily="2" charset="2"/>
                  </a:rPr>
                  <a:t> computational complexity of “training”</a:t>
                </a:r>
              </a:p>
              <a:p>
                <a:pPr lvl="1"/>
                <a:endParaRPr lang="en-US" dirty="0">
                  <a:solidFill>
                    <a:srgbClr val="0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anose="05000000000000000000" pitchFamily="2" charset="2"/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Wingdings" panose="05000000000000000000" pitchFamily="2" charset="2"/>
                  </a:rPr>
                  <a:t>Testing:</a:t>
                </a:r>
              </a:p>
              <a:p>
                <a:pPr lvl="1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Distance calculation to one training point: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(e.g., Euclidean distance sums across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dimensions)</a:t>
                </a:r>
              </a:p>
              <a:p>
                <a:pPr lvl="1"/>
                <a:r>
                  <a:rPr lang="en-US" b="0" i="0" dirty="0">
                    <a:solidFill>
                      <a:srgbClr val="40404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Repeat for all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i="0" dirty="0">
                    <a:solidFill>
                      <a:srgbClr val="40404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training points: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𝑛𝑑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0" dirty="0">
                  <a:solidFill>
                    <a:srgbClr val="40404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lvl="1"/>
                <a:r>
                  <a:rPr lang="en-US" b="1" i="0" dirty="0">
                    <a:solidFill>
                      <a:srgbClr val="40404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Testing is much slower than training</a:t>
                </a:r>
                <a:endParaRPr lang="en-US" b="0" i="0" dirty="0">
                  <a:solidFill>
                    <a:srgbClr val="404040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lvl="1"/>
                <a:endParaRPr lang="en-US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2D387BD-4922-4FDC-C07C-5DF15EE77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2651" y="1622425"/>
                <a:ext cx="10160000" cy="4562475"/>
              </a:xfrm>
              <a:blipFill>
                <a:blip r:embed="rId2"/>
                <a:stretch>
                  <a:fillRect l="-1080" t="-2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BCEE08-6426-F58D-5F67-EC284854C2E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53154-6152-D76E-5147-94DB0832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6F6558-07B8-BD68-E784-9FB92FE7E8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89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0B2A8-BFF5-E66E-7718-83380F770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53DD-087E-F82F-EE7B-15CBAB821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700"/>
            <a:ext cx="10515600" cy="1325563"/>
          </a:xfrm>
        </p:spPr>
        <p:txBody>
          <a:bodyPr/>
          <a:lstStyle/>
          <a:p>
            <a:r>
              <a:rPr lang="en-US" b="1" dirty="0"/>
              <a:t>Making KNN faster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F2856A7-2EB9-E2B0-6146-DEA728DF43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2651" y="1486505"/>
                <a:ext cx="10160000" cy="4562475"/>
              </a:xfrm>
            </p:spPr>
            <p:txBody>
              <a:bodyPr>
                <a:noAutofit/>
              </a:bodyPr>
              <a:lstStyle/>
              <a:p>
                <a:r>
                  <a:rPr lang="en-US" sz="2000" b="0" i="0" dirty="0">
                    <a:solidFill>
                      <a:srgbClr val="000000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Reduce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𝑑</m:t>
                    </m:r>
                  </m:oMath>
                </a14:m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: dimensionality reduction </a:t>
                </a:r>
              </a:p>
              <a:p>
                <a:pPr lvl="1"/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Simpler or more relevant feature selection</a:t>
                </a:r>
              </a:p>
              <a:p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Reduce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𝑛</m:t>
                    </m:r>
                  </m:oMath>
                </a14:m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: Do not compare to </a:t>
                </a:r>
                <a:r>
                  <a:rPr lang="en-US" sz="2000" b="1" i="1" u="sng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all</a:t>
                </a:r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training examples</a:t>
                </a:r>
              </a:p>
              <a:p>
                <a:pPr lvl="1"/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Identify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≪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𝑛</m:t>
                    </m:r>
                  </m:oMath>
                </a14:m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potential near neighbors and compare to only those </a:t>
                </a:r>
              </a:p>
              <a:p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How to identify potential near neighbors?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u="sng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K-D trees</a:t>
                </a:r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: Reduce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𝑛</m:t>
                    </m:r>
                  </m:oMath>
                </a14:m>
                <a:endParaRPr lang="en-US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lvl="2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Must be low-dimensional, continuous and real-valued data</a:t>
                </a:r>
              </a:p>
              <a:p>
                <a:pPr lvl="2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Only works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𝑛</m:t>
                    </m:r>
                  </m:oMath>
                </a14:m>
                <a:endParaRPr lang="en-US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Can miss neighbors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u="sng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Inverted lists</a:t>
                </a:r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:</a:t>
                </a:r>
              </a:p>
              <a:p>
                <a:pPr lvl="2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Works well with high-dimensional and sparse (discrete) data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u="sng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Locality-sensitive hashing</a:t>
                </a:r>
                <a:r>
                  <a:rPr lang="en-US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:</a:t>
                </a:r>
              </a:p>
              <a:p>
                <a:pPr lvl="2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Works well with high-dimensional and both real-valued and sparse (discrete) data</a:t>
                </a:r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Can miss neighbors</a:t>
                </a:r>
                <a:endParaRPr lang="en-US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endParaRPr lang="en-US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F2856A7-2EB9-E2B0-6146-DEA728DF43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2651" y="1486505"/>
                <a:ext cx="10160000" cy="4562475"/>
              </a:xfrm>
              <a:blipFill>
                <a:blip r:embed="rId2"/>
                <a:stretch>
                  <a:fillRect l="-540" t="-1337" b="-15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31C59C-B8B5-24DB-AC90-431BED954367}"/>
              </a:ext>
            </a:extLst>
          </p:cNvPr>
          <p:cNvCxnSpPr/>
          <p:nvPr/>
        </p:nvCxnSpPr>
        <p:spPr>
          <a:xfrm>
            <a:off x="652072" y="1296650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136FC-16CA-C0DE-F9C9-36D216E5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750095-CB2E-F919-093E-8909328DE3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58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3846</TotalTime>
  <Words>1240</Words>
  <Application>Microsoft Office PowerPoint</Application>
  <PresentationFormat>Widescreen</PresentationFormat>
  <Paragraphs>226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Cambria</vt:lpstr>
      <vt:lpstr>Cambria Math</vt:lpstr>
      <vt:lpstr>DeepSeek-CJK-patch</vt:lpstr>
      <vt:lpstr>KaTeX_Main</vt:lpstr>
      <vt:lpstr>Roboto</vt:lpstr>
      <vt:lpstr>Office Theme</vt:lpstr>
      <vt:lpstr> Lecture 3: Nearest Neighbor Algorithm</vt:lpstr>
      <vt:lpstr>Nearest Neighbor Algorithm Intuition</vt:lpstr>
      <vt:lpstr>Voronoi Tessellation and Decision Boundary</vt:lpstr>
      <vt:lpstr>Outliers</vt:lpstr>
      <vt:lpstr>K-Nearest Neighbors Algorithm (KNN)</vt:lpstr>
      <vt:lpstr>Classification using KNN – Steps </vt:lpstr>
      <vt:lpstr>Example: Handwritten Digits Classification</vt:lpstr>
      <vt:lpstr>Example: Mathematical</vt:lpstr>
      <vt:lpstr>Let’s code MNIST classification using KNN!</vt:lpstr>
      <vt:lpstr>Code (contd.)</vt:lpstr>
      <vt:lpstr>Code (contd.)</vt:lpstr>
      <vt:lpstr>Code (contd.)</vt:lpstr>
      <vt:lpstr>Code (contd.)</vt:lpstr>
      <vt:lpstr>Regression using KNN – Steps </vt:lpstr>
      <vt:lpstr>Example: Polynomial function</vt:lpstr>
      <vt:lpstr>Mathematical Solution</vt:lpstr>
      <vt:lpstr>Solution for the regression example</vt:lpstr>
      <vt:lpstr>Distance measures in KNN</vt:lpstr>
      <vt:lpstr>Value of K</vt:lpstr>
      <vt:lpstr>Resolving Ties</vt:lpstr>
      <vt:lpstr>Advantages</vt:lpstr>
      <vt:lpstr>Disadvantages</vt:lpstr>
      <vt:lpstr>Speed of KNN</vt:lpstr>
      <vt:lpstr>Making KNN faster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Lecture 3: Nearest Neighbor Algorithm</dc:title>
  <dc:creator>Jilan Samiuddin</dc:creator>
  <cp:lastModifiedBy>Jilan Samiuddin</cp:lastModifiedBy>
  <cp:revision>27</cp:revision>
  <dcterms:created xsi:type="dcterms:W3CDTF">2025-05-01T04:50:36Z</dcterms:created>
  <dcterms:modified xsi:type="dcterms:W3CDTF">2026-02-02T03:01:01Z</dcterms:modified>
</cp:coreProperties>
</file>