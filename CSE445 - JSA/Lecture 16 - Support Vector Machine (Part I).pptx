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63" r:id="rId3"/>
    <p:sldId id="273" r:id="rId4"/>
    <p:sldId id="274" r:id="rId5"/>
    <p:sldId id="275" r:id="rId6"/>
    <p:sldId id="276" r:id="rId7"/>
    <p:sldId id="261" r:id="rId8"/>
    <p:sldId id="266" r:id="rId9"/>
    <p:sldId id="277" r:id="rId10"/>
    <p:sldId id="262" r:id="rId11"/>
    <p:sldId id="265" r:id="rId12"/>
    <p:sldId id="264" r:id="rId13"/>
    <p:sldId id="267" r:id="rId14"/>
    <p:sldId id="268" r:id="rId15"/>
    <p:sldId id="269" r:id="rId16"/>
    <p:sldId id="270" r:id="rId17"/>
    <p:sldId id="271" r:id="rId18"/>
    <p:sldId id="282" r:id="rId19"/>
    <p:sldId id="283" r:id="rId20"/>
    <p:sldId id="284" r:id="rId21"/>
    <p:sldId id="285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5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/>
          <a:stretch>
            <a:fillRect t="-35000" b="-3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16: Support Vector Machine (SVM) (Part 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D7B8-9F0F-508A-07FD-BC83AF227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D751-8171-E485-15A8-28032C5F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000" b="1" dirty="0"/>
              <a:t>Representing samples as vectors (an example)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15E4F4-6E58-3B0B-307A-932796768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625" y="1475860"/>
            <a:ext cx="7003257" cy="5279007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F19BA0-8FD4-31B2-C797-281EC0BBDE7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2E5E7-93C1-DB48-6577-20098854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0758F-F5E9-DC33-D294-78316326F2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CC3199-58E3-6D60-7352-9BD6D146E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311" y="1721540"/>
            <a:ext cx="4787102" cy="3272364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C95A2B6E-9526-7C73-8702-942EE34D17D7}"/>
              </a:ext>
            </a:extLst>
          </p:cNvPr>
          <p:cNvSpPr/>
          <p:nvPr/>
        </p:nvSpPr>
        <p:spPr>
          <a:xfrm>
            <a:off x="6326660" y="3363900"/>
            <a:ext cx="679621" cy="343127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763790-61FD-5FEF-CABB-0F29C2EFA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2339" y="5247636"/>
            <a:ext cx="4284542" cy="62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82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94163-6275-8D2E-88F3-9D2CC3F99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9DD3-46B3-07B8-7E63-AEDB9EE1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000" b="1" dirty="0"/>
              <a:t>Optimization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A3D0C1-B1B4-9A3C-622C-29FBF33F46B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82211-AD9E-F7BA-B7C1-1479895F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38218-A495-F6C2-ECA8-EF87379AD4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EB143-5DBF-FBBD-69B8-D89E7F30B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000" dirty="0"/>
              <a:t>The process of finding the “best” solution from all feasible options</a:t>
            </a:r>
          </a:p>
          <a:p>
            <a:pPr algn="just"/>
            <a:r>
              <a:rPr lang="en-US" sz="3000" dirty="0"/>
              <a:t>Involves:</a:t>
            </a:r>
          </a:p>
          <a:p>
            <a:pPr lvl="1" algn="just"/>
            <a:r>
              <a:rPr lang="en-US" sz="3000" b="1" u="sng" dirty="0"/>
              <a:t>Objective Function</a:t>
            </a:r>
            <a:r>
              <a:rPr lang="en-US" sz="3000" dirty="0"/>
              <a:t>: A mathematical expression to maximize or minimize (e.g., cost, profit, error)</a:t>
            </a:r>
          </a:p>
          <a:p>
            <a:pPr lvl="1" algn="just"/>
            <a:r>
              <a:rPr lang="en-US" sz="3000" b="1" u="sng" dirty="0"/>
              <a:t>Decision Variables</a:t>
            </a:r>
            <a:r>
              <a:rPr lang="en-US" sz="3000" dirty="0"/>
              <a:t>: The elements you can control or adjust (e.g., selling price, number of units to manufacture)</a:t>
            </a:r>
          </a:p>
          <a:p>
            <a:pPr lvl="1" algn="just"/>
            <a:r>
              <a:rPr lang="en-US" sz="3000" b="1" u="sng" dirty="0"/>
              <a:t>Constraints</a:t>
            </a:r>
            <a:r>
              <a:rPr lang="en-US" sz="3000" dirty="0"/>
              <a:t>: Equations or inequalities that restrict the decision variables (e.g., budget constraints, minimum salary)</a:t>
            </a:r>
          </a:p>
        </p:txBody>
      </p:sp>
    </p:spTree>
    <p:extLst>
      <p:ext uri="{BB962C8B-B14F-4D97-AF65-F5344CB8AC3E}">
        <p14:creationId xmlns:p14="http://schemas.microsoft.com/office/powerpoint/2010/main" val="236037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686DC-FA44-7BFF-9E60-7D5B62AC8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C807-B74C-8701-1C86-08FE6BE9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000" b="1" dirty="0"/>
              <a:t>Basics of Optimization: Convex Function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BEDEDB-BF15-FFCC-9AED-5C13EB19C14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C8A9C-B25A-E7F9-FCAE-29EA5578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715BD7-7E08-CFD0-907E-5AB94A094E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D71EE18-2AA7-4D8F-50A6-0B673515A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function is called </a:t>
            </a:r>
            <a:r>
              <a:rPr lang="en-US" b="1" u="sng" dirty="0"/>
              <a:t>convex</a:t>
            </a:r>
            <a:r>
              <a:rPr lang="en-US" i="1" dirty="0"/>
              <a:t> </a:t>
            </a:r>
            <a:r>
              <a:rPr lang="en-US" dirty="0"/>
              <a:t>if the function lies below the straight line segment connecting two points, for any two points in the interval.</a:t>
            </a:r>
          </a:p>
          <a:p>
            <a:pPr algn="just"/>
            <a:r>
              <a:rPr lang="en-US" b="1" u="sng" dirty="0"/>
              <a:t>Property</a:t>
            </a:r>
            <a:r>
              <a:rPr lang="en-US" dirty="0"/>
              <a:t>: Any local minimum is a global minimum for a convex function!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0362DA-D043-4EEA-1760-D430B45E4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704" y="3804949"/>
            <a:ext cx="7308472" cy="291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4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58EC9-93BB-0109-E008-8A00DC22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A709-5EF8-BD9F-AEF9-B13327C64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000" b="1" dirty="0"/>
              <a:t>Basics of Optimization: Quadratic Programming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283B69-88EB-04A9-F663-A133CA3C2C1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6D408-7EAB-5C15-CC66-DBBC57D6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76E061-B678-E70C-CF1E-7426A0A6E0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70E1DF-FC9C-2757-FF35-BFAE0B431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500" b="1" u="sng" dirty="0"/>
              <a:t>Quadratic programming</a:t>
            </a:r>
            <a:r>
              <a:rPr lang="en-US" sz="3500" dirty="0"/>
              <a:t> (QP) is a special optimization problem: the function to optimize (“</a:t>
            </a:r>
            <a:r>
              <a:rPr lang="en-US" sz="3500" i="1" dirty="0"/>
              <a:t>objective</a:t>
            </a:r>
            <a:r>
              <a:rPr lang="en-US" sz="3500" dirty="0"/>
              <a:t>”) is quadratic, subject to linear </a:t>
            </a:r>
            <a:r>
              <a:rPr lang="en-US" sz="3500" i="1" dirty="0"/>
              <a:t>constraints</a:t>
            </a:r>
            <a:endParaRPr lang="en-US" sz="3500" dirty="0"/>
          </a:p>
          <a:p>
            <a:pPr algn="just"/>
            <a:r>
              <a:rPr lang="en-US" sz="3500" dirty="0"/>
              <a:t>Convex QP problems have convex objective functions</a:t>
            </a:r>
          </a:p>
          <a:p>
            <a:pPr algn="just"/>
            <a:r>
              <a:rPr lang="en-US" sz="3500" dirty="0"/>
              <a:t>These problems can be solved easily and efficiently  because every local minimum is a global minimum</a:t>
            </a:r>
          </a:p>
        </p:txBody>
      </p:sp>
    </p:spTree>
    <p:extLst>
      <p:ext uri="{BB962C8B-B14F-4D97-AF65-F5344CB8AC3E}">
        <p14:creationId xmlns:p14="http://schemas.microsoft.com/office/powerpoint/2010/main" val="1683322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0E7C-9AFE-5E79-6E29-13FDD59D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927D-CE44-0719-17FF-95E9226D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000" b="1" dirty="0"/>
              <a:t>Example of QP Problem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FB1A20-2B14-4B29-F941-F8367036F5C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D279B-67C2-2C9D-6152-12476597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F84E41-8298-E878-B8FD-B12B2B6573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DFD4D4-E1F5-F461-F282-6EA5D45A5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76473" y="2114856"/>
            <a:ext cx="7991453" cy="3334069"/>
          </a:xfrm>
        </p:spPr>
      </p:pic>
    </p:spTree>
    <p:extLst>
      <p:ext uri="{BB962C8B-B14F-4D97-AF65-F5344CB8AC3E}">
        <p14:creationId xmlns:p14="http://schemas.microsoft.com/office/powerpoint/2010/main" val="3549972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7B2-5AC7-06A4-EC6E-C98361C9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BA7C9E-4DEB-52BE-87C0-043AC9071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3046766"/>
            <a:ext cx="3278703" cy="3704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890EBF-1D62-D059-41A9-07C69DA7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Perceptron…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60E5FC-7FB8-7CCE-DDC6-5FA74BBB9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5893508" cy="500088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Which one is the best among all the linear decision boundaries?</a:t>
            </a:r>
          </a:p>
          <a:p>
            <a:pPr algn="just"/>
            <a:r>
              <a:rPr lang="en-US" dirty="0"/>
              <a:t>Perceptron </a:t>
            </a:r>
            <a:r>
              <a:rPr lang="en-US" b="1" u="sng" dirty="0"/>
              <a:t>does not provide a unique solution</a:t>
            </a:r>
            <a:r>
              <a:rPr lang="en-US" dirty="0"/>
              <a:t>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AF9C3-86BF-C1E8-076B-A95B158666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6F021-D75C-363D-3B08-54BCA73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6381-B03F-CD2F-4DA9-BF885FD3C6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C42BB9-85F5-C0F2-6672-BCFF5DB86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851" y="1997001"/>
            <a:ext cx="3578949" cy="421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647A-1FB5-6960-F993-EA71C701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FE30-77A4-3D6F-85BD-ECAB589D9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 fontAlgn="base"/>
            <a:r>
              <a:rPr lang="en-US" sz="5000" b="1" dirty="0"/>
              <a:t>Support Vector Machine (SVM)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094C5-5D5C-ECA8-22EB-9BF8DBF5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32299-D927-2C43-56E8-AAC8C8DC7D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2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DC65-EF10-886C-4ABB-EE4FD23A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736B-3CEB-AFAC-A797-8FE7A650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200" b="1" dirty="0"/>
              <a:t>Case 1: Linearly Separable Data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8E4214-348F-F587-53AE-7F78E296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5878474" cy="500088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We want to find a classifier (hyperplane) to separate negative instances from the positive ones</a:t>
            </a:r>
          </a:p>
          <a:p>
            <a:pPr algn="just"/>
            <a:r>
              <a:rPr lang="en-US" dirty="0"/>
              <a:t>An infinite number of such hyperplanes exist</a:t>
            </a:r>
          </a:p>
          <a:p>
            <a:pPr algn="just"/>
            <a:r>
              <a:rPr lang="en-US" dirty="0"/>
              <a:t>SVM finds the hyperplane that maximizes the gap between data points on the boundaries (“</a:t>
            </a:r>
            <a:r>
              <a:rPr lang="en-US" b="1" u="sng" dirty="0"/>
              <a:t>support vectors</a:t>
            </a:r>
            <a:r>
              <a:rPr lang="en-US" dirty="0"/>
              <a:t>”)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868CFE-9F96-7922-C00C-C3CC06B9346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3EDD5-DD9A-EE75-CF45-42CC2997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C19DEF-7C71-E1B2-49B5-623E45C187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28467C-2979-47CF-B4FA-CBD3693B8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546" y="1849512"/>
            <a:ext cx="5590400" cy="420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0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A1108-D09B-17E5-9906-970F74F4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8D70-0F75-F532-45D8-33F14DA65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Linear SVM (Hard Margin)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9E8979-513B-0EDD-A4CC-90BB6826E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5878474" cy="5000883"/>
          </a:xfrm>
        </p:spPr>
        <p:txBody>
          <a:bodyPr>
            <a:normAutofit/>
          </a:bodyPr>
          <a:lstStyle/>
          <a:p>
            <a:pPr algn="just"/>
            <a:r>
              <a:rPr lang="en-US" altLang="zh-CN" b="1" u="sng" dirty="0"/>
              <a:t>Margin</a:t>
            </a:r>
            <a:r>
              <a:rPr lang="en-US" altLang="zh-CN" dirty="0"/>
              <a:t> is defined as the width that the boundary could be increased by </a:t>
            </a:r>
            <a:r>
              <a:rPr lang="en-US" altLang="zh-CN" i="1" dirty="0"/>
              <a:t>before hitting a data point</a:t>
            </a:r>
            <a:r>
              <a:rPr lang="en-US" altLang="zh-CN" dirty="0"/>
              <a:t> in the learning set</a:t>
            </a:r>
            <a:endParaRPr lang="en-US" dirty="0"/>
          </a:p>
          <a:p>
            <a:pPr algn="just"/>
            <a:r>
              <a:rPr lang="en-US" dirty="0"/>
              <a:t>The linear function (classifier) with the </a:t>
            </a:r>
            <a:r>
              <a:rPr lang="en-US" b="1" u="sng" dirty="0"/>
              <a:t>maximum margin is the best</a:t>
            </a:r>
          </a:p>
          <a:p>
            <a:pPr algn="just"/>
            <a:r>
              <a:rPr lang="en-US" dirty="0"/>
              <a:t>Why best? Because it is </a:t>
            </a:r>
            <a:r>
              <a:rPr lang="en-US" altLang="zh-CN" dirty="0"/>
              <a:t>robust to outliers and thus stronger generalization ability </a:t>
            </a:r>
          </a:p>
          <a:p>
            <a:pPr algn="just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39E299-0CB4-5DE6-8D5E-4EDED0983DC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7DBC-8BC9-DEE8-A379-E8E14AA9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87A53-D1FB-623C-2B95-C35E80C23A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71E8C8-4984-D3EA-F08B-933DA1292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327" y="1661527"/>
            <a:ext cx="4185745" cy="469482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4DB744-D462-F76C-8961-A858019DB510}"/>
              </a:ext>
            </a:extLst>
          </p:cNvPr>
          <p:cNvCxnSpPr>
            <a:cxnSpLocks/>
          </p:cNvCxnSpPr>
          <p:nvPr/>
        </p:nvCxnSpPr>
        <p:spPr>
          <a:xfrm flipV="1">
            <a:off x="7747686" y="2588741"/>
            <a:ext cx="3919930" cy="2471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9DE95F-D6C2-00D9-1AEF-3408015B1F5D}"/>
              </a:ext>
            </a:extLst>
          </p:cNvPr>
          <p:cNvCxnSpPr>
            <a:cxnSpLocks/>
          </p:cNvCxnSpPr>
          <p:nvPr/>
        </p:nvCxnSpPr>
        <p:spPr>
          <a:xfrm flipV="1">
            <a:off x="8073081" y="3246437"/>
            <a:ext cx="3919930" cy="2471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15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DB55-EABB-D198-127E-0F7003C0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AEFE-9FB2-776D-C226-E2A701C4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Perceptron…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F0454B-5640-6EB9-EFDB-C35E045D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5878474" cy="500088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Only guarantees convergence (in a finite number of updates) if the data are linearly separable, but the resulting hyperplane can have </a:t>
            </a:r>
            <a:r>
              <a:rPr lang="en-US" b="1" dirty="0"/>
              <a:t>arbitrarily small margin</a:t>
            </a:r>
          </a:p>
          <a:p>
            <a:pPr algn="just"/>
            <a:r>
              <a:rPr lang="en-US" b="1" dirty="0"/>
              <a:t>Goal of perceptron:</a:t>
            </a:r>
            <a:r>
              <a:rPr lang="en-US" dirty="0"/>
              <a:t> Find </a:t>
            </a:r>
            <a:r>
              <a:rPr lang="en-US" b="1" dirty="0"/>
              <a:t>any</a:t>
            </a:r>
            <a:r>
              <a:rPr lang="en-US" dirty="0"/>
              <a:t> hyperplane that correctly separates the data (it does </a:t>
            </a:r>
            <a:r>
              <a:rPr lang="en-US" b="1" dirty="0"/>
              <a:t>not</a:t>
            </a:r>
            <a:r>
              <a:rPr lang="en-US" dirty="0"/>
              <a:t> explicitly maximize margin)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E8C056-AE1D-3672-B3B7-CAE7F720810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F5156-3BCA-CC59-84BC-C80C57E5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1214BD-C64E-C27B-C89E-76B90DD160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971A3C-DF9F-B369-8F3C-CDB745C44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327" y="1661527"/>
            <a:ext cx="4185745" cy="469482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796E8F-E78C-07E6-51D0-4F0F739BDA7E}"/>
              </a:ext>
            </a:extLst>
          </p:cNvPr>
          <p:cNvCxnSpPr>
            <a:cxnSpLocks/>
          </p:cNvCxnSpPr>
          <p:nvPr/>
        </p:nvCxnSpPr>
        <p:spPr>
          <a:xfrm flipV="1">
            <a:off x="7747686" y="2588741"/>
            <a:ext cx="3919930" cy="2471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D9ED49-BA82-716B-CD38-106477E319A6}"/>
              </a:ext>
            </a:extLst>
          </p:cNvPr>
          <p:cNvCxnSpPr>
            <a:cxnSpLocks/>
          </p:cNvCxnSpPr>
          <p:nvPr/>
        </p:nvCxnSpPr>
        <p:spPr>
          <a:xfrm flipV="1">
            <a:off x="8073081" y="3246437"/>
            <a:ext cx="3919930" cy="2471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877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81667-2BCB-14CA-B215-9D96E07C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1766-1188-C82F-529F-6260355B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Distance between two parallel hyperplanes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572566C-2DFC-67A1-42EA-4A79A75290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720592"/>
                <a:ext cx="6263723" cy="500088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Now,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Therefore,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572566C-2DFC-67A1-42EA-4A79A7529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720592"/>
                <a:ext cx="6263723" cy="5000883"/>
              </a:xfrm>
              <a:blipFill>
                <a:blip r:embed="rId2"/>
                <a:stretch>
                  <a:fillRect l="-2045" t="-3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F77923-8C9F-8C29-17CC-F415887B370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B19C5-47CC-610B-5349-3499506B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DE5018-D6FB-35D9-AE2C-A7CE7159D1F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8E0A2C-F3CC-489B-3F95-69C136C0C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794" y="2328916"/>
            <a:ext cx="4934204" cy="34926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3926A64-3A51-1599-993B-209749B68471}"/>
              </a:ext>
            </a:extLst>
          </p:cNvPr>
          <p:cNvSpPr/>
          <p:nvPr/>
        </p:nvSpPr>
        <p:spPr>
          <a:xfrm>
            <a:off x="667439" y="5836963"/>
            <a:ext cx="3435835" cy="929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38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69937-1C91-C31F-2B12-4C9DE03F8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5CF6-2F8B-D78C-9257-C281FB33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Problem formulation: Linear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3C8E18D-EEBE-ECF9-F5D5-768FE3277A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720592"/>
                <a:ext cx="5664205" cy="500088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margin is the distance between the two parallel hyperplanes: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=+1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Or equivalently: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From our derivation earlier: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3C8E18D-EEBE-ECF9-F5D5-768FE3277A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720592"/>
                <a:ext cx="5664205" cy="5000883"/>
              </a:xfrm>
              <a:blipFill>
                <a:blip r:embed="rId2"/>
                <a:stretch>
                  <a:fillRect l="-2260" t="-2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F3C832-67BA-3D34-4EC0-46512E3056F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2208C-A243-B206-7604-45111AA1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502F5F-ED1E-0A7A-11E6-CADDE8E375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A76DB-8EF7-F567-6C87-13087F530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583" y="1928035"/>
            <a:ext cx="5592417" cy="404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21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64F0-3FF6-9396-465D-1AAC249A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C9A1-77BE-F5A2-5898-EFFFCC06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Problem formulation: Linear SVM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4C9258D-2898-938F-3172-EC2319FBD2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720592"/>
                <a:ext cx="5664205" cy="500088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0" dirty="0"/>
                  <a:t>Since we want to maximize the </a:t>
                </a:r>
                <a:r>
                  <a:rPr lang="en-US" b="0" dirty="0" err="1"/>
                  <a:t>g</a:t>
                </a:r>
                <a:r>
                  <a:rPr lang="en-US" b="0" dirty="0"/>
                  <a:t>ap, we want to maximize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That means, we want to minimize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In other words, we want to</a:t>
                </a:r>
              </a:p>
              <a:p>
                <a:pPr algn="just"/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minimize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4C9258D-2898-938F-3172-EC2319FBD2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720592"/>
                <a:ext cx="5664205" cy="5000883"/>
              </a:xfrm>
              <a:blipFill>
                <a:blip r:embed="rId2"/>
                <a:stretch>
                  <a:fillRect l="-1938" t="-2071" r="-2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317769-9B1A-D9A8-125D-4A6A3F86C4F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1347D-3023-C7F9-E5CA-B22FD71D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A945A3-0AF0-CCD1-5FCB-05309B65CD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3DB0BF-C231-D5A5-D957-48FAAFF76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583" y="1928035"/>
            <a:ext cx="5592417" cy="40459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1C7B-A9E7-2D88-07AD-ECF15F2FE681}"/>
                  </a:ext>
                </a:extLst>
              </p:cNvPr>
              <p:cNvSpPr txBox="1"/>
              <p:nvPr/>
            </p:nvSpPr>
            <p:spPr>
              <a:xfrm>
                <a:off x="1050597" y="5975095"/>
                <a:ext cx="4645528" cy="3911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is convenient for taking derivative later 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1C7B-A9E7-2D88-07AD-ECF15F2FE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597" y="5975095"/>
                <a:ext cx="4645528" cy="391133"/>
              </a:xfrm>
              <a:prstGeom prst="rect">
                <a:avLst/>
              </a:prstGeom>
              <a:blipFill>
                <a:blip r:embed="rId5"/>
                <a:stretch>
                  <a:fillRect t="-1515" b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4A835DA-4A3C-0CBD-0397-D40CB436C782}"/>
              </a:ext>
            </a:extLst>
          </p:cNvPr>
          <p:cNvSpPr/>
          <p:nvPr/>
        </p:nvSpPr>
        <p:spPr>
          <a:xfrm>
            <a:off x="1761688" y="4362275"/>
            <a:ext cx="3405930" cy="1301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81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B0CC9-07C2-3350-519A-832A4F04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CF16-159C-1CB2-9C8B-2640B160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Problem formulation: Linear SVM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0A46B926-BCFE-B95B-BB35-E5995C6F6B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720592"/>
                <a:ext cx="5664205" cy="500088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Additionally, we need to impose constraints that all instances are correctly classified. In our case:</a:t>
                </a:r>
              </a:p>
              <a:p>
                <a:pPr algn="just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=+1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equivalent to: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0A46B926-BCFE-B95B-BB35-E5995C6F6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720592"/>
                <a:ext cx="5664205" cy="5000883"/>
              </a:xfrm>
              <a:blipFill>
                <a:blip r:embed="rId2"/>
                <a:stretch>
                  <a:fillRect l="-2260" t="-2071" r="-2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25CC07-9FFE-258E-7E15-2C97550CB3D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5FACA-269A-4078-854C-07976B2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A3CE83-09CD-5987-D70E-5D638FA107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713DEB-C754-B810-055E-DA611304C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583" y="1928035"/>
            <a:ext cx="5592417" cy="404599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E8FC67-8CB9-FAE5-586C-28CFE7440740}"/>
              </a:ext>
            </a:extLst>
          </p:cNvPr>
          <p:cNvSpPr/>
          <p:nvPr/>
        </p:nvSpPr>
        <p:spPr>
          <a:xfrm>
            <a:off x="1756041" y="6015973"/>
            <a:ext cx="3405930" cy="747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05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F466-6A32-9FA1-CC52-DB08CC89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C0AE5-409C-B12A-6FD5-91FAE17A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Linear SVM as an optimization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A34E25D-11F5-5ECA-63AD-D2560E7CDF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720592"/>
                <a:ext cx="5664205" cy="5000883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minimize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subject to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called “</a:t>
                </a:r>
                <a:r>
                  <a:rPr lang="en-US" b="1" u="sng" dirty="0"/>
                  <a:t>primal formulation of linear SVMs</a:t>
                </a:r>
                <a:r>
                  <a:rPr lang="en-US" dirty="0"/>
                  <a:t>”.</a:t>
                </a:r>
              </a:p>
              <a:p>
                <a:pPr marL="0" indent="0">
                  <a:buNone/>
                </a:pPr>
                <a:r>
                  <a:rPr lang="en-US" dirty="0"/>
                  <a:t>It is a </a:t>
                </a:r>
                <a:r>
                  <a:rPr lang="en-US" b="1" u="sng" dirty="0"/>
                  <a:t>convex quadratic programming</a:t>
                </a:r>
                <a:r>
                  <a:rPr lang="en-US" dirty="0"/>
                  <a:t> (QP) optimization problem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A34E25D-11F5-5ECA-63AD-D2560E7CD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720592"/>
                <a:ext cx="5664205" cy="5000883"/>
              </a:xfrm>
              <a:blipFill>
                <a:blip r:embed="rId2"/>
                <a:stretch>
                  <a:fillRect l="-2260" r="-1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C8990B-9EC9-0CF3-36CF-44E761BDE6A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014EB-779A-CCD8-C8E0-B532669B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2A8ADB-5D02-7ACF-4419-35600D2915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F055FE-0A1C-6ADE-7C20-EF0D6F925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583" y="1928035"/>
            <a:ext cx="5592417" cy="404599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79C79B-E35B-E413-5FEB-1E02803E83D7}"/>
              </a:ext>
            </a:extLst>
          </p:cNvPr>
          <p:cNvSpPr/>
          <p:nvPr/>
        </p:nvSpPr>
        <p:spPr>
          <a:xfrm>
            <a:off x="1856709" y="3645999"/>
            <a:ext cx="3405930" cy="9487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B7E8F4-E4BB-0B8C-C5B6-7B7B5CA62D86}"/>
              </a:ext>
            </a:extLst>
          </p:cNvPr>
          <p:cNvSpPr/>
          <p:nvPr/>
        </p:nvSpPr>
        <p:spPr>
          <a:xfrm>
            <a:off x="1873487" y="1690688"/>
            <a:ext cx="3405930" cy="9487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8DC88-68FD-31AF-A8DC-50C298A4FD3C}"/>
              </a:ext>
            </a:extLst>
          </p:cNvPr>
          <p:cNvSpPr txBox="1"/>
          <p:nvPr/>
        </p:nvSpPr>
        <p:spPr>
          <a:xfrm>
            <a:off x="343315" y="1769493"/>
            <a:ext cx="14528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Objective</a:t>
            </a:r>
          </a:p>
          <a:p>
            <a:r>
              <a:rPr lang="en-US" sz="2400" dirty="0"/>
              <a:t>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9BE57F-DAC6-4803-6B30-B06782D60244}"/>
              </a:ext>
            </a:extLst>
          </p:cNvPr>
          <p:cNvSpPr txBox="1"/>
          <p:nvPr/>
        </p:nvSpPr>
        <p:spPr>
          <a:xfrm>
            <a:off x="211805" y="3889532"/>
            <a:ext cx="1584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Constraint</a:t>
            </a:r>
          </a:p>
        </p:txBody>
      </p:sp>
    </p:spTree>
    <p:extLst>
      <p:ext uri="{BB962C8B-B14F-4D97-AF65-F5344CB8AC3E}">
        <p14:creationId xmlns:p14="http://schemas.microsoft.com/office/powerpoint/2010/main" val="2930426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EAC30-512A-6CAB-98F6-E84AB1C5D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9465-28EA-62B9-6ADC-C3D6B28E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The Dual Formulation of linear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FC90670-3446-8AEA-8D14-DE9AE3EE91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720592"/>
                <a:ext cx="11040256" cy="500088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maximize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subject to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weight vector is defined in terms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  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the prediction becomes: 	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FC90670-3446-8AEA-8D14-DE9AE3EE91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720592"/>
                <a:ext cx="11040256" cy="5000883"/>
              </a:xfrm>
              <a:blipFill>
                <a:blip r:embed="rId3"/>
                <a:stretch>
                  <a:fillRect l="-1160" b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D10464-3FC1-B0AE-AAC3-66CD04ED2E3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F0773-87EC-EE78-3DFC-6BCDF6A5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660030-42E0-5316-D1EC-4FEE4C2C06D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47A679-E4D7-B820-2E70-AB36D844D62F}"/>
              </a:ext>
            </a:extLst>
          </p:cNvPr>
          <p:cNvSpPr/>
          <p:nvPr/>
        </p:nvSpPr>
        <p:spPr>
          <a:xfrm>
            <a:off x="3417786" y="3848110"/>
            <a:ext cx="5508825" cy="1355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87371A-7B63-EA5B-662A-E7369C7B94C9}"/>
              </a:ext>
            </a:extLst>
          </p:cNvPr>
          <p:cNvSpPr/>
          <p:nvPr/>
        </p:nvSpPr>
        <p:spPr>
          <a:xfrm>
            <a:off x="2552994" y="1590110"/>
            <a:ext cx="7304069" cy="15212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13433-FA9D-C47F-4290-9995AA45F915}"/>
              </a:ext>
            </a:extLst>
          </p:cNvPr>
          <p:cNvSpPr txBox="1"/>
          <p:nvPr/>
        </p:nvSpPr>
        <p:spPr>
          <a:xfrm>
            <a:off x="1056257" y="2006162"/>
            <a:ext cx="14528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Objective</a:t>
            </a:r>
          </a:p>
          <a:p>
            <a:r>
              <a:rPr lang="en-US" sz="2400" dirty="0"/>
              <a:t>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DD7AE-A12F-567F-F524-B0FFC8E65CA7}"/>
              </a:ext>
            </a:extLst>
          </p:cNvPr>
          <p:cNvSpPr txBox="1"/>
          <p:nvPr/>
        </p:nvSpPr>
        <p:spPr>
          <a:xfrm>
            <a:off x="1716919" y="4294783"/>
            <a:ext cx="1584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Constraint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708660-60C1-4D46-CA61-B1F64694A320}"/>
              </a:ext>
            </a:extLst>
          </p:cNvPr>
          <p:cNvSpPr/>
          <p:nvPr/>
        </p:nvSpPr>
        <p:spPr>
          <a:xfrm>
            <a:off x="7638848" y="5461322"/>
            <a:ext cx="2743200" cy="620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53855A-0202-B6C4-CFF4-07A87E5578B7}"/>
              </a:ext>
            </a:extLst>
          </p:cNvPr>
          <p:cNvSpPr/>
          <p:nvPr/>
        </p:nvSpPr>
        <p:spPr>
          <a:xfrm>
            <a:off x="5528872" y="6140582"/>
            <a:ext cx="4764419" cy="5389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44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9BB7B-B3F7-A710-043F-935E4A6F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72DBE-FC43-484D-E05B-31D43172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Mathematical Formulation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7919C6-3186-2450-0CA8-CEDE14C15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0" y="1720592"/>
            <a:ext cx="11040255" cy="45813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500" dirty="0"/>
              <a:t>Problem statement: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DFE485-CE15-D325-D89F-532DB43AC88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45145-4686-99DF-3D6B-BA31F210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46B598-5917-E62F-7204-E831F9F954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45EF95-EC14-27E0-3C02-C60159F51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440" y="1773541"/>
            <a:ext cx="6039160" cy="13589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4EAFFF-FE7D-69DA-0BF0-A7559D7C7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175" y="3429000"/>
            <a:ext cx="5372376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54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D8B31-88F0-6C2C-9966-5E1985A54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2608-F1E9-CA43-F098-E81AFC9F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Mathematical Example (contd.)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8442B84-BF7E-4BBC-BC94-FBB947CB9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0" y="1720592"/>
            <a:ext cx="11040255" cy="45813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1500" dirty="0"/>
          </a:p>
          <a:p>
            <a:pPr marL="0" indent="0" algn="just">
              <a:buNone/>
            </a:pPr>
            <a:endParaRPr lang="en-US" sz="1500" dirty="0"/>
          </a:p>
          <a:p>
            <a:pPr marL="0" indent="0" algn="just">
              <a:buNone/>
            </a:pPr>
            <a:endParaRPr lang="en-US" sz="1500" dirty="0"/>
          </a:p>
          <a:p>
            <a:pPr marL="0" indent="0" algn="just">
              <a:buNone/>
            </a:pPr>
            <a:r>
              <a:rPr lang="en-US" sz="1500" dirty="0"/>
              <a:t>Gram Matrix:</a:t>
            </a:r>
          </a:p>
          <a:p>
            <a:pPr marL="0" indent="0" algn="just">
              <a:buNone/>
            </a:pPr>
            <a:endParaRPr lang="en-US" sz="1500" dirty="0"/>
          </a:p>
          <a:p>
            <a:pPr marL="0" indent="0" algn="just">
              <a:buNone/>
            </a:pPr>
            <a:endParaRPr lang="en-US" sz="1500" dirty="0"/>
          </a:p>
          <a:p>
            <a:pPr marL="0" indent="0" algn="just">
              <a:buNone/>
            </a:pPr>
            <a:endParaRPr lang="en-US" sz="1500" dirty="0"/>
          </a:p>
          <a:p>
            <a:pPr marL="0" indent="0" algn="just">
              <a:buNone/>
            </a:pPr>
            <a:endParaRPr lang="en-US" sz="1500" dirty="0"/>
          </a:p>
          <a:p>
            <a:pPr marL="0" indent="0" algn="just">
              <a:buNone/>
            </a:pPr>
            <a:endParaRPr lang="en-US" sz="1500" dirty="0"/>
          </a:p>
          <a:p>
            <a:pPr marL="0" indent="0" algn="just">
              <a:buNone/>
            </a:pPr>
            <a:r>
              <a:rPr lang="en-US" sz="1500" dirty="0"/>
              <a:t>Rewrite the dual formulation: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3AC37C-E3CD-FD22-DB1E-3989AFEABDD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5D761-4D1B-94E2-E45E-CA87A338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3CED67-C108-EAFA-922B-68111765CB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2FAA755-7287-EC79-B992-FA1AA630B4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7720931"/>
                  </p:ext>
                </p:extLst>
              </p:nvPr>
            </p:nvGraphicFramePr>
            <p:xfrm>
              <a:off x="1956487" y="2923648"/>
              <a:ext cx="5321642" cy="1524000"/>
            </p:xfrm>
            <a:graphic>
              <a:graphicData uri="http://schemas.openxmlformats.org/drawingml/2006/table">
                <a:tbl>
                  <a:tblPr/>
                  <a:tblGrid>
                    <a:gridCol w="771473">
                      <a:extLst>
                        <a:ext uri="{9D8B030D-6E8A-4147-A177-3AD203B41FA5}">
                          <a16:colId xmlns:a16="http://schemas.microsoft.com/office/drawing/2014/main" val="1370876390"/>
                        </a:ext>
                      </a:extLst>
                    </a:gridCol>
                    <a:gridCol w="1633975">
                      <a:extLst>
                        <a:ext uri="{9D8B030D-6E8A-4147-A177-3AD203B41FA5}">
                          <a16:colId xmlns:a16="http://schemas.microsoft.com/office/drawing/2014/main" val="1942657525"/>
                        </a:ext>
                      </a:extLst>
                    </a:gridCol>
                    <a:gridCol w="951470">
                      <a:extLst>
                        <a:ext uri="{9D8B030D-6E8A-4147-A177-3AD203B41FA5}">
                          <a16:colId xmlns:a16="http://schemas.microsoft.com/office/drawing/2014/main" val="2404629500"/>
                        </a:ext>
                      </a:extLst>
                    </a:gridCol>
                    <a:gridCol w="945292">
                      <a:extLst>
                        <a:ext uri="{9D8B030D-6E8A-4147-A177-3AD203B41FA5}">
                          <a16:colId xmlns:a16="http://schemas.microsoft.com/office/drawing/2014/main" val="1120583553"/>
                        </a:ext>
                      </a:extLst>
                    </a:gridCol>
                    <a:gridCol w="1019432">
                      <a:extLst>
                        <a:ext uri="{9D8B030D-6E8A-4147-A177-3AD203B41FA5}">
                          <a16:colId xmlns:a16="http://schemas.microsoft.com/office/drawing/2014/main" val="136317335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   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65197073"/>
                      </a:ext>
                    </a:extLst>
                  </a:tr>
                  <a:tr h="303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×2+2×2=8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8415195"/>
                      </a:ext>
                    </a:extLst>
                  </a:tr>
                  <a:tr h="303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4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×2+4×2=16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6250568"/>
                      </a:ext>
                    </a:extLst>
                  </a:tr>
                  <a:tr h="303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×2+4×2=12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2473692"/>
                      </a:ext>
                    </a:extLst>
                  </a:tr>
                  <a:tr h="303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4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×2+2×2=12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5604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2FAA755-7287-EC79-B992-FA1AA630B4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7720931"/>
                  </p:ext>
                </p:extLst>
              </p:nvPr>
            </p:nvGraphicFramePr>
            <p:xfrm>
              <a:off x="1956487" y="2923648"/>
              <a:ext cx="5321642" cy="1524000"/>
            </p:xfrm>
            <a:graphic>
              <a:graphicData uri="http://schemas.openxmlformats.org/drawingml/2006/table">
                <a:tbl>
                  <a:tblPr/>
                  <a:tblGrid>
                    <a:gridCol w="771473">
                      <a:extLst>
                        <a:ext uri="{9D8B030D-6E8A-4147-A177-3AD203B41FA5}">
                          <a16:colId xmlns:a16="http://schemas.microsoft.com/office/drawing/2014/main" val="1370876390"/>
                        </a:ext>
                      </a:extLst>
                    </a:gridCol>
                    <a:gridCol w="1633975">
                      <a:extLst>
                        <a:ext uri="{9D8B030D-6E8A-4147-A177-3AD203B41FA5}">
                          <a16:colId xmlns:a16="http://schemas.microsoft.com/office/drawing/2014/main" val="1942657525"/>
                        </a:ext>
                      </a:extLst>
                    </a:gridCol>
                    <a:gridCol w="951470">
                      <a:extLst>
                        <a:ext uri="{9D8B030D-6E8A-4147-A177-3AD203B41FA5}">
                          <a16:colId xmlns:a16="http://schemas.microsoft.com/office/drawing/2014/main" val="2404629500"/>
                        </a:ext>
                      </a:extLst>
                    </a:gridCol>
                    <a:gridCol w="945292">
                      <a:extLst>
                        <a:ext uri="{9D8B030D-6E8A-4147-A177-3AD203B41FA5}">
                          <a16:colId xmlns:a16="http://schemas.microsoft.com/office/drawing/2014/main" val="1120583553"/>
                        </a:ext>
                      </a:extLst>
                    </a:gridCol>
                    <a:gridCol w="1019432">
                      <a:extLst>
                        <a:ext uri="{9D8B030D-6E8A-4147-A177-3AD203B41FA5}">
                          <a16:colId xmlns:a16="http://schemas.microsoft.com/office/drawing/2014/main" val="136317335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   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7388" r="-178731" b="-4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05" r="-207051" b="-4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53205" r="-107051" b="-4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3353" b="-4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19707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0000" r="-588189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7388" t="-100000" r="-178731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05" t="-100000" r="-207051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53205" t="-100000" r="-107051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3353" t="-100000" b="-3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41519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96078" r="-588189" b="-196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7388" t="-196078" r="-178731" b="-196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05" t="-196078" r="-207051" b="-196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53205" t="-196078" r="-107051" b="-196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3353" t="-196078" b="-1960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625056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2000" r="-58818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7388" t="-302000" r="-17873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05" t="-302000" r="-20705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53205" t="-302000" r="-10705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3353" t="-302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247369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02000" r="-588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7388" t="-402000" r="-178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05" t="-402000" r="-207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53205" t="-402000" r="-107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3353" t="-4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5604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D462ACE-E7B7-94FC-C3D9-414C383DC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913" y="1690688"/>
            <a:ext cx="1943200" cy="1111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DBBDF2-EB90-9C02-F447-7459E1B6A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929" y="4936133"/>
            <a:ext cx="6331275" cy="1854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6539A5-4136-570F-96AF-084321E74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9406" y="4585357"/>
            <a:ext cx="2401244" cy="13604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E7BA1D-DD48-A1BB-BEAE-C2D096C21E36}"/>
              </a:ext>
            </a:extLst>
          </p:cNvPr>
          <p:cNvCxnSpPr>
            <a:cxnSpLocks/>
          </p:cNvCxnSpPr>
          <p:nvPr/>
        </p:nvCxnSpPr>
        <p:spPr>
          <a:xfrm flipH="1">
            <a:off x="7698259" y="4850027"/>
            <a:ext cx="1981729" cy="5988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DD82B4-6E1E-8CA6-16C6-384EF03797F7}"/>
              </a:ext>
            </a:extLst>
          </p:cNvPr>
          <p:cNvCxnSpPr>
            <a:cxnSpLocks/>
          </p:cNvCxnSpPr>
          <p:nvPr/>
        </p:nvCxnSpPr>
        <p:spPr>
          <a:xfrm flipH="1">
            <a:off x="7339934" y="5733535"/>
            <a:ext cx="2780250" cy="7007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866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829AC-602B-B5D3-025E-24AF6F67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6CCF8-157E-C283-BE46-C175E3AD6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Python Code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F2F9F6-239B-142C-BA85-7C7F042E3B5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1DD23-2ABA-E2C7-0381-32FE762C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6F77C8-BE6A-4F39-D540-220E46C1E0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D26B43F-F1C8-A288-63EE-B8843EAD3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504" y="1534812"/>
            <a:ext cx="3859762" cy="4642147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1DAA06-45DA-BDCB-8AE7-A2F554087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997" y="1534812"/>
            <a:ext cx="2898184" cy="51132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3DFE27-0659-C52B-8DE2-FE93AF384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82" y="1534812"/>
            <a:ext cx="4817521" cy="511329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7C73221-D392-C243-54B5-D3B209F79C21}"/>
              </a:ext>
            </a:extLst>
          </p:cNvPr>
          <p:cNvSpPr txBox="1"/>
          <p:nvPr/>
        </p:nvSpPr>
        <p:spPr>
          <a:xfrm>
            <a:off x="831056" y="2582465"/>
            <a:ext cx="278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46D10A-CF8D-CC51-330C-43881B2C7E86}"/>
              </a:ext>
            </a:extLst>
          </p:cNvPr>
          <p:cNvSpPr txBox="1"/>
          <p:nvPr/>
        </p:nvSpPr>
        <p:spPr>
          <a:xfrm>
            <a:off x="1408509" y="2582465"/>
            <a:ext cx="345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+1</a:t>
            </a:r>
          </a:p>
        </p:txBody>
      </p:sp>
    </p:spTree>
    <p:extLst>
      <p:ext uri="{BB962C8B-B14F-4D97-AF65-F5344CB8AC3E}">
        <p14:creationId xmlns:p14="http://schemas.microsoft.com/office/powerpoint/2010/main" val="1381805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DFB9A-F689-EB64-C83A-89D28CEE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91D7-7630-CD3B-3EEA-38D5CE1B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Python Code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281143-76AA-F5BD-455D-98E925D5CAC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6ABFE-6213-B561-A96D-25B80C9D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491DAA-87F6-DAEC-3447-18F242A4EE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13E838B-D353-9F94-A937-31A1AB2DA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703281"/>
            <a:ext cx="5298067" cy="4358864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C6CC10-0B10-D97C-3B0C-405663E1B7AE}"/>
              </a:ext>
            </a:extLst>
          </p:cNvPr>
          <p:cNvSpPr txBox="1"/>
          <p:nvPr/>
        </p:nvSpPr>
        <p:spPr>
          <a:xfrm>
            <a:off x="6402344" y="3319790"/>
            <a:ext cx="60949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Optimal alpha: [0.25 0.25 0.25 0.25]</a:t>
            </a:r>
          </a:p>
          <a:p>
            <a:r>
              <a:rPr lang="en-US" dirty="0"/>
              <a:t>Optimal weight vector </a:t>
            </a:r>
            <a:r>
              <a:rPr lang="en-US" b="1" dirty="0"/>
              <a:t>w</a:t>
            </a:r>
            <a:r>
              <a:rPr lang="en-US" dirty="0"/>
              <a:t>: [0.99 0]</a:t>
            </a:r>
          </a:p>
          <a:p>
            <a:r>
              <a:rPr lang="en-US" dirty="0"/>
              <a:t>Optimal bias b: -2.99</a:t>
            </a:r>
          </a:p>
        </p:txBody>
      </p:sp>
    </p:spTree>
    <p:extLst>
      <p:ext uri="{BB962C8B-B14F-4D97-AF65-F5344CB8AC3E}">
        <p14:creationId xmlns:p14="http://schemas.microsoft.com/office/powerpoint/2010/main" val="1785474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ED67-0498-538C-8016-CC80F065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FDC35-0C9B-9F40-973E-96EFE1945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100" b="1" dirty="0"/>
              <a:t>Case 2: Not Linearly Separable Data – Soft-margin Linear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B9F949D-CB4F-EFAB-034F-413CD3F8B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5878474" cy="500088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What if the data is not linearly separable, e.g., there are outliers or noisy measurements, or the data is slightly non-linear?</a:t>
                </a:r>
              </a:p>
              <a:p>
                <a:pPr algn="just"/>
                <a:r>
                  <a:rPr lang="en-US" b="1" u="sng" dirty="0"/>
                  <a:t>Approach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b="1" u="sng" dirty="0"/>
                  <a:t>Assign a “slack variable”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to each instance, which can be thought of distance from the separating hyperplane </a:t>
                </a:r>
                <a:r>
                  <a:rPr lang="en-US" b="1" u="sng" dirty="0"/>
                  <a:t>if an instance is misclassified</a:t>
                </a:r>
                <a:r>
                  <a:rPr lang="en-US" dirty="0"/>
                  <a:t> and 0 otherwise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measures intrusion of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into the margin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B9F949D-CB4F-EFAB-034F-413CD3F8B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5878474" cy="5000883"/>
              </a:xfrm>
              <a:blipFill>
                <a:blip r:embed="rId2"/>
                <a:stretch>
                  <a:fillRect l="-1867" t="-2071" r="-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16EE54-4624-EA1E-06A5-32060D3AAE7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3DF39-B73C-0B7D-411C-95C777A8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B08EF4-964F-6C91-AA04-04FCFD3385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A531B2-53D1-824E-091E-0C0C34585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309" y="2110972"/>
            <a:ext cx="4864350" cy="354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39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B919-34EE-CA37-6252-8F072611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9853-F979-FEFC-C6CE-718FCEE2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Linear SVM (Soft-margin):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0563EF4-D417-6C0F-C303-F13DB14E5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0" y="1720592"/>
                <a:ext cx="11040255" cy="500088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minimize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subject to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u="sng" dirty="0"/>
                  <a:t>Dual formulation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maximize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subject to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		and 	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0563EF4-D417-6C0F-C303-F13DB14E5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0" y="1720592"/>
                <a:ext cx="11040255" cy="5000883"/>
              </a:xfrm>
              <a:blipFill>
                <a:blip r:embed="rId2"/>
                <a:stretch>
                  <a:fillRect l="-1160" b="-1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3CC8A4-1AB8-5D1A-64B8-597C76A57B9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8BBB5-6B5F-BCF1-25F0-92CED528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A33F0C-059E-A74D-4648-05032AACA8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200D27-51C2-E807-E73F-BB6F0ED99E51}"/>
              </a:ext>
            </a:extLst>
          </p:cNvPr>
          <p:cNvSpPr/>
          <p:nvPr/>
        </p:nvSpPr>
        <p:spPr>
          <a:xfrm>
            <a:off x="4155292" y="3269287"/>
            <a:ext cx="3814249" cy="732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BD7B4A-C1F6-14DF-8B14-D1429BCB003F}"/>
              </a:ext>
            </a:extLst>
          </p:cNvPr>
          <p:cNvSpPr/>
          <p:nvPr/>
        </p:nvSpPr>
        <p:spPr>
          <a:xfrm>
            <a:off x="3912012" y="1523715"/>
            <a:ext cx="4698588" cy="15047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8C67B9-C0BF-B98B-1E0D-DF8DFF55F1BB}"/>
              </a:ext>
            </a:extLst>
          </p:cNvPr>
          <p:cNvSpPr/>
          <p:nvPr/>
        </p:nvSpPr>
        <p:spPr>
          <a:xfrm>
            <a:off x="3351320" y="4908131"/>
            <a:ext cx="7443228" cy="7322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9EFEA3-18B8-80D9-15AC-F008D0F5AC1A}"/>
              </a:ext>
            </a:extLst>
          </p:cNvPr>
          <p:cNvSpPr/>
          <p:nvPr/>
        </p:nvSpPr>
        <p:spPr>
          <a:xfrm>
            <a:off x="3193327" y="6031397"/>
            <a:ext cx="7091576" cy="7322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62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C059-73C2-F6F4-247F-CC6ED315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07D199-A2B0-3810-FF0E-E9EA5CD0138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fontAlgn="base"/>
                <a:r>
                  <a:rPr lang="en-US" sz="3200" b="1" dirty="0"/>
                  <a:t>Effect of  the regularization parameter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07D199-A2B0-3810-FF0E-E9EA5CD01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B9D00F6-9B0C-76C1-7FC1-FFE45EAE68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0" y="1720592"/>
                <a:ext cx="11040255" cy="500088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u="sng" dirty="0"/>
                  <a:t>Margin Behavior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↑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→ Narrower margin (harder margin, stricter separation)</a:t>
                </a:r>
              </a:p>
              <a:p>
                <a:pPr lvl="1" algn="just"/>
                <a:r>
                  <a:rPr lang="en-US" dirty="0"/>
                  <a:t>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→ Wider margin (softer margin, more tolerant of violations)</a:t>
                </a:r>
              </a:p>
              <a:p>
                <a:pPr algn="just"/>
                <a:r>
                  <a:rPr lang="en-US" b="1" u="sng" dirty="0"/>
                  <a:t>Misclassification Penalty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↑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→ Heavily penalizes misclassifications → fewer training errors, risk of overfitting</a:t>
                </a:r>
              </a:p>
              <a:p>
                <a:pPr lvl="1" algn="just"/>
                <a:r>
                  <a:rPr lang="en-US" dirty="0"/>
                  <a:t>↓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→ Allows more misclassifications → smoother boundary, better generalization</a:t>
                </a:r>
              </a:p>
              <a:p>
                <a:pPr algn="just"/>
                <a:r>
                  <a:rPr lang="en-US" b="1" u="sng" dirty="0"/>
                  <a:t>Trade-off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High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→ prioritizes low training error over large margin</a:t>
                </a:r>
              </a:p>
              <a:p>
                <a:pPr lvl="1" algn="just"/>
                <a:r>
                  <a:rPr lang="en-US" dirty="0"/>
                  <a:t>Low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→ prioritizes wide margin over perfect training accuracy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B9D00F6-9B0C-76C1-7FC1-FFE45EAE68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0" y="1720592"/>
                <a:ext cx="11040255" cy="5000883"/>
              </a:xfrm>
              <a:blipFill>
                <a:blip r:embed="rId3"/>
                <a:stretch>
                  <a:fillRect l="-994" t="-2071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B75538-7538-9A28-66DA-20974D9D012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B412-10B0-A87A-17CF-881A7E1F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0B3F1B-EB76-D2CB-6228-9128291CB7E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93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B1D65-F34B-0429-AF03-84EA34463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0E8D1A-A6C8-8480-FBD4-E23924BFA5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fontAlgn="base"/>
                <a:r>
                  <a:rPr lang="en-US" sz="3200" b="1" dirty="0"/>
                  <a:t>Effect of 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b="1" dirty="0"/>
                  <a:t> (contd.)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0E8D1A-A6C8-8480-FBD4-E23924BFA5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AD2A552-32E8-CB72-4B29-0600EA204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0" y="1720593"/>
                <a:ext cx="11040255" cy="1595158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The bigger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the more penalty SVM gets when it makes misclassification</a:t>
                </a:r>
              </a:p>
              <a:p>
                <a:pPr algn="just"/>
                <a:r>
                  <a:rPr lang="en-US" dirty="0"/>
                  <a:t>Therefore, the narrower the margin is (i.e., larger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), fewer support vectors the decision boundary will depend on</a:t>
                </a:r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AD2A552-32E8-CB72-4B29-0600EA204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0" y="1720593"/>
                <a:ext cx="11040255" cy="1595158"/>
              </a:xfrm>
              <a:blipFill>
                <a:blip r:embed="rId3"/>
                <a:stretch>
                  <a:fillRect l="-994" t="-8397" r="-1104" b="-10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DA96E0-A1D4-8BF3-2D74-86606DC7D9D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02B3B-9DCD-D577-C943-A4C67731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DF2E3-DED6-180F-DFB8-8C3379747BD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73A3E50-F919-6FF1-6DFA-AEA5339AC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945" y="3315750"/>
            <a:ext cx="9526503" cy="340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243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21530</TotalTime>
  <Words>1103</Words>
  <Application>Microsoft Office PowerPoint</Application>
  <PresentationFormat>Widescreen</PresentationFormat>
  <Paragraphs>197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Office Theme</vt:lpstr>
      <vt:lpstr>Lecture 16: Support Vector Machine (SVM) (Part I)</vt:lpstr>
      <vt:lpstr>Representing samples as vectors (an example)</vt:lpstr>
      <vt:lpstr>Optimization</vt:lpstr>
      <vt:lpstr>Basics of Optimization: Convex Function</vt:lpstr>
      <vt:lpstr>Basics of Optimization: Quadratic Programming</vt:lpstr>
      <vt:lpstr>Example of QP Problem</vt:lpstr>
      <vt:lpstr>Perceptron…</vt:lpstr>
      <vt:lpstr>Support Vector Machine (SVM)</vt:lpstr>
      <vt:lpstr>Case 1: Linearly Separable Data</vt:lpstr>
      <vt:lpstr>Linear SVM (Hard Margin)</vt:lpstr>
      <vt:lpstr>Perceptron…</vt:lpstr>
      <vt:lpstr>Distance between two parallel hyperplanes</vt:lpstr>
      <vt:lpstr>Problem formulation: Linear SVM</vt:lpstr>
      <vt:lpstr>Problem formulation: Linear SVM (contd.)</vt:lpstr>
      <vt:lpstr>Problem formulation: Linear SVM (contd.)</vt:lpstr>
      <vt:lpstr>Linear SVM as an optimization problem</vt:lpstr>
      <vt:lpstr>The Dual Formulation of linear SVM</vt:lpstr>
      <vt:lpstr>Mathematical Formulation</vt:lpstr>
      <vt:lpstr>Mathematical Example (contd.)</vt:lpstr>
      <vt:lpstr>Python Code Example</vt:lpstr>
      <vt:lpstr>Python Code Example</vt:lpstr>
      <vt:lpstr>Case 2: Not Linearly Separable Data – Soft-margin Linear SVM</vt:lpstr>
      <vt:lpstr>Linear SVM (Soft-margin): Optimization</vt:lpstr>
      <vt:lpstr>Effect of  the regularization parameter C</vt:lpstr>
      <vt:lpstr>Effect of  C (contd.)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16: Support Vector Machine (SVM) (Part I)</dc:title>
  <dc:creator>Jilan Samiuddin</dc:creator>
  <cp:lastModifiedBy>Jilan Samiuddin</cp:lastModifiedBy>
  <cp:revision>250</cp:revision>
  <dcterms:created xsi:type="dcterms:W3CDTF">2025-05-01T04:50:36Z</dcterms:created>
  <dcterms:modified xsi:type="dcterms:W3CDTF">2026-04-27T03:41:43Z</dcterms:modified>
</cp:coreProperties>
</file>