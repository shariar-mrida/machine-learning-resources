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77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br>
              <a:rPr lang="en-US" sz="5200" b="1" dirty="0"/>
            </a:br>
            <a:r>
              <a:rPr lang="en-US" sz="5200" b="1" dirty="0"/>
              <a:t>Lecture 2: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Jilan Samiuddin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F7D2-52DD-129E-DA62-E86E6903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A8FFCC-CB1A-7AFD-1E29-764FC879F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53072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u="sng" dirty="0">
                <a:latin typeface="+mj-lt"/>
              </a:rPr>
              <a:t>Linear Regression</a:t>
            </a:r>
            <a:r>
              <a:rPr lang="en-US" dirty="0">
                <a:latin typeface="+mj-lt"/>
              </a:rPr>
              <a:t> is a supervised machine learning algorithm used to model the relationship between one or more </a:t>
            </a:r>
            <a:r>
              <a:rPr lang="en-US" b="1" u="sng" dirty="0">
                <a:latin typeface="+mj-lt"/>
              </a:rPr>
              <a:t>input features</a:t>
            </a:r>
            <a:r>
              <a:rPr lang="en-US" dirty="0">
                <a:latin typeface="+mj-lt"/>
              </a:rPr>
              <a:t> (</a:t>
            </a:r>
            <a:r>
              <a:rPr lang="en-US" b="1" u="sng" dirty="0">
                <a:latin typeface="+mj-lt"/>
              </a:rPr>
              <a:t>independent variables</a:t>
            </a:r>
            <a:r>
              <a:rPr lang="en-US" dirty="0">
                <a:latin typeface="+mj-lt"/>
              </a:rPr>
              <a:t>) and a continuous </a:t>
            </a:r>
            <a:r>
              <a:rPr lang="en-US" b="1" u="sng" dirty="0">
                <a:latin typeface="+mj-lt"/>
              </a:rPr>
              <a:t>output variable</a:t>
            </a:r>
            <a:r>
              <a:rPr lang="en-US" dirty="0">
                <a:latin typeface="+mj-lt"/>
              </a:rPr>
              <a:t> (</a:t>
            </a:r>
            <a:r>
              <a:rPr lang="en-US" b="1" u="sng" dirty="0">
                <a:latin typeface="+mj-lt"/>
              </a:rPr>
              <a:t>dependent variable</a:t>
            </a:r>
            <a:r>
              <a:rPr lang="en-US" dirty="0">
                <a:latin typeface="+mj-lt"/>
              </a:rPr>
              <a:t>). </a:t>
            </a:r>
          </a:p>
          <a:p>
            <a:pPr algn="just"/>
            <a:r>
              <a:rPr lang="en-US" dirty="0">
                <a:latin typeface="+mj-lt"/>
              </a:rPr>
              <a:t>It works by learning from labeled data and fitting the best possible straight line – known as the line of best fit – through the data points.</a:t>
            </a:r>
          </a:p>
          <a:p>
            <a:pPr algn="just"/>
            <a:r>
              <a:rPr lang="en-US" dirty="0">
                <a:latin typeface="+mj-lt"/>
              </a:rPr>
              <a:t>The </a:t>
            </a:r>
            <a:r>
              <a:rPr lang="en-US" b="1" u="sng" dirty="0">
                <a:latin typeface="+mj-lt"/>
              </a:rPr>
              <a:t>core assumption</a:t>
            </a:r>
            <a:r>
              <a:rPr lang="en-US" dirty="0">
                <a:latin typeface="+mj-lt"/>
              </a:rPr>
              <a:t> in linear regression is that there is </a:t>
            </a:r>
            <a:r>
              <a:rPr lang="en-US" b="1" u="sng" dirty="0">
                <a:latin typeface="+mj-lt"/>
              </a:rPr>
              <a:t>a linear relationship between the input and output</a:t>
            </a:r>
            <a:r>
              <a:rPr lang="en-US" dirty="0">
                <a:latin typeface="+mj-lt"/>
              </a:rPr>
              <a:t>, i.e., the output variable changes at a constant rate with respect to the input. </a:t>
            </a:r>
          </a:p>
          <a:p>
            <a:pPr algn="just"/>
            <a:r>
              <a:rPr lang="en-US" b="1" i="1" dirty="0">
                <a:latin typeface="+mj-lt"/>
              </a:rPr>
              <a:t>Example</a:t>
            </a:r>
            <a:r>
              <a:rPr lang="en-US" dirty="0">
                <a:latin typeface="+mj-lt"/>
              </a:rPr>
              <a:t>: Predicting a person’s salary based on years of experience. As experience increases, the salary tends to increase in a linear manner.</a:t>
            </a:r>
          </a:p>
          <a:p>
            <a:pPr algn="just"/>
            <a:r>
              <a:rPr lang="en-US" dirty="0">
                <a:latin typeface="+mj-lt"/>
              </a:rPr>
              <a:t>Linear regression is widely used in applications like trend forecasting, risk assessment, and cost estimation due to its simplicity and interpretability.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9A77C0-7299-E288-8330-26271E0F6E1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79C25-5251-03F7-1CF7-B17B7E8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CCFC7-D2D0-E752-7425-7AF4E2E2CB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9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394F-1C83-2EB2-D57B-40406415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50FA-A8F8-0FFD-7F6E-308BD52A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Linear Regression?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CB78D06-BF1F-28DE-9992-F73E3FBD2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66724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Simplicity and Interpretability</a:t>
            </a:r>
          </a:p>
          <a:p>
            <a:pPr lvl="1" algn="just"/>
            <a:r>
              <a:rPr lang="en-US" dirty="0">
                <a:latin typeface="+mj-lt"/>
              </a:rPr>
              <a:t>Very intuitive and its mathematical foundation is straightforward, making it ideal for beginners and easy to explain</a:t>
            </a:r>
          </a:p>
          <a:p>
            <a:pPr algn="just"/>
            <a:r>
              <a:rPr lang="en-US" dirty="0"/>
              <a:t>Predictive Power</a:t>
            </a:r>
          </a:p>
          <a:p>
            <a:pPr lvl="1" algn="just"/>
            <a:r>
              <a:rPr lang="en-US" dirty="0"/>
              <a:t>It enables forecasting of future values based on historical data</a:t>
            </a:r>
          </a:p>
          <a:p>
            <a:pPr algn="just"/>
            <a:r>
              <a:rPr lang="en-US" dirty="0">
                <a:latin typeface="+mj-lt"/>
              </a:rPr>
              <a:t>Foundation for Advanced Models</a:t>
            </a:r>
          </a:p>
          <a:p>
            <a:pPr lvl="1" algn="just"/>
            <a:r>
              <a:rPr lang="en-US" dirty="0">
                <a:latin typeface="+mj-lt"/>
              </a:rPr>
              <a:t>Many complex models, like logistic regression, generalized linear models, and even neural networks, are built on the core principles of linear regression</a:t>
            </a:r>
          </a:p>
          <a:p>
            <a:pPr algn="just"/>
            <a:r>
              <a:rPr lang="en-US" dirty="0"/>
              <a:t>Computational Efficiency</a:t>
            </a:r>
            <a:endParaRPr lang="en-US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Fast to train and test, especially on small to medium-sized datasets with linear relationships, making it suitable for real-time and resource-constrained applications</a:t>
            </a:r>
          </a:p>
          <a:p>
            <a:pPr algn="just"/>
            <a:r>
              <a:rPr lang="en-US" dirty="0"/>
              <a:t>Insight into Variable Relationships</a:t>
            </a:r>
          </a:p>
          <a:p>
            <a:pPr lvl="1" algn="just"/>
            <a:r>
              <a:rPr lang="en-US" dirty="0"/>
              <a:t>It helps uncover how input variables influence the output</a:t>
            </a:r>
            <a:endParaRPr lang="en-US" dirty="0"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300D5B-8B28-7324-661E-ACED718FBA5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62501-2DBB-54CA-FFE1-1C2BA8B6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49FED-BC42-5D5D-FC88-A1559E42B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1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2FACA-1814-869A-3B5F-E4CC3E74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1F6A-6360-00D2-0AF1-B8BE90CB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2394D48-130E-9666-DBE7-96DB5188E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6585432" cy="4667248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Goal of linear regression is to find a straight line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j-lt"/>
                  </a:rPr>
                  <a:t> </a:t>
                </a:r>
                <a:r>
                  <a:rPr lang="en-US" dirty="0"/>
                  <a:t>(also called </a:t>
                </a:r>
                <a:r>
                  <a:rPr lang="en-US" b="1" u="sng" dirty="0"/>
                  <a:t>hypothesis function</a:t>
                </a:r>
                <a:r>
                  <a:rPr lang="en-US" dirty="0"/>
                  <a:t>) </a:t>
                </a:r>
                <a:r>
                  <a:rPr lang="en-US" dirty="0">
                    <a:latin typeface="+mj-lt"/>
                  </a:rPr>
                  <a:t>that minimizes the error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, also called the </a:t>
                </a:r>
                <a:r>
                  <a:rPr lang="en-US" b="1" u="sng" dirty="0">
                    <a:latin typeface="+mj-lt"/>
                  </a:rPr>
                  <a:t>residual/loss/cost</a:t>
                </a:r>
                <a:r>
                  <a:rPr lang="en-US" dirty="0">
                    <a:latin typeface="+mj-lt"/>
                  </a:rPr>
                  <a:t>, between observed data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+mj-lt"/>
                  </a:rPr>
                  <a:t> and predicted values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>
                  <a:latin typeface="+mj-lt"/>
                </a:endParaRPr>
              </a:p>
              <a:p>
                <a:pPr algn="just"/>
                <a:r>
                  <a:rPr lang="en-US" dirty="0">
                    <a:latin typeface="+mj-lt"/>
                  </a:rPr>
                  <a:t>The </a:t>
                </a:r>
                <a:r>
                  <a:rPr lang="en-US" b="1" u="sng" dirty="0">
                    <a:latin typeface="+mj-lt"/>
                  </a:rPr>
                  <a:t>hypothesis function</a:t>
                </a:r>
                <a:r>
                  <a:rPr lang="en-US" dirty="0">
                    <a:latin typeface="+mj-lt"/>
                  </a:rPr>
                  <a:t> is the equation used to make predictions about the dependent variable based on the independent variables</a:t>
                </a:r>
              </a:p>
              <a:p>
                <a:pPr algn="just"/>
                <a:r>
                  <a:rPr lang="en-US" dirty="0">
                    <a:latin typeface="+mj-lt"/>
                  </a:rPr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j-lt"/>
                  </a:rPr>
                  <a:t> may be a single feature or multiple features representing the problem. For multiple linear regression (with more than one independent variable), the hypothesis function expands to: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pPr algn="just"/>
                <a:r>
                  <a:rPr lang="en-US" dirty="0">
                    <a:latin typeface="+mj-lt"/>
                  </a:rPr>
                  <a:t>The best-fit line will be the one that optimizes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so that the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latin typeface="+mj-lt"/>
                  </a:rPr>
                  <a:t>  values are as close as possible to the actual data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2394D48-130E-9666-DBE7-96DB5188E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6585432" cy="4667248"/>
              </a:xfrm>
              <a:blipFill>
                <a:blip r:embed="rId2"/>
                <a:stretch>
                  <a:fillRect l="-1111" t="-2480" r="-1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BB18BC-4320-F08C-EF56-1FCCEAF7FF7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1391-FC44-3787-CCC7-F0D5E4E0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E8602A-9815-2F2A-E2EF-7ECFAE96E9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DD9146-808B-D992-FDE7-2363D3F1A63C}"/>
              </a:ext>
            </a:extLst>
          </p:cNvPr>
          <p:cNvGrpSpPr/>
          <p:nvPr/>
        </p:nvGrpSpPr>
        <p:grpSpPr>
          <a:xfrm>
            <a:off x="7237504" y="2095747"/>
            <a:ext cx="4754628" cy="3844055"/>
            <a:chOff x="6937700" y="1928035"/>
            <a:chExt cx="4754628" cy="384405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4B00281-276B-57EF-EDD0-C9DAED6944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7700" y="1928035"/>
              <a:ext cx="4754628" cy="3750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3B54A0-39D5-E36D-5FB9-0CE230683C1A}"/>
                </a:ext>
              </a:extLst>
            </p:cNvPr>
            <p:cNvSpPr txBox="1"/>
            <p:nvPr/>
          </p:nvSpPr>
          <p:spPr>
            <a:xfrm>
              <a:off x="8042059" y="5448925"/>
              <a:ext cx="300941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Image source</a:t>
              </a:r>
              <a:r>
                <a:rPr lang="en-US" sz="1500" dirty="0"/>
                <a:t>: MLXTEND (</a:t>
              </a:r>
              <a:r>
                <a:rPr lang="en-US" sz="1500" dirty="0" err="1"/>
                <a:t>Github</a:t>
              </a:r>
              <a:r>
                <a:rPr lang="en-US" sz="15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279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7215-CEFE-9AD2-B910-449602B8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605B-BF84-CA95-3FD5-505B2642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Few Assumptions on Linear Regression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86CC76-CA07-2242-B213-14AF14496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66724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u="sng" dirty="0">
                <a:latin typeface="+mj-lt"/>
              </a:rPr>
              <a:t>Straight-Line Relationship (Linearity)</a:t>
            </a:r>
            <a:r>
              <a:rPr lang="en-US" dirty="0">
                <a:latin typeface="+mj-lt"/>
              </a:rPr>
              <a:t>: The model assumes that the connection between the input (X) and the output (Y) is like a straight line. If you plot them on a graph, they should follow a clear trend.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>
                <a:latin typeface="+mj-lt"/>
              </a:rPr>
              <a:t>Errors Do Not Influence Each Other (Independence of Errors)</a:t>
            </a:r>
            <a:r>
              <a:rPr lang="en-US" dirty="0">
                <a:latin typeface="+mj-lt"/>
              </a:rPr>
              <a:t>: The mistakes the model makes (errors" or "residuals") should be random and not connected – one mistake should not cause another.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>
                <a:latin typeface="+mj-lt"/>
              </a:rPr>
              <a:t>Errors Look Like a Bell Curve (Normality of Errors)</a:t>
            </a:r>
            <a:r>
              <a:rPr lang="en-US" dirty="0">
                <a:latin typeface="+mj-lt"/>
              </a:rPr>
              <a:t>: The errors should follow a normal distribution, meaning most of them are small, and big errors are rare. This helps with accurate predictions and reliable confidence intervals.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4C0DD2-A5AA-D370-4190-9BFC94C91A1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2C82A-0790-64B6-3AAD-D9322AB0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5AF44F-E353-FA99-8660-028AF76DD1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4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18DA-A9F3-9DA9-9E4A-EAFF8B02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708A1A-8872-4638-1335-D19645E58F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Cost/Loss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708A1A-8872-4638-1335-D19645E58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A824478-F166-C089-31CE-D23752698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>
                    <a:latin typeface="+mj-lt"/>
                  </a:rPr>
                  <a:t>Mean Squared Error (MSE)</a:t>
                </a:r>
                <a:r>
                  <a:rPr lang="en-US" dirty="0">
                    <a:latin typeface="+mj-lt"/>
                  </a:rPr>
                  <a:t>: It calculates the average of the squared errors between the predicted values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pPr algn="just"/>
                <a:r>
                  <a:rPr lang="en-US" dirty="0">
                    <a:latin typeface="+mj-lt"/>
                  </a:rPr>
                  <a:t>Utilizing the MSE function, the iterative process of </a:t>
                </a:r>
                <a:r>
                  <a:rPr lang="en-US" b="1" i="1" dirty="0">
                    <a:latin typeface="+mj-lt"/>
                  </a:rPr>
                  <a:t>gradient descent</a:t>
                </a:r>
                <a:r>
                  <a:rPr lang="en-US" dirty="0">
                    <a:latin typeface="+mj-lt"/>
                  </a:rPr>
                  <a:t> is applied to update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A824478-F166-C089-31CE-D23752698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994" t="-2219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4C9CD6-3586-5E8D-B6C1-005E0C5CB05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E7F40-CE35-55C9-E354-A3DCC736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DF228-E37A-2EEB-091F-C196339024F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0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8A8A-EA70-ED0C-B8EF-847FD38FB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48F3C3-F8C1-D71A-9C4A-5E72173D57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How do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1" dirty="0"/>
                  <a:t>?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48F3C3-F8C1-D71A-9C4A-5E72173D5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755B0DC-E2DD-D359-F4BB-96A6F6AE7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The answer is </a:t>
                </a:r>
                <a:r>
                  <a:rPr lang="en-US" b="1" u="sng" dirty="0">
                    <a:latin typeface="+mj-lt"/>
                  </a:rPr>
                  <a:t>Gradient Descent</a:t>
                </a:r>
                <a:r>
                  <a:rPr lang="en-US" dirty="0">
                    <a:latin typeface="+mj-lt"/>
                  </a:rPr>
                  <a:t>!</a:t>
                </a:r>
              </a:p>
              <a:p>
                <a:pPr algn="just"/>
                <a:r>
                  <a:rPr lang="en-US" dirty="0">
                    <a:latin typeface="+mj-lt"/>
                  </a:rPr>
                  <a:t>Gradient Descent is a fundamental optimization technique used in many machine learning algorithms, such as linear regression, logistic regression, support vector machines, and neural networks.</a:t>
                </a:r>
              </a:p>
              <a:p>
                <a:pPr algn="just"/>
                <a:r>
                  <a:rPr lang="en-US" dirty="0"/>
                  <a:t>Its goal is to </a:t>
                </a:r>
                <a:r>
                  <a:rPr lang="en-US" b="1" dirty="0"/>
                  <a:t>optimize the model parameters </a:t>
                </a:r>
                <a:r>
                  <a:rPr lang="en-US" dirty="0"/>
                  <a:t>(here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r>
                  <a:rPr lang="en-US" b="1" dirty="0"/>
                  <a:t> </a:t>
                </a:r>
                <a:r>
                  <a:rPr lang="en-US" dirty="0"/>
                  <a:t> by minimizing a </a:t>
                </a:r>
                <a:r>
                  <a:rPr lang="en-US" b="1" dirty="0"/>
                  <a:t>cost function</a:t>
                </a:r>
                <a:r>
                  <a:rPr lang="en-US" dirty="0"/>
                  <a:t>, which measures the error between predicted and actual values.</a:t>
                </a:r>
              </a:p>
              <a:p>
                <a:pPr algn="just"/>
                <a:r>
                  <a:rPr lang="en-US" dirty="0">
                    <a:latin typeface="+mj-lt"/>
                  </a:rPr>
                  <a:t>It does this by iteratively adjusting the model’s parameters (like weights) in the direction that reduces error the most.</a:t>
                </a:r>
              </a:p>
              <a:p>
                <a:pPr algn="just"/>
                <a:r>
                  <a:rPr lang="en-US" dirty="0">
                    <a:latin typeface="+mj-lt"/>
                  </a:rPr>
                  <a:t>Over time, this process improves the model’s performance, allowing it to make more accurate predictions.</a:t>
                </a:r>
              </a:p>
              <a:p>
                <a:pPr algn="just"/>
                <a:r>
                  <a:rPr lang="en-US" dirty="0">
                    <a:latin typeface="+mj-lt"/>
                  </a:rPr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are generally initialized randomly.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755B0DC-E2DD-D359-F4BB-96A6F6AE7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883" t="-2611" r="-994" b="-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F54DEF-1397-A044-1B96-0971C636AF7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73C53-A795-72B4-2F5F-9A50A2A1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6BE4B-3A30-F711-353C-5626D92D210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9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5CB0-0597-1643-5576-8597752E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CFD3F-F709-F12B-E3F8-740FC3E6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 Descent in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6231043-A232-5C4E-92F6-72E59C354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Let us apply gradient descent for a single variable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j-lt"/>
                  </a:rPr>
                  <a:t> for simplicity of understanding</a:t>
                </a:r>
              </a:p>
              <a:p>
                <a:pPr algn="just"/>
                <a:r>
                  <a:rPr lang="en-US" dirty="0">
                    <a:latin typeface="+mj-lt"/>
                  </a:rPr>
                  <a:t> First, differentiate the cost function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>
                    <a:latin typeface="+mj-lt"/>
                  </a:rPr>
                  <a:t>)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6231043-A232-5C4E-92F6-72E59C354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2"/>
                <a:stretch>
                  <a:fillRect l="-994" t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EC1B33-46D0-1D4D-81DB-24629C78BEF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DEDD7-D518-A33D-CDD4-EBF06983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641C5-71BF-B2A8-7CC3-9E24DDE47F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1E131C-365D-D0AC-7454-98129C27A4A6}"/>
                  </a:ext>
                </a:extLst>
              </p:cNvPr>
              <p:cNvSpPr txBox="1"/>
              <p:nvPr/>
            </p:nvSpPr>
            <p:spPr>
              <a:xfrm>
                <a:off x="1349115" y="3544028"/>
                <a:ext cx="4823085" cy="306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nary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1+0−0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1E131C-365D-D0AC-7454-98129C27A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115" y="3544028"/>
                <a:ext cx="4823085" cy="3063146"/>
              </a:xfrm>
              <a:prstGeom prst="rect">
                <a:avLst/>
              </a:prstGeom>
              <a:blipFill>
                <a:blip r:embed="rId4"/>
                <a:stretch>
                  <a:fillRect l="-2904" b="-1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E631F-EA1B-E433-C77C-43B7A339B2F0}"/>
                  </a:ext>
                </a:extLst>
              </p:cNvPr>
              <p:cNvSpPr txBox="1"/>
              <p:nvPr/>
            </p:nvSpPr>
            <p:spPr>
              <a:xfrm>
                <a:off x="7002901" y="3429000"/>
                <a:ext cx="4823085" cy="306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nary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E631F-EA1B-E433-C77C-43B7A339B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901" y="3429000"/>
                <a:ext cx="4823085" cy="3063146"/>
              </a:xfrm>
              <a:prstGeom prst="rect">
                <a:avLst/>
              </a:prstGeom>
              <a:blipFill>
                <a:blip r:embed="rId5"/>
                <a:stretch>
                  <a:fillRect l="-3034" b="-12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AC2795-5EB5-9F5D-8FAE-857EBF24D582}"/>
              </a:ext>
            </a:extLst>
          </p:cNvPr>
          <p:cNvCxnSpPr/>
          <p:nvPr/>
        </p:nvCxnSpPr>
        <p:spPr>
          <a:xfrm>
            <a:off x="6230910" y="3429000"/>
            <a:ext cx="0" cy="29867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74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C244-D33E-FFB0-CA30-EA329A651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rstanding of Gradient Descent: Intuition and Implementation | by Rishi  Zirpe | GoPenAI">
            <a:extLst>
              <a:ext uri="{FF2B5EF4-FFF2-40B4-BE49-F238E27FC236}">
                <a16:creationId xmlns:a16="http://schemas.microsoft.com/office/drawing/2014/main" id="{571F62F5-E30A-396D-0678-F9A3C4F6B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272" y="3519201"/>
            <a:ext cx="3952703" cy="246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85B971-D6A8-1FC6-ECBF-8A851BD2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 Descent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6A6AB4E-4879-4541-28C4-DEBD19BBC6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825624"/>
                <a:ext cx="7315201" cy="495742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200" b="1" i="1" u="sng" dirty="0">
                    <a:solidFill>
                      <a:srgbClr val="404040"/>
                    </a:solidFill>
                    <a:effectLst/>
                    <a:latin typeface="+mj-lt"/>
                  </a:rPr>
                  <a:t>Gradients</a:t>
                </a:r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 of cost function </a:t>
                </a:r>
                <a:r>
                  <a:rPr lang="en-US" sz="2200" b="0" i="0" dirty="0" err="1">
                    <a:solidFill>
                      <a:srgbClr val="404040"/>
                    </a:solidFill>
                    <a:effectLst/>
                    <a:latin typeface="+mj-lt"/>
                  </a:rPr>
                  <a:t>w.r.t.</a:t>
                </a:r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 the parameters indicate the direction and magnitude of steepest ascent.</a:t>
                </a:r>
              </a:p>
              <a:p>
                <a:pPr algn="just"/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Adjust parameters in the opposite direction of gradients (since we want to </a:t>
                </a:r>
                <a:r>
                  <a:rPr lang="en-US" sz="2200" b="1" i="0" u="sng" dirty="0">
                    <a:solidFill>
                      <a:srgbClr val="404040"/>
                    </a:solidFill>
                    <a:effectLst/>
                    <a:latin typeface="+mj-lt"/>
                  </a:rPr>
                  <a:t>minimize loss</a:t>
                </a:r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)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b="0" i="0" dirty="0">
                  <a:solidFill>
                    <a:srgbClr val="404040"/>
                  </a:solidFill>
                  <a:effectLst/>
                  <a:latin typeface="+mj-lt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b="0" i="0" dirty="0">
                  <a:solidFill>
                    <a:srgbClr val="404040"/>
                  </a:solidFill>
                  <a:effectLst/>
                  <a:latin typeface="+mj-lt"/>
                </a:endParaRPr>
              </a:p>
              <a:p>
                <a:pPr marL="0" indent="0" algn="just">
                  <a:buNone/>
                </a:pPr>
                <a:r>
                  <a:rPr lang="en-US" sz="2200" dirty="0">
                    <a:solidFill>
                      <a:srgbClr val="404040"/>
                    </a:solidFill>
                    <a:latin typeface="+mj-lt"/>
                  </a:rPr>
                  <a:t>where,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 is called the </a:t>
                </a:r>
                <a:r>
                  <a:rPr lang="en-US" sz="2200" b="1" i="0" u="sng" dirty="0">
                    <a:solidFill>
                      <a:srgbClr val="404040"/>
                    </a:solidFill>
                    <a:effectLst/>
                    <a:latin typeface="+mj-lt"/>
                  </a:rPr>
                  <a:t>learning rate</a:t>
                </a:r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 </a:t>
                </a:r>
                <a:r>
                  <a:rPr lang="en-US" sz="2200" dirty="0">
                    <a:solidFill>
                      <a:srgbClr val="404040"/>
                    </a:solidFill>
                    <a:latin typeface="+mj-lt"/>
                  </a:rPr>
                  <a:t>t</a:t>
                </a:r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hat  </a:t>
                </a:r>
                <a:r>
                  <a:rPr lang="en-US" sz="2200" dirty="0">
                    <a:latin typeface="+mj-lt"/>
                  </a:rPr>
                  <a:t>controls step size</a:t>
                </a:r>
              </a:p>
              <a:p>
                <a:pPr algn="just"/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Repeat until convergence (loss stabilizes or reaches a threshold)</a:t>
                </a:r>
              </a:p>
              <a:p>
                <a:pPr algn="just"/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Learning rate:</a:t>
                </a:r>
              </a:p>
              <a:p>
                <a:pPr lvl="1">
                  <a:lnSpc>
                    <a:spcPts val="2143"/>
                  </a:lnSpc>
                  <a:spcBef>
                    <a:spcPts val="300"/>
                  </a:spcBef>
                </a:pPr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Too small → Slow convergence</a:t>
                </a:r>
              </a:p>
              <a:p>
                <a:pPr lvl="1">
                  <a:lnSpc>
                    <a:spcPts val="2143"/>
                  </a:lnSpc>
                  <a:spcBef>
                    <a:spcPts val="300"/>
                  </a:spcBef>
                </a:pPr>
                <a:r>
                  <a:rPr lang="en-US" sz="2200" b="0" i="0" dirty="0">
                    <a:solidFill>
                      <a:srgbClr val="404040"/>
                    </a:solidFill>
                    <a:effectLst/>
                    <a:latin typeface="+mj-lt"/>
                  </a:rPr>
                  <a:t>Too large → Overshooting or divergence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6A6AB4E-4879-4541-28C4-DEBD19BBC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825624"/>
                <a:ext cx="7315201" cy="4957425"/>
              </a:xfrm>
              <a:blipFill>
                <a:blip r:embed="rId3"/>
                <a:stretch>
                  <a:fillRect l="-1083" t="-1474" r="-1083" b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E082BE-A9E3-89B8-B803-5364CA29B3A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8446-C4FD-B8E8-36F6-0DA97EEF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E0B256-D7CB-0EB8-046F-D31FB8A47D4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E7A8A0-02B7-FB0A-A316-741D8E74FFFF}"/>
                  </a:ext>
                </a:extLst>
              </p:cNvPr>
              <p:cNvSpPr txBox="1"/>
              <p:nvPr/>
            </p:nvSpPr>
            <p:spPr>
              <a:xfrm>
                <a:off x="8707606" y="2547897"/>
                <a:ext cx="2812339" cy="4908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E7A8A0-02B7-FB0A-A316-741D8E74F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606" y="2547897"/>
                <a:ext cx="2812339" cy="490840"/>
              </a:xfrm>
              <a:prstGeom prst="rect">
                <a:avLst/>
              </a:prstGeom>
              <a:blipFill>
                <a:blip r:embed="rId5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0C5262-983D-EB5F-BC0A-9DB70DBCF94D}"/>
                  </a:ext>
                </a:extLst>
              </p:cNvPr>
              <p:cNvSpPr txBox="1"/>
              <p:nvPr/>
            </p:nvSpPr>
            <p:spPr>
              <a:xfrm>
                <a:off x="8707606" y="3188943"/>
                <a:ext cx="2655757" cy="489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0C5262-983D-EB5F-BC0A-9DB70DBCF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606" y="3188943"/>
                <a:ext cx="2655757" cy="489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5AF196D-85EA-9E59-80DF-35B7993C9A17}"/>
              </a:ext>
            </a:extLst>
          </p:cNvPr>
          <p:cNvSpPr txBox="1"/>
          <p:nvPr/>
        </p:nvSpPr>
        <p:spPr>
          <a:xfrm>
            <a:off x="8318292" y="5898303"/>
            <a:ext cx="31373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Image source</a:t>
            </a:r>
            <a:r>
              <a:rPr lang="en-US" sz="1500" dirty="0"/>
              <a:t>: Rishi </a:t>
            </a:r>
            <a:r>
              <a:rPr lang="en-US" sz="1500" dirty="0" err="1"/>
              <a:t>Zirpe</a:t>
            </a:r>
            <a:r>
              <a:rPr lang="en-US" sz="1500" dirty="0"/>
              <a:t>, </a:t>
            </a:r>
            <a:r>
              <a:rPr lang="en-US" sz="1500" dirty="0" err="1"/>
              <a:t>GoPenAi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2279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C244-D33E-FFB0-CA30-EA329A651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B971-D6A8-1FC6-ECBF-8A851BD2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Mathematical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9B45CD34-12D1-4584-867F-F57DFFBACAF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28052630"/>
                  </p:ext>
                </p:extLst>
              </p:nvPr>
            </p:nvGraphicFramePr>
            <p:xfrm>
              <a:off x="1044389" y="1798479"/>
              <a:ext cx="1680882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0441">
                      <a:extLst>
                        <a:ext uri="{9D8B030D-6E8A-4147-A177-3AD203B41FA5}">
                          <a16:colId xmlns:a16="http://schemas.microsoft.com/office/drawing/2014/main" val="3079705210"/>
                        </a:ext>
                      </a:extLst>
                    </a:gridCol>
                    <a:gridCol w="840441">
                      <a:extLst>
                        <a:ext uri="{9D8B030D-6E8A-4147-A177-3AD203B41FA5}">
                          <a16:colId xmlns:a16="http://schemas.microsoft.com/office/drawing/2014/main" val="8464313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53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627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46507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69320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9B45CD34-12D1-4584-867F-F57DFFBACAF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28052630"/>
                  </p:ext>
                </p:extLst>
              </p:nvPr>
            </p:nvGraphicFramePr>
            <p:xfrm>
              <a:off x="1044389" y="1798479"/>
              <a:ext cx="1680882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0441">
                      <a:extLst>
                        <a:ext uri="{9D8B030D-6E8A-4147-A177-3AD203B41FA5}">
                          <a16:colId xmlns:a16="http://schemas.microsoft.com/office/drawing/2014/main" val="3079705210"/>
                        </a:ext>
                      </a:extLst>
                    </a:gridCol>
                    <a:gridCol w="840441">
                      <a:extLst>
                        <a:ext uri="{9D8B030D-6E8A-4147-A177-3AD203B41FA5}">
                          <a16:colId xmlns:a16="http://schemas.microsoft.com/office/drawing/2014/main" val="8464313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9" t="-3279" r="-10215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449" t="-3279" r="-289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53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9" t="-103279" r="-10215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449" t="-103279" r="-289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627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9" t="-203279" r="-10215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449" t="-203279" r="-289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6507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9" t="-303279" r="-10215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449" t="-303279" r="-2899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693204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E082BE-A9E3-89B8-B803-5364CA29B3A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8446-C4FD-B8E8-36F6-0DA97EEF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6468" y="6347913"/>
            <a:ext cx="2743200" cy="365125"/>
          </a:xfrm>
        </p:spPr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E0B256-D7CB-0EB8-046F-D31FB8A47D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7FEC1E-EDE8-4441-8273-D0232183ED97}"/>
                  </a:ext>
                </a:extLst>
              </p:cNvPr>
              <p:cNvSpPr txBox="1"/>
              <p:nvPr/>
            </p:nvSpPr>
            <p:spPr>
              <a:xfrm>
                <a:off x="3216276" y="1663612"/>
                <a:ext cx="8691205" cy="26997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Initialize parameters: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Learning rate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Without any update: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7FEC1E-EDE8-4441-8273-D0232183E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276" y="1663612"/>
                <a:ext cx="8691205" cy="2699778"/>
              </a:xfrm>
              <a:prstGeom prst="rect">
                <a:avLst/>
              </a:prstGeom>
              <a:blipFill>
                <a:blip r:embed="rId4"/>
                <a:stretch>
                  <a:fillRect l="-1684" t="-2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A51C12-C1FD-4FB7-9CB1-4DEB0C1FE60A}"/>
                  </a:ext>
                </a:extLst>
              </p:cNvPr>
              <p:cNvSpPr txBox="1"/>
              <p:nvPr/>
            </p:nvSpPr>
            <p:spPr>
              <a:xfrm>
                <a:off x="537959" y="3576162"/>
                <a:ext cx="8691205" cy="3261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0−2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0−3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0−5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=12.67</m:t>
                    </m:r>
                  </m:oMath>
                </a14:m>
                <a:endParaRPr lang="en-US" sz="1600" dirty="0"/>
              </a:p>
              <a:p>
                <a:pPr/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0−2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0−3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+(0−5)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=−6.67</m:t>
                    </m:r>
                  </m:oMath>
                </a14:m>
                <a:endParaRPr lang="en-US" sz="1600" dirty="0"/>
              </a:p>
              <a:p>
                <a:pPr/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0−2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(2)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0−3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(3)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(0−5)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15.33</m:t>
                    </m:r>
                  </m:oMath>
                </a14:m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:r>
                  <a:rPr lang="en-US" sz="1600" dirty="0"/>
                  <a:t>New weights:</a:t>
                </a:r>
              </a:p>
              <a:p>
                <a:pPr/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=0−0.1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−6.67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=0.667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=0−0.1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15.33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1.533</m:t>
                    </m:r>
                  </m:oMath>
                </a14:m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:endParaRPr lang="en-US" sz="16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A51C12-C1FD-4FB7-9CB1-4DEB0C1FE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9" y="3576162"/>
                <a:ext cx="8691205" cy="3261277"/>
              </a:xfrm>
              <a:prstGeom prst="rect">
                <a:avLst/>
              </a:prstGeom>
              <a:blipFill>
                <a:blip r:embed="rId5"/>
                <a:stretch>
                  <a:fillRect l="-351" t="-9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2467D9-E2F8-4D39-B162-669FF26842E0}"/>
                  </a:ext>
                </a:extLst>
              </p:cNvPr>
              <p:cNvSpPr txBox="1"/>
              <p:nvPr/>
            </p:nvSpPr>
            <p:spPr>
              <a:xfrm>
                <a:off x="5109882" y="4920419"/>
                <a:ext cx="7082118" cy="1610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dirty="0"/>
                  <a:t> New prediction:</a:t>
                </a:r>
              </a:p>
              <a:p>
                <a:pPr/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.667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1.533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2.2</m:t>
                    </m:r>
                  </m:oMath>
                </a14:m>
                <a:endParaRPr lang="en-US" sz="1600" dirty="0"/>
              </a:p>
              <a:p>
                <a:r>
                  <a:rPr lang="en-US" sz="1600" b="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0" i="0" dirty="0" smtClean="0"/>
                      <m:t> </m:t>
                    </m:r>
                    <m:r>
                      <m:rPr>
                        <m:nor/>
                      </m:rPr>
                      <a:rPr lang="en-US" sz="1600" dirty="0"/>
                      <m:t>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=0.667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+1.533=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2.867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dirty="0"/>
                      <m:t>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=0.667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+1.533=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3.534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New loss: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2.867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3.534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0.7356</m:t>
                    </m:r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2467D9-E2F8-4D39-B162-669FF2684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882" y="4920419"/>
                <a:ext cx="7082118" cy="1610056"/>
              </a:xfrm>
              <a:prstGeom prst="rect">
                <a:avLst/>
              </a:prstGeom>
              <a:blipFill>
                <a:blip r:embed="rId6"/>
                <a:stretch>
                  <a:fillRect l="-430" t="-1136" b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3F914E-4CD4-4CA3-9560-B41B28CBEB34}"/>
              </a:ext>
            </a:extLst>
          </p:cNvPr>
          <p:cNvCxnSpPr/>
          <p:nvPr/>
        </p:nvCxnSpPr>
        <p:spPr>
          <a:xfrm>
            <a:off x="4849906" y="4920419"/>
            <a:ext cx="0" cy="1610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35AF2DA-4474-4FFF-8163-E787A8D44038}"/>
              </a:ext>
            </a:extLst>
          </p:cNvPr>
          <p:cNvSpPr/>
          <p:nvPr/>
        </p:nvSpPr>
        <p:spPr>
          <a:xfrm>
            <a:off x="10443883" y="6104964"/>
            <a:ext cx="762000" cy="365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D3E544-C681-4B15-B0A1-368E057AB850}"/>
              </a:ext>
            </a:extLst>
          </p:cNvPr>
          <p:cNvSpPr/>
          <p:nvPr/>
        </p:nvSpPr>
        <p:spPr>
          <a:xfrm>
            <a:off x="6113930" y="3636384"/>
            <a:ext cx="762000" cy="365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F6F6ED-A4A6-450A-BA26-5CE14A949031}"/>
              </a:ext>
            </a:extLst>
          </p:cNvPr>
          <p:cNvCxnSpPr/>
          <p:nvPr/>
        </p:nvCxnSpPr>
        <p:spPr>
          <a:xfrm>
            <a:off x="6947647" y="3818946"/>
            <a:ext cx="3877236" cy="21784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95928E-169D-4609-AFA1-98F6B6FECE77}"/>
              </a:ext>
            </a:extLst>
          </p:cNvPr>
          <p:cNvSpPr txBox="1"/>
          <p:nvPr/>
        </p:nvSpPr>
        <p:spPr>
          <a:xfrm>
            <a:off x="8328212" y="4001509"/>
            <a:ext cx="30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after one single update,</a:t>
            </a:r>
          </a:p>
          <a:p>
            <a:r>
              <a:rPr lang="en-US" dirty="0"/>
              <a:t>The loss dropped significantly!</a:t>
            </a:r>
          </a:p>
        </p:txBody>
      </p:sp>
    </p:spTree>
    <p:extLst>
      <p:ext uri="{BB962C8B-B14F-4D97-AF65-F5344CB8AC3E}">
        <p14:creationId xmlns:p14="http://schemas.microsoft.com/office/powerpoint/2010/main" val="376406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6280-81C5-C4DA-34C4-D5DE9A7A0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8B96-1187-F57E-30F4-2673D9DB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Basis Models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EE13A6-11B1-081C-10C0-A13FBF67696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5A76B-8F18-275E-03A1-E497D5AF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43B46-5953-E160-E0C3-47D04A2E4E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0F11F91D-4DAB-C398-7535-9A05B112D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>
                    <a:latin typeface="+mj-lt"/>
                  </a:rPr>
                  <a:t>Basis functions </a:t>
                </a:r>
                <a14:m>
                  <m:oMath xmlns:m="http://schemas.openxmlformats.org/officeDocument/2006/math">
                    <m:r>
                      <a:rPr lang="en-US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en-US" dirty="0">
                    <a:latin typeface="+mj-lt"/>
                  </a:rPr>
                  <a:t>: A transformed version of the input feature(s) used to capture nonlinear relationships</a:t>
                </a:r>
              </a:p>
              <a:p>
                <a:pPr algn="just"/>
                <a:r>
                  <a:rPr lang="en-US" dirty="0">
                    <a:latin typeface="+mj-lt"/>
                  </a:rPr>
                  <a:t>Examples: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+mj-lt"/>
                  </a:rPr>
                  <a:t> etc.</a:t>
                </a:r>
              </a:p>
              <a:p>
                <a:pPr algn="just"/>
                <a:r>
                  <a:rPr lang="en-US" dirty="0">
                    <a:latin typeface="+mj-lt"/>
                  </a:rPr>
                  <a:t>A hypothesis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can be composed of several basis functions, e.g.,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+mj-lt"/>
                  </a:rPr>
                  <a:t>such that basis functions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+mj-lt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+mj-lt"/>
                  </a:rPr>
                  <a:t> are learnable parameters.</a:t>
                </a:r>
              </a:p>
            </p:txBody>
          </p:sp>
        </mc:Choice>
        <mc:Fallback xmlns="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0F11F91D-4DAB-C398-7535-9A05B112D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1160" t="-2219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96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EC62-6547-89DA-25DB-683A6608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6EF7-8221-BCE7-7B36-9E215EB1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Basis Models – How is it linear?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E884CD-D759-EE78-C8E5-8945526D4CC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B43E3-FF32-5B7D-62A9-5997FDF1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26440D-52BC-138B-F648-7E9337257F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C83178E0-476F-F894-85B1-9B39015A9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The model is called "</a:t>
                </a:r>
                <a:r>
                  <a:rPr lang="en-US" b="1" i="1" u="sng" dirty="0">
                    <a:solidFill>
                      <a:schemeClr val="tx1"/>
                    </a:solidFill>
                    <a:latin typeface="+mj-lt"/>
                  </a:rPr>
                  <a:t>linear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" because </a:t>
                </a:r>
                <a:r>
                  <a:rPr lang="en-US" b="1" u="sng" dirty="0">
                    <a:solidFill>
                      <a:schemeClr val="tx1"/>
                    </a:solidFill>
                    <a:latin typeface="+mj-lt"/>
                  </a:rPr>
                  <a:t>it is linear in the parameters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, not because the basis functions themselves are linear. ℎ(𝑥) defined earlier is a </a:t>
                </a:r>
                <a:r>
                  <a:rPr lang="en-US" b="1" u="sng" dirty="0">
                    <a:solidFill>
                      <a:schemeClr val="tx1"/>
                    </a:solidFill>
                    <a:latin typeface="+mj-lt"/>
                  </a:rPr>
                  <a:t>weighted sum of the basis functions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; no parameter is multiplied/divided by another parameter or appears in an exponent.</a:t>
                </a:r>
              </a:p>
              <a:p>
                <a:pPr algn="just"/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Linear Regression Framework:</a:t>
                </a:r>
              </a:p>
              <a:p>
                <a:pPr lvl="1" algn="just"/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Even with nonlinear basis functions, we can still use linear regression tools (e.g., gradient descent, normal equations) because the problem is linear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  <a:latin typeface="+mj-lt"/>
                </a:endParaRPr>
              </a:p>
              <a:p>
                <a:pPr algn="just"/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Nonlinear Features, Linear Parameters:</a:t>
                </a:r>
              </a:p>
              <a:p>
                <a:pPr lvl="1">
                  <a:lnSpc>
                    <a:spcPts val="2143"/>
                  </a:lnSpc>
                  <a:spcBef>
                    <a:spcPts val="300"/>
                  </a:spcBef>
                </a:pPr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The "nonlinearity" comes from transforming the input 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 (e.g., squaring it)</a:t>
                </a:r>
              </a:p>
              <a:p>
                <a:pPr lvl="1">
                  <a:lnSpc>
                    <a:spcPts val="2143"/>
                  </a:lnSpc>
                  <a:spcBef>
                    <a:spcPts val="300"/>
                  </a:spcBef>
                </a:pPr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The relationship between 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 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 stays linear</a:t>
                </a:r>
              </a:p>
            </p:txBody>
          </p:sp>
        </mc:Choice>
        <mc:Fallback xmlns="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C83178E0-476F-F894-85B1-9B39015A9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994" t="-2219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02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E11E-E55E-7E65-72A0-418E54E0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CEA0-AF1D-9FF3-E348-4B9797F3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Linear Basis Models – Mathematical Framework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2E23F6-0B84-0128-E8C3-F8073BB2F9A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16759-666C-F646-40DB-72990C52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00834-25BC-ADD4-987A-6662979D2D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F8F6D036-066F-E165-3F50-0C1C6F6F8B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Let the hypothesis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 be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0" dirty="0">
                  <a:solidFill>
                    <a:schemeClr val="tx1"/>
                  </a:solidFill>
                  <a:effectLst/>
                  <a:latin typeface="+mj-lt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+mj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 are </a:t>
                </a:r>
                <a:r>
                  <a:rPr lang="en-US" dirty="0">
                    <a:latin typeface="+mj-lt"/>
                  </a:rPr>
                  <a:t>the basis functions (nonlinear transformations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j-lt"/>
                  </a:rPr>
                  <a:t>)</a:t>
                </a:r>
              </a:p>
              <a:p>
                <a:pPr algn="just"/>
                <a:r>
                  <a:rPr lang="en-US" dirty="0">
                    <a:latin typeface="+mj-lt"/>
                  </a:rPr>
                  <a:t>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j-lt"/>
                  </a:rPr>
                  <a:t> training examples with target values vector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latin typeface="+mj-lt"/>
                  </a:rPr>
                  <a:t>, we can arrange all transformed features into a matrix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+mj-lt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j-lt"/>
                  </a:rPr>
                  <a:t>where, each row represents a data point and the first column is "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+mj-lt"/>
                  </a:rPr>
                  <a:t>" for the bias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+mj-lt"/>
                </a:endParaRPr>
              </a:p>
              <a:p>
                <a:r>
                  <a:rPr lang="en-US" dirty="0">
                    <a:latin typeface="+mj-lt"/>
                  </a:rPr>
                  <a:t>We can also arrange the weight matrix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F8F6D036-066F-E165-3F50-0C1C6F6F8B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883" t="-2872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18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487B-E6DA-685E-2796-E6388186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6BAB-6DF5-49D2-FC7B-1E121576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Mathematical Framework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521B1B-439F-842D-04FC-6B2DC41B057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7D55B-57C5-A0B5-F045-74211EE5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5AC94-2EB0-C83A-8B26-DF921FCF93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DD63F7FB-3E2D-4762-0AD2-F39EF90CBB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We can now write the MSE loss as follows: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𝚽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𝐲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r>
                  <a:rPr lang="en-US" dirty="0">
                    <a:latin typeface="+mj-lt"/>
                  </a:rPr>
                  <a:t>In matrix form: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𝚽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𝐲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𝚽</m:t>
                          </m:r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r>
                  <a:rPr lang="en-US" b="0" i="0" dirty="0">
                    <a:solidFill>
                      <a:schemeClr val="tx1"/>
                    </a:solidFill>
                    <a:effectLst/>
                    <a:latin typeface="+mj-lt"/>
                  </a:rPr>
                  <a:t>To find the minimum, set the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, and we will get</a:t>
                </a:r>
              </a:p>
              <a:p>
                <a:endParaRPr lang="en-US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l-G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𝐲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l-GR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𝚽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l-G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𝚽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+mj-lt"/>
                  </a:rPr>
                  <a:t>This is the closed-form solution that directly computes the optimal weights. However, this solution works for small datasets, and </a:t>
                </a:r>
                <a:r>
                  <a:rPr lang="en-US" b="1" u="sng" dirty="0">
                    <a:latin typeface="+mj-lt"/>
                  </a:rPr>
                  <a:t>scales poorly for large datasets</a:t>
                </a:r>
                <a:r>
                  <a:rPr lang="en-US" dirty="0">
                    <a:latin typeface="+mj-lt"/>
                  </a:rPr>
                  <a:t>. Therefore, the </a:t>
                </a:r>
                <a:r>
                  <a:rPr lang="en-US" b="1" u="sng" dirty="0">
                    <a:latin typeface="+mj-lt"/>
                  </a:rPr>
                  <a:t>best is to use gradient descent instead</a:t>
                </a:r>
                <a:r>
                  <a:rPr lang="en-US" dirty="0">
                    <a:latin typeface="+mj-lt"/>
                  </a:rPr>
                  <a:t>.</a:t>
                </a:r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DD63F7FB-3E2D-4762-0AD2-F39EF90CB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883" t="-2872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CDE5E15-5B20-941C-3CDE-F970CDA5866F}"/>
              </a:ext>
            </a:extLst>
          </p:cNvPr>
          <p:cNvSpPr/>
          <p:nvPr/>
        </p:nvSpPr>
        <p:spPr>
          <a:xfrm>
            <a:off x="5035380" y="4843849"/>
            <a:ext cx="2656702" cy="5436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79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FB1C-77AC-1456-3B89-3B53CABA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7B33-61B3-8DE4-4606-93311CDB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Mathematical Framework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586BDF-FF61-FDE7-302D-103A3831DFE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A2922-5324-30E8-AD19-B421B23E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6A8CD-A938-8A91-D7B3-AD6F74F988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3A35C366-A635-0681-B5B1-3383256F93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For gradient descent, we can take the partial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w.r.t.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dirty="0">
                    <a:ea typeface="Cambria Math" panose="02040503050406030204" pitchFamily="18" charset="0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iteratively: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8">
                <a:extLst>
                  <a:ext uri="{FF2B5EF4-FFF2-40B4-BE49-F238E27FC236}">
                    <a16:creationId xmlns:a16="http://schemas.microsoft.com/office/drawing/2014/main" id="{3A35C366-A635-0681-B5B1-3383256F93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994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771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3833-329F-EDD6-7B85-6C4AC530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4738-E12D-587C-499A-F2E69DBA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Example using gradient descent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D268E5-7ABC-B98E-6614-0B3145EB744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0D84E-1EFF-01B9-8DEB-4397AE8D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FC31A-8974-F477-D8F6-80B2BAC970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551FA9-FC1E-D012-06E4-8B5027BDB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525526"/>
              </p:ext>
            </p:extLst>
          </p:nvPr>
        </p:nvGraphicFramePr>
        <p:xfrm>
          <a:off x="9590903" y="3417568"/>
          <a:ext cx="1762897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2254">
                  <a:extLst>
                    <a:ext uri="{9D8B030D-6E8A-4147-A177-3AD203B41FA5}">
                      <a16:colId xmlns:a16="http://schemas.microsoft.com/office/drawing/2014/main" val="596658193"/>
                    </a:ext>
                  </a:extLst>
                </a:gridCol>
                <a:gridCol w="1130643">
                  <a:extLst>
                    <a:ext uri="{9D8B030D-6E8A-4147-A177-3AD203B41FA5}">
                      <a16:colId xmlns:a16="http://schemas.microsoft.com/office/drawing/2014/main" val="664894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(target)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382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9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25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2120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8">
                <a:extLst>
                  <a:ext uri="{FF2B5EF4-FFF2-40B4-BE49-F238E27FC236}">
                    <a16:creationId xmlns:a16="http://schemas.microsoft.com/office/drawing/2014/main" id="{AD60DAFC-E391-E49D-3E52-E086F528EB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2072" y="1825624"/>
                <a:ext cx="8751420" cy="46672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>
                    <a:ea typeface="Cambria Math" panose="02040503050406030204" pitchFamily="18" charset="0"/>
                  </a:rPr>
                  <a:t>Let the hypothesis function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b="1" u="sng" dirty="0">
                    <a:ea typeface="Cambria Math" panose="02040503050406030204" pitchFamily="18" charset="0"/>
                  </a:rPr>
                  <a:t>Step 1</a:t>
                </a:r>
                <a:r>
                  <a:rPr lang="en-US" dirty="0">
                    <a:ea typeface="Cambria Math" panose="02040503050406030204" pitchFamily="18" charset="0"/>
                  </a:rPr>
                  <a:t>: Initialize parameters, 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(it can be any random value)</a:t>
                </a:r>
              </a:p>
              <a:p>
                <a:r>
                  <a:rPr lang="en-US" b="1" u="sng" dirty="0">
                    <a:ea typeface="Cambria Math" panose="02040503050406030204" pitchFamily="18" charset="0"/>
                  </a:rPr>
                  <a:t>Step 2</a:t>
                </a:r>
                <a:r>
                  <a:rPr lang="en-US" dirty="0">
                    <a:ea typeface="Cambria Math" panose="02040503050406030204" pitchFamily="18" charset="0"/>
                  </a:rPr>
                  <a:t>: Compute predictions, i.e.,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, </a:t>
                </a: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=0+0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b="1" u="sng" dirty="0">
                    <a:ea typeface="Cambria Math" panose="02040503050406030204" pitchFamily="18" charset="0"/>
                  </a:rPr>
                  <a:t>Step 3</a:t>
                </a:r>
                <a:r>
                  <a:rPr lang="en-US" dirty="0">
                    <a:ea typeface="Cambria Math" panose="02040503050406030204" pitchFamily="18" charset="0"/>
                  </a:rPr>
                  <a:t>: Compute Loss (MSE)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2(3)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0−10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≈21.5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b="1" u="sng" dirty="0">
                    <a:ea typeface="Cambria Math" panose="02040503050406030204" pitchFamily="18" charset="0"/>
                  </a:rPr>
                  <a:t>Step 4</a:t>
                </a:r>
                <a:r>
                  <a:rPr lang="en-US" dirty="0">
                    <a:ea typeface="Cambria Math" panose="02040503050406030204" pitchFamily="18" charset="0"/>
                  </a:rPr>
                  <a:t>: Compute gradients: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0−5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+(0−10)(1)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≈−5.67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0−5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+(0−10)(3)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≈−14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0−5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0−10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≈−37.33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8">
                <a:extLst>
                  <a:ext uri="{FF2B5EF4-FFF2-40B4-BE49-F238E27FC236}">
                    <a16:creationId xmlns:a16="http://schemas.microsoft.com/office/drawing/2014/main" id="{AD60DAFC-E391-E49D-3E52-E086F528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72" y="1825624"/>
                <a:ext cx="8751420" cy="4667248"/>
              </a:xfrm>
              <a:prstGeom prst="rect">
                <a:avLst/>
              </a:prstGeom>
              <a:blipFill>
                <a:blip r:embed="rId3"/>
                <a:stretch>
                  <a:fillRect l="-627" t="-2219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892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12E0-7AC5-3E23-ABA1-EA38F3CC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2141-61D6-2100-D982-02891B3E1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D0FA91-07CF-0867-C63C-9E88759BD12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E5318-B198-5292-8AB6-4B4D63C7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6F215-D3AD-0B6C-D957-5DC4DCF620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8">
                <a:extLst>
                  <a:ext uri="{FF2B5EF4-FFF2-40B4-BE49-F238E27FC236}">
                    <a16:creationId xmlns:a16="http://schemas.microsoft.com/office/drawing/2014/main" id="{EF221C65-1DE6-61FB-9BF3-62EDB00AD4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2071" y="1825623"/>
                <a:ext cx="11040255" cy="36513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b="1" u="sng" dirty="0">
                    <a:ea typeface="Cambria Math" panose="02040503050406030204" pitchFamily="18" charset="0"/>
                  </a:rPr>
                  <a:t>Step 5</a:t>
                </a:r>
                <a:r>
                  <a:rPr lang="en-US" dirty="0">
                    <a:ea typeface="Cambria Math" panose="02040503050406030204" pitchFamily="18" charset="0"/>
                  </a:rPr>
                  <a:t>: Update parameters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=0−0.01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−5.67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=0.0567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=0−0.01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=0.14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=0−0.01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−37.33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=0.3733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b="1" u="sng" dirty="0">
                    <a:ea typeface="Cambria Math" panose="02040503050406030204" pitchFamily="18" charset="0"/>
                  </a:rPr>
                  <a:t>Step 6</a:t>
                </a:r>
                <a:r>
                  <a:rPr lang="en-US" dirty="0">
                    <a:ea typeface="Cambria Math" panose="02040503050406030204" pitchFamily="18" charset="0"/>
                  </a:rPr>
                  <a:t>: New prediction and new loss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=0.0567+0.14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+0.3733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≈0.57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=0.0567+0.14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+0.3733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≈1.83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=0.0567+0.14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+0.3733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≈3.84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2(3)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0.57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1.83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3.84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8.35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b="1" u="sng" dirty="0">
                    <a:ea typeface="Cambria Math" panose="02040503050406030204" pitchFamily="18" charset="0"/>
                  </a:rPr>
                  <a:t>Summary</a:t>
                </a:r>
                <a:r>
                  <a:rPr lang="en-US" dirty="0">
                    <a:ea typeface="Cambria Math" panose="02040503050406030204" pitchFamily="18" charset="0"/>
                  </a:rPr>
                  <a:t>: We have reduced the loss in just 1 iteration. Repeat the process until convergence (loss stabilizes or reaches a threshold) </a:t>
                </a: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8">
                <a:extLst>
                  <a:ext uri="{FF2B5EF4-FFF2-40B4-BE49-F238E27FC236}">
                    <a16:creationId xmlns:a16="http://schemas.microsoft.com/office/drawing/2014/main" id="{EF221C65-1DE6-61FB-9BF3-62EDB00AD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71" y="1825623"/>
                <a:ext cx="11040255" cy="3651395"/>
              </a:xfrm>
              <a:prstGeom prst="rect">
                <a:avLst/>
              </a:prstGeom>
              <a:blipFill>
                <a:blip r:embed="rId3"/>
                <a:stretch>
                  <a:fillRect l="-497" t="-2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712CEE5-899F-D841-BF56-77E05E8E01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5638786"/>
                  </p:ext>
                </p:extLst>
              </p:nvPr>
            </p:nvGraphicFramePr>
            <p:xfrm>
              <a:off x="2204994" y="5477019"/>
              <a:ext cx="8127999" cy="111252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02448427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27293848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3492953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Initial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After 1 iteration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0010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Loss (MSE)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8.35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6346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Parameters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(0,0,0)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(0.0567,0.14,0.3733)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8671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712CEE5-899F-D841-BF56-77E05E8E01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5638786"/>
                  </p:ext>
                </p:extLst>
              </p:nvPr>
            </p:nvGraphicFramePr>
            <p:xfrm>
              <a:off x="2204994" y="5477019"/>
              <a:ext cx="8127999" cy="111252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02448427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27293848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3492953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Initial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After 1 iteration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0010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Loss (MSE)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8.35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6346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206557" r="-200899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(0,0,0)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(0.0567,0.14,0.3733)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8671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60707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6684A-435B-2C55-DE92-E9AAE26E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7D57-C06B-CA2D-0F65-FDA8B6B75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Metrics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18FB58-07F4-7F67-7D43-F7DC864B693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A4253-061C-A5F3-101A-8498F1CF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B2416D-E26D-C148-FDD6-C35E9D3411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DFDE0653-C3D2-41BB-8B46-E2C4399C23C7}"/>
              </a:ext>
            </a:extLst>
          </p:cNvPr>
          <p:cNvSpPr txBox="1">
            <a:spLocks/>
          </p:cNvSpPr>
          <p:nvPr/>
        </p:nvSpPr>
        <p:spPr>
          <a:xfrm>
            <a:off x="652071" y="1825623"/>
            <a:ext cx="11040255" cy="365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8">
                <a:extLst>
                  <a:ext uri="{FF2B5EF4-FFF2-40B4-BE49-F238E27FC236}">
                    <a16:creationId xmlns:a16="http://schemas.microsoft.com/office/drawing/2014/main" id="{5D6CC555-F3C0-F055-3C5B-F5E7D619B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</p:spPr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A variety of evaluation measures can be used to determine the strength of any linear regression model. Here are three common ones: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u="sng" dirty="0">
                    <a:solidFill>
                      <a:schemeClr val="tx1"/>
                    </a:solidFill>
                    <a:latin typeface="+mj-lt"/>
                  </a:rPr>
                  <a:t>Mean Square Error (MSE)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: Measures the average of the squared prediction errors, heavily penalizing large mistakes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u="sng" dirty="0">
                    <a:solidFill>
                      <a:schemeClr val="tx1"/>
                    </a:solidFill>
                    <a:latin typeface="+mj-lt"/>
                  </a:rPr>
                  <a:t>Mean Absolute Error (MAE)</a:t>
                </a:r>
                <a:r>
                  <a:rPr lang="en-US" dirty="0">
                    <a:latin typeface="+mj-lt"/>
                  </a:rPr>
                  <a:t>: Calculates the average absolute error, offering an interpretable “average miss” in the original units</a:t>
                </a: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MAE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+mj-lt"/>
                </a:endParaRPr>
              </a:p>
              <a:p>
                <a:pPr marL="514350" indent="-514350" algn="just">
                  <a:buFont typeface="+mj-lt"/>
                  <a:buAutoNum type="arabicPeriod" startAt="3"/>
                </a:pPr>
                <a:r>
                  <a:rPr lang="en-US" b="1" u="sng" dirty="0">
                    <a:solidFill>
                      <a:schemeClr val="tx1"/>
                    </a:solidFill>
                    <a:latin typeface="+mj-lt"/>
                  </a:rPr>
                  <a:t>Root Mean Squared Error (RMSE)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: Simply the square root of MSE, bringing the scale of errors back to the original units while still penalizing big errors</a:t>
                </a:r>
                <a:endParaRPr lang="en-US" b="1" u="sng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+mj-lt"/>
                </a:endParaRPr>
              </a:p>
              <a:p>
                <a:pPr marL="514350" indent="-514350" algn="just">
                  <a:buFont typeface="+mj-lt"/>
                  <a:buAutoNum type="arabicPeriod" startAt="4"/>
                </a:pPr>
                <a:r>
                  <a:rPr lang="en-US" b="1" u="sng" dirty="0">
                    <a:solidFill>
                      <a:schemeClr val="tx1"/>
                    </a:solidFill>
                    <a:latin typeface="+mj-lt"/>
                  </a:rPr>
                  <a:t>Coefficient of Determination (R²)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: Indicates the proportion of variance in the target explained by the model, ranging from 0 (no explanatory power) to 1 (perfect fit)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residual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sum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squares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(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RSS</m:t>
                          </m:r>
                          <m:r>
                            <m:rPr>
                              <m:nor/>
                            </m:rPr>
                            <a:rPr lang="en-US"/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/>
                            <m:t>total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sum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of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squares</m:t>
                          </m:r>
                          <m:r>
                            <m:rPr>
                              <m:nor/>
                            </m:rPr>
                            <a:rPr lang="en-US"/>
                            <m:t> (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TSS</m:t>
                          </m:r>
                          <m:r>
                            <m:rPr>
                              <m:nor/>
                            </m:rPr>
                            <a:rPr lang="en-US"/>
                            <m:t>) 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8">
                <a:extLst>
                  <a:ext uri="{FF2B5EF4-FFF2-40B4-BE49-F238E27FC236}">
                    <a16:creationId xmlns:a16="http://schemas.microsoft.com/office/drawing/2014/main" id="{5D6CC555-F3C0-F055-3C5B-F5E7D619B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4"/>
                <a:ext cx="11040256" cy="4667248"/>
              </a:xfrm>
              <a:blipFill>
                <a:blip r:embed="rId3"/>
                <a:stretch>
                  <a:fillRect l="-497" t="-1958" r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298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9924-5509-713A-9016-385E10B8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6542-651F-5C22-0E6A-AF1A7FD71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Regularization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8DF562-7997-E7A1-06AA-AA0F199342A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6259E-0B98-BCEE-0DEF-490CBF95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0CD39-01DC-FC79-443C-715A01CBA8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8AEE46AE-8DEC-7FA0-AD5B-7340B60149D4}"/>
              </a:ext>
            </a:extLst>
          </p:cNvPr>
          <p:cNvSpPr txBox="1">
            <a:spLocks/>
          </p:cNvSpPr>
          <p:nvPr/>
        </p:nvSpPr>
        <p:spPr>
          <a:xfrm>
            <a:off x="652071" y="1825623"/>
            <a:ext cx="11040255" cy="365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8">
                <a:extLst>
                  <a:ext uri="{FF2B5EF4-FFF2-40B4-BE49-F238E27FC236}">
                    <a16:creationId xmlns:a16="http://schemas.microsoft.com/office/drawing/2014/main" id="{D8453A4D-1FC9-127D-F41C-3E0A7DCB9C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3"/>
                <a:ext cx="11040256" cy="4826075"/>
              </a:xfrm>
            </p:spPr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While evaluation metrics are used to measure how well a model performs, </a:t>
                </a:r>
                <a:r>
                  <a:rPr lang="en-US" b="1" u="sng" dirty="0">
                    <a:latin typeface="+mj-lt"/>
                  </a:rPr>
                  <a:t>regularization</a:t>
                </a:r>
                <a:r>
                  <a:rPr lang="en-US" dirty="0">
                    <a:latin typeface="+mj-lt"/>
                  </a:rPr>
                  <a:t> helps to improve that performance by </a:t>
                </a:r>
                <a:r>
                  <a:rPr lang="en-US" b="1" i="1" dirty="0">
                    <a:latin typeface="+mj-lt"/>
                  </a:rPr>
                  <a:t>reducing overfitting </a:t>
                </a:r>
                <a:r>
                  <a:rPr lang="en-US" dirty="0">
                    <a:latin typeface="+mj-lt"/>
                  </a:rPr>
                  <a:t>and promoting </a:t>
                </a:r>
                <a:r>
                  <a:rPr lang="en-US" b="1" i="1" dirty="0">
                    <a:latin typeface="+mj-lt"/>
                  </a:rPr>
                  <a:t>better generalization to unseen data</a:t>
                </a:r>
                <a:r>
                  <a:rPr lang="en-US" dirty="0">
                    <a:latin typeface="+mj-lt"/>
                  </a:rPr>
                  <a:t>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u="sng" dirty="0">
                    <a:latin typeface="+mj-lt"/>
                  </a:rPr>
                  <a:t>L1 (Lasso) Regularization</a:t>
                </a:r>
                <a:r>
                  <a:rPr lang="en-US" dirty="0">
                    <a:latin typeface="+mj-lt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>
                  <a:latin typeface="+mj-lt"/>
                </a:endParaRPr>
              </a:p>
              <a:p>
                <a:pPr lvl="1" algn="just"/>
                <a:r>
                  <a:rPr lang="en-US" dirty="0">
                    <a:latin typeface="+mj-lt"/>
                  </a:rPr>
                  <a:t>Adds a penalty proportional to the absolute values of model coefficients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)</a:t>
                </a:r>
              </a:p>
              <a:p>
                <a:pPr lvl="1" algn="just"/>
                <a:r>
                  <a:rPr lang="en-US" dirty="0">
                    <a:latin typeface="+mj-lt"/>
                  </a:rPr>
                  <a:t>Encourages sparsity by shrinking some coefficients to zero (</a:t>
                </a:r>
                <a:r>
                  <a:rPr lang="en-US" b="1" i="1" dirty="0">
                    <a:latin typeface="+mj-lt"/>
                  </a:rPr>
                  <a:t>feature selection</a:t>
                </a:r>
                <a:r>
                  <a:rPr lang="en-US" dirty="0">
                    <a:latin typeface="+mj-lt"/>
                  </a:rPr>
                  <a:t>)</a:t>
                </a:r>
              </a:p>
              <a:p>
                <a:pPr marL="514350" indent="-514350" algn="just">
                  <a:buFont typeface="+mj-lt"/>
                  <a:buAutoNum type="arabicPeriod" startAt="2"/>
                </a:pPr>
                <a:r>
                  <a:rPr lang="en-US" b="1" u="sng" dirty="0">
                    <a:latin typeface="+mj-lt"/>
                  </a:rPr>
                  <a:t>L2 (Ridge) Regularization</a:t>
                </a:r>
                <a:r>
                  <a:rPr lang="en-US" dirty="0">
                    <a:latin typeface="+mj-lt"/>
                  </a:rPr>
                  <a:t>: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pPr lvl="1" algn="just"/>
                <a:r>
                  <a:rPr lang="en-US" dirty="0">
                    <a:latin typeface="+mj-lt"/>
                  </a:rPr>
                  <a:t>Adds a penalty proportional to the squared values of coefficients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)</a:t>
                </a:r>
              </a:p>
              <a:p>
                <a:pPr lvl="1" algn="just"/>
                <a:r>
                  <a:rPr lang="en-US" dirty="0">
                    <a:latin typeface="+mj-lt"/>
                  </a:rPr>
                  <a:t>Shrinks coefficients uniformly but rarely zeros them out (</a:t>
                </a:r>
                <a:r>
                  <a:rPr lang="en-US" b="1" i="1" dirty="0">
                    <a:latin typeface="+mj-lt"/>
                  </a:rPr>
                  <a:t>prevents overfitting</a:t>
                </a:r>
                <a:r>
                  <a:rPr lang="en-US" dirty="0">
                    <a:latin typeface="+mj-lt"/>
                  </a:rPr>
                  <a:t>)</a:t>
                </a:r>
              </a:p>
              <a:p>
                <a:pPr marL="514350" indent="-514350" algn="just">
                  <a:buFont typeface="+mj-lt"/>
                  <a:buAutoNum type="arabicPeriod" startAt="3"/>
                </a:pPr>
                <a:r>
                  <a:rPr lang="en-US" b="1" u="sng" dirty="0">
                    <a:latin typeface="+mj-lt"/>
                  </a:rPr>
                  <a:t>Elastic Net</a:t>
                </a:r>
                <a:r>
                  <a:rPr lang="en-US" dirty="0">
                    <a:latin typeface="+mj-lt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>
                  <a:latin typeface="+mj-lt"/>
                </a:endParaRPr>
              </a:p>
              <a:p>
                <a:pPr lvl="1"/>
                <a:r>
                  <a:rPr lang="en-US" dirty="0">
                    <a:latin typeface="+mj-lt"/>
                  </a:rPr>
                  <a:t>Combines both L1 and L2 regularization techniques</a:t>
                </a:r>
              </a:p>
              <a:p>
                <a:pPr lvl="1"/>
                <a:r>
                  <a:rPr lang="en-US" dirty="0">
                    <a:latin typeface="+mj-lt"/>
                  </a:rPr>
                  <a:t>Balances sparsity and shrinkage</a:t>
                </a:r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8">
                <a:extLst>
                  <a:ext uri="{FF2B5EF4-FFF2-40B4-BE49-F238E27FC236}">
                    <a16:creationId xmlns:a16="http://schemas.microsoft.com/office/drawing/2014/main" id="{D8453A4D-1FC9-127D-F41C-3E0A7DCB9C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3"/>
                <a:ext cx="11040256" cy="4826075"/>
              </a:xfrm>
              <a:blipFill>
                <a:blip r:embed="rId3"/>
                <a:stretch>
                  <a:fillRect l="-497" t="-2020" r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866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6CDFF-A125-C497-552F-FCEBAAB8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5F138-A23F-4586-32E6-22C64A09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Regularization – A Qualitative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388F27-18A7-1312-69B2-791BE03B58E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145E1-C940-F490-F47C-55556C44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91E3E-3828-357D-C997-D9DE0FC935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ACEA1566-23E6-ADF3-8A1A-1706AD145C40}"/>
              </a:ext>
            </a:extLst>
          </p:cNvPr>
          <p:cNvSpPr txBox="1">
            <a:spLocks/>
          </p:cNvSpPr>
          <p:nvPr/>
        </p:nvSpPr>
        <p:spPr>
          <a:xfrm>
            <a:off x="652071" y="1825623"/>
            <a:ext cx="11040255" cy="365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>
              <a:ea typeface="Cambria Math" panose="02040503050406030204" pitchFamily="18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3CE95CC6-6126-340C-CFF2-4B0B9B339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3"/>
            <a:ext cx="11040256" cy="48260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+mj-lt"/>
              </a:rPr>
              <a:t>Predicting house prices with 100+ features (e.g., room size, neighborhood metrics), where,</a:t>
            </a:r>
          </a:p>
          <a:p>
            <a:pPr lvl="1" algn="just"/>
            <a:r>
              <a:rPr lang="en-US" dirty="0">
                <a:latin typeface="+mj-lt"/>
              </a:rPr>
              <a:t>Highly related features (square footage, lot size, age of the house, etc.)</a:t>
            </a:r>
          </a:p>
          <a:p>
            <a:pPr lvl="1" algn="just"/>
            <a:r>
              <a:rPr lang="en-US" dirty="0">
                <a:latin typeface="+mj-lt"/>
              </a:rPr>
              <a:t>Some features are correlated (e.g., “square footage” and “number of bedrooms/bathrooms”).</a:t>
            </a:r>
          </a:p>
          <a:p>
            <a:pPr lvl="1" algn="just"/>
            <a:r>
              <a:rPr lang="en-US" dirty="0">
                <a:latin typeface="+mj-lt"/>
              </a:rPr>
              <a:t>Many features are irrelevant (e.g., listing number, color of the front door, etc.)</a:t>
            </a:r>
          </a:p>
          <a:p>
            <a:pPr algn="just"/>
            <a:r>
              <a:rPr lang="en-US" dirty="0">
                <a:latin typeface="+mj-lt"/>
              </a:rPr>
              <a:t>L1 helps select key features (e.g., “square footage”) by zeroing out coefficients</a:t>
            </a:r>
          </a:p>
          <a:p>
            <a:pPr algn="just"/>
            <a:r>
              <a:rPr lang="en-US" dirty="0">
                <a:latin typeface="+mj-lt"/>
              </a:rPr>
              <a:t>L2 controls model complexity, especially when features are correlated. It does not zero out coefficients – it just shrinks them unlike L1 (e.g., L2 regularization might shrink both coefficients of “square footage” and “number of bedrooms/bathrooms” rather than choosing one and discarding the other, which L1 tends to do)</a:t>
            </a:r>
          </a:p>
          <a:p>
            <a:pPr algn="just"/>
            <a:r>
              <a:rPr lang="en-US" dirty="0">
                <a:latin typeface="+mj-lt"/>
              </a:rPr>
              <a:t>Elastic Net combines the power of both L1 and L2</a:t>
            </a:r>
          </a:p>
        </p:txBody>
      </p:sp>
    </p:spTree>
    <p:extLst>
      <p:ext uri="{BB962C8B-B14F-4D97-AF65-F5344CB8AC3E}">
        <p14:creationId xmlns:p14="http://schemas.microsoft.com/office/powerpoint/2010/main" val="2833271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5000</TotalTime>
  <Words>2344</Words>
  <Application>Microsoft Office PowerPoint</Application>
  <PresentationFormat>Widescreen</PresentationFormat>
  <Paragraphs>229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 Lecture 2: Linear Regression</vt:lpstr>
      <vt:lpstr>Introduction</vt:lpstr>
      <vt:lpstr>Why Linear Regression?</vt:lpstr>
      <vt:lpstr>Simple Linear Regression</vt:lpstr>
      <vt:lpstr>Few Assumptions on Linear Regression</vt:lpstr>
      <vt:lpstr>Cost/Loss Function (J)</vt:lpstr>
      <vt:lpstr>How do we find w_0, w_1,…,w_k? </vt:lpstr>
      <vt:lpstr>Gradient Descent in Linear Regression</vt:lpstr>
      <vt:lpstr>Gradient Descent (contd.)</vt:lpstr>
      <vt:lpstr>Mathematical Example</vt:lpstr>
      <vt:lpstr>Linear Basis Models</vt:lpstr>
      <vt:lpstr>Linear Basis Models – How is it linear?</vt:lpstr>
      <vt:lpstr>Linear Basis Models – Mathematical Framework</vt:lpstr>
      <vt:lpstr>Mathematical Framework (contd.)</vt:lpstr>
      <vt:lpstr>Mathematical Framework (contd.)</vt:lpstr>
      <vt:lpstr>Example using gradient descent</vt:lpstr>
      <vt:lpstr>Example (contd.)</vt:lpstr>
      <vt:lpstr>Evaluation Metrics</vt:lpstr>
      <vt:lpstr>Regularization</vt:lpstr>
      <vt:lpstr>Regularization – A Qualitative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Lecture 2: Linear Regression</dc:title>
  <dc:creator>Jilan Samiuddin</dc:creator>
  <cp:lastModifiedBy>Jilan Samiuddin</cp:lastModifiedBy>
  <cp:revision>70</cp:revision>
  <dcterms:created xsi:type="dcterms:W3CDTF">2025-05-01T04:50:36Z</dcterms:created>
  <dcterms:modified xsi:type="dcterms:W3CDTF">2026-01-28T03:30:59Z</dcterms:modified>
</cp:coreProperties>
</file>