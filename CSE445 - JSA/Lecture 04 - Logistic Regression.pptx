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75" r:id="rId10"/>
    <p:sldId id="267" r:id="rId11"/>
    <p:sldId id="268" r:id="rId12"/>
    <p:sldId id="269" r:id="rId13"/>
    <p:sldId id="263" r:id="rId14"/>
    <p:sldId id="264" r:id="rId15"/>
    <p:sldId id="265" r:id="rId16"/>
    <p:sldId id="266" r:id="rId17"/>
    <p:sldId id="270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br>
              <a:rPr lang="en-US" sz="5200" b="1" dirty="0"/>
            </a:br>
            <a:r>
              <a:rPr lang="en-US" sz="5200" b="1" dirty="0"/>
              <a:t>Lecture 4: 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A8FFCC-CB1A-7AFD-1E29-764FC879F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Logistic regression </a:t>
            </a:r>
            <a:r>
              <a:rPr lang="en-US" dirty="0"/>
              <a:t>is a 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classification tasks</a:t>
            </a:r>
            <a:r>
              <a:rPr lang="en-US" dirty="0"/>
              <a:t>, </a:t>
            </a:r>
            <a:r>
              <a:rPr lang="en-US" b="1" i="1" u="sng" dirty="0"/>
              <a:t>not</a:t>
            </a:r>
            <a:r>
              <a:rPr lang="en-US" b="1" dirty="0"/>
              <a:t> regression tasks </a:t>
            </a:r>
            <a:r>
              <a:rPr lang="en-US" dirty="0"/>
              <a:t>– despite the misleading name</a:t>
            </a:r>
          </a:p>
          <a:p>
            <a:pPr algn="just"/>
            <a:r>
              <a:rPr lang="en-US" dirty="0"/>
              <a:t>The term "regression" comes from the fact that logistic regression models a relationship between input features and a probability using a regression-like approach</a:t>
            </a:r>
          </a:p>
          <a:p>
            <a:pPr algn="just"/>
            <a:r>
              <a:rPr lang="en-US" dirty="0"/>
              <a:t>Goal is to </a:t>
            </a:r>
            <a:r>
              <a:rPr lang="en-US" b="1" i="1" dirty="0"/>
              <a:t>predict the probability</a:t>
            </a:r>
            <a:r>
              <a:rPr lang="en-US" dirty="0"/>
              <a:t> that an instance belongs to a given class or not</a:t>
            </a:r>
          </a:p>
          <a:p>
            <a:pPr algn="just"/>
            <a:r>
              <a:rPr lang="en-US" dirty="0"/>
              <a:t>It uses the sigmoid function, which takes a combination of input features and outputs a probability between 0 and 1, indicating the likelihood that the input belongs to the positive class</a:t>
            </a:r>
          </a:p>
          <a:p>
            <a:pPr algn="just"/>
            <a:r>
              <a:rPr lang="en-US" dirty="0"/>
              <a:t>In logistic regression, instead of fitting a straight line like in linear regression, we fit an </a:t>
            </a:r>
            <a:r>
              <a:rPr lang="en-US" b="1" i="1" dirty="0"/>
              <a:t>S</a:t>
            </a:r>
            <a:r>
              <a:rPr lang="en-US" b="1" dirty="0"/>
              <a:t>-shaped curve</a:t>
            </a:r>
            <a:r>
              <a:rPr lang="en-US" dirty="0"/>
              <a:t> called the </a:t>
            </a:r>
            <a:r>
              <a:rPr lang="en-US" b="1" u="sng" dirty="0"/>
              <a:t>logistic (or sigmoid) function</a:t>
            </a:r>
            <a:r>
              <a:rPr lang="en-US" dirty="0"/>
              <a:t>. This function outputs values between 0 and 1, representing probabilities, and helps in predicting binary outcomes.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9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8A99-DC97-90F6-A51B-02FFCF7C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34D8-36A5-ECF8-C7DD-770A3091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Logistic Regression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1C5947-9C92-E9AD-56CA-3E12950C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1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Binomial Logistic Regression: </a:t>
            </a:r>
            <a:r>
              <a:rPr lang="en-US" dirty="0"/>
              <a:t>Used when the dependent variable has two possible outcomes, such as yes/no, pass/fail, or 0/1.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Multinomial Logistic Regression: </a:t>
            </a:r>
            <a:r>
              <a:rPr lang="en-US" dirty="0"/>
              <a:t>Applied when the dependent variable has three or more unordered categories, like cat, dog, or sheep – where there is no natural order.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Ordinal Logistic Regression: </a:t>
            </a:r>
            <a:r>
              <a:rPr lang="en-US" dirty="0"/>
              <a:t>Used when the dependent variable has three or more ordered categories, such as low, medium, or high – where the categories follow a meaningful sequence.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452C1C-6D2C-DF79-1079-1C4053FAA0F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36FA1-972B-35D2-8D11-37E9D0A5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F03398-155A-06DE-15CF-B299747CE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9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F5F8-C48A-9490-2371-979D9809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393-D628-F330-3D48-0AEE278A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A98CD5-1E04-B38C-C0E9-161CB2376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75724"/>
            <a:ext cx="11040256" cy="482607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Logistic regression relies on several key assumptions to ensure valid and reliable results: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/>
              <a:t>Independence of Observations</a:t>
            </a:r>
            <a:r>
              <a:rPr lang="en-US" dirty="0"/>
              <a:t>: Each data point should be independent; there must be no relationship or correlation between the residuals (prediction errors) of different observations.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/>
              <a:t>Binary Outcome</a:t>
            </a:r>
            <a:r>
              <a:rPr lang="en-US" dirty="0"/>
              <a:t>: The dependent variable must be dichotomous, taking only two possible values (e.g., 0/1, yes/no). For problems with more than two categories, extensions like multinomial logistic regression with a </a:t>
            </a:r>
            <a:r>
              <a:rPr lang="en-US" b="1" i="1" dirty="0"/>
              <a:t>SoftMax</a:t>
            </a:r>
            <a:r>
              <a:rPr lang="en-US" dirty="0"/>
              <a:t> link function are used.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/>
              <a:t>Absence of Extreme Outliers</a:t>
            </a:r>
            <a:r>
              <a:rPr lang="en-US" dirty="0"/>
              <a:t>: The dataset should not contain influential outliers, as these can unduly affect the estimated coefficients and distort the model’s performance.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/>
              <a:t>Sufficient Sample Size</a:t>
            </a:r>
            <a:r>
              <a:rPr lang="en-US" dirty="0"/>
              <a:t>: A large enough sample ensures stable coefficient estimates. A common rule of thumb is at least 10 events (cases of the less-frequent outcome) per predictor variable.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588199-16A9-4FC0-D9A9-AEC054A736B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57B74-ADDC-9821-56E2-555435A3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6E2F8-FCBB-E9BB-C0A0-CBC1394102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6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24E8-D51B-938D-80A6-DE81221D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sential Math for Machine Learning: Sigmoid | by Dagang Wei | Medium">
            <a:extLst>
              <a:ext uri="{FF2B5EF4-FFF2-40B4-BE49-F238E27FC236}">
                <a16:creationId xmlns:a16="http://schemas.microsoft.com/office/drawing/2014/main" id="{74444F1E-7202-7B46-BB36-A35265298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890" y="2379845"/>
            <a:ext cx="461962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450912-561A-FDD6-9751-3CB168D9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Sigmoid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84BCE32-6FEB-022C-001D-351EAFC766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6920303" cy="4826074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The </a:t>
                </a:r>
                <a:r>
                  <a:rPr lang="en-US" b="1" u="sng" dirty="0"/>
                  <a:t>sigmoid function</a:t>
                </a:r>
                <a:r>
                  <a:rPr lang="en-US" dirty="0"/>
                  <a:t> (also called the </a:t>
                </a:r>
                <a:r>
                  <a:rPr lang="en-US" b="1" u="sng" dirty="0"/>
                  <a:t>logistic function</a:t>
                </a:r>
                <a:r>
                  <a:rPr lang="en-US" dirty="0"/>
                  <a:t>) converts any real-valued input into a number between 0 and 1, making it ideal for modeling probabilities.</a:t>
                </a:r>
              </a:p>
              <a:p>
                <a:pPr algn="just"/>
                <a:r>
                  <a:rPr lang="en-US" dirty="0"/>
                  <a:t>Its characteristic “S-shaped” curve ensures that extremely negative inputs map close to 0, while extremely positive inputs map close to 1.</a:t>
                </a:r>
              </a:p>
              <a:p>
                <a:pPr algn="just"/>
                <a:r>
                  <a:rPr lang="en-US" dirty="0"/>
                  <a:t>In logistic regression, we feed the model’s raw output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) into the sigmoid to get a probability: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We then choose a </a:t>
                </a:r>
                <a:r>
                  <a:rPr lang="en-US" b="1" i="1" dirty="0"/>
                  <a:t>threshold</a:t>
                </a:r>
                <a:r>
                  <a:rPr lang="en-US" dirty="0"/>
                  <a:t> (often 0.5) to turn that probability into a binary decision:</a:t>
                </a:r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class 1</a:t>
                </a:r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class 0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84BCE32-6FEB-022C-001D-351EAFC766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6920303" cy="4826074"/>
              </a:xfrm>
              <a:blipFill>
                <a:blip r:embed="rId3"/>
                <a:stretch>
                  <a:fillRect l="-1233" t="-2778" r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D166BC-F36F-BEDC-582B-B460D2F854F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BF7E3-6C79-CFB2-FE01-319C0A82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E1285-8197-8852-DE5F-2E4FD99B47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74EE44-C5DB-3084-964F-6610DF2545F2}"/>
              </a:ext>
            </a:extLst>
          </p:cNvPr>
          <p:cNvSpPr txBox="1"/>
          <p:nvPr/>
        </p:nvSpPr>
        <p:spPr>
          <a:xfrm>
            <a:off x="8800665" y="5421637"/>
            <a:ext cx="25531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Image source</a:t>
            </a:r>
            <a:r>
              <a:rPr lang="en-US" sz="1500" dirty="0"/>
              <a:t>: Medium.com</a:t>
            </a:r>
          </a:p>
        </p:txBody>
      </p:sp>
    </p:spTree>
    <p:extLst>
      <p:ext uri="{BB962C8B-B14F-4D97-AF65-F5344CB8AC3E}">
        <p14:creationId xmlns:p14="http://schemas.microsoft.com/office/powerpoint/2010/main" val="31415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840A-9490-E4C3-4079-33FA466B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6E66-7122-C463-C651-1F95142F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Let’s take derivative of 𝜙(𝑧): We will need it!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E21B95-7093-47FA-5CF5-060943D54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0701728" cy="482607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𝑑𝑧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E21B95-7093-47FA-5CF5-060943D54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0701728" cy="48260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3635F5-A63F-13C9-714F-E2A210C45DC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666B-BD3B-EC64-3F8B-6997AAA1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66B5D-4DD8-58D8-55B7-4220CCAE1C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D13DEF-DC0B-180E-9B02-BAD8F4E9D474}"/>
              </a:ext>
            </a:extLst>
          </p:cNvPr>
          <p:cNvSpPr/>
          <p:nvPr/>
        </p:nvSpPr>
        <p:spPr>
          <a:xfrm>
            <a:off x="4248807" y="5305097"/>
            <a:ext cx="3436883" cy="9538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3D75-E1FD-21D7-52AF-D7E32E36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BDB1-F31C-6966-47A3-062E47B9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Framework: </a:t>
            </a:r>
            <a:r>
              <a:rPr lang="en-US" b="1" dirty="0" err="1"/>
              <a:t>Bionomial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C769685-BEB1-DA4A-0CC5-582A4DA7F1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4826074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Logistic regression </a:t>
                </a:r>
                <a:r>
                  <a:rPr lang="en-US" b="1" i="1" dirty="0"/>
                  <a:t>takes the continuous output of a linear model </a:t>
                </a:r>
                <a:r>
                  <a:rPr lang="en-US" dirty="0"/>
                  <a:t>and passes it through a sigmoid (logistic) function, which “</a:t>
                </a:r>
                <a:r>
                  <a:rPr lang="en-US" i="1" dirty="0"/>
                  <a:t>squashes</a:t>
                </a:r>
                <a:r>
                  <a:rPr lang="en-US" dirty="0"/>
                  <a:t>” any real-valued input into a number between 0 and 1, allowing us to convert those values into discrete class predictions.</a:t>
                </a:r>
              </a:p>
              <a:p>
                <a:pPr algn="just"/>
                <a:r>
                  <a:rPr lang="en-US" b="1" u="sng" dirty="0"/>
                  <a:t>Step 1</a:t>
                </a:r>
                <a:r>
                  <a:rPr lang="en-US" dirty="0"/>
                  <a:t>: For the input feature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be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and the weight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be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b="1" u="sng" dirty="0"/>
                  <a:t>Step 2</a:t>
                </a:r>
                <a:r>
                  <a:rPr lang="en-US" dirty="0"/>
                  <a:t>: Find the </a:t>
                </a:r>
                <a:r>
                  <a:rPr lang="en-US" b="1" dirty="0"/>
                  <a:t>logit</a:t>
                </a:r>
                <a:r>
                  <a:rPr lang="en-US" dirty="0"/>
                  <a:t> (score)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b="1" u="sng" dirty="0"/>
                  <a:t>Step 3</a:t>
                </a:r>
                <a:r>
                  <a:rPr lang="en-US" dirty="0"/>
                  <a:t>: The hypothesis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sigmoid function is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i.e., the linear combination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converted into a probability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C769685-BEB1-DA4A-0CC5-582A4DA7F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4826074"/>
              </a:xfrm>
              <a:blipFill>
                <a:blip r:embed="rId2"/>
                <a:stretch>
                  <a:fillRect l="-883" t="-2778" r="-828" b="-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DB2206-C089-6F1F-E2E5-B99B5668947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E2CB1-51EA-C951-19F5-565CCFD9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8C3F9-AFAD-DB1A-C25B-DC7069D71D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8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D34F-0278-DCFC-72B3-3F9DEDAF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B189-9D0E-1C60-5EDD-462C94BC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Bionomial</a:t>
            </a:r>
            <a:r>
              <a:rPr lang="en-US" b="1" dirty="0"/>
              <a:t> Framework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016E0DD-4BA9-259C-3B0C-3D97A7DE47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Step 4</a:t>
                </a:r>
                <a:r>
                  <a:rPr lang="en-US" dirty="0"/>
                  <a:t>: Define cost function </a:t>
                </a:r>
                <a:r>
                  <a:rPr lang="en-US" b="1" i="1" dirty="0"/>
                  <a:t>negative log-likelihood</a:t>
                </a:r>
                <a:r>
                  <a:rPr lang="en-US" dirty="0"/>
                  <a:t> (log loss)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: Penalizes the first term, and large penalty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 Penalizes the second term, and large penalty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1</a:t>
                </a:r>
              </a:p>
              <a:p>
                <a:pPr algn="just"/>
                <a:r>
                  <a:rPr lang="en-US" b="1" u="sng" dirty="0"/>
                  <a:t>Step 5</a:t>
                </a:r>
                <a:r>
                  <a:rPr lang="en-US" dirty="0"/>
                  <a:t>: Find gradient:</a:t>
                </a:r>
              </a:p>
              <a:p>
                <a:pPr marL="0" indent="0" algn="just">
                  <a:buNone/>
                </a:pPr>
                <a:r>
                  <a:rPr lang="en-US" b="0" dirty="0"/>
                  <a:t>First term: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𝑤𝑥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016E0DD-4BA9-259C-3B0C-3D97A7DE47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1160" t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D7E66-117F-AE83-CB08-A340088F14F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41EE8-8675-9ACB-66B1-7B49EEAC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340537-8637-527B-AFF8-C9ABFF51D0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2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A1E9-58AF-C184-69CA-A0E6D57E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0462-19D6-FB97-9C19-8F34A25B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Bionomial</a:t>
            </a:r>
            <a:r>
              <a:rPr lang="en-US" b="1" dirty="0"/>
              <a:t> Framework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E5CF4D-C782-580A-0004-3EEC788ED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59958"/>
                <a:ext cx="11040256" cy="518227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Second term: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den>
                        </m:f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𝑤𝑥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Adding the two terms: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Therefore,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sSubSup>
                          <m:sSub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nary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nary>
                  </m:oMath>
                </a14:m>
                <a:endParaRPr lang="en-US" sz="360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algn="just"/>
                <a:r>
                  <a:rPr lang="en-US" b="1" u="sng" dirty="0"/>
                  <a:t>Step 6</a:t>
                </a:r>
                <a:r>
                  <a:rPr lang="en-US" dirty="0"/>
                  <a:t>: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using gradient descent as before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b="1" u="sng" dirty="0"/>
                  <a:t>Step 7</a:t>
                </a:r>
                <a:r>
                  <a:rPr lang="en-US" dirty="0"/>
                  <a:t>: Finally, make prediction using threshold at 0.5</a:t>
                </a:r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E5CF4D-C782-580A-0004-3EEC788ED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59958"/>
                <a:ext cx="11040256" cy="5182276"/>
              </a:xfrm>
              <a:blipFill>
                <a:blip r:embed="rId2"/>
                <a:stretch>
                  <a:fillRect l="-718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F5DD9D-2EE4-6A3D-A4ED-AD66303EF0C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2C59A-33FE-5222-D864-ECE19C3D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C495B-F52F-B757-366A-8B24648EAF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1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9FF5-3438-093D-4114-2ECCF500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9EDA-CEAE-B928-B333-B968632A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</a:t>
            </a:r>
            <a:r>
              <a:rPr lang="en-US" b="1" dirty="0" err="1"/>
              <a:t>Bionomial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FD0E8F3-83D3-CD3F-67C6-CF205C728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b="1" u="sng" dirty="0"/>
                  <a:t>Problem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Classes: 0 (negative), 1 (positive), learning rate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Training data:</a:t>
                </a:r>
              </a:p>
              <a:p>
                <a:pPr lvl="2" algn="just"/>
                <a:r>
                  <a:rPr lang="en-US" dirty="0"/>
                  <a:t>Sample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label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 algn="just"/>
                <a:r>
                  <a:rPr lang="en-US" dirty="0"/>
                  <a:t>Sample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1.5, 0.5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label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b="1" u="sng" dirty="0"/>
                  <a:t>Solution</a:t>
                </a:r>
                <a:r>
                  <a:rPr lang="en-US" dirty="0"/>
                  <a:t>:</a:t>
                </a:r>
              </a:p>
              <a:p>
                <a:pPr algn="just"/>
                <a:r>
                  <a:rPr lang="en-US" dirty="0"/>
                  <a:t>For the bias term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), augmented features:</a:t>
                </a:r>
              </a:p>
              <a:p>
                <a:pPr lvl="1" algn="just"/>
                <a:r>
                  <a:rPr lang="en-US" dirty="0"/>
                  <a:t>Sample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Sample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1, 1.5, 0.5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Initialize parameters randomly: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0.1, 0.2,−0.1</m:t>
                        </m:r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Compute logits:</a:t>
                </a:r>
              </a:p>
              <a:p>
                <a:pPr lvl="1" algn="just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0.1,0.2,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b="0" dirty="0"/>
              </a:p>
              <a:p>
                <a:pPr lvl="1"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0.1,0.2,−0.1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lang="en-US" dirty="0"/>
              </a:p>
              <a:p>
                <a:pPr lvl="2" algn="just"/>
                <a:endParaRPr lang="en-US" dirty="0"/>
              </a:p>
              <a:p>
                <a:pPr lvl="2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FD0E8F3-83D3-CD3F-67C6-CF205C728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883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284050-BA45-E98D-464B-7C1EAEEE137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D81AC-6486-3786-604B-B1A244A3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D3310-E70F-D1F7-24CA-7235474890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2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C600-7549-DF77-A0E7-C5C405C9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12B5-6F4E-3ACA-59EE-01EE8A5A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DC069E-F8A1-7EA5-F0BB-768E18BDB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Apply sigmoid: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−0.1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0.525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suggests class 1 and true label is also 1</a:t>
                </a:r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−0.35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0.586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suggests class 1 but true label is 0</a:t>
                </a:r>
              </a:p>
              <a:p>
                <a:pPr lvl="1" algn="just"/>
                <a:r>
                  <a:rPr lang="en-US" b="1" dirty="0"/>
                  <a:t>Recall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class 1,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class 0</a:t>
                </a:r>
              </a:p>
              <a:p>
                <a:pPr algn="just"/>
                <a:r>
                  <a:rPr lang="en-US" dirty="0"/>
                  <a:t>Compute loss: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0.525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0.475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0.586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⋅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0.414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=0.762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Compute gradient:</a:t>
                </a: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0.525−1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1+(0.586−0)</m:t>
                        </m:r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=0.0555</m:t>
                    </m:r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0.525−1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1.0+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0.586−0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=0.202</m:t>
                    </m:r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0.525−1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2.0+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0.586−0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=−0.3285</m:t>
                    </m:r>
                  </m:oMath>
                </a14:m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DC069E-F8A1-7EA5-F0BB-768E18BDB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994" t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E14D9B-2E4E-454B-B932-22DDF44BC83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ED9B4-A5DD-B05D-59E7-A47245F5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E0CF-25E3-2902-8FB5-9D1F82020C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1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275-5F8E-F958-A6CE-876673DB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8CAA-DB47-B94E-F7E4-7931E36B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7B3D21-EDBB-4A1A-9F58-1B679D01A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Update parameters: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=0.1−0.1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∙0.0555=0.0945</m:t>
                    </m:r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=0.2−0.1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∙0.202=0.1798</m:t>
                    </m:r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=−0.1−0.1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−0.3285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=−0.0671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New predictions using the updated weights: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≈0.535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0.582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Interpretation:</a:t>
                </a:r>
              </a:p>
              <a:p>
                <a:pPr lvl="1" algn="just"/>
                <a:r>
                  <a:rPr lang="en-US" dirty="0"/>
                  <a:t>For sample 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, the probability increased from 0.525 → 0.535 (that is good) </a:t>
                </a:r>
              </a:p>
              <a:p>
                <a:pPr lvl="1" algn="just"/>
                <a:r>
                  <a:rPr lang="en-US" dirty="0"/>
                  <a:t>For sample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dirty="0"/>
                  <a:t>, the probability decreased slightly from 0.586 → 0.582 (that is a good sign but not good enough)</a:t>
                </a:r>
              </a:p>
              <a:p>
                <a:pPr algn="just"/>
                <a:r>
                  <a:rPr lang="en-US" b="0" i="0" dirty="0">
                    <a:solidFill>
                      <a:srgbClr val="404040"/>
                    </a:solidFill>
                    <a:effectLst/>
                    <a:latin typeface="DeepSeek-CJK-patch"/>
                  </a:rPr>
                  <a:t>Repeat until convergence</a:t>
                </a:r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7B3D21-EDBB-4A1A-9F58-1B679D01A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994" t="-2118" r="-828"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11B0BF-5476-BABF-56D9-DCC06495F82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E28F6-BA00-8BB1-5CC4-23BBA45D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3A6CF1-82A2-3CC8-5256-51865BA5A6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05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7174-3B77-58B2-9120-B90E3677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4BBC-AF3C-7F0C-F342-03A7ECF0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Framework: Multinomial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55AB494-F7F9-EBC8-F84E-A30E27F84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b="1" u="sng" dirty="0"/>
                  <a:t>Multinomial</a:t>
                </a:r>
                <a:r>
                  <a:rPr lang="en-US" dirty="0"/>
                  <a:t> – 3 or more classes without any order, i.e., types have no quantitative significance</a:t>
                </a:r>
              </a:p>
              <a:p>
                <a:pPr algn="just"/>
                <a:r>
                  <a:rPr lang="en-US" dirty="0"/>
                  <a:t>In this case, the </a:t>
                </a:r>
                <a:r>
                  <a:rPr lang="en-US" b="1" u="sng" dirty="0" err="1"/>
                  <a:t>softmax</a:t>
                </a:r>
                <a:r>
                  <a:rPr lang="en-US" b="1" u="sng" dirty="0"/>
                  <a:t> function</a:t>
                </a:r>
                <a:r>
                  <a:rPr lang="en-US" dirty="0"/>
                  <a:t> is used instead of sigmoid function</a:t>
                </a:r>
              </a:p>
              <a:p>
                <a:pPr algn="just"/>
                <a:r>
                  <a:rPr lang="en-US" dirty="0" err="1"/>
                  <a:t>Softmax</a:t>
                </a:r>
                <a:r>
                  <a:rPr lang="en-US" dirty="0"/>
                  <a:t> function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represents the class that is being predicted.</a:t>
                </a:r>
              </a:p>
              <a:p>
                <a:pPr algn="just"/>
                <a:r>
                  <a:rPr lang="en-US" b="1" u="sng" dirty="0"/>
                  <a:t>Step 1</a:t>
                </a:r>
                <a:r>
                  <a:rPr lang="en-US" dirty="0"/>
                  <a:t>: For each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compute its “</a:t>
                </a:r>
                <a:r>
                  <a:rPr lang="en-US" b="1" i="1" dirty="0"/>
                  <a:t>logit</a:t>
                </a:r>
                <a:r>
                  <a:rPr lang="en-US" dirty="0"/>
                  <a:t>” (score)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b="1" i="1" dirty="0"/>
                  <a:t>Note</a:t>
                </a:r>
                <a:r>
                  <a:rPr lang="en-US" dirty="0"/>
                  <a:t>: Each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 its own set of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en-US" b="1" u="sng" dirty="0"/>
                  <a:t>Step 2</a:t>
                </a:r>
                <a:r>
                  <a:rPr lang="en-US" dirty="0"/>
                  <a:t>: Therefore, the probability of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will be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Make predictions based on the probabilities calculated – the class with the highest probability is determined to be the predicted class</a:t>
                </a:r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55AB494-F7F9-EBC8-F84E-A30E27F84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718" t="-2471" r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384898-A371-8F22-F6EB-BF90A826EA6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B9079-CD26-8CAF-4337-730AD52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45C0F-C933-CC54-20F8-61567EA0F2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70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63EA-0C96-9FE1-C396-CF70EF8A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2AD8-F8C2-6354-E30D-A9E6FB88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Multinomial Framework (contd.)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1F40AD5-E0A5-49E7-73BF-C2FE6B64C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b="1" u="sng" dirty="0"/>
                  <a:t>Step 3</a:t>
                </a:r>
                <a:r>
                  <a:rPr lang="en-US" dirty="0"/>
                  <a:t>: Define cost function (</a:t>
                </a:r>
                <a:r>
                  <a:rPr lang="en-US" b="1" u="sng" dirty="0"/>
                  <a:t>cross-entropy loss</a:t>
                </a:r>
                <a:r>
                  <a:rPr lang="en-US" dirty="0"/>
                  <a:t>)</a:t>
                </a:r>
              </a:p>
              <a:p>
                <a:pPr lvl="1" algn="just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 be the true class label for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The cross-entropy loss over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training samples is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where, the identity function is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b="1" u="sng" dirty="0"/>
                  <a:t>Step 4</a:t>
                </a:r>
                <a:r>
                  <a:rPr lang="en-US" dirty="0"/>
                  <a:t>: Calculate gradient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gradient pushes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to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gradient pushes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to 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b="1" u="sng" dirty="0"/>
                  <a:t>Step 5</a:t>
                </a:r>
                <a:r>
                  <a:rPr lang="en-US" dirty="0"/>
                  <a:t>: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for all classes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using gradient descent as before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1F40AD5-E0A5-49E7-73BF-C2FE6B64C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49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AC9F3B-7C32-2318-3708-E4F7D26C52D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22727-2B01-B4FC-652E-302304E4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7BA3F5-155D-D592-EE21-D78EC8AB31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41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B6C8-CAF8-4B59-9356-14E46603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9221-B79E-8BE0-FC88-24554A6C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(Multinomial)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FB8AA52-9590-CC07-1021-1502475165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b="1" u="sng" dirty="0"/>
                  <a:t>Problem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Classes: A, B, C, learning rate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Training data:</a:t>
                </a:r>
              </a:p>
              <a:p>
                <a:pPr lvl="2" algn="just"/>
                <a:r>
                  <a:rPr lang="en-US" dirty="0"/>
                  <a:t>Sample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label A</a:t>
                </a:r>
              </a:p>
              <a:p>
                <a:pPr lvl="2" algn="just"/>
                <a:r>
                  <a:rPr lang="en-US" dirty="0"/>
                  <a:t>Sample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1.5, 0.5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label B</a:t>
                </a:r>
              </a:p>
              <a:p>
                <a:pPr algn="just"/>
                <a:r>
                  <a:rPr lang="en-US" b="1" u="sng" dirty="0"/>
                  <a:t>Solution</a:t>
                </a:r>
                <a:r>
                  <a:rPr lang="en-US" dirty="0"/>
                  <a:t>:</a:t>
                </a:r>
              </a:p>
              <a:p>
                <a:pPr algn="just"/>
                <a:r>
                  <a:rPr lang="en-US" dirty="0"/>
                  <a:t>For the bias term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), augmented features:</a:t>
                </a:r>
              </a:p>
              <a:p>
                <a:pPr lvl="1" algn="just"/>
                <a:r>
                  <a:rPr lang="en-US" dirty="0"/>
                  <a:t>Sample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Sample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1, 1.5, 0.5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Initialize parameters randomly:</a:t>
                </a:r>
              </a:p>
              <a:p>
                <a:pPr lvl="1"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0.1, 0.2,0.3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0.1, 0.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0.2,0.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Compute logits:</a:t>
                </a:r>
              </a:p>
              <a:p>
                <a:pPr lvl="1" algn="just"/>
                <a:r>
                  <a:rPr lang="en-US" dirty="0"/>
                  <a:t>Sample 1:</a:t>
                </a:r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0.1,0.2,0.3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n-US" b="0" dirty="0"/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0.1,0.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=−0.2</m:t>
                    </m:r>
                  </m:oMath>
                </a14:m>
                <a:endParaRPr lang="en-US" dirty="0"/>
              </a:p>
              <a:p>
                <a:pPr lvl="2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0.2,0.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1, 1.0, 2.0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=0.0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Similarly, for Sample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=0.55,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=0.25,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=−0.25</m:t>
                    </m:r>
                  </m:oMath>
                </a14:m>
                <a:endParaRPr lang="en-US" dirty="0"/>
              </a:p>
              <a:p>
                <a:pPr lvl="2" algn="just"/>
                <a:endParaRPr lang="en-US" dirty="0"/>
              </a:p>
              <a:p>
                <a:pPr lvl="2" algn="just"/>
                <a:endParaRPr lang="en-US" dirty="0"/>
              </a:p>
              <a:p>
                <a:pPr lvl="2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FB8AA52-9590-CC07-1021-1502475165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663"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518071-1BEA-5C47-702A-EA6240B7EA8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DE9F5-A4C6-9061-18D2-7DE6289F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76F5C8-B998-AAFF-2839-FB57035D9D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14E4-8D05-461A-7A8E-0A3B2AAF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08B8-6928-70F3-E945-221B9275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263364D-E589-564C-2514-C1562D969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Apply </a:t>
                </a:r>
                <a:r>
                  <a:rPr lang="en-US" dirty="0" err="1"/>
                  <a:t>softmax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Sample 1: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−0.2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0.0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=0.575</m:t>
                    </m:r>
                  </m:oMath>
                </a14:m>
                <a:endParaRPr lang="en-US" dirty="0"/>
              </a:p>
              <a:p>
                <a:pPr lvl="2" algn="just"/>
                <a:r>
                  <a:rPr lang="en-US" dirty="0"/>
                  <a:t>Similarly,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=0.191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=0.234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Sample 2: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=0.456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=0.338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=0.20</m:t>
                    </m:r>
                  </m:oMath>
                </a14:m>
                <a:r>
                  <a:rPr lang="en-US" dirty="0"/>
                  <a:t>5</a:t>
                </a:r>
              </a:p>
              <a:p>
                <a:pPr algn="just"/>
                <a:r>
                  <a:rPr lang="en-US" dirty="0"/>
                  <a:t>Compute cross-entropy loss: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0.575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0.338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=0.819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Compute gradients:</a:t>
                </a:r>
              </a:p>
              <a:p>
                <a:pPr lvl="1" algn="just"/>
                <a:r>
                  <a:rPr lang="en-US" sz="19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900" dirty="0"/>
                  <a:t>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900"/>
                              <m:t>0.575−1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1900"/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900"/>
                              <m:t>1,1.0,2.0</m:t>
                            </m:r>
                          </m:e>
                        </m:d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0.456−0.0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1900"/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1,1.5,0.5</m:t>
                            </m:r>
                          </m:e>
                        </m:d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0.0155,0.1295,−0.311</m:t>
                        </m:r>
                      </m:e>
                    </m:d>
                  </m:oMath>
                </a14:m>
                <a:endParaRPr lang="en-US" sz="1900" dirty="0"/>
              </a:p>
              <a:p>
                <a:pPr lvl="1" algn="just"/>
                <a:r>
                  <a:rPr lang="en-US" sz="1900" dirty="0"/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9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0.1, 0.2,0.3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−0.1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0.0155,0.1295,−0.311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0.0984,0.1870,0.3311</m:t>
                        </m:r>
                      </m:e>
                    </m:d>
                  </m:oMath>
                </a14:m>
                <a:endParaRPr lang="en-US" sz="1900" b="0" dirty="0"/>
              </a:p>
              <a:p>
                <a:pPr lvl="1" algn="just"/>
                <a:r>
                  <a:rPr lang="en-US" sz="1900" dirty="0"/>
                  <a:t>Similarly, updated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−0.0765,0.3401,−0.1752</m:t>
                        </m:r>
                      </m:e>
                    </m:d>
                  </m:oMath>
                </a14:m>
                <a:r>
                  <a:rPr lang="en-US" sz="19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9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−0.0219,−0.2271,0.0715</m:t>
                        </m:r>
                      </m:e>
                    </m:d>
                  </m:oMath>
                </a14:m>
                <a:r>
                  <a:rPr lang="en-US" sz="1900" dirty="0"/>
                  <a:t> </a:t>
                </a:r>
              </a:p>
              <a:p>
                <a:pPr lvl="2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263364D-E589-564C-2514-C1562D969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994" t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DFF6AB-9B30-F7AB-0F32-8DDA3612491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F7138-89B8-FA72-DA02-AD54E570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70843-E819-D526-253B-4D919ACB69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6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C01D-509C-CA65-808D-F17785A2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62C8-E5B8-7C99-76DC-B1535E1B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DF71F8-5807-1496-F6E1-28128E289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b="1" u="sng" dirty="0"/>
                  <a:t>True Positive (TP)</a:t>
                </a:r>
                <a:r>
                  <a:rPr lang="en-US" dirty="0"/>
                  <a:t>: The model predicted positive, and it was actually positive.</a:t>
                </a:r>
              </a:p>
              <a:p>
                <a:pPr algn="just"/>
                <a:r>
                  <a:rPr lang="en-US" b="1" u="sng" dirty="0"/>
                  <a:t>True Negative (TN)</a:t>
                </a:r>
                <a:r>
                  <a:rPr lang="en-US" dirty="0"/>
                  <a:t>: The model predicted negative, and it was actually negative.</a:t>
                </a:r>
              </a:p>
              <a:p>
                <a:pPr algn="just"/>
                <a:r>
                  <a:rPr lang="en-US" b="1" u="sng" dirty="0"/>
                  <a:t>False Positive (FP)</a:t>
                </a:r>
                <a:r>
                  <a:rPr lang="en-US" dirty="0"/>
                  <a:t>: The model predicted positive, but it was actually negative (a "false alarm").</a:t>
                </a:r>
              </a:p>
              <a:p>
                <a:pPr algn="just"/>
                <a:r>
                  <a:rPr lang="en-US" b="1" u="sng" dirty="0"/>
                  <a:t>False Negative (FN)</a:t>
                </a:r>
                <a:r>
                  <a:rPr lang="en-US" dirty="0"/>
                  <a:t>: The model predicted negative, but it was actually positive (a "missed case").</a:t>
                </a:r>
              </a:p>
              <a:p>
                <a:pPr algn="just"/>
                <a:r>
                  <a:rPr lang="en-US" b="1" u="sng" dirty="0"/>
                  <a:t>Accuracy</a:t>
                </a:r>
                <a:r>
                  <a:rPr lang="en-US" dirty="0"/>
                  <a:t>: The percentage of all predictions (both positive and negative) that the model got correct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Great when your two classes are balanced (like 50% positive / 50% negative). But if 95% of your emails are “not spam,” a model that always says “not spam” is 95% accurate – yet completely useless at catching real spam</a:t>
                </a:r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DF71F8-5807-1496-F6E1-28128E289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883" t="-2353" r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D17391-F075-2C10-0B78-D029E961C49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DF28C-BE7D-3D12-114C-D31DFDAA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90ED0-4FBF-D4B1-AF07-B57459BD67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69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65DB-3707-99CA-06EA-22728981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CF1A-7359-8F6E-3912-8A05A63B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Metrics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40BF2D-04FD-CD10-C747-03FCA17E8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1" u="sng" dirty="0"/>
                  <a:t>Precision</a:t>
                </a:r>
                <a:r>
                  <a:rPr lang="en-US" dirty="0"/>
                  <a:t>: Of all the times the model said “positive,” how many were actually positive?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In situations where a false alarm is costly (e.g., wrongly labeling a healthy patient as sick), high precision keeps those errors low</a:t>
                </a:r>
                <a:endParaRPr lang="en-US" b="1" u="sng" dirty="0"/>
              </a:p>
              <a:p>
                <a:pPr algn="just"/>
                <a:r>
                  <a:rPr lang="en-US" b="1" u="sng" dirty="0"/>
                  <a:t>Recall (Sensitivity)</a:t>
                </a:r>
                <a:r>
                  <a:rPr lang="en-US" dirty="0"/>
                  <a:t>: Of all the real positive cases, what fraction did the model correctly identify?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When missing a positive case is dangerous (e.g., failing to diagnose a serious illness), high recall ensures we flag nearly everyone who truly has it</a:t>
                </a:r>
              </a:p>
              <a:p>
                <a:pPr algn="just"/>
                <a:r>
                  <a:rPr lang="en-US" b="1" u="sng" dirty="0"/>
                  <a:t>F1 Score</a:t>
                </a:r>
                <a:r>
                  <a:rPr lang="en-US" dirty="0"/>
                  <a:t>: The harmonic mean of precision and recall. It gives a single score that balances the two.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 algn="just"/>
                <a:r>
                  <a:rPr lang="en-US" dirty="0"/>
                  <a:t>When you want a balanced view, especially on skewed datasets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40BF2D-04FD-CD10-C747-03FCA17E8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75724"/>
                <a:ext cx="11040256" cy="5182276"/>
              </a:xfrm>
              <a:blipFill>
                <a:blip r:embed="rId2"/>
                <a:stretch>
                  <a:fillRect l="-773" t="-2588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D0B582-7F0B-8410-1D22-C61C85B7779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E00C7-BDB6-6355-81AE-FF342BB6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E8F3F1-02C0-7A1C-FCFB-1847877661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39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DEB-54F2-D874-2D45-0E956229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AC67-A031-D950-2249-301330FE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 vs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9B38D3-0E53-0840-0D6E-EB7C51831BA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93140974"/>
                  </p:ext>
                </p:extLst>
              </p:nvPr>
            </p:nvGraphicFramePr>
            <p:xfrm>
              <a:off x="1264921" y="1953348"/>
              <a:ext cx="9442209" cy="4140342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2375355">
                      <a:extLst>
                        <a:ext uri="{9D8B030D-6E8A-4147-A177-3AD203B41FA5}">
                          <a16:colId xmlns:a16="http://schemas.microsoft.com/office/drawing/2014/main" val="3469201780"/>
                        </a:ext>
                      </a:extLst>
                    </a:gridCol>
                    <a:gridCol w="3477216">
                      <a:extLst>
                        <a:ext uri="{9D8B030D-6E8A-4147-A177-3AD203B41FA5}">
                          <a16:colId xmlns:a16="http://schemas.microsoft.com/office/drawing/2014/main" val="614413028"/>
                        </a:ext>
                      </a:extLst>
                    </a:gridCol>
                    <a:gridCol w="3589638">
                      <a:extLst>
                        <a:ext uri="{9D8B030D-6E8A-4147-A177-3AD203B41FA5}">
                          <a16:colId xmlns:a16="http://schemas.microsoft.com/office/drawing/2014/main" val="1013260921"/>
                        </a:ext>
                      </a:extLst>
                    </a:gridCol>
                  </a:tblGrid>
                  <a:tr h="3208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Aspect</a:t>
                          </a: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Linear Regression</a:t>
                          </a:r>
                        </a:p>
                      </a:txBody>
                      <a:tcPr marL="50760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Logistic Regression</a:t>
                          </a:r>
                        </a:p>
                      </a:txBody>
                      <a:tcPr marL="50760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892590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Purpose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Predicts continuous numeric values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Predicts categorical outcomes (binary/multi-class)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1978660985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Output Type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Continuous (e.g., house price, temperature)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Probability (0 to 1) followed by class labels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1815921046"/>
                      </a:ext>
                    </a:extLst>
                  </a:tr>
                  <a:tr h="759370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Function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Linear relationship: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dirty="0">
                              <a:effectLst/>
                            </a:rPr>
                            <a:t>Sigmoid </a:t>
                          </a:r>
                          <a:r>
                            <a:rPr lang="es-ES" sz="1400" dirty="0" err="1">
                              <a:effectLst/>
                            </a:rPr>
                            <a:t>function</a:t>
                          </a:r>
                          <a:r>
                            <a:rPr lang="es-ES" sz="1400" dirty="0">
                              <a:effectLst/>
                            </a:rPr>
                            <a:t>: 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=1|</m:t>
                                  </m:r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s-ES" sz="1400" dirty="0">
                            <a:effectLst/>
                          </a:endParaRPr>
                        </a:p>
                        <a:p>
                          <a:r>
                            <a:rPr lang="es-ES" sz="1400" dirty="0" err="1">
                              <a:effectLst/>
                            </a:rPr>
                            <a:t>Softmax</a:t>
                          </a:r>
                          <a:r>
                            <a:rPr lang="es-ES" sz="1400" dirty="0">
                              <a:effectLst/>
                            </a:rPr>
                            <a:t> </a:t>
                          </a:r>
                          <a:r>
                            <a:rPr lang="es-ES" sz="1400" dirty="0" err="1">
                              <a:effectLst/>
                            </a:rPr>
                            <a:t>function</a:t>
                          </a:r>
                          <a:r>
                            <a:rPr lang="es-ES" sz="1400" dirty="0">
                              <a:effectLst/>
                            </a:rPr>
                            <a:t>: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oMath>
                          </a14:m>
                          <a:endParaRPr lang="es-ES" sz="1400" dirty="0">
                            <a:effectLst/>
                          </a:endParaRP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185227738"/>
                      </a:ext>
                    </a:extLst>
                  </a:tr>
                  <a:tr h="320803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Loss Function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Mean Squared Error (MSE)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Log Loss (Cross-Entropy)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831564159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Evaluation Metrics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MSE, RMSE, MAE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Accuracy, Precision, Recall, F1 Score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836637890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Outlier Sensitivity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Highly sensitive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Less sensitive (due to sigmoid squashing)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3881264743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Assumptions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Linearity, independence of errors, normality of errors, constant variance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Independence of observations, assumes linearity in log-odds.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786403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9B38D3-0E53-0840-0D6E-EB7C51831BA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93140974"/>
                  </p:ext>
                </p:extLst>
              </p:nvPr>
            </p:nvGraphicFramePr>
            <p:xfrm>
              <a:off x="1264921" y="1953348"/>
              <a:ext cx="9442209" cy="4140342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2375355">
                      <a:extLst>
                        <a:ext uri="{9D8B030D-6E8A-4147-A177-3AD203B41FA5}">
                          <a16:colId xmlns:a16="http://schemas.microsoft.com/office/drawing/2014/main" val="3469201780"/>
                        </a:ext>
                      </a:extLst>
                    </a:gridCol>
                    <a:gridCol w="3477216">
                      <a:extLst>
                        <a:ext uri="{9D8B030D-6E8A-4147-A177-3AD203B41FA5}">
                          <a16:colId xmlns:a16="http://schemas.microsoft.com/office/drawing/2014/main" val="614413028"/>
                        </a:ext>
                      </a:extLst>
                    </a:gridCol>
                    <a:gridCol w="3589638">
                      <a:extLst>
                        <a:ext uri="{9D8B030D-6E8A-4147-A177-3AD203B41FA5}">
                          <a16:colId xmlns:a16="http://schemas.microsoft.com/office/drawing/2014/main" val="1013260921"/>
                        </a:ext>
                      </a:extLst>
                    </a:gridCol>
                  </a:tblGrid>
                  <a:tr h="3208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Aspect</a:t>
                          </a: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Linear Regression</a:t>
                          </a:r>
                        </a:p>
                      </a:txBody>
                      <a:tcPr marL="50760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solidFill>
                                <a:srgbClr val="404040"/>
                              </a:solidFill>
                              <a:effectLst/>
                            </a:rPr>
                            <a:t>Logistic Regression</a:t>
                          </a:r>
                        </a:p>
                      </a:txBody>
                      <a:tcPr marL="50760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892590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Purpose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Predicts continuous numeric values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Predicts categorical outcomes (binary/multi-class)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1978660985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Output Type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Continuous (e.g., house price, temperature)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Probability (0 to 1) followed by class labels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1815921046"/>
                      </a:ext>
                    </a:extLst>
                  </a:tr>
                  <a:tr h="79830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Function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760" marR="50760" marT="50760" marB="50760" anchor="ctr">
                        <a:blipFill>
                          <a:blip r:embed="rId2"/>
                          <a:stretch>
                            <a:fillRect l="-68476" t="-176336" r="-103503" b="-249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760" marR="50760" marT="50760" marB="50760" anchor="ctr">
                        <a:blipFill>
                          <a:blip r:embed="rId2"/>
                          <a:stretch>
                            <a:fillRect l="-163328" t="-176336" r="-340" b="-249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227738"/>
                      </a:ext>
                    </a:extLst>
                  </a:tr>
                  <a:tr h="320803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Loss Function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Mean Squared Error (MSE)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Log Loss (Cross-Entropy)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831564159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Evaluation Metrics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MSE, RMSE, MAE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Accuracy, Precision, Recall, F1 Score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836637890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Outlier Sensitivity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Highly sensitive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Less sensitive (due to sigmoid squashing)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3881264743"/>
                      </a:ext>
                    </a:extLst>
                  </a:tr>
                  <a:tr h="540086">
                    <a:tc>
                      <a:txBody>
                        <a:bodyPr/>
                        <a:lstStyle/>
                        <a:p>
                          <a:r>
                            <a:rPr lang="en-US" sz="1400" b="1" dirty="0">
                              <a:effectLst/>
                            </a:rPr>
                            <a:t>Assumptions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095" marR="50760" marT="50760" marB="5076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Linearity, independence of errors, normality of errors, constant variance</a:t>
                          </a:r>
                        </a:p>
                      </a:txBody>
                      <a:tcPr marL="50760" marR="50760" marT="50760" marB="5076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effectLst/>
                            </a:rPr>
                            <a:t>Independence of observations, assumes linearity in log-odds.</a:t>
                          </a:r>
                        </a:p>
                      </a:txBody>
                      <a:tcPr marL="50760" marR="50760" marT="50760" marB="50760" anchor="ctr"/>
                    </a:tc>
                    <a:extLst>
                      <a:ext uri="{0D108BD9-81ED-4DB2-BD59-A6C34878D82A}">
                        <a16:rowId xmlns:a16="http://schemas.microsoft.com/office/drawing/2014/main" val="78640332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7EE2AC-CC19-9553-80FD-A75EB605FD3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1A528-F554-68A0-CDE2-E34DE2B4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C553D3-3BBB-FDC9-07FB-E93ADA090C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6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7166</TotalTime>
  <Words>2136</Words>
  <Application>Microsoft Office PowerPoint</Application>
  <PresentationFormat>Widescreen</PresentationFormat>
  <Paragraphs>228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DeepSeek-CJK-patch</vt:lpstr>
      <vt:lpstr>Office Theme</vt:lpstr>
      <vt:lpstr> Lecture 4: Logistic Regression</vt:lpstr>
      <vt:lpstr>Introduction</vt:lpstr>
      <vt:lpstr>Types of Logistic Regression</vt:lpstr>
      <vt:lpstr>Assumptions</vt:lpstr>
      <vt:lpstr>Sigmoid Function</vt:lpstr>
      <vt:lpstr>Let’s take derivative of 𝜙(𝑧): We will need it!</vt:lpstr>
      <vt:lpstr>Mathematical Framework: Bionomial</vt:lpstr>
      <vt:lpstr>Bionomial Framework (contd.)</vt:lpstr>
      <vt:lpstr>Bionomial Framework (contd.)</vt:lpstr>
      <vt:lpstr>Example (Bionomial)</vt:lpstr>
      <vt:lpstr>Example (contd.)</vt:lpstr>
      <vt:lpstr>Example (contd.)</vt:lpstr>
      <vt:lpstr>Mathematical Framework: Multinomial</vt:lpstr>
      <vt:lpstr>Multinomial Framework (contd.)</vt:lpstr>
      <vt:lpstr>Example (Multinomial)</vt:lpstr>
      <vt:lpstr>Example (contd.)</vt:lpstr>
      <vt:lpstr>Evaluation Metrics</vt:lpstr>
      <vt:lpstr>Evaluation Metrics (contd.)</vt:lpstr>
      <vt:lpstr>Linear Regression vs 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Lecture 4: Logistic Regression</dc:title>
  <dc:creator>Jilan Samiuddin</dc:creator>
  <cp:lastModifiedBy>Jilan Samiuddin</cp:lastModifiedBy>
  <cp:revision>90</cp:revision>
  <dcterms:created xsi:type="dcterms:W3CDTF">2025-05-01T04:50:36Z</dcterms:created>
  <dcterms:modified xsi:type="dcterms:W3CDTF">2026-07-01T02:03:31Z</dcterms:modified>
</cp:coreProperties>
</file>