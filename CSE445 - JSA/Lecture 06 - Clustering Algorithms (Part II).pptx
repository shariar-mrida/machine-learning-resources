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72" r:id="rId3"/>
    <p:sldId id="261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2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58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D4E0159-42FF-E65A-8E4D-D784988C257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496018-5CC2-59DE-2953-7738B983433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28FED0-F494-4C8F-803A-297D5BD08D3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36F1A6-4EBD-D971-0F49-66EB5F0FDB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CC8F35-1B39-1C84-0B7A-25A637B3F29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F219B2-123C-4C18-A5D8-EB8782F74E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24748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6CD510-D800-49E6-BF08-298A1FE48EE9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48FE62-91E1-4730-A536-75C928C6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25415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9236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803D7-70F1-1C6F-A3B7-A8287EE256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A7E7C8-C452-803C-5FAC-14BDD1D437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D9D17-AB94-0B7D-C590-1F7E51846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370ED-970E-4212-BB35-C22C1D195CBC}" type="datetime1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9647B-4FB4-82CC-07BE-EFD93BF43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4B835-5F31-3FC0-10FA-FAC19E81C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037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216F1-8C26-C670-B7DC-8010AD390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ADE1A-A059-2960-24A5-D405837CE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D42EED-1E92-359C-10FA-4E5D3C3F9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BB735-82A6-4413-A653-62CE81350112}" type="datetime1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24E15-03A2-851D-88BC-2445BB771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F4FD2-0C66-774A-A375-1089C6654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122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5120E-FC2F-A46F-4B09-23117B464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0862F9-9511-E32B-4BD7-47E0A71AD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C9156-0A2A-DB75-C8EA-248EA3DEE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75B7-2148-4A9D-995D-56145ABEAE97}" type="datetime1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D3A95-056A-D033-22AF-CDDBE987E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157329-594F-D458-6A9C-F07B09AFE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353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8A64B-29CB-8665-CEC5-DF412D2F9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8CDFC-7ECF-8F07-A1A5-1C0C8B3854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FD181D-A96E-0D94-2062-16DE285411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00174-4A25-E989-7ACA-5C0B639C9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A078-0F96-4814-AF41-4D8FAE7F8A6C}" type="datetime1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23BD85-5B63-139B-2CE7-19610007F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3ABD13-EDE6-69F9-8590-026CFFF13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269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5F3A3-B693-9109-7927-708691AAD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C4F7D-CCD8-33A2-D7D0-35E5380DD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9AD8A8-2AB0-25CD-201F-ED952A4CDC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E13444-B5AF-C486-4E0A-7F2108ACDF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942FB4-090B-A58C-DF43-EA43DA1F16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708DE3-3255-6046-EE31-0C14E3532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CFAE0-6AEA-4322-8961-61818A5C4CC4}" type="datetime1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A5004F-5259-2B42-1938-FA9CAA92C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D354AB-D64D-E84A-BA76-66DBB6E45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354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E9BCC-F36B-F141-B6AC-0F2466147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7B0912-EE39-228C-9255-704DBA8C2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1CC14-615A-40E5-878F-B7968E69ACA9}" type="datetime1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ECFC76-DAA8-A15C-4AC4-93D299980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5AFFAA-E646-0DDF-64A0-A28BAC96E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007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8BE16B-802E-3074-11D1-8DE9C32B0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13215-DB23-4892-8F9A-91431A502CD2}" type="datetime1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670A2E-3D38-5D1E-AF19-F063247E7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331207-BFA9-21E9-A865-318F13DA4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701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2605C-FA05-25DE-15F4-805A8CF09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4B131-EC7F-BFD9-E7B6-AB3137F4F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2959E2-E99B-EDA1-628E-184C643D5E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DE0DFE-327E-11B6-BD8C-0F41386E7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3BCFA-E3E0-4FF4-BACA-FCF5C255E5DE}" type="datetime1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88662-BCB8-828C-9BDF-DD1D1A56A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40129B-382F-9101-9ED5-631C3B88F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216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04D93-D5ED-C785-80CB-7CF60D10A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39CBA7-CE7D-C187-B782-CA09C95AF8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D639DC-D960-C20C-EDEF-4E282D5FCE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D0A177-05FD-4F3A-55CF-3EEB7E4E8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EC14-2B3B-4EE3-949A-779D533E8478}" type="datetime1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599E7E-8ECE-4DE4-A26C-C2CAB0978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5AEDC0-BC10-677B-FFB3-DD53581A8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678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59DC3-0DF6-0743-E644-4A7AC5421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7E063F-D43E-FD0C-D76B-188F3B721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1BACC-50F2-51B8-0376-B959E5C69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BC18E-A90B-4B22-BF53-42EC149F08BB}" type="datetime1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1CC8EC-0CE8-F103-3FD7-ED00AEDD2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90F038-A502-BA4A-633C-2C8924FA2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340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D0902E-7688-3814-1155-474461F4BE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262A82-7CD6-0470-0AF6-CCA98D9EF6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BDE9E-FAFF-63E1-22C0-33E9AE7F2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84F7D-5048-4108-88DC-972512EB713E}" type="datetime1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385A15-7E8B-01A9-927C-5655A0706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D3DFA-2B27-BC65-59BF-B29EA1A36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386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9CAD65-4AD5-02F3-7FA3-E760BBE79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2EEE9E-8A03-0343-4D11-0133E5C0B1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60B93-A586-42A5-0F99-907C968479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F7581B-AB8F-4D43-BDE7-8F5E2E8E8856}" type="datetime1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50782-3D97-A485-DC22-453A9166FA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0A4F32-3929-476D-213C-0F9E358D25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481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87000"/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LineDrawing/>
                    </a14:imgEffect>
                  </a14:imgLayer>
                </a14:imgProps>
              </a:ext>
            </a:extLst>
          </a:blip>
          <a:srcRect/>
          <a:tile tx="-46990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8" name="Rectangle 2077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E115A1-643A-7BF3-3A4B-2A7AF1AE9C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228" y="743447"/>
            <a:ext cx="3973385" cy="3692028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5200" b="1" dirty="0"/>
              <a:t>Lecture 6: Clustering Algorithms (Part II)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31FF77-E09E-52C0-CD84-03CBD6D988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229" y="4629234"/>
            <a:ext cx="3973386" cy="1485319"/>
          </a:xfrm>
          <a:noFill/>
        </p:spPr>
        <p:txBody>
          <a:bodyPr>
            <a:normAutofit/>
          </a:bodyPr>
          <a:lstStyle/>
          <a:p>
            <a:pPr algn="l"/>
            <a:r>
              <a:rPr lang="en-US" b="1" i="1" dirty="0"/>
              <a:t>Dr. Jilan Samiuddin (JSA)</a:t>
            </a:r>
          </a:p>
          <a:p>
            <a:pPr algn="l"/>
            <a:r>
              <a:rPr lang="en-US" dirty="0"/>
              <a:t>Assistant Professor</a:t>
            </a:r>
          </a:p>
          <a:p>
            <a:pPr algn="l"/>
            <a:r>
              <a:rPr lang="en-US" dirty="0"/>
              <a:t>North South University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5C301A-7024-8616-AFF2-7263B1346FFF}"/>
              </a:ext>
            </a:extLst>
          </p:cNvPr>
          <p:cNvSpPr txBox="1"/>
          <p:nvPr/>
        </p:nvSpPr>
        <p:spPr>
          <a:xfrm>
            <a:off x="952227" y="1199214"/>
            <a:ext cx="27821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CSE445 Machine Learning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1CA6BF-0DE8-9E57-6E92-74A6BC63A17A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8000"/>
          </a:blip>
          <a:stretch>
            <a:fillRect/>
          </a:stretch>
        </p:blipFill>
        <p:spPr>
          <a:xfrm>
            <a:off x="392975" y="260715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640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194BB-996C-0022-4492-14629EDE0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D1B81-3CCF-00D3-AC34-5C4ACEE29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087" y="661245"/>
            <a:ext cx="10515600" cy="1325563"/>
          </a:xfrm>
        </p:spPr>
        <p:txBody>
          <a:bodyPr>
            <a:normAutofit/>
          </a:bodyPr>
          <a:lstStyle/>
          <a:p>
            <a:pPr algn="ctr" fontAlgn="base"/>
            <a:r>
              <a:rPr lang="en-US" sz="5500" b="1" dirty="0"/>
              <a:t>Gaussian Mixture Model (GMM)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80FEA0-8A51-DD3A-83F9-74922728E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6B83E5-1E15-1483-529F-E1C8FAA9F42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CBD3C18-D93C-8F29-B138-D5ACD0EE934D}"/>
              </a:ext>
            </a:extLst>
          </p:cNvPr>
          <p:cNvSpPr txBox="1"/>
          <p:nvPr/>
        </p:nvSpPr>
        <p:spPr>
          <a:xfrm>
            <a:off x="5095373" y="6217850"/>
            <a:ext cx="15615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Image credit: Google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66F599-C969-0235-047E-7A9CA467CB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3757" y="2084231"/>
            <a:ext cx="2973697" cy="3823325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8C021C7-8F4C-F768-19C3-7840649EFAB4}"/>
              </a:ext>
            </a:extLst>
          </p:cNvPr>
          <p:cNvCxnSpPr/>
          <p:nvPr/>
        </p:nvCxnSpPr>
        <p:spPr>
          <a:xfrm flipV="1">
            <a:off x="4287076" y="2112702"/>
            <a:ext cx="0" cy="38110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D8FD902-36EA-37AC-0BF2-10226798590C}"/>
              </a:ext>
            </a:extLst>
          </p:cNvPr>
          <p:cNvCxnSpPr>
            <a:cxnSpLocks/>
          </p:cNvCxnSpPr>
          <p:nvPr/>
        </p:nvCxnSpPr>
        <p:spPr>
          <a:xfrm>
            <a:off x="4287076" y="5923720"/>
            <a:ext cx="346544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8361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CD7B2-5AC7-06A4-EC6E-C98361C94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90EBF-1D62-D059-41A9-07C69DA72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Introduction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3660E5FC-7FB8-7CCE-DDC6-5FA74BBB9E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2" y="1720592"/>
                <a:ext cx="11040256" cy="4635757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A </a:t>
                </a:r>
                <a:r>
                  <a:rPr lang="en-US" b="1" u="sng" dirty="0"/>
                  <a:t>GMM</a:t>
                </a:r>
                <a:r>
                  <a:rPr lang="en-US" dirty="0"/>
                  <a:t> is a </a:t>
                </a:r>
                <a:r>
                  <a:rPr lang="en-US" b="1" u="sng" dirty="0"/>
                  <a:t>probabilistic clustering algorithm</a:t>
                </a:r>
                <a:r>
                  <a:rPr lang="en-US" dirty="0"/>
                  <a:t> (soft clustering) that models data as a combination of multiple Gaussian (normal) distributions</a:t>
                </a:r>
              </a:p>
              <a:p>
                <a:pPr algn="just"/>
                <a:r>
                  <a:rPr lang="en-US" dirty="0"/>
                  <a:t>Recall, soft clustering – data points can belong to multiple clusters with varying probabilities</a:t>
                </a:r>
              </a:p>
              <a:p>
                <a:pPr algn="just"/>
                <a:r>
                  <a:rPr lang="en-US" dirty="0"/>
                  <a:t>Each cluster is represented by a Gaussian distribution with its own</a:t>
                </a:r>
              </a:p>
              <a:p>
                <a:pPr lvl="1" algn="just"/>
                <a:r>
                  <a:rPr lang="en-US" b="1" u="sng" dirty="0"/>
                  <a:t>Mean</a:t>
                </a:r>
                <a:r>
                  <a:rPr lang="en-US" dirty="0"/>
                  <a:t>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): Center of the cluster</a:t>
                </a:r>
              </a:p>
              <a:p>
                <a:pPr lvl="1" algn="just"/>
                <a:r>
                  <a:rPr lang="en-US" b="1" u="sng" dirty="0"/>
                  <a:t>Variance 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): Shape/spread of the cluster </a:t>
                </a:r>
              </a:p>
              <a:p>
                <a:pPr lvl="1" algn="just"/>
                <a:r>
                  <a:rPr lang="en-US" b="1" u="sng" dirty="0"/>
                  <a:t>Weight</a:t>
                </a:r>
                <a:r>
                  <a:rPr lang="en-US" dirty="0"/>
                  <a:t>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): Importance of data from this cluster (sums to 1, i.e.,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)</a:t>
                </a:r>
              </a:p>
              <a:p>
                <a:pPr algn="just"/>
                <a:r>
                  <a:rPr lang="en-US" dirty="0"/>
                  <a:t>GMM finds these parameters to best fit the data</a:t>
                </a:r>
              </a:p>
              <a:p>
                <a:pPr algn="just"/>
                <a:endParaRPr lang="en-US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3660E5FC-7FB8-7CCE-DDC6-5FA74BBB9E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2" y="1720592"/>
                <a:ext cx="11040256" cy="4635757"/>
              </a:xfrm>
              <a:blipFill>
                <a:blip r:embed="rId2"/>
                <a:stretch>
                  <a:fillRect l="-994" t="-2234" r="-1104" b="-23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32AF9C3-86BF-C1E8-076B-A95B1586665C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16F021-D75C-363D-3B08-54BCA73B1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A86381-B03F-CD2F-4DA9-BF885FD3C63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298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F788E-AC15-7F00-6731-8AE8A3433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D1884-E0BC-1580-CC32-B1B1C8595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Expectation-Maximization (EM) Algorithm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937950B-3FBC-F581-13EB-EB5E14A94C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072" y="1720592"/>
            <a:ext cx="11040256" cy="4635757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EM algorithm, which is an iterative method, is used to optimize the parameters of the Gaussian distributions so that GMM fits to the data</a:t>
            </a:r>
          </a:p>
          <a:p>
            <a:pPr algn="just"/>
            <a:r>
              <a:rPr lang="en-US" dirty="0"/>
              <a:t>EM iterates between two key phases: 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Expectation Step (E-Step)</a:t>
            </a:r>
            <a:endParaRPr lang="en-US" dirty="0"/>
          </a:p>
          <a:p>
            <a:pPr lvl="1"/>
            <a:r>
              <a:rPr lang="en-US" dirty="0"/>
              <a:t>Computes probabilistic cluster assignments</a:t>
            </a:r>
          </a:p>
          <a:p>
            <a:pPr lvl="1"/>
            <a:r>
              <a:rPr lang="en-US" dirty="0"/>
              <a:t>For every data point, calculates: </a:t>
            </a:r>
            <a:r>
              <a:rPr lang="en-US" i="1" dirty="0"/>
              <a:t>The likelihood (probability) it belongs to each cluster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Maximization Step (M-Step)</a:t>
            </a:r>
            <a:endParaRPr lang="en-US" dirty="0"/>
          </a:p>
          <a:p>
            <a:pPr lvl="1"/>
            <a:r>
              <a:rPr lang="en-US" dirty="0"/>
              <a:t>Refines the model parameters</a:t>
            </a:r>
          </a:p>
          <a:p>
            <a:pPr lvl="1"/>
            <a:r>
              <a:rPr lang="en-US" dirty="0"/>
              <a:t>Updates the estimates for:</a:t>
            </a:r>
          </a:p>
          <a:p>
            <a:pPr lvl="2"/>
            <a:r>
              <a:rPr lang="en-US" b="1" dirty="0"/>
              <a:t>Means</a:t>
            </a:r>
            <a:r>
              <a:rPr lang="en-US" dirty="0"/>
              <a:t>: Adjusts cluster centers toward high-probability points</a:t>
            </a:r>
          </a:p>
          <a:p>
            <a:pPr lvl="2"/>
            <a:r>
              <a:rPr lang="en-US" b="1" dirty="0"/>
              <a:t>Covariances/Variances</a:t>
            </a:r>
            <a:r>
              <a:rPr lang="en-US" dirty="0"/>
              <a:t>: Reshapes clusters based on member distributions</a:t>
            </a:r>
          </a:p>
          <a:p>
            <a:pPr lvl="2"/>
            <a:r>
              <a:rPr lang="en-US" b="1" dirty="0"/>
              <a:t>Weights</a:t>
            </a:r>
            <a:r>
              <a:rPr lang="en-US" dirty="0"/>
              <a:t>: Rebalances cluster importance</a:t>
            </a:r>
          </a:p>
          <a:p>
            <a:pPr lvl="1"/>
            <a:r>
              <a:rPr lang="en-US" dirty="0"/>
              <a:t>Uses the probabilities from the E-step as weighting factors</a:t>
            </a:r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21232BC-1768-8CBD-F52E-09F1139B140B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CB9BB8-C59B-D4F2-2122-49BF481BA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3AC923-C6C1-AA20-6BB4-BEA23392B20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05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03ADC-4D36-F7E8-4E27-1B84908D1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3D0C2-419C-3DE8-AEF0-E7D082872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EM Algorithm: Steps (1-D Data)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1AA4BB17-19B2-AF7D-0FF4-B315DB3947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5481" y="1720592"/>
                <a:ext cx="11086847" cy="5000882"/>
              </a:xfrm>
            </p:spPr>
            <p:txBody>
              <a:bodyPr>
                <a:normAutofit fontScale="55000" lnSpcReduction="20000"/>
              </a:bodyPr>
              <a:lstStyle/>
              <a:p>
                <a:pPr marL="457200" indent="-457200" algn="just">
                  <a:buFont typeface="+mj-lt"/>
                  <a:buAutoNum type="arabicPeriod"/>
                </a:pPr>
                <a:r>
                  <a:rPr lang="en-US" b="1" u="sng" dirty="0"/>
                  <a:t>Randomly assign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for each cluster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(i.e.,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clusters)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US" b="1" u="sng" dirty="0"/>
                  <a:t>E-step (Expectation)</a:t>
                </a:r>
                <a:r>
                  <a:rPr lang="en-US" dirty="0"/>
                  <a:t>: Calculate the probability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𝑖𝑘</m:t>
                        </m:r>
                      </m:sub>
                    </m:sSub>
                  </m:oMath>
                </a14:m>
                <a:r>
                  <a:rPr lang="en-US" dirty="0"/>
                  <a:t> that data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(where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, i.e.,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data points)  belongs to cluster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marL="457200" indent="-457200" algn="just">
                  <a:buFont typeface="+mj-lt"/>
                  <a:buAutoNum type="arabicPeriod"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𝒩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𝒩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 algn="just">
                  <a:buNone/>
                </a:pPr>
                <a:r>
                  <a:rPr lang="en-US" dirty="0"/>
                  <a:t>	where,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</m:den>
                    </m:f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</m:oMath>
                </a14:m>
                <a:r>
                  <a:rPr lang="en-US" dirty="0"/>
                  <a:t> is the Gaussian probability density function</a:t>
                </a:r>
              </a:p>
              <a:p>
                <a:pPr marL="457200" indent="-457200" algn="just">
                  <a:buFont typeface="+mj-lt"/>
                  <a:buAutoNum type="arabicPeriod" startAt="3"/>
                </a:pPr>
                <a:r>
                  <a:rPr lang="en-US" b="1" u="sng" dirty="0"/>
                  <a:t>M-step (Maximization)</a:t>
                </a:r>
                <a:r>
                  <a:rPr lang="en-US" dirty="0"/>
                  <a:t>: Update parameters using the probabilities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𝑖𝑘</m:t>
                        </m:r>
                      </m:sub>
                    </m:sSub>
                  </m:oMath>
                </a14:m>
                <a:endParaRPr lang="en-US" dirty="0"/>
              </a:p>
              <a:p>
                <a:pPr marL="457200" indent="-457200" algn="just">
                  <a:buFont typeface="+mj-lt"/>
                  <a:buAutoNum type="arabicPeriod" startAt="3"/>
                </a:pPr>
                <a:endParaRPr lang="en-US" dirty="0"/>
              </a:p>
              <a:p>
                <a:pPr marL="457200" lvl="1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new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𝑖𝑘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457200" lvl="1" indent="0" algn="just">
                  <a:buNone/>
                </a:pPr>
                <a:endParaRPr lang="en-US" dirty="0"/>
              </a:p>
              <a:p>
                <a:pPr marL="45720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b="0" i="0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b="0" i="0" dirty="0" smtClean="0">
                              <a:latin typeface="Cambria Math" panose="02040503050406030204" pitchFamily="18" charset="0"/>
                            </a:rPr>
                            <m:t>new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𝑖𝑘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𝑖𝑘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  <a:p>
                <a:pPr marL="457200" lvl="1" indent="0" algn="ctr">
                  <a:buNone/>
                </a:pPr>
                <a:endParaRPr lang="en-US" dirty="0"/>
              </a:p>
              <a:p>
                <a:pPr marL="45720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new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𝑖𝑘</m:t>
                                  </m:r>
                                </m:sub>
                              </m:sSub>
                            </m:e>
                          </m:nary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en-US" b="0" i="0" dirty="0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dirty="0">
                                      <a:latin typeface="Cambria Math" panose="02040503050406030204" pitchFamily="18" charset="0"/>
                                    </a:rPr>
                                    <m:t>new</m:t>
                                  </m:r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</m:e>
                          </m:d>
                          <m:sSup>
                            <m:sSup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  <m:sup>
                                      <m:r>
                                        <a:rPr lang="en-US" b="0" i="0" dirty="0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dirty="0">
                                          <a:latin typeface="Cambria Math" panose="02040503050406030204" pitchFamily="18" charset="0"/>
                                        </a:rPr>
                                        <m:t>new</m:t>
                                      </m:r>
                                      <m:r>
                                        <a:rPr lang="en-US" b="0" i="0" dirty="0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b="0" i="0" dirty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𝑖𝑘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  <a:p>
                <a:pPr marL="457200" lvl="1" indent="0" algn="ctr">
                  <a:buNone/>
                </a:pPr>
                <a:endParaRPr lang="en-US" dirty="0"/>
              </a:p>
              <a:p>
                <a:pPr marL="457200" indent="-457200" algn="just">
                  <a:buFont typeface="+mj-lt"/>
                  <a:buAutoNum type="arabicPeriod" startAt="3"/>
                </a:pPr>
                <a:r>
                  <a:rPr lang="en-US" b="1" u="sng" dirty="0"/>
                  <a:t>Repeat</a:t>
                </a:r>
                <a:r>
                  <a:rPr lang="en-US" dirty="0"/>
                  <a:t> E-Step and M-Step until parameters converge</a:t>
                </a:r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1AA4BB17-19B2-AF7D-0FF4-B315DB3947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5481" y="1720592"/>
                <a:ext cx="11086847" cy="5000882"/>
              </a:xfrm>
              <a:blipFill>
                <a:blip r:embed="rId2"/>
                <a:stretch>
                  <a:fillRect l="-220" t="-13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02B5D49-6B69-013A-5042-58CD4009A0EA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1790FB-08D3-824E-64AB-DF62E3223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1C258E-4E79-0E01-4FC4-C2090A1C061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446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4F337-AD94-072A-5910-39E6133BF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345E9-65A7-EFF9-81C5-E787564EB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EM Algorithm: Example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D6602FA7-B309-6937-1A28-BA8539BC77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5481" y="1720592"/>
                <a:ext cx="11086847" cy="5000882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b="0" dirty="0"/>
                  <a:t>Data: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1,2,5,6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b="0" dirty="0"/>
              </a:p>
              <a:p>
                <a:pPr algn="just"/>
                <a:r>
                  <a:rPr lang="en-US" b="1" u="sng" dirty="0"/>
                  <a:t>Initialize parameters</a:t>
                </a:r>
                <a:r>
                  <a:rPr lang="en-US" dirty="0"/>
                  <a:t>: </a:t>
                </a:r>
              </a:p>
              <a:p>
                <a:pPr lvl="1" algn="just"/>
                <a:r>
                  <a:rPr lang="en-US" b="0" dirty="0"/>
                  <a:t>Cluster 1: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 algn="just"/>
                <a:r>
                  <a:rPr lang="en-US" dirty="0"/>
                  <a:t>Cluster 2: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dirty="0"/>
              </a:p>
              <a:p>
                <a:pPr algn="just"/>
                <a:r>
                  <a:rPr lang="en-US" b="1" u="sng" dirty="0"/>
                  <a:t>Iteration 1</a:t>
                </a:r>
                <a:r>
                  <a:rPr lang="en-US" dirty="0"/>
                  <a:t>:</a:t>
                </a:r>
                <a:r>
                  <a:rPr lang="en-US" b="0" dirty="0"/>
                  <a:t>Step 1: E-step</a:t>
                </a:r>
              </a:p>
              <a:p>
                <a:pPr algn="just"/>
                <a:endParaRPr lang="en-US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D6602FA7-B309-6937-1A28-BA8539BC77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5481" y="1720592"/>
                <a:ext cx="11086847" cy="5000882"/>
              </a:xfrm>
              <a:blipFill>
                <a:blip r:embed="rId2"/>
                <a:stretch>
                  <a:fillRect l="-990" t="-20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492486B-7B93-8DD1-17A5-016F4FF8C9E3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AAFF02-FD65-3181-276C-B4C5253D1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D3ED44-F8BD-F9F1-F748-38B29B0F6E0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921845B2-FC57-F996-85BD-6D1401C54DE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46110767"/>
                  </p:ext>
                </p:extLst>
              </p:nvPr>
            </p:nvGraphicFramePr>
            <p:xfrm>
              <a:off x="684489" y="4028375"/>
              <a:ext cx="10110059" cy="2693099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797614">
                      <a:extLst>
                        <a:ext uri="{9D8B030D-6E8A-4147-A177-3AD203B41FA5}">
                          <a16:colId xmlns:a16="http://schemas.microsoft.com/office/drawing/2014/main" val="267183332"/>
                        </a:ext>
                      </a:extLst>
                    </a:gridCol>
                    <a:gridCol w="1797614">
                      <a:extLst>
                        <a:ext uri="{9D8B030D-6E8A-4147-A177-3AD203B41FA5}">
                          <a16:colId xmlns:a16="http://schemas.microsoft.com/office/drawing/2014/main" val="4181965677"/>
                        </a:ext>
                      </a:extLst>
                    </a:gridCol>
                    <a:gridCol w="1797614">
                      <a:extLst>
                        <a:ext uri="{9D8B030D-6E8A-4147-A177-3AD203B41FA5}">
                          <a16:colId xmlns:a16="http://schemas.microsoft.com/office/drawing/2014/main" val="3431223603"/>
                        </a:ext>
                      </a:extLst>
                    </a:gridCol>
                    <a:gridCol w="3487431">
                      <a:extLst>
                        <a:ext uri="{9D8B030D-6E8A-4147-A177-3AD203B41FA5}">
                          <a16:colId xmlns:a16="http://schemas.microsoft.com/office/drawing/2014/main" val="1778764278"/>
                        </a:ext>
                      </a:extLst>
                    </a:gridCol>
                    <a:gridCol w="1229786">
                      <a:extLst>
                        <a:ext uri="{9D8B030D-6E8A-4147-A177-3AD203B41FA5}">
                          <a16:colId xmlns:a16="http://schemas.microsoft.com/office/drawing/2014/main" val="223000045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𝒩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|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sSubSup>
                                      <m:sSub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𝒩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|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sSubSup>
                                      <m:sSub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878075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0.3989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0.0004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0.5</m:t>
                                    </m:r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0.3989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0.5</m:t>
                                    </m:r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0.3989</m:t>
                                        </m:r>
                                      </m:e>
                                    </m:d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+0.5(0.0004)</m:t>
                                    </m:r>
                                  </m:den>
                                </m:f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=0.999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0.001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682861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0.2420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0.0004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0.998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0.002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269892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0.0004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0.2420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0.002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0.998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236968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0.0001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0.3989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0.001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0.999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141471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921845B2-FC57-F996-85BD-6D1401C54DE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46110767"/>
                  </p:ext>
                </p:extLst>
              </p:nvPr>
            </p:nvGraphicFramePr>
            <p:xfrm>
              <a:off x="684489" y="4028375"/>
              <a:ext cx="10110059" cy="2693099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797614">
                      <a:extLst>
                        <a:ext uri="{9D8B030D-6E8A-4147-A177-3AD203B41FA5}">
                          <a16:colId xmlns:a16="http://schemas.microsoft.com/office/drawing/2014/main" val="267183332"/>
                        </a:ext>
                      </a:extLst>
                    </a:gridCol>
                    <a:gridCol w="1797614">
                      <a:extLst>
                        <a:ext uri="{9D8B030D-6E8A-4147-A177-3AD203B41FA5}">
                          <a16:colId xmlns:a16="http://schemas.microsoft.com/office/drawing/2014/main" val="4181965677"/>
                        </a:ext>
                      </a:extLst>
                    </a:gridCol>
                    <a:gridCol w="1797614">
                      <a:extLst>
                        <a:ext uri="{9D8B030D-6E8A-4147-A177-3AD203B41FA5}">
                          <a16:colId xmlns:a16="http://schemas.microsoft.com/office/drawing/2014/main" val="3431223603"/>
                        </a:ext>
                      </a:extLst>
                    </a:gridCol>
                    <a:gridCol w="3487431">
                      <a:extLst>
                        <a:ext uri="{9D8B030D-6E8A-4147-A177-3AD203B41FA5}">
                          <a16:colId xmlns:a16="http://schemas.microsoft.com/office/drawing/2014/main" val="1778764278"/>
                        </a:ext>
                      </a:extLst>
                    </a:gridCol>
                    <a:gridCol w="1229786">
                      <a:extLst>
                        <a:ext uri="{9D8B030D-6E8A-4147-A177-3AD203B41FA5}">
                          <a16:colId xmlns:a16="http://schemas.microsoft.com/office/drawing/2014/main" val="2230000451"/>
                        </a:ext>
                      </a:extLst>
                    </a:gridCol>
                  </a:tblGrid>
                  <a:tr h="63379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39" t="-962" r="-463729" b="-3413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339" t="-962" r="-363729" b="-3413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339" t="-962" r="-263729" b="-3413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54895" t="-962" r="-36014" b="-3413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721782" t="-962" r="-1980" b="-3413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87807543"/>
                      </a:ext>
                    </a:extLst>
                  </a:tr>
                  <a:tr h="94678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0.3989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0.0004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54895" t="-67308" r="-36014" b="-127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0.001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682861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0.2420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0.0004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0.998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0.002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269892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0.0004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0.2420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0.002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0.998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236968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0.0001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0.3989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0.001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0.999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1414714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755BB2C-0FD0-0E4B-381E-7E7A600C12BA}"/>
                  </a:ext>
                </a:extLst>
              </p:cNvPr>
              <p:cNvSpPr txBox="1"/>
              <p:nvPr/>
            </p:nvSpPr>
            <p:spPr>
              <a:xfrm>
                <a:off x="5982215" y="2118059"/>
                <a:ext cx="6094970" cy="7807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𝒩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𝒩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755BB2C-0FD0-0E4B-381E-7E7A600C12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2215" y="2118059"/>
                <a:ext cx="6094970" cy="78072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7818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AA741-6358-0F16-AEB2-99AB4B725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9B33075-5040-F084-C869-9650767CF9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2867" y="1476635"/>
            <a:ext cx="7500905" cy="53504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9014564-825A-2694-00D3-DD15414B5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EM Algorithm: Example (contd.)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744E392-8F4A-7409-7366-E3177D44A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81" y="1720592"/>
            <a:ext cx="11086847" cy="5000882"/>
          </a:xfrm>
        </p:spPr>
        <p:txBody>
          <a:bodyPr>
            <a:normAutofit/>
          </a:bodyPr>
          <a:lstStyle/>
          <a:p>
            <a:pPr algn="just"/>
            <a:r>
              <a:rPr lang="en-US" b="1" u="sng" dirty="0"/>
              <a:t>Iteration 1</a:t>
            </a:r>
            <a:r>
              <a:rPr lang="en-US" dirty="0"/>
              <a:t>:</a:t>
            </a:r>
          </a:p>
          <a:p>
            <a:pPr marL="457200" lvl="1" indent="0" algn="just">
              <a:buNone/>
            </a:pPr>
            <a:r>
              <a:rPr lang="en-US" b="0" dirty="0"/>
              <a:t>Step </a:t>
            </a:r>
            <a:r>
              <a:rPr lang="en-US" dirty="0"/>
              <a:t>2</a:t>
            </a:r>
            <a:r>
              <a:rPr lang="en-US" b="0" dirty="0"/>
              <a:t>: M-step</a:t>
            </a:r>
          </a:p>
          <a:p>
            <a:pPr algn="just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3D16ADD-A49A-28F5-4C7C-4A999A9EC41C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8C85BD-CAD1-C449-51D0-F230A06EF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4C7C9F-2851-11A9-204D-5A3CC0A89F7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423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FE851-A9B1-BCDD-8614-4065EEF6B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90785-E40E-3D06-AAD2-808208203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EM Algorithm: Example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3DED9922-20E5-93AF-04D4-E27169C22A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5481" y="1720592"/>
                <a:ext cx="11086847" cy="5000882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b="1" u="sng" dirty="0"/>
                  <a:t>New parameters</a:t>
                </a:r>
              </a:p>
              <a:p>
                <a:pPr lvl="1" algn="just"/>
                <a:r>
                  <a:rPr lang="en-US" dirty="0"/>
                  <a:t>Cluster 1: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.505,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0.250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 algn="just"/>
                <a:r>
                  <a:rPr lang="en-US" dirty="0"/>
                  <a:t>Cluster 2: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5.495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0.250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US" b="1" u="sng" dirty="0"/>
              </a:p>
              <a:p>
                <a:pPr algn="just"/>
                <a:r>
                  <a:rPr lang="en-US" b="1" u="sng" dirty="0"/>
                  <a:t>Iteration 2</a:t>
                </a:r>
                <a:r>
                  <a:rPr lang="en-US" dirty="0"/>
                  <a:t>:</a:t>
                </a:r>
              </a:p>
              <a:p>
                <a:pPr marL="457200" lvl="1" indent="0" algn="just">
                  <a:buNone/>
                </a:pPr>
                <a:r>
                  <a:rPr lang="en-US" b="0" dirty="0"/>
                  <a:t>Step 1: E-step</a:t>
                </a:r>
              </a:p>
              <a:p>
                <a:pPr algn="just"/>
                <a:endParaRPr lang="en-US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3DED9922-20E5-93AF-04D4-E27169C22A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5481" y="1720592"/>
                <a:ext cx="11086847" cy="5000882"/>
              </a:xfrm>
              <a:blipFill>
                <a:blip r:embed="rId2"/>
                <a:stretch>
                  <a:fillRect l="-990" t="-20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0506E8E-5C71-A472-D8D1-9FB23E90D9EB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E2D51A-5CB3-204D-B9DA-6DECC2819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F812E7-C71F-87D7-2DBF-242B870BB7F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CC62F62C-387A-9F4E-3E56-F80B0EB6B5D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03995790"/>
                  </p:ext>
                </p:extLst>
              </p:nvPr>
            </p:nvGraphicFramePr>
            <p:xfrm>
              <a:off x="1935205" y="4125869"/>
              <a:ext cx="8128000" cy="18542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267183332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4181965677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431223603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778764278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23000045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𝒩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|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sSubSup>
                                      <m:sSub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𝒩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|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sSubSup>
                                      <m:sSub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878075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0.704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682861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0.483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269892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0.483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1.0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236968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0.704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1.0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141471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CC62F62C-387A-9F4E-3E56-F80B0EB6B5D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03995790"/>
                  </p:ext>
                </p:extLst>
              </p:nvPr>
            </p:nvGraphicFramePr>
            <p:xfrm>
              <a:off x="1935205" y="4125869"/>
              <a:ext cx="8128000" cy="18542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267183332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4181965677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431223603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778764278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23000045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75" t="-1639" r="-401124" b="-4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375" t="-1639" r="-301124" b="-4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1128" t="-1639" r="-202256" b="-4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0000" t="-1639" r="-101498" b="-4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0000" t="-1639" r="-1498" b="-4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878075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0.704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682861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0.483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269892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0.483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1.0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236968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0.704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1.0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1414714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3104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E1954-E32D-AC0F-6CF5-8EE9C6867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B6CE85C-4350-32ED-AA5A-D5E29CED5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9179" y="1482812"/>
            <a:ext cx="6482499" cy="53751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C008D0-07E1-DCFA-1F3C-58C8E0EBE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EM Algorithm: Example (contd.)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6BAE867-4353-0806-0FB6-CAFEA92E0B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81" y="1720592"/>
            <a:ext cx="11086847" cy="5000882"/>
          </a:xfrm>
        </p:spPr>
        <p:txBody>
          <a:bodyPr>
            <a:normAutofit/>
          </a:bodyPr>
          <a:lstStyle/>
          <a:p>
            <a:pPr algn="just"/>
            <a:r>
              <a:rPr lang="en-US" b="1" u="sng" dirty="0"/>
              <a:t>Iteration 2</a:t>
            </a:r>
            <a:r>
              <a:rPr lang="en-US" dirty="0"/>
              <a:t>:</a:t>
            </a:r>
          </a:p>
          <a:p>
            <a:pPr marL="457200" lvl="1" indent="0" algn="just">
              <a:buNone/>
            </a:pPr>
            <a:r>
              <a:rPr lang="en-US" b="0" dirty="0"/>
              <a:t>Step </a:t>
            </a:r>
            <a:r>
              <a:rPr lang="en-US" dirty="0"/>
              <a:t>2</a:t>
            </a:r>
            <a:r>
              <a:rPr lang="en-US" b="0" dirty="0"/>
              <a:t>: M-step</a:t>
            </a:r>
          </a:p>
          <a:p>
            <a:pPr algn="just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16BBBD-89B3-31D5-9E8C-AB800CAFB559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B0284A-61DE-E571-5A23-B8BBBE54A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DFA65A-6D01-A2D4-447A-582C3402CE4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9873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1C569-0716-6003-7BD7-AD6B5B3B0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803D8-D6D1-72F2-6B5A-AA1C668FA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EM Algorithm: Example (contd.)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105911C-49B2-BBAE-BD45-2819CB3D79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2364" y="1747173"/>
            <a:ext cx="6083613" cy="2476627"/>
          </a:xfr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66F6C23-6859-42CE-7E02-338B420E628D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9906B9-D3B2-8561-1CB7-F9E7B1864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48EA4E-0C4C-6750-6982-A0FDF0A3DDF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76C6B9C-7EA5-B16A-224B-CF5631E713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7779" y="4370096"/>
            <a:ext cx="9131643" cy="235137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575B30E-C3F7-C5E0-26AD-39FEF1968BA8}"/>
              </a:ext>
            </a:extLst>
          </p:cNvPr>
          <p:cNvSpPr txBox="1"/>
          <p:nvPr/>
        </p:nvSpPr>
        <p:spPr>
          <a:xfrm>
            <a:off x="3816624" y="6430188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46A6D0-DFCC-969E-6DC0-1BF721B6BF94}"/>
              </a:ext>
            </a:extLst>
          </p:cNvPr>
          <p:cNvSpPr txBox="1"/>
          <p:nvPr/>
        </p:nvSpPr>
        <p:spPr>
          <a:xfrm>
            <a:off x="7314251" y="6435868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885339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13494-884B-6621-BE3C-430AA3282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1AE64E1-D893-6D57-B392-78D6808D8E2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pPr fontAlgn="base"/>
                <a:r>
                  <a:rPr lang="en-US" sz="3800" b="1" dirty="0"/>
                  <a:t>Bayesian Information Criterion (BIC) for Optimal </a:t>
                </a:r>
                <a14:m>
                  <m:oMath xmlns:m="http://schemas.openxmlformats.org/officeDocument/2006/math">
                    <m:r>
                      <a:rPr lang="en-US" sz="38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sz="3800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1AE64E1-D893-6D57-B392-78D6808D8E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0B0DC63-A941-16D9-B03A-2858EE1EEB4D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9CE15E-AA85-8089-7FEC-732A9834B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56C9902-20D3-89EE-1C31-602E837D1D8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963DD10D-05BB-03D8-E846-A9574C1E33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26074"/>
              </a:xfrm>
            </p:spPr>
            <p:txBody>
              <a:bodyPr>
                <a:normAutofit fontScale="77500" lnSpcReduction="20000"/>
              </a:bodyPr>
              <a:lstStyle/>
              <a:p>
                <a:pPr algn="just"/>
                <a:r>
                  <a:rPr lang="en-US" dirty="0"/>
                  <a:t>BIC balances model fit and complexity to prevent overfitting</a:t>
                </a:r>
              </a:p>
              <a:p>
                <a:pPr lvl="1"/>
                <a:r>
                  <a:rPr lang="en-US" b="1" u="sng" dirty="0"/>
                  <a:t>Lower BIC</a:t>
                </a:r>
                <a:r>
                  <a:rPr lang="en-US" dirty="0"/>
                  <a:t> indicates a </a:t>
                </a:r>
                <a:r>
                  <a:rPr lang="en-US" b="1" u="sng" dirty="0"/>
                  <a:t>better</a:t>
                </a:r>
                <a:r>
                  <a:rPr lang="en-US" dirty="0"/>
                  <a:t> model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BIC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=−2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𝐿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e>
                          </m:nary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the </a:t>
                </a:r>
                <a:r>
                  <a:rPr lang="en-US" b="1" u="sng" dirty="0"/>
                  <a:t>maximized likelihood</a:t>
                </a:r>
                <a:r>
                  <a:rPr lang="en-US" dirty="0"/>
                  <a:t> of the model,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is the </a:t>
                </a:r>
                <a:r>
                  <a:rPr lang="en-US" b="1" u="sng" dirty="0"/>
                  <a:t>number of parameters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is the </a:t>
                </a:r>
                <a:r>
                  <a:rPr lang="en-US" b="1" u="sng" dirty="0"/>
                  <a:t>number of data points</a:t>
                </a:r>
              </a:p>
              <a:p>
                <a:pPr lvl="1" algn="just"/>
                <a:r>
                  <a:rPr lang="en-US" b="1" u="sng" dirty="0"/>
                  <a:t>The first term</a:t>
                </a:r>
                <a:r>
                  <a:rPr lang="en-US" dirty="0"/>
                  <a:t>: Measures how well the model explains the data. If the model fits poorly, this term becomes large and positive.</a:t>
                </a:r>
              </a:p>
              <a:p>
                <a:pPr lvl="1" algn="just"/>
                <a:r>
                  <a:rPr lang="en-US" b="1" u="sng" dirty="0"/>
                  <a:t>The second term</a:t>
                </a:r>
                <a:r>
                  <a:rPr lang="en-US" dirty="0"/>
                  <a:t>: Penalizes models with too many parameters.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increases, BIC increases.</a:t>
                </a:r>
              </a:p>
              <a:p>
                <a:pPr algn="just"/>
                <a:r>
                  <a:rPr lang="en-US" b="1" u="sng" dirty="0"/>
                  <a:t>Steps</a:t>
                </a:r>
                <a:r>
                  <a:rPr lang="en-US" dirty="0"/>
                  <a:t>:</a:t>
                </a:r>
              </a:p>
              <a:p>
                <a:pPr marL="914400" lvl="1" indent="-457200" algn="just">
                  <a:buFont typeface="+mj-lt"/>
                  <a:buAutoNum type="arabicPeriod"/>
                </a:pPr>
                <a:r>
                  <a:rPr lang="en-US" dirty="0"/>
                  <a:t>Define candidate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values (e.g., 1 to 5)</a:t>
                </a:r>
              </a:p>
              <a:p>
                <a:pPr marL="914400" lvl="1" indent="-457200" algn="just">
                  <a:buFont typeface="+mj-lt"/>
                  <a:buAutoNum type="arabicPeriod"/>
                </a:pPr>
                <a:r>
                  <a:rPr lang="en-US" dirty="0"/>
                  <a:t>For each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2" algn="just"/>
                <a:r>
                  <a:rPr lang="en-US" dirty="0"/>
                  <a:t>Fit GMM to data</a:t>
                </a:r>
              </a:p>
              <a:p>
                <a:pPr lvl="2" algn="just"/>
                <a:r>
                  <a:rPr lang="en-US" dirty="0"/>
                  <a:t>Compute BIC</a:t>
                </a:r>
              </a:p>
              <a:p>
                <a:pPr marL="914400" lvl="1" indent="-457200" algn="just">
                  <a:buFont typeface="+mj-lt"/>
                  <a:buAutoNum type="arabicPeriod"/>
                </a:pPr>
                <a:r>
                  <a:rPr lang="en-US" dirty="0"/>
                  <a:t>Select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with minimum BIC</a:t>
                </a: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963DD10D-05BB-03D8-E846-A9574C1E33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26074"/>
              </a:xfrm>
              <a:blipFill>
                <a:blip r:embed="rId4"/>
                <a:stretch>
                  <a:fillRect l="-754" t="-2525" r="-522" b="-6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61495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8FD20-F658-7496-25AF-827EEA024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03774-2747-18EE-7C63-9A2A6D16E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sz="3800" b="1" dirty="0"/>
              <a:t>BIC Parameters</a:t>
            </a:r>
            <a:endParaRPr lang="en-US" sz="38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23B3951-B063-1A96-92ED-415B23606DFD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CF65D4-4B77-3589-A57B-D22DD0E5A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978F3E-CCEA-B780-BD50-1EB32E3A24C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4C6A1F58-F521-C051-4C66-8930E06844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26074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BIC equation: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BIC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=−2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𝐿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e>
                          </m:nary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 algn="just">
                  <a:buNone/>
                </a:pPr>
                <a:r>
                  <a:rPr lang="en-US" dirty="0"/>
                  <a:t>where,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𝒩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 algn="just">
                  <a:buNone/>
                </a:pPr>
                <a:endParaRPr lang="en-US" dirty="0"/>
              </a:p>
              <a:p>
                <a:pPr marL="0" indent="0" algn="just">
                  <a:buNone/>
                </a:pPr>
                <a:r>
                  <a:rPr lang="en-US" b="0" dirty="0"/>
                  <a:t>	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	 </a:t>
                </a:r>
                <a:r>
                  <a:rPr lang="en-US" dirty="0">
                    <a:sym typeface="Wingdings" panose="05000000000000000000" pitchFamily="2" charset="2"/>
                  </a:rPr>
                  <a:t> </a:t>
                </a:r>
                <a:r>
                  <a:rPr lang="en-US" dirty="0"/>
                  <a:t>for 1D data</a:t>
                </a: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4C6A1F58-F521-C051-4C66-8930E06844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26074"/>
              </a:xfrm>
              <a:blipFill>
                <a:blip r:embed="rId3"/>
                <a:stretch>
                  <a:fillRect l="-1217" t="-21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00858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B9133-51DB-78AD-11AE-38288CAE3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FF5E1-0DC2-F992-9631-3ED19AECF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sz="3800" b="1" dirty="0"/>
              <a:t>BIC Example (N=2)</a:t>
            </a:r>
            <a:endParaRPr lang="en-US" sz="38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F7EC82D-CFE1-BDC6-D6A2-580D2CB9CA40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4058C4-9E45-6AB7-FB2D-4E90722EA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9909FC-D043-EFA7-5416-74BF6012D4C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1A20DD1-0296-AA19-7DD3-DE7BB748AE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52072" y="2599554"/>
            <a:ext cx="3850721" cy="2803998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03BAA27-2CEE-53D7-73B4-426BF23F219E}"/>
                  </a:ext>
                </a:extLst>
              </p:cNvPr>
              <p:cNvSpPr txBox="1"/>
              <p:nvPr/>
            </p:nvSpPr>
            <p:spPr>
              <a:xfrm>
                <a:off x="4355321" y="1577007"/>
                <a:ext cx="7445739" cy="59895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0.5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0.5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0|5,2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=0.5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0.3989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0.5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0.000545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0.19945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0.0002725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0.19973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=0.5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5|0,1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0.5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5|5,2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=0.5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1.49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−6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0.5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0.2821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=0.745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−6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+0.14105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0.1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4105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2−1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+2+2=5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BIC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=−2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ln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BIC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=−2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0.19973</m:t>
                                  </m:r>
                                </m:e>
                              </m:d>
                            </m:e>
                          </m:fun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0.14105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ln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BIC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=−2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−1.6108−1.95886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3.4657=7.1393+3.4657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BIC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10.605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03BAA27-2CEE-53D7-73B4-426BF23F21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5321" y="1577007"/>
                <a:ext cx="7445739" cy="5989588"/>
              </a:xfrm>
              <a:prstGeom prst="rect">
                <a:avLst/>
              </a:prstGeom>
              <a:blipFill>
                <a:blip r:embed="rId4"/>
                <a:stretch>
                  <a:fillRect t="-2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9323B72D-3A40-C282-E174-7AA95F72A9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433" y="1849512"/>
            <a:ext cx="2322659" cy="45842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737F206-95FE-3D9C-FA90-3CF7D83C7CED}"/>
              </a:ext>
            </a:extLst>
          </p:cNvPr>
          <p:cNvSpPr txBox="1"/>
          <p:nvPr/>
        </p:nvSpPr>
        <p:spPr>
          <a:xfrm>
            <a:off x="730433" y="6312418"/>
            <a:ext cx="9322167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/>
              <a:t>Similarly, BIC can be calculated for different values of K and the one with the lowest BIC value is chosen.</a:t>
            </a:r>
          </a:p>
        </p:txBody>
      </p:sp>
    </p:spTree>
    <p:extLst>
      <p:ext uri="{BB962C8B-B14F-4D97-AF65-F5344CB8AC3E}">
        <p14:creationId xmlns:p14="http://schemas.microsoft.com/office/powerpoint/2010/main" val="10687371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CB24D-8FF7-6404-4084-FAFF74347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90C3CD2-DA8D-6278-2076-271CCD20B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3969" y="1549772"/>
            <a:ext cx="7785753" cy="510192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6A9E91E-37F9-6025-C7A4-9A860723A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sz="3800" b="1" dirty="0"/>
              <a:t>BIC Example 2 (N=20)</a:t>
            </a:r>
            <a:endParaRPr lang="en-US" sz="38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8DB8AC9-9D09-744D-400F-160EDC0B4591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ED4C3B-6994-0B7B-F268-04F6CF7CD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CCA8C7-04E1-9A7B-6100-A0A8A566094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3B464A3-74E5-B5FF-3DCD-980042DD80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278" y="2165923"/>
            <a:ext cx="3888438" cy="349275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A55D3E9-37B4-8B71-1AB5-A6C4F0B668A2}"/>
              </a:ext>
            </a:extLst>
          </p:cNvPr>
          <p:cNvSpPr txBox="1"/>
          <p:nvPr/>
        </p:nvSpPr>
        <p:spPr>
          <a:xfrm>
            <a:off x="6096000" y="5474012"/>
            <a:ext cx="122142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Overfitting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1C4F9A-F0DA-3EBF-FF0D-FB941616F6B8}"/>
              </a:ext>
            </a:extLst>
          </p:cNvPr>
          <p:cNvSpPr txBox="1"/>
          <p:nvPr/>
        </p:nvSpPr>
        <p:spPr>
          <a:xfrm>
            <a:off x="5413633" y="2268360"/>
            <a:ext cx="136473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Underfitting</a:t>
            </a:r>
          </a:p>
        </p:txBody>
      </p:sp>
    </p:spTree>
    <p:extLst>
      <p:ext uri="{BB962C8B-B14F-4D97-AF65-F5344CB8AC3E}">
        <p14:creationId xmlns:p14="http://schemas.microsoft.com/office/powerpoint/2010/main" val="14152510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64FC3-4DC6-64A1-4A78-FDA37AE2C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14DD8A1-99E7-FC74-072C-04384BE6688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pPr fontAlgn="base"/>
                <a:r>
                  <a:rPr lang="en-US" sz="3800" b="1" dirty="0"/>
                  <a:t>Effect of </a:t>
                </a:r>
                <a14:m>
                  <m:oMath xmlns:m="http://schemas.openxmlformats.org/officeDocument/2006/math">
                    <m:r>
                      <a:rPr lang="en-US" sz="38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sz="3800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14DD8A1-99E7-FC74-072C-04384BE668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97857F9-BDC1-C9B3-D3BF-36F1E06F8622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E7A05E-B3DB-C157-841A-6D7D546FB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E21621-38AE-F3F1-59B0-60273FE15E4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5">
                <a:extLst>
                  <a:ext uri="{FF2B5EF4-FFF2-40B4-BE49-F238E27FC236}">
                    <a16:creationId xmlns:a16="http://schemas.microsoft.com/office/drawing/2014/main" id="{65EA56C0-5058-3D57-035A-15454775FF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26074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b="1" dirty="0"/>
                  <a:t>Large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/>
                  <a:t>(Too Many Clusters) Causes Overfitting</a:t>
                </a:r>
              </a:p>
              <a:p>
                <a:pPr lvl="1" algn="just"/>
                <a:r>
                  <a:rPr lang="en-US" dirty="0"/>
                  <a:t>When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 is too large, GMM can assign tiny clusters to just a few points</a:t>
                </a:r>
              </a:p>
              <a:p>
                <a:pPr lvl="1"/>
                <a:r>
                  <a:rPr lang="en-US" dirty="0"/>
                  <a:t>Example: If 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dirty="0"/>
                  <a:t> for 100 data points, some clusters may model noise rather than true patterns</a:t>
                </a:r>
              </a:p>
              <a:p>
                <a:pPr lvl="1"/>
                <a:r>
                  <a:rPr lang="en-US" b="1" dirty="0"/>
                  <a:t>Result</a:t>
                </a:r>
                <a:r>
                  <a:rPr lang="en-US" dirty="0"/>
                  <a:t>: The model fits the training data </a:t>
                </a:r>
                <a:r>
                  <a:rPr lang="en-US" b="1" dirty="0"/>
                  <a:t>too well</a:t>
                </a:r>
                <a:r>
                  <a:rPr lang="en-US" dirty="0"/>
                  <a:t> but fails on new data</a:t>
                </a:r>
              </a:p>
              <a:p>
                <a:r>
                  <a:rPr lang="en-US" b="1" dirty="0"/>
                  <a:t> Small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b="1" dirty="0"/>
                  <a:t> (Too Few Clusters) Causes Underfitting</a:t>
                </a:r>
              </a:p>
              <a:p>
                <a:pPr lvl="1"/>
                <a:r>
                  <a:rPr lang="en-US" dirty="0"/>
                  <a:t>If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  when the true structure has 2+ clusters, the model </a:t>
                </a:r>
                <a:r>
                  <a:rPr lang="en-US" b="1" dirty="0"/>
                  <a:t>misses important patterns</a:t>
                </a:r>
                <a:endParaRPr lang="en-US" dirty="0"/>
              </a:p>
              <a:p>
                <a:pPr lvl="1"/>
                <a:r>
                  <a:rPr lang="en-US" dirty="0"/>
                  <a:t>Example: Fitting a single Gaussian to two distinct groups</a:t>
                </a:r>
              </a:p>
              <a:p>
                <a:r>
                  <a:rPr lang="en-US" b="1" dirty="0"/>
                  <a:t>Optimal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where BIC is minimized (</a:t>
                </a:r>
                <a:r>
                  <a:rPr lang="en-US" b="1" i="1" dirty="0"/>
                  <a:t>usually</a:t>
                </a:r>
                <a:r>
                  <a:rPr lang="en-US" dirty="0"/>
                  <a:t> the true number of clusters)</a:t>
                </a:r>
              </a:p>
              <a:p>
                <a:endParaRPr lang="en-US" dirty="0"/>
              </a:p>
              <a:p>
                <a:pPr lvl="1" algn="just"/>
                <a:endParaRPr lang="en-US" dirty="0"/>
              </a:p>
              <a:p>
                <a:pPr lvl="1" algn="just"/>
                <a:endParaRPr lang="en-US" dirty="0"/>
              </a:p>
              <a:p>
                <a:pPr algn="just"/>
                <a:endParaRPr lang="en-US" dirty="0"/>
              </a:p>
            </p:txBody>
          </p:sp>
        </mc:Choice>
        <mc:Fallback xmlns="">
          <p:sp>
            <p:nvSpPr>
              <p:cNvPr id="3" name="Content Placeholder 5">
                <a:extLst>
                  <a:ext uri="{FF2B5EF4-FFF2-40B4-BE49-F238E27FC236}">
                    <a16:creationId xmlns:a16="http://schemas.microsoft.com/office/drawing/2014/main" id="{65EA56C0-5058-3D57-035A-15454775FF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26074"/>
              </a:xfrm>
              <a:blipFill>
                <a:blip r:embed="rId4"/>
                <a:stretch>
                  <a:fillRect l="-1043" t="-2146" r="-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4139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14113</TotalTime>
  <Words>969</Words>
  <Application>Microsoft Office PowerPoint</Application>
  <PresentationFormat>Widescreen</PresentationFormat>
  <Paragraphs>186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Cambria Math</vt:lpstr>
      <vt:lpstr>Office Theme</vt:lpstr>
      <vt:lpstr>Lecture 6: Clustering Algorithms (Part II)</vt:lpstr>
      <vt:lpstr>Gaussian Mixture Model (GMM)</vt:lpstr>
      <vt:lpstr>Introduction</vt:lpstr>
      <vt:lpstr>Expectation-Maximization (EM) Algorithm</vt:lpstr>
      <vt:lpstr>EM Algorithm: Steps (1-D Data)</vt:lpstr>
      <vt:lpstr>EM Algorithm: Example</vt:lpstr>
      <vt:lpstr>EM Algorithm: Example (contd.)</vt:lpstr>
      <vt:lpstr>EM Algorithm: Example</vt:lpstr>
      <vt:lpstr>EM Algorithm: Example (contd.)</vt:lpstr>
      <vt:lpstr>EM Algorithm: Example (contd.)</vt:lpstr>
      <vt:lpstr>Bayesian Information Criterion (BIC) for Optimal K</vt:lpstr>
      <vt:lpstr>BIC Parameters</vt:lpstr>
      <vt:lpstr>BIC Example (N=2)</vt:lpstr>
      <vt:lpstr>BIC Example 2 (N=20)</vt:lpstr>
      <vt:lpstr>Effect of 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7: Clustering Algorithms (Part II)</dc:title>
  <dc:creator>Jilan Samiuddin</dc:creator>
  <cp:lastModifiedBy>Jilan Samiuddin</cp:lastModifiedBy>
  <cp:revision>138</cp:revision>
  <dcterms:created xsi:type="dcterms:W3CDTF">2025-05-01T04:50:36Z</dcterms:created>
  <dcterms:modified xsi:type="dcterms:W3CDTF">2026-03-02T02:55:56Z</dcterms:modified>
</cp:coreProperties>
</file>