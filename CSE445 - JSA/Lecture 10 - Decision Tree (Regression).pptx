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61" r:id="rId3"/>
    <p:sldId id="264" r:id="rId4"/>
    <p:sldId id="276" r:id="rId5"/>
    <p:sldId id="263" r:id="rId6"/>
    <p:sldId id="267" r:id="rId7"/>
    <p:sldId id="273" r:id="rId8"/>
    <p:sldId id="269" r:id="rId9"/>
    <p:sldId id="274" r:id="rId10"/>
    <p:sldId id="268" r:id="rId11"/>
    <p:sldId id="270" r:id="rId12"/>
    <p:sldId id="271" r:id="rId13"/>
    <p:sldId id="27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2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D4E0159-42FF-E65A-8E4D-D784988C257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496018-5CC2-59DE-2953-7738B98343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28FED0-F494-4C8F-803A-297D5BD08D3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36F1A6-4EBD-D971-0F49-66EB5F0FDB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CC8F35-1B39-1C84-0B7A-25A637B3F29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F219B2-123C-4C18-A5D8-EB8782F74E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24748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6CD510-D800-49E6-BF08-298A1FE48EE9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48FE62-91E1-4730-A536-75C928C6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25415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8FE62-91E1-4730-A536-75C928C6D27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923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803D7-70F1-1C6F-A3B7-A8287EE256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A7E7C8-C452-803C-5FAC-14BDD1D43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D9D17-AB94-0B7D-C590-1F7E51846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370ED-970E-4212-BB35-C22C1D195CBC}" type="datetime1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9647B-4FB4-82CC-07BE-EFD93BF43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4B835-5F31-3FC0-10FA-FAC19E81C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037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216F1-8C26-C670-B7DC-8010AD390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ADE1A-A059-2960-24A5-D405837CE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42EED-1E92-359C-10FA-4E5D3C3F9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BB735-82A6-4413-A653-62CE81350112}" type="datetime1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24E15-03A2-851D-88BC-2445BB771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F4FD2-0C66-774A-A375-1089C6654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122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5120E-FC2F-A46F-4B09-23117B464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0862F9-9511-E32B-4BD7-47E0A71AD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C9156-0A2A-DB75-C8EA-248EA3DEE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675B7-2148-4A9D-995D-56145ABEAE97}" type="datetime1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D3A95-056A-D033-22AF-CDDBE987E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57329-594F-D458-6A9C-F07B09AFE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353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8A64B-29CB-8665-CEC5-DF412D2F9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8CDFC-7ECF-8F07-A1A5-1C0C8B385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FD181D-A96E-0D94-2062-16DE28541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00174-4A25-E989-7ACA-5C0B639C9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A078-0F96-4814-AF41-4D8FAE7F8A6C}" type="datetime1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23BD85-5B63-139B-2CE7-19610007F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3ABD13-EDE6-69F9-8590-026CFFF13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269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5F3A3-B693-9109-7927-708691AAD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C4F7D-CCD8-33A2-D7D0-35E5380DD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9AD8A8-2AB0-25CD-201F-ED952A4CDC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E13444-B5AF-C486-4E0A-7F2108ACDF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942FB4-090B-A58C-DF43-EA43DA1F16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708DE3-3255-6046-EE31-0C14E3532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CFAE0-6AEA-4322-8961-61818A5C4CC4}" type="datetime1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A5004F-5259-2B42-1938-FA9CAA92C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D354AB-D64D-E84A-BA76-66DBB6E45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354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E9BCC-F36B-F141-B6AC-0F2466147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7B0912-EE39-228C-9255-704DBA8C2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1CC14-615A-40E5-878F-B7968E69ACA9}" type="datetime1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ECFC76-DAA8-A15C-4AC4-93D299980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5AFFAA-E646-0DDF-64A0-A28BAC96E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007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8BE16B-802E-3074-11D1-8DE9C32B0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13215-DB23-4892-8F9A-91431A502CD2}" type="datetime1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670A2E-3D38-5D1E-AF19-F063247E7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31207-BFA9-21E9-A865-318F13DA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701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2605C-FA05-25DE-15F4-805A8CF09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4B131-EC7F-BFD9-E7B6-AB3137F4F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2959E2-E99B-EDA1-628E-184C643D5E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E0DFE-327E-11B6-BD8C-0F41386E7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3BCFA-E3E0-4FF4-BACA-FCF5C255E5DE}" type="datetime1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88662-BCB8-828C-9BDF-DD1D1A56A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40129B-382F-9101-9ED5-631C3B88F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216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04D93-D5ED-C785-80CB-7CF60D10A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39CBA7-CE7D-C187-B782-CA09C95AF8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D639DC-D960-C20C-EDEF-4E282D5FCE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0A177-05FD-4F3A-55CF-3EEB7E4E8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EC14-2B3B-4EE3-949A-779D533E8478}" type="datetime1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599E7E-8ECE-4DE4-A26C-C2CAB0978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AEDC0-BC10-677B-FFB3-DD53581A8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678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59DC3-0DF6-0743-E644-4A7AC5421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7E063F-D43E-FD0C-D76B-188F3B721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1BACC-50F2-51B8-0376-B959E5C69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BC18E-A90B-4B22-BF53-42EC149F08BB}" type="datetime1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CC8EC-0CE8-F103-3FD7-ED00AEDD2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0F038-A502-BA4A-633C-2C8924FA2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340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D0902E-7688-3814-1155-474461F4BE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262A82-7CD6-0470-0AF6-CCA98D9EF6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BDE9E-FAFF-63E1-22C0-33E9AE7F2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84F7D-5048-4108-88DC-972512EB713E}" type="datetime1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85A15-7E8B-01A9-927C-5655A0706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D3DFA-2B27-BC65-59BF-B29EA1A36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386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9CAD65-4AD5-02F3-7FA3-E760BBE79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EEE9E-8A03-0343-4D11-0133E5C0B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60B93-A586-42A5-0F99-907C968479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F7581B-AB8F-4D43-BDE7-8F5E2E8E8856}" type="datetime1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50782-3D97-A485-DC22-453A9166FA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CSE445 Machine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A4F32-3929-476D-213C-0F9E358D25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45EB31-1C62-4062-9511-C82C6CC02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481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87000"/>
            <a:lum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ass/>
                    </a14:imgEffect>
                  </a14:imgLayer>
                </a14:imgProps>
              </a:ext>
            </a:extLst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8" name="Rectangle 2077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E115A1-643A-7BF3-3A4B-2A7AF1AE9C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228" y="743447"/>
            <a:ext cx="4552707" cy="3692028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5200" b="1" dirty="0"/>
              <a:t>Lecture 10: Decision Tree (Regression)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31FF77-E09E-52C0-CD84-03CBD6D988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229" y="4629234"/>
            <a:ext cx="3973386" cy="1485319"/>
          </a:xfrm>
          <a:noFill/>
        </p:spPr>
        <p:txBody>
          <a:bodyPr>
            <a:normAutofit/>
          </a:bodyPr>
          <a:lstStyle/>
          <a:p>
            <a:pPr algn="l"/>
            <a:r>
              <a:rPr lang="en-US" b="1" i="1" dirty="0"/>
              <a:t>Dr. Jilan Samiuddin (JSA)</a:t>
            </a:r>
          </a:p>
          <a:p>
            <a:pPr algn="l"/>
            <a:r>
              <a:rPr lang="en-US" dirty="0"/>
              <a:t>Assistant Professor</a:t>
            </a:r>
          </a:p>
          <a:p>
            <a:pPr algn="l"/>
            <a:r>
              <a:rPr lang="en-US" dirty="0"/>
              <a:t>North South University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C301A-7024-8616-AFF2-7263B1346FFF}"/>
              </a:ext>
            </a:extLst>
          </p:cNvPr>
          <p:cNvSpPr txBox="1"/>
          <p:nvPr/>
        </p:nvSpPr>
        <p:spPr>
          <a:xfrm>
            <a:off x="952227" y="1199214"/>
            <a:ext cx="2782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CSE445 Machine Learning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1CA6BF-0DE8-9E57-6E92-74A6BC63A17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8000"/>
          </a:blip>
          <a:stretch>
            <a:fillRect/>
          </a:stretch>
        </p:blipFill>
        <p:spPr>
          <a:xfrm>
            <a:off x="392975" y="260715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640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CD7B2-5AC7-06A4-EC6E-C98361C94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90EBF-1D62-D059-41A9-07C69DA72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/>
              <a:t>Introduction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660E5FC-7FB8-7CCE-DDC6-5FA74BBB9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072" y="1720592"/>
            <a:ext cx="11040256" cy="4635757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Decision Tree Regression models relationships by recursively partitioning data into subsets, creating a tree-like structure</a:t>
            </a:r>
          </a:p>
          <a:p>
            <a:pPr algn="just"/>
            <a:r>
              <a:rPr lang="en-US" dirty="0"/>
              <a:t> Unlike classification trees that predict categories, regression trees </a:t>
            </a:r>
            <a:r>
              <a:rPr lang="en-US" b="1" u="sng" dirty="0"/>
              <a:t>predict continuous numerical values</a:t>
            </a:r>
          </a:p>
          <a:p>
            <a:pPr algn="just"/>
            <a:r>
              <a:rPr lang="en-US" dirty="0"/>
              <a:t>Each leaf node contains a predicted value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32AF9C3-86BF-C1E8-076B-A95B1586665C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16F021-D75C-363D-3B08-54BCA73B1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A86381-B03F-CD2F-4DA9-BF885FD3C63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298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E466F-7510-3499-0D72-B2BA2319F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81B63-0CA3-FC86-71E8-ADA45EF96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Step-by-Step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84102653-B72E-0A3F-6A13-1E9F294A71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2072" y="1720592"/>
                <a:ext cx="11040256" cy="4635757"/>
              </a:xfrm>
            </p:spPr>
            <p:txBody>
              <a:bodyPr>
                <a:normAutofit fontScale="85000" lnSpcReduction="20000"/>
              </a:bodyPr>
              <a:lstStyle/>
              <a:p>
                <a:pPr algn="just"/>
                <a:r>
                  <a:rPr lang="en-US" b="1" dirty="0"/>
                  <a:t>Select the best split</a:t>
                </a:r>
              </a:p>
              <a:p>
                <a:pPr lvl="1" algn="just"/>
                <a:r>
                  <a:rPr lang="en-US" dirty="0"/>
                  <a:t>Use Mean-squared-error (MSE)</a:t>
                </a:r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MSE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pPr marL="457200" lvl="1" indent="0" algn="just">
                  <a:buNone/>
                </a:pPr>
                <a:r>
                  <a:rPr lang="en-US" dirty="0"/>
                  <a:t>where,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/>
                  <a:t> is the mean,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the actual value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is the total number of samples</a:t>
                </a:r>
              </a:p>
              <a:p>
                <a:pPr lvl="1" algn="just"/>
                <a:r>
                  <a:rPr lang="en-US" dirty="0"/>
                  <a:t>Choose split with </a:t>
                </a:r>
                <a:r>
                  <a:rPr lang="en-US" b="1" dirty="0"/>
                  <a:t>maximal MSE reduction</a:t>
                </a:r>
                <a:endParaRPr lang="en-US" dirty="0"/>
              </a:p>
              <a:p>
                <a:pPr algn="just"/>
                <a:r>
                  <a:rPr lang="en-US" b="1" dirty="0"/>
                  <a:t>Partition Data</a:t>
                </a:r>
                <a:endParaRPr lang="en-US" dirty="0"/>
              </a:p>
              <a:p>
                <a:pPr lvl="1" algn="just"/>
                <a:r>
                  <a:rPr lang="en-US" dirty="0"/>
                  <a:t>Split data into left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threshold) and right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dirty="0"/>
                  <a:t> threshold) subsets</a:t>
                </a:r>
              </a:p>
              <a:p>
                <a:pPr algn="just"/>
                <a:r>
                  <a:rPr lang="en-US" b="1" dirty="0"/>
                  <a:t>Recurse</a:t>
                </a:r>
              </a:p>
              <a:p>
                <a:pPr lvl="1" algn="just"/>
                <a:r>
                  <a:rPr lang="en-US" dirty="0"/>
                  <a:t>Repeat process for child nodes until stopping criteria met</a:t>
                </a:r>
              </a:p>
              <a:p>
                <a:pPr algn="just"/>
                <a:r>
                  <a:rPr lang="en-US" b="1" dirty="0"/>
                  <a:t>Assign Leaf Value</a:t>
                </a:r>
              </a:p>
              <a:p>
                <a:pPr lvl="1" algn="just"/>
                <a:r>
                  <a:rPr lang="en-US" dirty="0"/>
                  <a:t>At leaf nodes, predict average of target values:</a:t>
                </a:r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Prediction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leaf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  <m:brk m:alnAt="7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eaf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84102653-B72E-0A3F-6A13-1E9F294A71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2072" y="1720592"/>
                <a:ext cx="11040256" cy="4635757"/>
              </a:xfrm>
              <a:blipFill>
                <a:blip r:embed="rId2"/>
                <a:stretch>
                  <a:fillRect l="-773" t="-28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7DEF74A-B9C0-98DE-7DA0-4FCCE120CDB3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CC7459-8C60-56ED-DBAD-5F60C47AA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541707-9B8A-DFC4-4BBD-CEC3EAC071E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941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6DD9D-E520-7DDD-F179-AB9AC15F0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8B017-43D2-EC14-AAEF-7E5E45717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Stopping Criteria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622F7BC-D95B-4FC8-A22D-4E9ED30C3714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0D9C2B-65F6-7090-2098-F1A8BEFD3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161E5E-0434-13C8-C60D-57E4F52E7E8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65269-828D-AB1E-4899-0DCEA340B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Node is pure </a:t>
            </a:r>
          </a:p>
          <a:p>
            <a:r>
              <a:rPr lang="en-US" b="1" dirty="0"/>
              <a:t>Maximum tree depth reached</a:t>
            </a:r>
          </a:p>
          <a:p>
            <a:pPr lvl="1"/>
            <a:r>
              <a:rPr lang="en-US" dirty="0"/>
              <a:t>Hard stop on how deep the tree can grow</a:t>
            </a:r>
          </a:p>
          <a:p>
            <a:pPr lvl="1"/>
            <a:r>
              <a:rPr lang="en-US" dirty="0"/>
              <a:t>Prevents deep trees that overfit</a:t>
            </a:r>
          </a:p>
          <a:p>
            <a:r>
              <a:rPr lang="en-US" b="1" dirty="0"/>
              <a:t>Minimum MSE Reduction</a:t>
            </a:r>
          </a:p>
          <a:p>
            <a:pPr lvl="1"/>
            <a:r>
              <a:rPr lang="en-US" dirty="0"/>
              <a:t>Stop splitting if the reduction in MSE is less than a threshold</a:t>
            </a:r>
          </a:p>
          <a:p>
            <a:r>
              <a:rPr lang="en-US" b="1" dirty="0"/>
              <a:t>Minimum Samples per Leaf</a:t>
            </a:r>
          </a:p>
          <a:p>
            <a:pPr lvl="1"/>
            <a:r>
              <a:rPr lang="en-US" dirty="0"/>
              <a:t>Do not split if it results in too few samples in a leaf</a:t>
            </a:r>
          </a:p>
          <a:p>
            <a:r>
              <a:rPr lang="en-US" b="1" dirty="0"/>
              <a:t>Minimum Samples per Split</a:t>
            </a:r>
          </a:p>
          <a:p>
            <a:pPr lvl="1"/>
            <a:r>
              <a:rPr lang="en-US" dirty="0"/>
              <a:t>Do not consider a split unless the node has enough samples</a:t>
            </a:r>
          </a:p>
        </p:txBody>
      </p:sp>
    </p:spTree>
    <p:extLst>
      <p:ext uri="{BB962C8B-B14F-4D97-AF65-F5344CB8AC3E}">
        <p14:creationId xmlns:p14="http://schemas.microsoft.com/office/powerpoint/2010/main" val="645257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142D1-8506-ECE5-B96B-E03CC7C03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5DDE2-8167-69E1-EB67-70513640F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Mathematical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85D7F40E-3C5D-6BE0-0587-A8044958AB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47489" y="3842951"/>
                <a:ext cx="5967560" cy="2513399"/>
              </a:xfrm>
            </p:spPr>
            <p:txBody>
              <a:bodyPr>
                <a:normAutofit fontScale="85000" lnSpcReduction="20000"/>
              </a:bodyPr>
              <a:lstStyle/>
              <a:p>
                <a:pPr algn="just"/>
                <a:r>
                  <a:rPr lang="en-US" sz="2500" dirty="0"/>
                  <a:t>First calculate MSE of the target variable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=14</m:t>
                      </m:r>
                    </m:oMath>
                  </m:oMathPara>
                </a14:m>
                <a:endParaRPr lang="en-US" sz="2500" b="0" dirty="0"/>
              </a:p>
              <a:p>
                <a:pPr marL="0" indent="0" algn="just">
                  <a:buNone/>
                </a:pPr>
                <a:endParaRPr lang="en-US" sz="2500" b="0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3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en-US" sz="23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sz="23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3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3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3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3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en-U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sz="23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25+30+…+44+30</m:t>
                          </m:r>
                        </m:num>
                        <m:den>
                          <m:r>
                            <a:rPr lang="en-U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  <m:r>
                        <a:rPr lang="en-US" sz="23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=39.79</m:t>
                      </m:r>
                    </m:oMath>
                  </m:oMathPara>
                </a14:m>
                <a:endParaRPr lang="en-US" sz="2300" dirty="0"/>
              </a:p>
              <a:p>
                <a:pPr marL="0" indent="0" algn="just">
                  <a:buNone/>
                </a:pPr>
                <a:endParaRPr lang="en-US" sz="2300" dirty="0"/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500" b="0" i="0" smtClean="0">
                            <a:latin typeface="Cambria Math" panose="02040503050406030204" pitchFamily="18" charset="0"/>
                          </a:rPr>
                          <m:t>MSE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500" b="0" i="0" smtClean="0">
                            <a:latin typeface="Cambria Math" panose="02040503050406030204" pitchFamily="18" charset="0"/>
                          </a:rPr>
                          <m:t>hour</m:t>
                        </m:r>
                      </m:sub>
                    </m:sSub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sz="2500" b="0" i="1" smtClean="0">
                        <a:latin typeface="Cambria Math" panose="02040503050406030204" pitchFamily="18" charset="0"/>
                      </a:rPr>
                      <m:t>=86.8</m:t>
                    </m:r>
                  </m:oMath>
                </a14:m>
                <a:r>
                  <a:rPr lang="en-US" sz="2500" dirty="0"/>
                  <a:t>8</a:t>
                </a:r>
              </a:p>
              <a:p>
                <a:pPr marL="0" indent="0" algn="just">
                  <a:buNone/>
                </a:pPr>
                <a:endParaRPr lang="en-US" sz="2500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85D7F40E-3C5D-6BE0-0587-A8044958AB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47489" y="3842951"/>
                <a:ext cx="5967560" cy="2513399"/>
              </a:xfrm>
              <a:blipFill>
                <a:blip r:embed="rId2"/>
                <a:stretch>
                  <a:fillRect l="-1021" t="-4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9D41DE-EE04-B6FB-28EE-EE79BDA648C6}"/>
              </a:ext>
            </a:extLst>
          </p:cNvPr>
          <p:cNvCxnSpPr/>
          <p:nvPr/>
        </p:nvCxnSpPr>
        <p:spPr>
          <a:xfrm>
            <a:off x="652072" y="1409075"/>
            <a:ext cx="11040256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D2D483-809F-5096-1D6D-55415D9CB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82B322-96CB-310B-660B-E41E0D59CE5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94865A4D-D060-DD08-1192-14ACB86AD146}"/>
              </a:ext>
            </a:extLst>
          </p:cNvPr>
          <p:cNvGrpSpPr/>
          <p:nvPr/>
        </p:nvGrpSpPr>
        <p:grpSpPr>
          <a:xfrm>
            <a:off x="127132" y="1662883"/>
            <a:ext cx="5967561" cy="4751173"/>
            <a:chOff x="293946" y="1662883"/>
            <a:chExt cx="5967561" cy="4751173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1E148BFA-8B66-3E39-1D3A-950FD1424C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3946" y="1662883"/>
              <a:ext cx="5967561" cy="47511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447B25D-5684-7A89-26DB-2C0DA7D08D5C}"/>
                </a:ext>
              </a:extLst>
            </p:cNvPr>
            <p:cNvSpPr/>
            <p:nvPr/>
          </p:nvSpPr>
          <p:spPr>
            <a:xfrm>
              <a:off x="4992130" y="1690688"/>
              <a:ext cx="1155357" cy="348177"/>
            </a:xfrm>
            <a:prstGeom prst="rect">
              <a:avLst/>
            </a:prstGeom>
            <a:solidFill>
              <a:schemeClr val="accent2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F466754-9CB8-2D8D-89AF-73B49943504B}"/>
              </a:ext>
            </a:extLst>
          </p:cNvPr>
          <p:cNvSpPr txBox="1"/>
          <p:nvPr/>
        </p:nvSpPr>
        <p:spPr>
          <a:xfrm>
            <a:off x="6172200" y="1662883"/>
            <a:ext cx="559143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A sport hosting company would like to decide to host a cricket match between India and South Africa based on weather data. Weather data that is available has attributes like outlook, temperature, humidity and wind. And has a decision variable how many hours were played.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330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71589-C5CA-FEFD-A2F9-4D1F51526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3C397DF-9EA5-D28F-2555-DC6F9BF81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375" y="940567"/>
            <a:ext cx="10815250" cy="828575"/>
          </a:xfrm>
        </p:spPr>
        <p:txBody>
          <a:bodyPr>
            <a:normAutofit/>
          </a:bodyPr>
          <a:lstStyle/>
          <a:p>
            <a:pPr algn="just"/>
            <a:r>
              <a:rPr lang="en-US" sz="2500" b="1" u="sng" dirty="0"/>
              <a:t>First iteration</a:t>
            </a:r>
            <a:endParaRPr lang="en-US" sz="25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B01AF6-C939-C1D6-366E-7DDDBE86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50941" y="6505114"/>
            <a:ext cx="2743200" cy="365125"/>
          </a:xfrm>
        </p:spPr>
        <p:txBody>
          <a:bodyPr/>
          <a:lstStyle/>
          <a:p>
            <a:fld id="{B645EB31-1C62-4062-9511-C82C6CC02C60}" type="slidenum">
              <a:rPr lang="en-US" smtClean="0"/>
              <a:t>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2DE832-8496-D65A-A4C9-9295D9CD8BF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97DBC76D-E212-4FEA-9B1D-BE1DAFA163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57897872"/>
                  </p:ext>
                </p:extLst>
              </p:nvPr>
            </p:nvGraphicFramePr>
            <p:xfrm>
              <a:off x="1091959" y="1825625"/>
              <a:ext cx="10008082" cy="4608417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429726">
                      <a:extLst>
                        <a:ext uri="{9D8B030D-6E8A-4147-A177-3AD203B41FA5}">
                          <a16:colId xmlns:a16="http://schemas.microsoft.com/office/drawing/2014/main" val="1241870603"/>
                        </a:ext>
                      </a:extLst>
                    </a:gridCol>
                    <a:gridCol w="1429726">
                      <a:extLst>
                        <a:ext uri="{9D8B030D-6E8A-4147-A177-3AD203B41FA5}">
                          <a16:colId xmlns:a16="http://schemas.microsoft.com/office/drawing/2014/main" val="2094438937"/>
                        </a:ext>
                      </a:extLst>
                    </a:gridCol>
                    <a:gridCol w="1429726">
                      <a:extLst>
                        <a:ext uri="{9D8B030D-6E8A-4147-A177-3AD203B41FA5}">
                          <a16:colId xmlns:a16="http://schemas.microsoft.com/office/drawing/2014/main" val="215282922"/>
                        </a:ext>
                      </a:extLst>
                    </a:gridCol>
                    <a:gridCol w="1429726">
                      <a:extLst>
                        <a:ext uri="{9D8B030D-6E8A-4147-A177-3AD203B41FA5}">
                          <a16:colId xmlns:a16="http://schemas.microsoft.com/office/drawing/2014/main" val="434129711"/>
                        </a:ext>
                      </a:extLst>
                    </a:gridCol>
                    <a:gridCol w="1429726">
                      <a:extLst>
                        <a:ext uri="{9D8B030D-6E8A-4147-A177-3AD203B41FA5}">
                          <a16:colId xmlns:a16="http://schemas.microsoft.com/office/drawing/2014/main" val="3163388895"/>
                        </a:ext>
                      </a:extLst>
                    </a:gridCol>
                    <a:gridCol w="1429726">
                      <a:extLst>
                        <a:ext uri="{9D8B030D-6E8A-4147-A177-3AD203B41FA5}">
                          <a16:colId xmlns:a16="http://schemas.microsoft.com/office/drawing/2014/main" val="678195657"/>
                        </a:ext>
                      </a:extLst>
                    </a:gridCol>
                    <a:gridCol w="1429726">
                      <a:extLst>
                        <a:ext uri="{9D8B030D-6E8A-4147-A177-3AD203B41FA5}">
                          <a16:colId xmlns:a16="http://schemas.microsoft.com/office/drawing/2014/main" val="105249783"/>
                        </a:ext>
                      </a:extLst>
                    </a:gridCol>
                  </a:tblGrid>
                  <a:tr h="870268">
                    <a:tc>
                      <a:txBody>
                        <a:bodyPr/>
                        <a:lstStyle/>
                        <a:p>
                          <a:r>
                            <a:rPr lang="en-US" sz="1700" b="1" dirty="0">
                              <a:solidFill>
                                <a:schemeClr val="bg1"/>
                              </a:solidFill>
                            </a:rPr>
                            <a:t>Category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b="1" dirty="0">
                              <a:solidFill>
                                <a:schemeClr val="bg1"/>
                              </a:solidFill>
                            </a:rPr>
                            <a:t>Subcategory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b="1" dirty="0">
                              <a:solidFill>
                                <a:schemeClr val="bg1"/>
                              </a:solidFill>
                            </a:rPr>
                            <a:t>Count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b="1" dirty="0">
                              <a:solidFill>
                                <a:schemeClr val="bg1"/>
                              </a:solidFill>
                            </a:rPr>
                            <a:t>Subcategory MSE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b="1" dirty="0">
                              <a:solidFill>
                                <a:schemeClr val="bg1"/>
                              </a:solidFill>
                            </a:rPr>
                            <a:t>Subcategory MSE Reduction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b="1" dirty="0">
                              <a:solidFill>
                                <a:schemeClr val="bg1"/>
                              </a:solidFill>
                            </a:rPr>
                            <a:t>Weighted MSE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b="1" dirty="0">
                              <a:solidFill>
                                <a:schemeClr val="bg1"/>
                              </a:solidFill>
                            </a:rPr>
                            <a:t>Weighted MSE Reduction</a:t>
                          </a:r>
                        </a:p>
                      </a:txBody>
                      <a:tcPr marL="87027" marR="87027" marT="43513" marB="43513" anchor="ctr"/>
                    </a:tc>
                    <a:extLst>
                      <a:ext uri="{0D108BD9-81ED-4DB2-BD59-A6C34878D82A}">
                        <a16:rowId xmlns:a16="http://schemas.microsoft.com/office/drawing/2014/main" val="3764581607"/>
                      </a:ext>
                    </a:extLst>
                  </a:tr>
                  <a:tr h="348107">
                    <a:tc rowSpan="3">
                      <a:txBody>
                        <a:bodyPr/>
                        <a:lstStyle/>
                        <a:p>
                          <a:r>
                            <a:rPr lang="en-US" sz="1700" b="1" u="sng" dirty="0"/>
                            <a:t>Outlook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b="1" u="sng" dirty="0"/>
                            <a:t>Overcast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dirty="0"/>
                            <a:t>4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dirty="0"/>
                            <a:t>12.19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b="0" u="none" dirty="0"/>
                            <a:t>86.88-12.19=</a:t>
                          </a:r>
                          <a:r>
                            <a:rPr lang="en-US" sz="1700" b="1" u="sng" dirty="0"/>
                            <a:t>74.69</a:t>
                          </a:r>
                        </a:p>
                      </a:txBody>
                      <a:tcPr marL="87027" marR="87027" marT="43513" marB="43513" anchor="ctr"/>
                    </a:tc>
                    <a:tc rowSpan="3"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14</m:t>
                                  </m:r>
                                </m:den>
                              </m:f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×12.19+</m:t>
                              </m:r>
                              <m:f>
                                <m:f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14</m:t>
                                  </m:r>
                                </m:den>
                              </m:f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×118.16+</m:t>
                              </m:r>
                              <m:f>
                                <m:f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14</m:t>
                                  </m:r>
                                </m:den>
                              </m:f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×60.56=</m:t>
                              </m:r>
                            </m:oMath>
                          </a14:m>
                          <a:r>
                            <a:rPr lang="en-US" sz="1200" b="0" dirty="0">
                              <a:ea typeface="Cambria Math" panose="02040503050406030204" pitchFamily="18" charset="0"/>
                            </a:rPr>
                            <a:t> </a:t>
                          </a:r>
                        </a:p>
                        <a:p>
                          <a:r>
                            <a:rPr lang="en-US" sz="1700" dirty="0"/>
                            <a:t>67.31</a:t>
                          </a:r>
                        </a:p>
                      </a:txBody>
                      <a:tcPr marL="87027" marR="87027" marT="43513" marB="43513" anchor="ctr"/>
                    </a:tc>
                    <a:tc rowSpan="3">
                      <a:txBody>
                        <a:bodyPr/>
                        <a:lstStyle/>
                        <a:p>
                          <a:r>
                            <a:rPr lang="en-US" sz="1700" b="0" u="none" dirty="0"/>
                            <a:t>86.88-67.31=</a:t>
                          </a:r>
                          <a:r>
                            <a:rPr lang="en-US" sz="1700" b="1" u="sng" dirty="0"/>
                            <a:t>19.57</a:t>
                          </a:r>
                        </a:p>
                      </a:txBody>
                      <a:tcPr marL="87027" marR="87027" marT="43513" marB="43513" anchor="ctr"/>
                    </a:tc>
                    <a:extLst>
                      <a:ext uri="{0D108BD9-81ED-4DB2-BD59-A6C34878D82A}">
                        <a16:rowId xmlns:a16="http://schemas.microsoft.com/office/drawing/2014/main" val="3428183726"/>
                      </a:ext>
                    </a:extLst>
                  </a:tr>
                  <a:tr h="348107"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dirty="0"/>
                            <a:t>Rainy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dirty="0"/>
                            <a:t>5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dirty="0"/>
                            <a:t>118.16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b="0" dirty="0"/>
                            <a:t>−31.28</a:t>
                          </a:r>
                        </a:p>
                      </a:txBody>
                      <a:tcPr marL="87027" marR="87027" marT="43513" marB="43513" anchor="ctr"/>
                    </a:tc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87027" marR="87027" marT="43513" marB="43513" anchor="ctr"/>
                    </a:tc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87027" marR="87027" marT="43513" marB="43513" anchor="ctr"/>
                    </a:tc>
                    <a:extLst>
                      <a:ext uri="{0D108BD9-81ED-4DB2-BD59-A6C34878D82A}">
                        <a16:rowId xmlns:a16="http://schemas.microsoft.com/office/drawing/2014/main" val="3025504003"/>
                      </a:ext>
                    </a:extLst>
                  </a:tr>
                  <a:tr h="348107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/>
                            <a:t>Sunny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/>
                            <a:t>5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/>
                            <a:t>60.56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b="0" dirty="0"/>
                            <a:t>26.32</a:t>
                          </a:r>
                        </a:p>
                      </a:txBody>
                      <a:tcPr marL="87027" marR="87027" marT="43513" marB="43513" anchor="ctr"/>
                    </a:tc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87027" marR="87027" marT="43513" marB="43513" anchor="ctr"/>
                    </a:tc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87027" marR="87027" marT="43513" marB="43513" anchor="ctr"/>
                    </a:tc>
                    <a:extLst>
                      <a:ext uri="{0D108BD9-81ED-4DB2-BD59-A6C34878D82A}">
                        <a16:rowId xmlns:a16="http://schemas.microsoft.com/office/drawing/2014/main" val="3046583105"/>
                      </a:ext>
                    </a:extLst>
                  </a:tr>
                  <a:tr h="348107">
                    <a:tc rowSpan="3">
                      <a:txBody>
                        <a:bodyPr/>
                        <a:lstStyle/>
                        <a:p>
                          <a:r>
                            <a:rPr lang="en-US" sz="1700" b="0" dirty="0"/>
                            <a:t>Temperature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dirty="0"/>
                            <a:t>Cool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dirty="0"/>
                            <a:t>4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dirty="0"/>
                            <a:t>110.50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dirty="0"/>
                            <a:t>23.62</a:t>
                          </a:r>
                        </a:p>
                      </a:txBody>
                      <a:tcPr marL="87027" marR="87027" marT="43513" marB="43513" anchor="ctr"/>
                    </a:tc>
                    <a:tc rowSpan="3">
                      <a:txBody>
                        <a:bodyPr/>
                        <a:lstStyle/>
                        <a:p>
                          <a:r>
                            <a:rPr lang="en-US" sz="1700" dirty="0"/>
                            <a:t>79.58</a:t>
                          </a:r>
                        </a:p>
                      </a:txBody>
                      <a:tcPr marL="87027" marR="87027" marT="43513" marB="43513" anchor="ctr"/>
                    </a:tc>
                    <a:tc rowSpan="3">
                      <a:txBody>
                        <a:bodyPr/>
                        <a:lstStyle/>
                        <a:p>
                          <a:r>
                            <a:rPr lang="en-US" sz="1700" b="0" u="none" dirty="0"/>
                            <a:t>86.88-79.58=</a:t>
                          </a:r>
                          <a:r>
                            <a:rPr lang="en-US" sz="1700" b="0" dirty="0"/>
                            <a:t>7.30</a:t>
                          </a:r>
                        </a:p>
                      </a:txBody>
                      <a:tcPr marL="87027" marR="87027" marT="43513" marB="43513" anchor="ctr"/>
                    </a:tc>
                    <a:extLst>
                      <a:ext uri="{0D108BD9-81ED-4DB2-BD59-A6C34878D82A}">
                        <a16:rowId xmlns:a16="http://schemas.microsoft.com/office/drawing/2014/main" val="927492118"/>
                      </a:ext>
                    </a:extLst>
                  </a:tr>
                  <a:tr h="348107"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dirty="0"/>
                            <a:t>Hot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dirty="0"/>
                            <a:t>4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dirty="0"/>
                            <a:t>80.19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dirty="0"/>
                            <a:t>6.69</a:t>
                          </a:r>
                        </a:p>
                      </a:txBody>
                      <a:tcPr marL="87027" marR="87027" marT="43513" marB="43513" anchor="ctr"/>
                    </a:tc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87027" marR="87027" marT="43513" marB="43513" anchor="ctr"/>
                    </a:tc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87027" marR="87027" marT="43513" marB="43513" anchor="ctr"/>
                    </a:tc>
                    <a:extLst>
                      <a:ext uri="{0D108BD9-81ED-4DB2-BD59-A6C34878D82A}">
                        <a16:rowId xmlns:a16="http://schemas.microsoft.com/office/drawing/2014/main" val="1926917254"/>
                      </a:ext>
                    </a:extLst>
                  </a:tr>
                  <a:tr h="348107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/>
                            <a:t>Mild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/>
                            <a:t>6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/>
                            <a:t>58.56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dirty="0"/>
                            <a:t>28.32</a:t>
                          </a:r>
                        </a:p>
                      </a:txBody>
                      <a:tcPr marL="87027" marR="87027" marT="43513" marB="43513" anchor="ctr"/>
                    </a:tc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87027" marR="87027" marT="43513" marB="43513" anchor="ctr"/>
                    </a:tc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87027" marR="87027" marT="43513" marB="43513" anchor="ctr"/>
                    </a:tc>
                    <a:extLst>
                      <a:ext uri="{0D108BD9-81ED-4DB2-BD59-A6C34878D82A}">
                        <a16:rowId xmlns:a16="http://schemas.microsoft.com/office/drawing/2014/main" val="3431896947"/>
                      </a:ext>
                    </a:extLst>
                  </a:tr>
                  <a:tr h="348107">
                    <a:tc rowSpan="2">
                      <a:txBody>
                        <a:bodyPr/>
                        <a:lstStyle/>
                        <a:p>
                          <a:r>
                            <a:rPr lang="en-US" sz="1700" b="0" dirty="0"/>
                            <a:t>Humidity</a:t>
                          </a:r>
                        </a:p>
                      </a:txBody>
                      <a:tcPr marL="87027" marR="87027" marT="43513" marB="43513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/>
                            <a:t>High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/>
                            <a:t>7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/>
                            <a:t>87.67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dirty="0"/>
                            <a:t>-0.79</a:t>
                          </a:r>
                        </a:p>
                      </a:txBody>
                      <a:tcPr marL="87027" marR="87027" marT="43513" marB="43513" anchor="ctr"/>
                    </a:tc>
                    <a:tc rowSpan="2">
                      <a:txBody>
                        <a:bodyPr/>
                        <a:lstStyle/>
                        <a:p>
                          <a:r>
                            <a:rPr lang="en-US" sz="1700" dirty="0"/>
                            <a:t>81.98</a:t>
                          </a:r>
                        </a:p>
                      </a:txBody>
                      <a:tcPr marL="87027" marR="87027" marT="43513" marB="43513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r>
                            <a:rPr lang="en-US" sz="1700" b="0" u="none" dirty="0"/>
                            <a:t>86.88-81.98=</a:t>
                          </a:r>
                          <a:r>
                            <a:rPr lang="en-US" sz="1700" b="0" dirty="0"/>
                            <a:t>4.90</a:t>
                          </a:r>
                        </a:p>
                      </a:txBody>
                      <a:tcPr marL="87027" marR="87027" marT="43513" marB="43513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60231405"/>
                      </a:ext>
                    </a:extLst>
                  </a:tr>
                  <a:tr h="348107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/>
                            <a:t>Normal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/>
                            <a:t>7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dirty="0"/>
                            <a:t>76.29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dirty="0"/>
                            <a:t>10.59</a:t>
                          </a:r>
                        </a:p>
                      </a:txBody>
                      <a:tcPr marL="87027" marR="87027" marT="43513" marB="43513" anchor="ctr"/>
                    </a:tc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87027" marR="87027" marT="43513" marB="43513" anchor="ctr"/>
                    </a:tc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87027" marR="87027" marT="43513" marB="43513" anchor="ctr"/>
                    </a:tc>
                    <a:extLst>
                      <a:ext uri="{0D108BD9-81ED-4DB2-BD59-A6C34878D82A}">
                        <a16:rowId xmlns:a16="http://schemas.microsoft.com/office/drawing/2014/main" val="3756683614"/>
                      </a:ext>
                    </a:extLst>
                  </a:tr>
                  <a:tr h="348107">
                    <a:tc rowSpan="2">
                      <a:txBody>
                        <a:bodyPr/>
                        <a:lstStyle/>
                        <a:p>
                          <a:r>
                            <a:rPr lang="en-US" sz="1700" b="0" dirty="0"/>
                            <a:t>Wind</a:t>
                          </a:r>
                        </a:p>
                      </a:txBody>
                      <a:tcPr marL="87027" marR="87027" marT="43513" marB="43513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/>
                            <a:t>False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/>
                            <a:t>8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/>
                            <a:t>61.98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dirty="0"/>
                            <a:t>24.90</a:t>
                          </a:r>
                        </a:p>
                      </a:txBody>
                      <a:tcPr marL="87027" marR="87027" marT="43513" marB="43513" anchor="ctr"/>
                    </a:tc>
                    <a:tc rowSpan="2">
                      <a:txBody>
                        <a:bodyPr/>
                        <a:lstStyle/>
                        <a:p>
                          <a:r>
                            <a:rPr lang="en-US" sz="1700" dirty="0"/>
                            <a:t>83.51</a:t>
                          </a:r>
                        </a:p>
                      </a:txBody>
                      <a:tcPr marL="87027" marR="87027" marT="43513" marB="43513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rowSpan="2">
                      <a:txBody>
                        <a:bodyPr/>
                        <a:lstStyle/>
                        <a:p>
                          <a:r>
                            <a:rPr lang="en-US" sz="1700" b="0" u="none" dirty="0"/>
                            <a:t>86.88-83.51=</a:t>
                          </a:r>
                          <a:r>
                            <a:rPr lang="en-US" sz="1700" b="0" dirty="0"/>
                            <a:t>3.37</a:t>
                          </a:r>
                        </a:p>
                      </a:txBody>
                      <a:tcPr marL="87027" marR="87027" marT="43513" marB="43513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541021445"/>
                      </a:ext>
                    </a:extLst>
                  </a:tr>
                  <a:tr h="348107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/>
                            <a:t>True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/>
                            <a:t>6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/>
                            <a:t>112.22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dirty="0"/>
                            <a:t>−25.34</a:t>
                          </a:r>
                        </a:p>
                      </a:txBody>
                      <a:tcPr marL="87027" marR="87027" marT="43513" marB="43513" anchor="ctr"/>
                    </a:tc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87027" marR="87027" marT="43513" marB="43513" anchor="ctr"/>
                    </a:tc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87027" marR="87027" marT="43513" marB="43513" anchor="ctr"/>
                    </a:tc>
                    <a:extLst>
                      <a:ext uri="{0D108BD9-81ED-4DB2-BD59-A6C34878D82A}">
                        <a16:rowId xmlns:a16="http://schemas.microsoft.com/office/drawing/2014/main" val="18500509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97DBC76D-E212-4FEA-9B1D-BE1DAFA163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57897872"/>
                  </p:ext>
                </p:extLst>
              </p:nvPr>
            </p:nvGraphicFramePr>
            <p:xfrm>
              <a:off x="1091959" y="1825625"/>
              <a:ext cx="10008082" cy="4608417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429726">
                      <a:extLst>
                        <a:ext uri="{9D8B030D-6E8A-4147-A177-3AD203B41FA5}">
                          <a16:colId xmlns:a16="http://schemas.microsoft.com/office/drawing/2014/main" val="1241870603"/>
                        </a:ext>
                      </a:extLst>
                    </a:gridCol>
                    <a:gridCol w="1429726">
                      <a:extLst>
                        <a:ext uri="{9D8B030D-6E8A-4147-A177-3AD203B41FA5}">
                          <a16:colId xmlns:a16="http://schemas.microsoft.com/office/drawing/2014/main" val="2094438937"/>
                        </a:ext>
                      </a:extLst>
                    </a:gridCol>
                    <a:gridCol w="1429726">
                      <a:extLst>
                        <a:ext uri="{9D8B030D-6E8A-4147-A177-3AD203B41FA5}">
                          <a16:colId xmlns:a16="http://schemas.microsoft.com/office/drawing/2014/main" val="215282922"/>
                        </a:ext>
                      </a:extLst>
                    </a:gridCol>
                    <a:gridCol w="1429726">
                      <a:extLst>
                        <a:ext uri="{9D8B030D-6E8A-4147-A177-3AD203B41FA5}">
                          <a16:colId xmlns:a16="http://schemas.microsoft.com/office/drawing/2014/main" val="434129711"/>
                        </a:ext>
                      </a:extLst>
                    </a:gridCol>
                    <a:gridCol w="1429726">
                      <a:extLst>
                        <a:ext uri="{9D8B030D-6E8A-4147-A177-3AD203B41FA5}">
                          <a16:colId xmlns:a16="http://schemas.microsoft.com/office/drawing/2014/main" val="3163388895"/>
                        </a:ext>
                      </a:extLst>
                    </a:gridCol>
                    <a:gridCol w="1429726">
                      <a:extLst>
                        <a:ext uri="{9D8B030D-6E8A-4147-A177-3AD203B41FA5}">
                          <a16:colId xmlns:a16="http://schemas.microsoft.com/office/drawing/2014/main" val="678195657"/>
                        </a:ext>
                      </a:extLst>
                    </a:gridCol>
                    <a:gridCol w="1429726">
                      <a:extLst>
                        <a:ext uri="{9D8B030D-6E8A-4147-A177-3AD203B41FA5}">
                          <a16:colId xmlns:a16="http://schemas.microsoft.com/office/drawing/2014/main" val="105249783"/>
                        </a:ext>
                      </a:extLst>
                    </a:gridCol>
                  </a:tblGrid>
                  <a:tr h="870268">
                    <a:tc>
                      <a:txBody>
                        <a:bodyPr/>
                        <a:lstStyle/>
                        <a:p>
                          <a:r>
                            <a:rPr lang="en-US" sz="1700" b="1" dirty="0">
                              <a:solidFill>
                                <a:schemeClr val="bg1"/>
                              </a:solidFill>
                            </a:rPr>
                            <a:t>Category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b="1" dirty="0">
                              <a:solidFill>
                                <a:schemeClr val="bg1"/>
                              </a:solidFill>
                            </a:rPr>
                            <a:t>Subcategory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b="1" dirty="0">
                              <a:solidFill>
                                <a:schemeClr val="bg1"/>
                              </a:solidFill>
                            </a:rPr>
                            <a:t>Count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b="1" dirty="0">
                              <a:solidFill>
                                <a:schemeClr val="bg1"/>
                              </a:solidFill>
                            </a:rPr>
                            <a:t>Subcategory MSE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b="1" dirty="0">
                              <a:solidFill>
                                <a:schemeClr val="bg1"/>
                              </a:solidFill>
                            </a:rPr>
                            <a:t>Subcategory MSE Reduction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b="1" dirty="0">
                              <a:solidFill>
                                <a:schemeClr val="bg1"/>
                              </a:solidFill>
                            </a:rPr>
                            <a:t>Weighted MSE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b="1" dirty="0">
                              <a:solidFill>
                                <a:schemeClr val="bg1"/>
                              </a:solidFill>
                            </a:rPr>
                            <a:t>Weighted MSE Reduction</a:t>
                          </a:r>
                        </a:p>
                      </a:txBody>
                      <a:tcPr marL="87027" marR="87027" marT="43513" marB="43513" anchor="ctr"/>
                    </a:tc>
                    <a:extLst>
                      <a:ext uri="{0D108BD9-81ED-4DB2-BD59-A6C34878D82A}">
                        <a16:rowId xmlns:a16="http://schemas.microsoft.com/office/drawing/2014/main" val="3764581607"/>
                      </a:ext>
                    </a:extLst>
                  </a:tr>
                  <a:tr h="605186">
                    <a:tc rowSpan="3">
                      <a:txBody>
                        <a:bodyPr/>
                        <a:lstStyle/>
                        <a:p>
                          <a:r>
                            <a:rPr lang="en-US" sz="1700" b="1" u="sng" dirty="0"/>
                            <a:t>Outlook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b="1" u="sng" dirty="0"/>
                            <a:t>Overcast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dirty="0"/>
                            <a:t>4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dirty="0"/>
                            <a:t>12.19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b="0" u="none" dirty="0"/>
                            <a:t>86.88-12.19=</a:t>
                          </a:r>
                          <a:r>
                            <a:rPr lang="en-US" sz="1700" b="1" u="sng" dirty="0"/>
                            <a:t>74.69</a:t>
                          </a:r>
                        </a:p>
                      </a:txBody>
                      <a:tcPr marL="87027" marR="87027" marT="43513" marB="43513" anchor="ctr"/>
                    </a:tc>
                    <a:tc row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7027" marR="87027" marT="43513" marB="43513" anchor="ctr">
                        <a:blipFill>
                          <a:blip r:embed="rId3"/>
                          <a:stretch>
                            <a:fillRect l="-501709" t="-67757" r="-101282" b="-193458"/>
                          </a:stretch>
                        </a:blipFill>
                      </a:tcPr>
                    </a:tc>
                    <a:tc rowSpan="3">
                      <a:txBody>
                        <a:bodyPr/>
                        <a:lstStyle/>
                        <a:p>
                          <a:r>
                            <a:rPr lang="en-US" sz="1700" b="0" u="none" dirty="0"/>
                            <a:t>86.88-67.31=</a:t>
                          </a:r>
                          <a:r>
                            <a:rPr lang="en-US" sz="1700" b="1" u="sng" dirty="0"/>
                            <a:t>19.57</a:t>
                          </a:r>
                        </a:p>
                      </a:txBody>
                      <a:tcPr marL="87027" marR="87027" marT="43513" marB="43513" anchor="ctr"/>
                    </a:tc>
                    <a:extLst>
                      <a:ext uri="{0D108BD9-81ED-4DB2-BD59-A6C34878D82A}">
                        <a16:rowId xmlns:a16="http://schemas.microsoft.com/office/drawing/2014/main" val="3428183726"/>
                      </a:ext>
                    </a:extLst>
                  </a:tr>
                  <a:tr h="348107"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dirty="0"/>
                            <a:t>Rainy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dirty="0"/>
                            <a:t>5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dirty="0"/>
                            <a:t>118.16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b="0" dirty="0"/>
                            <a:t>−31.28</a:t>
                          </a:r>
                        </a:p>
                      </a:txBody>
                      <a:tcPr marL="87027" marR="87027" marT="43513" marB="43513" anchor="ctr"/>
                    </a:tc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87027" marR="87027" marT="43513" marB="43513" anchor="ctr"/>
                    </a:tc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87027" marR="87027" marT="43513" marB="43513" anchor="ctr"/>
                    </a:tc>
                    <a:extLst>
                      <a:ext uri="{0D108BD9-81ED-4DB2-BD59-A6C34878D82A}">
                        <a16:rowId xmlns:a16="http://schemas.microsoft.com/office/drawing/2014/main" val="3025504003"/>
                      </a:ext>
                    </a:extLst>
                  </a:tr>
                  <a:tr h="348107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/>
                            <a:t>Sunny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/>
                            <a:t>5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/>
                            <a:t>60.56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b="0" dirty="0"/>
                            <a:t>26.32</a:t>
                          </a:r>
                        </a:p>
                      </a:txBody>
                      <a:tcPr marL="87027" marR="87027" marT="43513" marB="43513" anchor="ctr"/>
                    </a:tc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87027" marR="87027" marT="43513" marB="43513" anchor="ctr"/>
                    </a:tc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87027" marR="87027" marT="43513" marB="43513" anchor="ctr"/>
                    </a:tc>
                    <a:extLst>
                      <a:ext uri="{0D108BD9-81ED-4DB2-BD59-A6C34878D82A}">
                        <a16:rowId xmlns:a16="http://schemas.microsoft.com/office/drawing/2014/main" val="3046583105"/>
                      </a:ext>
                    </a:extLst>
                  </a:tr>
                  <a:tr h="348107">
                    <a:tc rowSpan="3">
                      <a:txBody>
                        <a:bodyPr/>
                        <a:lstStyle/>
                        <a:p>
                          <a:r>
                            <a:rPr lang="en-US" sz="1700" b="0" dirty="0"/>
                            <a:t>Temperature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dirty="0"/>
                            <a:t>Cool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dirty="0"/>
                            <a:t>4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dirty="0"/>
                            <a:t>110.50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dirty="0"/>
                            <a:t>23.62</a:t>
                          </a:r>
                        </a:p>
                      </a:txBody>
                      <a:tcPr marL="87027" marR="87027" marT="43513" marB="43513" anchor="ctr"/>
                    </a:tc>
                    <a:tc rowSpan="3">
                      <a:txBody>
                        <a:bodyPr/>
                        <a:lstStyle/>
                        <a:p>
                          <a:r>
                            <a:rPr lang="en-US" sz="1700" dirty="0"/>
                            <a:t>79.58</a:t>
                          </a:r>
                        </a:p>
                      </a:txBody>
                      <a:tcPr marL="87027" marR="87027" marT="43513" marB="43513" anchor="ctr"/>
                    </a:tc>
                    <a:tc rowSpan="3">
                      <a:txBody>
                        <a:bodyPr/>
                        <a:lstStyle/>
                        <a:p>
                          <a:r>
                            <a:rPr lang="en-US" sz="1700" b="0" u="none" dirty="0"/>
                            <a:t>86.88-79.58=</a:t>
                          </a:r>
                          <a:r>
                            <a:rPr lang="en-US" sz="1700" b="0" dirty="0"/>
                            <a:t>7.30</a:t>
                          </a:r>
                        </a:p>
                      </a:txBody>
                      <a:tcPr marL="87027" marR="87027" marT="43513" marB="43513" anchor="ctr"/>
                    </a:tc>
                    <a:extLst>
                      <a:ext uri="{0D108BD9-81ED-4DB2-BD59-A6C34878D82A}">
                        <a16:rowId xmlns:a16="http://schemas.microsoft.com/office/drawing/2014/main" val="927492118"/>
                      </a:ext>
                    </a:extLst>
                  </a:tr>
                  <a:tr h="348107"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dirty="0"/>
                            <a:t>Hot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dirty="0"/>
                            <a:t>4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dirty="0"/>
                            <a:t>80.19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dirty="0"/>
                            <a:t>6.69</a:t>
                          </a:r>
                        </a:p>
                      </a:txBody>
                      <a:tcPr marL="87027" marR="87027" marT="43513" marB="43513" anchor="ctr"/>
                    </a:tc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87027" marR="87027" marT="43513" marB="43513" anchor="ctr"/>
                    </a:tc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87027" marR="87027" marT="43513" marB="43513" anchor="ctr"/>
                    </a:tc>
                    <a:extLst>
                      <a:ext uri="{0D108BD9-81ED-4DB2-BD59-A6C34878D82A}">
                        <a16:rowId xmlns:a16="http://schemas.microsoft.com/office/drawing/2014/main" val="1926917254"/>
                      </a:ext>
                    </a:extLst>
                  </a:tr>
                  <a:tr h="348107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/>
                            <a:t>Mild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/>
                            <a:t>6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/>
                            <a:t>58.56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dirty="0"/>
                            <a:t>28.32</a:t>
                          </a:r>
                        </a:p>
                      </a:txBody>
                      <a:tcPr marL="87027" marR="87027" marT="43513" marB="43513" anchor="ctr"/>
                    </a:tc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87027" marR="87027" marT="43513" marB="43513" anchor="ctr"/>
                    </a:tc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87027" marR="87027" marT="43513" marB="43513" anchor="ctr"/>
                    </a:tc>
                    <a:extLst>
                      <a:ext uri="{0D108BD9-81ED-4DB2-BD59-A6C34878D82A}">
                        <a16:rowId xmlns:a16="http://schemas.microsoft.com/office/drawing/2014/main" val="3431896947"/>
                      </a:ext>
                    </a:extLst>
                  </a:tr>
                  <a:tr h="348107">
                    <a:tc rowSpan="2">
                      <a:txBody>
                        <a:bodyPr/>
                        <a:lstStyle/>
                        <a:p>
                          <a:r>
                            <a:rPr lang="en-US" sz="1700" b="0" dirty="0"/>
                            <a:t>Humidity</a:t>
                          </a:r>
                        </a:p>
                      </a:txBody>
                      <a:tcPr marL="87027" marR="87027" marT="43513" marB="43513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/>
                            <a:t>High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/>
                            <a:t>7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/>
                            <a:t>87.67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dirty="0"/>
                            <a:t>-0.79</a:t>
                          </a:r>
                        </a:p>
                      </a:txBody>
                      <a:tcPr marL="87027" marR="87027" marT="43513" marB="43513" anchor="ctr"/>
                    </a:tc>
                    <a:tc rowSpan="2">
                      <a:txBody>
                        <a:bodyPr/>
                        <a:lstStyle/>
                        <a:p>
                          <a:r>
                            <a:rPr lang="en-US" sz="1700" dirty="0"/>
                            <a:t>81.98</a:t>
                          </a:r>
                        </a:p>
                      </a:txBody>
                      <a:tcPr marL="87027" marR="87027" marT="43513" marB="43513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r>
                            <a:rPr lang="en-US" sz="1700" b="0" u="none" dirty="0"/>
                            <a:t>86.88-81.98=</a:t>
                          </a:r>
                          <a:r>
                            <a:rPr lang="en-US" sz="1700" b="0" dirty="0"/>
                            <a:t>4.90</a:t>
                          </a:r>
                        </a:p>
                      </a:txBody>
                      <a:tcPr marL="87027" marR="87027" marT="43513" marB="43513"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60231405"/>
                      </a:ext>
                    </a:extLst>
                  </a:tr>
                  <a:tr h="348107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/>
                            <a:t>Normal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/>
                            <a:t>7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dirty="0"/>
                            <a:t>76.29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dirty="0"/>
                            <a:t>10.59</a:t>
                          </a:r>
                        </a:p>
                      </a:txBody>
                      <a:tcPr marL="87027" marR="87027" marT="43513" marB="43513" anchor="ctr"/>
                    </a:tc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87027" marR="87027" marT="43513" marB="43513" anchor="ctr"/>
                    </a:tc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87027" marR="87027" marT="43513" marB="43513" anchor="ctr"/>
                    </a:tc>
                    <a:extLst>
                      <a:ext uri="{0D108BD9-81ED-4DB2-BD59-A6C34878D82A}">
                        <a16:rowId xmlns:a16="http://schemas.microsoft.com/office/drawing/2014/main" val="3756683614"/>
                      </a:ext>
                    </a:extLst>
                  </a:tr>
                  <a:tr h="348107">
                    <a:tc rowSpan="2">
                      <a:txBody>
                        <a:bodyPr/>
                        <a:lstStyle/>
                        <a:p>
                          <a:r>
                            <a:rPr lang="en-US" sz="1700" b="0" dirty="0"/>
                            <a:t>Wind</a:t>
                          </a:r>
                        </a:p>
                      </a:txBody>
                      <a:tcPr marL="87027" marR="87027" marT="43513" marB="43513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/>
                            <a:t>False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/>
                            <a:t>8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/>
                            <a:t>61.98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dirty="0"/>
                            <a:t>24.90</a:t>
                          </a:r>
                        </a:p>
                      </a:txBody>
                      <a:tcPr marL="87027" marR="87027" marT="43513" marB="43513" anchor="ctr"/>
                    </a:tc>
                    <a:tc rowSpan="2">
                      <a:txBody>
                        <a:bodyPr/>
                        <a:lstStyle/>
                        <a:p>
                          <a:r>
                            <a:rPr lang="en-US" sz="1700" dirty="0"/>
                            <a:t>83.51</a:t>
                          </a:r>
                        </a:p>
                      </a:txBody>
                      <a:tcPr marL="87027" marR="87027" marT="43513" marB="43513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rowSpan="2">
                      <a:txBody>
                        <a:bodyPr/>
                        <a:lstStyle/>
                        <a:p>
                          <a:r>
                            <a:rPr lang="en-US" sz="1700" b="0" u="none" dirty="0"/>
                            <a:t>86.88-83.51=</a:t>
                          </a:r>
                          <a:r>
                            <a:rPr lang="en-US" sz="1700" b="0" dirty="0"/>
                            <a:t>3.37</a:t>
                          </a:r>
                        </a:p>
                      </a:txBody>
                      <a:tcPr marL="87027" marR="87027" marT="43513" marB="43513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541021445"/>
                      </a:ext>
                    </a:extLst>
                  </a:tr>
                  <a:tr h="348107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/>
                            <a:t>True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/>
                            <a:t>6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/>
                            <a:t>112.22</a:t>
                          </a:r>
                        </a:p>
                      </a:txBody>
                      <a:tcPr marL="87027" marR="87027" marT="43513" marB="435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700" dirty="0"/>
                            <a:t>−25.34</a:t>
                          </a:r>
                        </a:p>
                      </a:txBody>
                      <a:tcPr marL="87027" marR="87027" marT="43513" marB="43513" anchor="ctr"/>
                    </a:tc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87027" marR="87027" marT="43513" marB="43513" anchor="ctr"/>
                    </a:tc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87027" marR="87027" marT="43513" marB="43513" anchor="ctr"/>
                    </a:tc>
                    <a:extLst>
                      <a:ext uri="{0D108BD9-81ED-4DB2-BD59-A6C34878D82A}">
                        <a16:rowId xmlns:a16="http://schemas.microsoft.com/office/drawing/2014/main" val="185005098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78311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8B9D0-44A2-3F1C-9B3E-862F44D4F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F0C2C397-7FB3-ACC6-F948-0B1EC7E475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47489" y="1720593"/>
                <a:ext cx="5967560" cy="4635757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US" sz="2500" b="0" dirty="0"/>
              </a:p>
              <a:p>
                <a:pPr marL="0" indent="0" algn="just">
                  <a:buNone/>
                </a:pPr>
                <a:endParaRPr lang="en-US" sz="2500" b="0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3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25+30+45+…+48+30</m:t>
                          </m:r>
                        </m:num>
                        <m:den>
                          <m:r>
                            <a:rPr lang="en-U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sz="23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=37.2</m:t>
                      </m:r>
                    </m:oMath>
                  </m:oMathPara>
                </a14:m>
                <a:endParaRPr lang="en-US" sz="2300" dirty="0"/>
              </a:p>
              <a:p>
                <a:pPr marL="0" indent="0" algn="just">
                  <a:buNone/>
                </a:pPr>
                <a:endParaRPr lang="en-US" sz="2300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500" b="0" i="0" smtClean="0">
                              <a:latin typeface="Cambria Math" panose="02040503050406030204" pitchFamily="18" charset="0"/>
                            </a:rPr>
                            <m:t>MSE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500" b="0" i="0" smtClean="0">
                              <a:latin typeface="Cambria Math" panose="02040503050406030204" pitchFamily="18" charset="0"/>
                            </a:rPr>
                            <m:t>hour</m:t>
                          </m:r>
                        </m:sub>
                      </m:sSub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=93.36</m:t>
                      </m:r>
                    </m:oMath>
                  </m:oMathPara>
                </a14:m>
                <a:endParaRPr lang="en-US" sz="2500" dirty="0"/>
              </a:p>
              <a:p>
                <a:pPr marL="0" indent="0" algn="just">
                  <a:buNone/>
                </a:pPr>
                <a:endParaRPr lang="en-US" sz="2500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F0C2C397-7FB3-ACC6-F948-0B1EC7E475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47489" y="1720593"/>
                <a:ext cx="5967560" cy="463575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20A1FF-C21E-A32B-99C0-49B184BF9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03F372-58B0-1518-888E-021BC5CEBC7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00EEE0F6-E088-73CF-DCE5-AD1D12F7A88B}"/>
              </a:ext>
            </a:extLst>
          </p:cNvPr>
          <p:cNvSpPr txBox="1">
            <a:spLocks/>
          </p:cNvSpPr>
          <p:nvPr/>
        </p:nvSpPr>
        <p:spPr>
          <a:xfrm>
            <a:off x="688375" y="693368"/>
            <a:ext cx="10815250" cy="828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500" b="1" u="sng"/>
              <a:t>Second iteration</a:t>
            </a:r>
            <a:r>
              <a:rPr lang="en-US" sz="2500"/>
              <a:t>: Outlook != Overcast</a:t>
            </a:r>
            <a:endParaRPr lang="en-US" sz="25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88FF43B-4B0A-7057-4882-FAAFA38AC1F9}"/>
              </a:ext>
            </a:extLst>
          </p:cNvPr>
          <p:cNvGrpSpPr/>
          <p:nvPr/>
        </p:nvGrpSpPr>
        <p:grpSpPr>
          <a:xfrm>
            <a:off x="497836" y="1662883"/>
            <a:ext cx="5967561" cy="4751173"/>
            <a:chOff x="127132" y="1662883"/>
            <a:chExt cx="5967561" cy="475117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C85F64B-275A-2A9D-2A73-E26779AF4C62}"/>
                </a:ext>
              </a:extLst>
            </p:cNvPr>
            <p:cNvGrpSpPr/>
            <p:nvPr/>
          </p:nvGrpSpPr>
          <p:grpSpPr>
            <a:xfrm>
              <a:off x="127132" y="1662883"/>
              <a:ext cx="5967561" cy="4751173"/>
              <a:chOff x="293946" y="1662883"/>
              <a:chExt cx="5967561" cy="4751173"/>
            </a:xfrm>
          </p:grpSpPr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92568BB1-BBBB-AEE9-C918-EC7AC741BCB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3946" y="1662883"/>
                <a:ext cx="5967561" cy="475117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97291475-5219-67D3-0F7A-266E1E114DA4}"/>
                  </a:ext>
                </a:extLst>
              </p:cNvPr>
              <p:cNvSpPr/>
              <p:nvPr/>
            </p:nvSpPr>
            <p:spPr>
              <a:xfrm>
                <a:off x="4992130" y="1690688"/>
                <a:ext cx="1155357" cy="348177"/>
              </a:xfrm>
              <a:prstGeom prst="rect">
                <a:avLst/>
              </a:prstGeom>
              <a:solidFill>
                <a:schemeClr val="accent2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BB20190-000F-B128-D264-588A6233E338}"/>
                </a:ext>
              </a:extLst>
            </p:cNvPr>
            <p:cNvCxnSpPr>
              <a:cxnSpLocks/>
            </p:cNvCxnSpPr>
            <p:nvPr/>
          </p:nvCxnSpPr>
          <p:spPr>
            <a:xfrm>
              <a:off x="203886" y="2792627"/>
              <a:ext cx="5708822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C85C457-5AA3-CD27-0F90-F167DD90624F}"/>
                </a:ext>
              </a:extLst>
            </p:cNvPr>
            <p:cNvCxnSpPr>
              <a:cxnSpLocks/>
            </p:cNvCxnSpPr>
            <p:nvPr/>
          </p:nvCxnSpPr>
          <p:spPr>
            <a:xfrm>
              <a:off x="271851" y="4032422"/>
              <a:ext cx="5708822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1FDA8C4-782F-7AAD-BDDF-227406BC5371}"/>
                </a:ext>
              </a:extLst>
            </p:cNvPr>
            <p:cNvCxnSpPr>
              <a:cxnSpLocks/>
            </p:cNvCxnSpPr>
            <p:nvPr/>
          </p:nvCxnSpPr>
          <p:spPr>
            <a:xfrm>
              <a:off x="203886" y="5568778"/>
              <a:ext cx="5708822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4441925-0550-FB35-0B3E-1D6312EC65A5}"/>
                </a:ext>
              </a:extLst>
            </p:cNvPr>
            <p:cNvCxnSpPr>
              <a:cxnSpLocks/>
            </p:cNvCxnSpPr>
            <p:nvPr/>
          </p:nvCxnSpPr>
          <p:spPr>
            <a:xfrm>
              <a:off x="203886" y="5875637"/>
              <a:ext cx="5708822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52692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08591-7F12-D638-290C-044ECC9B6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3400284-5045-79AD-6F95-4C8D8FD15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375" y="1113496"/>
            <a:ext cx="10815250" cy="828575"/>
          </a:xfrm>
        </p:spPr>
        <p:txBody>
          <a:bodyPr>
            <a:normAutofit/>
          </a:bodyPr>
          <a:lstStyle/>
          <a:p>
            <a:pPr algn="just"/>
            <a:r>
              <a:rPr lang="en-US" sz="2500" b="1" u="sng" dirty="0"/>
              <a:t>Second iteration</a:t>
            </a:r>
            <a:r>
              <a:rPr lang="en-US" sz="2500" dirty="0"/>
              <a:t>: Outlook != Overcast (contd.)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F7F7B2-BE6C-81CE-0C6A-D3F0DFA7A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50941" y="6505114"/>
            <a:ext cx="2743200" cy="365125"/>
          </a:xfrm>
        </p:spPr>
        <p:txBody>
          <a:bodyPr/>
          <a:lstStyle/>
          <a:p>
            <a:fld id="{B645EB31-1C62-4062-9511-C82C6CC02C60}" type="slidenum">
              <a:rPr lang="en-US" smtClean="0"/>
              <a:t>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898BA7-921A-F775-F1BC-05BECDB3139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F1A7E62-3C41-2EC8-722B-16C1D98854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9979818"/>
              </p:ext>
            </p:extLst>
          </p:nvPr>
        </p:nvGraphicFramePr>
        <p:xfrm>
          <a:off x="838199" y="1898174"/>
          <a:ext cx="10515603" cy="42062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345080197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022029297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525910554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294960308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044812878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378945116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725797257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r>
                        <a:rPr lang="en-US" sz="1800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Subcategory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Subcategory 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MSE Reduction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Weighted 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Weighted MSE Reduction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7289421"/>
                  </a:ext>
                </a:extLst>
              </a:tr>
              <a:tr h="365760">
                <a:tc rowSpan="2">
                  <a:txBody>
                    <a:bodyPr/>
                    <a:lstStyle/>
                    <a:p>
                      <a:r>
                        <a:rPr lang="en-US" sz="1800" dirty="0"/>
                        <a:t>Outlook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Rainy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118.16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−24.80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r>
                        <a:rPr lang="en-US" sz="1800" dirty="0"/>
                        <a:t>89.36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800" b="0" dirty="0"/>
                        <a:t>4.00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035909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Sunny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60.56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32.80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5215669"/>
                  </a:ext>
                </a:extLst>
              </a:tr>
              <a:tr h="365760">
                <a:tc rowSpan="3">
                  <a:txBody>
                    <a:bodyPr/>
                    <a:lstStyle/>
                    <a:p>
                      <a:r>
                        <a:rPr lang="en-US" sz="1800" b="1" u="sng" dirty="0"/>
                        <a:t>Temperature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140.22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−46.86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r>
                        <a:rPr lang="en-US" sz="1800" dirty="0"/>
                        <a:t>68.00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sz="1800" b="1" u="sng" dirty="0"/>
                        <a:t>25.36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27996274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1" u="sng" dirty="0"/>
                        <a:t>Hot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6.25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1" u="sng" dirty="0"/>
                        <a:t>87.11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3994973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49.36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44.00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6549692"/>
                  </a:ext>
                </a:extLst>
              </a:tr>
              <a:tr h="365760">
                <a:tc rowSpan="2">
                  <a:txBody>
                    <a:bodyPr/>
                    <a:lstStyle/>
                    <a:p>
                      <a:r>
                        <a:rPr lang="en-US" sz="1800" dirty="0"/>
                        <a:t>Humidity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46.00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47.36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r>
                        <a:rPr lang="en-US" sz="1800" dirty="0"/>
                        <a:t>75.72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800" dirty="0"/>
                        <a:t>17.64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7863094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105.44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−12.08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6140064"/>
                  </a:ext>
                </a:extLst>
              </a:tr>
              <a:tr h="365760">
                <a:tc rowSpan="2">
                  <a:txBody>
                    <a:bodyPr/>
                    <a:lstStyle/>
                    <a:p>
                      <a:r>
                        <a:rPr lang="en-US" sz="1800" dirty="0"/>
                        <a:t>Wind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76.47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16.89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r>
                        <a:rPr lang="en-US" sz="1800" dirty="0"/>
                        <a:t>80.16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800" dirty="0"/>
                        <a:t>13.20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268972684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85.69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7.67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40690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1985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57D91-8085-5D8C-426B-AABB2E035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A3E579D9-2658-0590-BEBB-05F6325EAA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47489" y="1720593"/>
                <a:ext cx="5967560" cy="4635757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sz="2500" b="0" dirty="0"/>
              </a:p>
              <a:p>
                <a:pPr marL="0" indent="0" algn="just">
                  <a:buNone/>
                </a:pPr>
                <a:endParaRPr lang="en-US" sz="2500" b="0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3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46+43+52+44</m:t>
                          </m:r>
                        </m:num>
                        <m:den>
                          <m:r>
                            <a:rPr lang="en-US" sz="23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3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=46.25</m:t>
                      </m:r>
                    </m:oMath>
                  </m:oMathPara>
                </a14:m>
                <a:endParaRPr lang="en-US" sz="2300" dirty="0"/>
              </a:p>
              <a:p>
                <a:pPr marL="0" indent="0" algn="just">
                  <a:buNone/>
                </a:pPr>
                <a:endParaRPr lang="en-US" sz="2300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500" b="0" i="0" smtClean="0">
                              <a:latin typeface="Cambria Math" panose="02040503050406030204" pitchFamily="18" charset="0"/>
                            </a:rPr>
                            <m:t>MSE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500" b="0" i="0" smtClean="0">
                              <a:latin typeface="Cambria Math" panose="02040503050406030204" pitchFamily="18" charset="0"/>
                            </a:rPr>
                            <m:t>hour</m:t>
                          </m:r>
                        </m:sub>
                      </m:sSub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sz="2500" b="0" i="1" smtClean="0">
                          <a:latin typeface="Cambria Math" panose="02040503050406030204" pitchFamily="18" charset="0"/>
                        </a:rPr>
                        <m:t>=12.19</m:t>
                      </m:r>
                    </m:oMath>
                  </m:oMathPara>
                </a14:m>
                <a:endParaRPr lang="en-US" sz="2500" dirty="0"/>
              </a:p>
              <a:p>
                <a:pPr marL="0" indent="0" algn="just">
                  <a:buNone/>
                </a:pPr>
                <a:endParaRPr lang="en-US" sz="2500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A3E579D9-2658-0590-BEBB-05F6325EAA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47489" y="1720593"/>
                <a:ext cx="5967560" cy="463575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58DC58-5054-CDCE-8648-2684E462A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5EB31-1C62-4062-9511-C82C6CC02C60}" type="slidenum">
              <a:rPr lang="en-US" smtClean="0"/>
              <a:t>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62FEC1-7668-52A1-0FA9-9465BB9AC10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3DDBC41F-7CEB-EF3A-ACC9-005DF4A8ABFC}"/>
              </a:ext>
            </a:extLst>
          </p:cNvPr>
          <p:cNvSpPr txBox="1">
            <a:spLocks/>
          </p:cNvSpPr>
          <p:nvPr/>
        </p:nvSpPr>
        <p:spPr>
          <a:xfrm>
            <a:off x="688375" y="693368"/>
            <a:ext cx="10815250" cy="828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500" b="1" u="sng" dirty="0"/>
              <a:t>Second iteration</a:t>
            </a:r>
            <a:r>
              <a:rPr lang="en-US" sz="2500" dirty="0"/>
              <a:t>: Outlook == Overcast (contd.)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0E0BA5C-F7DB-F70D-86DB-37FBA60BAFD8}"/>
              </a:ext>
            </a:extLst>
          </p:cNvPr>
          <p:cNvGrpSpPr/>
          <p:nvPr/>
        </p:nvGrpSpPr>
        <p:grpSpPr>
          <a:xfrm>
            <a:off x="497834" y="1662883"/>
            <a:ext cx="5967561" cy="4751173"/>
            <a:chOff x="127132" y="1662883"/>
            <a:chExt cx="5967561" cy="475117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B8B3C1A-C092-0D49-E310-52B3F118DF1B}"/>
                </a:ext>
              </a:extLst>
            </p:cNvPr>
            <p:cNvGrpSpPr/>
            <p:nvPr/>
          </p:nvGrpSpPr>
          <p:grpSpPr>
            <a:xfrm>
              <a:off x="127132" y="1662883"/>
              <a:ext cx="5967561" cy="4751173"/>
              <a:chOff x="293946" y="1662883"/>
              <a:chExt cx="5967561" cy="4751173"/>
            </a:xfrm>
          </p:grpSpPr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E7CDE107-6763-C50E-962C-DEC7154CF14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3946" y="1662883"/>
                <a:ext cx="5967561" cy="475117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1068521-60CD-4921-1B7C-D248AE977711}"/>
                  </a:ext>
                </a:extLst>
              </p:cNvPr>
              <p:cNvSpPr/>
              <p:nvPr/>
            </p:nvSpPr>
            <p:spPr>
              <a:xfrm>
                <a:off x="4992130" y="1690688"/>
                <a:ext cx="1155357" cy="348177"/>
              </a:xfrm>
              <a:prstGeom prst="rect">
                <a:avLst/>
              </a:prstGeom>
              <a:solidFill>
                <a:schemeClr val="accent2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BA7BC48-4A46-959A-4A9A-51E2CDAC89BC}"/>
                </a:ext>
              </a:extLst>
            </p:cNvPr>
            <p:cNvCxnSpPr>
              <a:cxnSpLocks/>
            </p:cNvCxnSpPr>
            <p:nvPr/>
          </p:nvCxnSpPr>
          <p:spPr>
            <a:xfrm>
              <a:off x="203886" y="2199502"/>
              <a:ext cx="5708822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F712DCE-3EA7-D2EC-17E1-3CAC4FEE5ED1}"/>
                </a:ext>
              </a:extLst>
            </p:cNvPr>
            <p:cNvCxnSpPr>
              <a:cxnSpLocks/>
            </p:cNvCxnSpPr>
            <p:nvPr/>
          </p:nvCxnSpPr>
          <p:spPr>
            <a:xfrm>
              <a:off x="203886" y="3093309"/>
              <a:ext cx="5708822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A39F88F-23AE-9041-DFC9-6626007D3E64}"/>
                </a:ext>
              </a:extLst>
            </p:cNvPr>
            <p:cNvCxnSpPr>
              <a:cxnSpLocks/>
            </p:cNvCxnSpPr>
            <p:nvPr/>
          </p:nvCxnSpPr>
          <p:spPr>
            <a:xfrm>
              <a:off x="203886" y="3400166"/>
              <a:ext cx="5708822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6C52C04-C9C5-B754-77D6-D2877D9FB020}"/>
                </a:ext>
              </a:extLst>
            </p:cNvPr>
            <p:cNvCxnSpPr>
              <a:cxnSpLocks/>
            </p:cNvCxnSpPr>
            <p:nvPr/>
          </p:nvCxnSpPr>
          <p:spPr>
            <a:xfrm>
              <a:off x="203886" y="5263978"/>
              <a:ext cx="5708822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047DECA8-AFD0-6D4E-B8BE-7BD721F0BE7E}"/>
                </a:ext>
              </a:extLst>
            </p:cNvPr>
            <p:cNvCxnSpPr>
              <a:cxnSpLocks/>
            </p:cNvCxnSpPr>
            <p:nvPr/>
          </p:nvCxnSpPr>
          <p:spPr>
            <a:xfrm>
              <a:off x="203886" y="2500183"/>
              <a:ext cx="5708822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15721BF-48DB-F996-3A38-1F4659F14416}"/>
                </a:ext>
              </a:extLst>
            </p:cNvPr>
            <p:cNvCxnSpPr>
              <a:cxnSpLocks/>
            </p:cNvCxnSpPr>
            <p:nvPr/>
          </p:nvCxnSpPr>
          <p:spPr>
            <a:xfrm>
              <a:off x="203886" y="3713204"/>
              <a:ext cx="5708822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B3B6B16-A622-AF59-2CBD-9E8DC9045328}"/>
                </a:ext>
              </a:extLst>
            </p:cNvPr>
            <p:cNvCxnSpPr>
              <a:cxnSpLocks/>
            </p:cNvCxnSpPr>
            <p:nvPr/>
          </p:nvCxnSpPr>
          <p:spPr>
            <a:xfrm>
              <a:off x="203886" y="4328982"/>
              <a:ext cx="5708822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EE9415B-06A1-B9CD-2BF2-14B9194A8BF4}"/>
                </a:ext>
              </a:extLst>
            </p:cNvPr>
            <p:cNvCxnSpPr>
              <a:cxnSpLocks/>
            </p:cNvCxnSpPr>
            <p:nvPr/>
          </p:nvCxnSpPr>
          <p:spPr>
            <a:xfrm>
              <a:off x="203886" y="4650258"/>
              <a:ext cx="5708822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EDCCB8-4DD6-E278-2330-625AB5D7B6C7}"/>
                </a:ext>
              </a:extLst>
            </p:cNvPr>
            <p:cNvCxnSpPr>
              <a:cxnSpLocks/>
            </p:cNvCxnSpPr>
            <p:nvPr/>
          </p:nvCxnSpPr>
          <p:spPr>
            <a:xfrm>
              <a:off x="203886" y="4957118"/>
              <a:ext cx="5708822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6F2809C-5800-3984-40E1-138BD01EBBD1}"/>
                </a:ext>
              </a:extLst>
            </p:cNvPr>
            <p:cNvCxnSpPr>
              <a:cxnSpLocks/>
            </p:cNvCxnSpPr>
            <p:nvPr/>
          </p:nvCxnSpPr>
          <p:spPr>
            <a:xfrm>
              <a:off x="234783" y="6180436"/>
              <a:ext cx="5708822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16966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A6A41-2D31-B5DA-006A-5E6B643D9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3D32D05-8E97-D8D6-3A86-3D56D518A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375" y="1113496"/>
            <a:ext cx="10815250" cy="828575"/>
          </a:xfrm>
        </p:spPr>
        <p:txBody>
          <a:bodyPr>
            <a:normAutofit/>
          </a:bodyPr>
          <a:lstStyle/>
          <a:p>
            <a:pPr algn="just"/>
            <a:r>
              <a:rPr lang="en-US" sz="2500" b="1" u="sng" dirty="0"/>
              <a:t>Second iteration</a:t>
            </a:r>
            <a:r>
              <a:rPr lang="en-US" sz="2500" dirty="0"/>
              <a:t>: Outlook == Overcast (contd.)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3D5253-ED94-C33D-7F81-989E3793E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50941" y="6505114"/>
            <a:ext cx="2743200" cy="365125"/>
          </a:xfrm>
        </p:spPr>
        <p:txBody>
          <a:bodyPr/>
          <a:lstStyle/>
          <a:p>
            <a:fld id="{B645EB31-1C62-4062-9511-C82C6CC02C60}" type="slidenum">
              <a:rPr lang="en-US" smtClean="0"/>
              <a:t>10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ABCAA8-2578-5993-7AB4-7130D3A26CC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7AFBF3C-943E-2D4E-47C1-08C31A0C79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037862"/>
              </p:ext>
            </p:extLst>
          </p:nvPr>
        </p:nvGraphicFramePr>
        <p:xfrm>
          <a:off x="838199" y="2081054"/>
          <a:ext cx="10515603" cy="38404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2258498421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292250164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219735657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701904091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770046395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394870725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490738498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r>
                        <a:rPr lang="en-US" sz="1800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Subcategory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Subcategory 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MSE Reduction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Weighted 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Weighted MSE Reduction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35707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Outlook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Overcast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12.19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12.19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4118483"/>
                  </a:ext>
                </a:extLst>
              </a:tr>
              <a:tr h="365760">
                <a:tc rowSpan="3">
                  <a:txBody>
                    <a:bodyPr/>
                    <a:lstStyle/>
                    <a:p>
                      <a:r>
                        <a:rPr lang="en-US" sz="1800" b="1" u="sng" dirty="0"/>
                        <a:t>Temperature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12.19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r>
                        <a:rPr lang="en-US" sz="1800" dirty="0"/>
                        <a:t>0.50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r>
                        <a:rPr lang="en-US" sz="1800" b="1" u="sng" dirty="0"/>
                        <a:t>11.69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338536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11.19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9244693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u="sng" dirty="0"/>
                        <a:t>Mild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1" u="sng" dirty="0"/>
                        <a:t>12.19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4519286"/>
                  </a:ext>
                </a:extLst>
              </a:tr>
              <a:tr h="365760">
                <a:tc rowSpan="2">
                  <a:txBody>
                    <a:bodyPr/>
                    <a:lstStyle/>
                    <a:p>
                      <a:r>
                        <a:rPr lang="en-US" sz="1800" dirty="0"/>
                        <a:t>Humidity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9.00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3.19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r>
                        <a:rPr lang="en-US" sz="1800" dirty="0"/>
                        <a:t>4.62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800" dirty="0"/>
                        <a:t>7.56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8987409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0.25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11.94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1678217"/>
                  </a:ext>
                </a:extLst>
              </a:tr>
              <a:tr h="365760">
                <a:tc rowSpan="2">
                  <a:txBody>
                    <a:bodyPr/>
                    <a:lstStyle/>
                    <a:p>
                      <a:r>
                        <a:rPr lang="en-US" sz="1800" dirty="0"/>
                        <a:t>Wind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11.19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r>
                        <a:rPr lang="en-US" sz="1800" dirty="0"/>
                        <a:t>10.62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sz="1800" dirty="0"/>
                        <a:t>1.56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628080893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20.25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−8.06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787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0592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1F695-FF0F-C5F0-90DE-F5C2BEA7F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B63A04-9E6C-5FAF-DEA4-BE4343CBB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50941" y="6505114"/>
            <a:ext cx="2743200" cy="365125"/>
          </a:xfrm>
        </p:spPr>
        <p:txBody>
          <a:bodyPr/>
          <a:lstStyle/>
          <a:p>
            <a:fld id="{B645EB31-1C62-4062-9511-C82C6CC02C60}" type="slidenum">
              <a:rPr lang="en-US" smtClean="0"/>
              <a:t>11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FA4233-143E-BA14-ADF3-71AD82E473E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78564A21-AFB1-DF0D-AF5C-863BB97AC40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62" y="649459"/>
            <a:ext cx="11808425" cy="5738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CD14BB7B-EB4A-BC82-8179-527AE16E15F6}"/>
              </a:ext>
            </a:extLst>
          </p:cNvPr>
          <p:cNvSpPr txBox="1">
            <a:spLocks/>
          </p:cNvSpPr>
          <p:nvPr/>
        </p:nvSpPr>
        <p:spPr>
          <a:xfrm>
            <a:off x="3707027" y="118500"/>
            <a:ext cx="5010665" cy="828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500" b="1" u="sng" dirty="0"/>
              <a:t>Decision Tree (After 4 iterations)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2289901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B411D-D3F8-ACCE-42BC-F7FD69AD9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F0E4CE-3626-A27F-56FD-DA447F634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50941" y="6505114"/>
            <a:ext cx="2743200" cy="365125"/>
          </a:xfrm>
        </p:spPr>
        <p:txBody>
          <a:bodyPr/>
          <a:lstStyle/>
          <a:p>
            <a:fld id="{B645EB31-1C62-4062-9511-C82C6CC02C60}" type="slidenum">
              <a:rPr lang="en-US" smtClean="0"/>
              <a:t>12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44C576-941B-BE2A-02CD-55AD203F38D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B31E9BB3-3795-E319-7947-3B9D489957C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62" y="649459"/>
            <a:ext cx="11808425" cy="5738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5C3BFB9E-08E8-9255-FF32-88300F3F8A23}"/>
              </a:ext>
            </a:extLst>
          </p:cNvPr>
          <p:cNvSpPr txBox="1">
            <a:spLocks/>
          </p:cNvSpPr>
          <p:nvPr/>
        </p:nvSpPr>
        <p:spPr>
          <a:xfrm>
            <a:off x="383060" y="206301"/>
            <a:ext cx="11300254" cy="828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500" b="1" u="sng" dirty="0"/>
              <a:t>Predict</a:t>
            </a:r>
            <a:r>
              <a:rPr lang="en-US" sz="2500" dirty="0"/>
              <a:t>: Outlook=Rainy, Temperature=Mild, Wind=False, Humidity=Normal   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ED8E52B-6755-D190-C19F-6884EE233410}"/>
              </a:ext>
            </a:extLst>
          </p:cNvPr>
          <p:cNvCxnSpPr>
            <a:cxnSpLocks/>
          </p:cNvCxnSpPr>
          <p:nvPr/>
        </p:nvCxnSpPr>
        <p:spPr>
          <a:xfrm flipH="1">
            <a:off x="5041557" y="1478034"/>
            <a:ext cx="1575486" cy="3801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6ABF094-5A6F-2310-6450-34766EED2B1A}"/>
              </a:ext>
            </a:extLst>
          </p:cNvPr>
          <p:cNvCxnSpPr>
            <a:cxnSpLocks/>
          </p:cNvCxnSpPr>
          <p:nvPr/>
        </p:nvCxnSpPr>
        <p:spPr>
          <a:xfrm flipH="1">
            <a:off x="3019167" y="2737022"/>
            <a:ext cx="1299519" cy="5045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6345A12-39EA-0CF5-203B-DE140B721515}"/>
              </a:ext>
            </a:extLst>
          </p:cNvPr>
          <p:cNvCxnSpPr>
            <a:cxnSpLocks/>
          </p:cNvCxnSpPr>
          <p:nvPr/>
        </p:nvCxnSpPr>
        <p:spPr>
          <a:xfrm>
            <a:off x="4133335" y="3985054"/>
            <a:ext cx="821724" cy="3521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F6DE920-83B2-C152-7330-005D04D057D3}"/>
              </a:ext>
            </a:extLst>
          </p:cNvPr>
          <p:cNvCxnSpPr>
            <a:cxnSpLocks/>
          </p:cNvCxnSpPr>
          <p:nvPr/>
        </p:nvCxnSpPr>
        <p:spPr>
          <a:xfrm flipH="1">
            <a:off x="3768811" y="5189838"/>
            <a:ext cx="438665" cy="3274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651ECC3D-7097-EAA3-2CAF-5092A1712E81}"/>
              </a:ext>
            </a:extLst>
          </p:cNvPr>
          <p:cNvSpPr/>
          <p:nvPr/>
        </p:nvSpPr>
        <p:spPr>
          <a:xfrm>
            <a:off x="4164228" y="5844745"/>
            <a:ext cx="438665" cy="327454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163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2C96C-BD32-2812-26FF-87D2FF2C9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176D64-0941-B10D-FB15-BCDB8429B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50941" y="6505114"/>
            <a:ext cx="2743200" cy="365125"/>
          </a:xfrm>
        </p:spPr>
        <p:txBody>
          <a:bodyPr/>
          <a:lstStyle/>
          <a:p>
            <a:fld id="{B645EB31-1C62-4062-9511-C82C6CC02C60}" type="slidenum">
              <a:rPr lang="en-US" smtClean="0"/>
              <a:t>13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9CE2F8-484B-5701-4CA2-FCC5BA418EF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10794548" y="206301"/>
            <a:ext cx="559252" cy="677784"/>
          </a:xfrm>
          <a:prstGeom prst="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027B0E3B-D51C-C787-74BD-EF0A383735F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62" y="649459"/>
            <a:ext cx="11808425" cy="5738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EC83B981-9D98-EBD9-C2B3-C350EF6F9F75}"/>
              </a:ext>
            </a:extLst>
          </p:cNvPr>
          <p:cNvSpPr txBox="1">
            <a:spLocks/>
          </p:cNvSpPr>
          <p:nvPr/>
        </p:nvSpPr>
        <p:spPr>
          <a:xfrm>
            <a:off x="383060" y="206301"/>
            <a:ext cx="11300254" cy="828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500" b="1" u="sng" dirty="0"/>
              <a:t>Predict</a:t>
            </a:r>
            <a:r>
              <a:rPr lang="en-US" sz="2500" dirty="0"/>
              <a:t>: Outlook=Rainy, Temperature=Hot, Wind=False, Humidity=Normal   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EBA4DCA-9823-5815-14D6-AF7F0DFBD13B}"/>
              </a:ext>
            </a:extLst>
          </p:cNvPr>
          <p:cNvCxnSpPr>
            <a:cxnSpLocks/>
          </p:cNvCxnSpPr>
          <p:nvPr/>
        </p:nvCxnSpPr>
        <p:spPr>
          <a:xfrm flipH="1">
            <a:off x="5041557" y="1478034"/>
            <a:ext cx="1575486" cy="3801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1FCF7F7-4B79-28D7-05AF-C6E8ACF781DC}"/>
              </a:ext>
            </a:extLst>
          </p:cNvPr>
          <p:cNvCxnSpPr>
            <a:cxnSpLocks/>
          </p:cNvCxnSpPr>
          <p:nvPr/>
        </p:nvCxnSpPr>
        <p:spPr>
          <a:xfrm>
            <a:off x="5795319" y="2730843"/>
            <a:ext cx="1291281" cy="4880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318B313-B79F-ECAD-E3AE-04DF25D1FD49}"/>
              </a:ext>
            </a:extLst>
          </p:cNvPr>
          <p:cNvCxnSpPr>
            <a:cxnSpLocks/>
          </p:cNvCxnSpPr>
          <p:nvPr/>
        </p:nvCxnSpPr>
        <p:spPr>
          <a:xfrm flipH="1">
            <a:off x="5795319" y="4034481"/>
            <a:ext cx="543697" cy="3645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A22FC2AC-59F4-FC9B-61A3-E05F86D7F3E6}"/>
              </a:ext>
            </a:extLst>
          </p:cNvPr>
          <p:cNvSpPr/>
          <p:nvPr/>
        </p:nvSpPr>
        <p:spPr>
          <a:xfrm>
            <a:off x="6209275" y="4726459"/>
            <a:ext cx="438665" cy="327454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114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15917</TotalTime>
  <Words>604</Words>
  <Application>Microsoft Office PowerPoint</Application>
  <PresentationFormat>Widescreen</PresentationFormat>
  <Paragraphs>238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source-serif-pro</vt:lpstr>
      <vt:lpstr>Office Theme</vt:lpstr>
      <vt:lpstr>Lecture 10: Decision Tree (Regression)</vt:lpstr>
      <vt:lpstr>Introduction</vt:lpstr>
      <vt:lpstr>Step-by-Step Algorithm</vt:lpstr>
      <vt:lpstr>Stopping Criteria</vt:lpstr>
      <vt:lpstr>Mathematical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Jilan Samiuddin</dc:creator>
  <cp:lastModifiedBy>Jilan Samiuddin</cp:lastModifiedBy>
  <cp:revision>186</cp:revision>
  <dcterms:created xsi:type="dcterms:W3CDTF">2025-05-01T04:50:36Z</dcterms:created>
  <dcterms:modified xsi:type="dcterms:W3CDTF">2026-03-11T03:17:14Z</dcterms:modified>
</cp:coreProperties>
</file>