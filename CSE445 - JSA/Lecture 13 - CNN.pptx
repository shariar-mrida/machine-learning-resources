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6" r:id="rId3"/>
    <p:sldId id="261" r:id="rId4"/>
    <p:sldId id="267" r:id="rId5"/>
    <p:sldId id="270" r:id="rId6"/>
    <p:sldId id="266" r:id="rId7"/>
    <p:sldId id="262" r:id="rId8"/>
    <p:sldId id="263" r:id="rId9"/>
    <p:sldId id="264" r:id="rId10"/>
    <p:sldId id="265" r:id="rId11"/>
    <p:sldId id="269" r:id="rId12"/>
    <p:sldId id="272" r:id="rId13"/>
    <p:sldId id="268" r:id="rId14"/>
    <p:sldId id="273" r:id="rId15"/>
    <p:sldId id="274" r:id="rId16"/>
    <p:sldId id="275" r:id="rId17"/>
    <p:sldId id="276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7" r:id="rId26"/>
    <p:sldId id="28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posts/priya809_deeplearning-machinelearning-computervision-activity-7374762250034716672-IlJV?utm_source=share&amp;utm_medium=member_desktop&amp;rcm=ACoAAA1MpmkBPVnpbfISepuACRv81B86EA-nKVY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6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WatercolorSponge/>
                    </a14:imgEffect>
                  </a14:imgLayer>
                </a14:imgProps>
              </a:ext>
            </a:extLst>
          </a:blip>
          <a:srcRect/>
          <a:stretch>
            <a:fillRect l="34000" r="-2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13: </a:t>
            </a:r>
            <a:br>
              <a:rPr lang="en-US" sz="5200" b="1" dirty="0"/>
            </a:br>
            <a:r>
              <a:rPr lang="en-US" sz="5200" b="1" dirty="0"/>
              <a:t>Convolutional Neural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61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62AEA-3238-D179-CF94-D2CC5C09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99AFC-ED78-4834-7475-5816FD2C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Introduction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EF15BE-E371-0D04-6647-311B80DE7A1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D3494-8263-5BB4-889C-2392C207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7D6A1A-4FFA-CE3B-D3D5-09EEA1FDCD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5C3327E-F1BC-F21C-B2BF-B0481758A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CNN is a neural network specialized for grid-like data, especially images (pixels on a 2D grid)</a:t>
            </a:r>
          </a:p>
          <a:p>
            <a:pPr algn="just"/>
            <a:r>
              <a:rPr lang="en-US" dirty="0"/>
              <a:t>Learns to automatically extract features (edges, textures, shapes, objects) directly from raw pixels</a:t>
            </a:r>
          </a:p>
          <a:p>
            <a:pPr algn="just"/>
            <a:r>
              <a:rPr lang="en-US" b="1" dirty="0"/>
              <a:t>Local connectivity</a:t>
            </a:r>
            <a:r>
              <a:rPr lang="en-US" dirty="0"/>
              <a:t>: each neuron “looks” at a small region (receptive field) instead of the whole image at once</a:t>
            </a:r>
          </a:p>
          <a:p>
            <a:pPr algn="just"/>
            <a:r>
              <a:rPr lang="en-US" b="1" dirty="0"/>
              <a:t>Weight sharing</a:t>
            </a:r>
            <a:r>
              <a:rPr lang="en-US" dirty="0"/>
              <a:t>: the same filter is used across the entire image → fewer parameters, more efficient</a:t>
            </a:r>
          </a:p>
          <a:p>
            <a:pPr algn="just"/>
            <a:r>
              <a:rPr lang="en-US" b="1" dirty="0"/>
              <a:t>Hierarchical features</a:t>
            </a:r>
            <a:r>
              <a:rPr lang="en-US" dirty="0"/>
              <a:t>: early layers learn simple patterns (edges), deeper layers learn complex concepts (objects)</a:t>
            </a:r>
          </a:p>
          <a:p>
            <a:pPr algn="just"/>
            <a:r>
              <a:rPr lang="en-US" dirty="0"/>
              <a:t>Typical applications:</a:t>
            </a:r>
          </a:p>
          <a:p>
            <a:pPr lvl="1" algn="just"/>
            <a:r>
              <a:rPr lang="en-US" dirty="0"/>
              <a:t>Image classification (cat vs. dog)</a:t>
            </a:r>
          </a:p>
          <a:p>
            <a:pPr lvl="1" algn="just"/>
            <a:r>
              <a:rPr lang="en-US" dirty="0"/>
              <a:t>Object detection and segmentation (self-driving cars, medical imaging)</a:t>
            </a:r>
          </a:p>
          <a:p>
            <a:pPr lvl="1" algn="just"/>
            <a:r>
              <a:rPr lang="en-US" dirty="0"/>
              <a:t>Face recognition, Optical Character Recognition, and many more vision tasks</a:t>
            </a:r>
          </a:p>
        </p:txBody>
      </p:sp>
    </p:spTree>
    <p:extLst>
      <p:ext uri="{BB962C8B-B14F-4D97-AF65-F5344CB8AC3E}">
        <p14:creationId xmlns:p14="http://schemas.microsoft.com/office/powerpoint/2010/main" val="362505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Image Types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C09373-3C26-1C9B-0C3A-B4CDEF05E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RGB image</a:t>
            </a:r>
          </a:p>
          <a:p>
            <a:pPr lvl="1" algn="just"/>
            <a:r>
              <a:rPr lang="en-US" dirty="0"/>
              <a:t>Has 3 channels: Red, Green, Blue</a:t>
            </a:r>
          </a:p>
          <a:p>
            <a:pPr lvl="1" algn="just"/>
            <a:r>
              <a:rPr lang="en-US" dirty="0"/>
              <a:t>Each pixel is stored as a triplet: (𝑅,𝐺,𝐵)</a:t>
            </a:r>
          </a:p>
          <a:p>
            <a:pPr lvl="1" algn="just"/>
            <a:r>
              <a:rPr lang="en-US" dirty="0"/>
              <a:t>Typical shape: H × W × 3</a:t>
            </a:r>
          </a:p>
          <a:p>
            <a:pPr algn="just"/>
            <a:r>
              <a:rPr lang="en-US" dirty="0"/>
              <a:t>B&amp;W (Grayscale) image</a:t>
            </a:r>
          </a:p>
          <a:p>
            <a:pPr lvl="1" algn="just"/>
            <a:r>
              <a:rPr lang="en-US" dirty="0"/>
              <a:t>Has 1 channel: intensity (brightness only)</a:t>
            </a:r>
          </a:p>
          <a:p>
            <a:pPr lvl="1" algn="just"/>
            <a:r>
              <a:rPr lang="en-US" dirty="0"/>
              <a:t>Each pixel is a single value</a:t>
            </a:r>
          </a:p>
          <a:p>
            <a:pPr lvl="1" algn="just"/>
            <a:r>
              <a:rPr lang="en-US" dirty="0"/>
              <a:t>Typical shape: H × W (or H × W × 1)</a:t>
            </a:r>
          </a:p>
        </p:txBody>
      </p:sp>
    </p:spTree>
    <p:extLst>
      <p:ext uri="{BB962C8B-B14F-4D97-AF65-F5344CB8AC3E}">
        <p14:creationId xmlns:p14="http://schemas.microsoft.com/office/powerpoint/2010/main" val="915298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DC533-E867-EABB-AB8A-D7619DC2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F8E1-540C-4E0A-17D2-F793471F0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The Idea of a CNN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07FD11-D3A4-9283-8CD3-8DDC985E6D7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7B9A7-EB4F-4D09-1B9A-0E951498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95BBB-73C9-ADC2-0E15-201D1A0C9B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4CBF69E8-4DA5-BA14-CBEB-2284FD0DA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/>
                  <a:t>Convolve the </a:t>
                </a:r>
                <a:r>
                  <a:rPr lang="en-US" b="1" u="sng" dirty="0"/>
                  <a:t>filter/kernel</a:t>
                </a:r>
                <a:r>
                  <a:rPr lang="en-US" dirty="0"/>
                  <a:t> with the image i.e. “</a:t>
                </a:r>
                <a:r>
                  <a:rPr lang="en-US" b="1" u="sng" dirty="0"/>
                  <a:t>slide over the image spatially, computing dot products</a:t>
                </a:r>
                <a:r>
                  <a:rPr lang="en-US" dirty="0"/>
                  <a:t>” </a:t>
                </a:r>
              </a:p>
              <a:p>
                <a:pPr algn="just"/>
                <a:r>
                  <a:rPr lang="en-US" dirty="0"/>
                  <a:t>If the filter is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and the image is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the size of output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where,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RGB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grayscale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called “</a:t>
                </a:r>
                <a:r>
                  <a:rPr lang="en-US" b="1" u="sng" dirty="0"/>
                  <a:t>stride</a:t>
                </a:r>
                <a:r>
                  <a:rPr lang="en-US" dirty="0"/>
                  <a:t>”</a:t>
                </a:r>
              </a:p>
            </p:txBody>
          </p:sp>
        </mc:Choice>
        <mc:Fallback xmlns="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4CBF69E8-4DA5-BA14-CBEB-2284FD0DA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08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05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B8F9-A65E-BF89-9120-ECE2DBE84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3A6C-F858-9EF8-909E-8A244E83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Intuition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8161D1-338A-77E2-5AE7-0A8B2599D6B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B93A7-FCDB-163A-18B4-1086823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F72D7C-DFA2-C388-450A-FB4D183B75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782695-BB76-35A2-3CEF-6B58FA948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Each </a:t>
            </a:r>
            <a:r>
              <a:rPr lang="en-US" b="1" i="1" dirty="0"/>
              <a:t>filter</a:t>
            </a:r>
            <a:r>
              <a:rPr lang="en-US" dirty="0"/>
              <a:t> is like a “</a:t>
            </a:r>
            <a:r>
              <a:rPr lang="en-US" b="1" i="1" dirty="0"/>
              <a:t>pattern detector</a:t>
            </a:r>
            <a:r>
              <a:rPr lang="en-US" dirty="0"/>
              <a:t>” (e.g., vertical edge, corner, texture)</a:t>
            </a:r>
          </a:p>
          <a:p>
            <a:pPr algn="just"/>
            <a:r>
              <a:rPr lang="en-US" dirty="0"/>
              <a:t>The activation map shows </a:t>
            </a:r>
            <a:r>
              <a:rPr lang="en-US" b="1" dirty="0"/>
              <a:t>where</a:t>
            </a:r>
            <a:r>
              <a:rPr lang="en-US" dirty="0"/>
              <a:t> in the image that pattern appears and </a:t>
            </a:r>
            <a:r>
              <a:rPr lang="en-US" b="1" dirty="0"/>
              <a:t>how strongly</a:t>
            </a:r>
            <a:endParaRPr lang="en-US" dirty="0"/>
          </a:p>
          <a:p>
            <a:pPr algn="just"/>
            <a:r>
              <a:rPr lang="en-US" dirty="0"/>
              <a:t>Bright/large values in the activation map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“I see my pattern here strongly”</a:t>
            </a:r>
          </a:p>
          <a:p>
            <a:pPr algn="just"/>
            <a:r>
              <a:rPr lang="en-US" dirty="0"/>
              <a:t>Dark/small values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“My pattern is weak or absent here”</a:t>
            </a:r>
          </a:p>
        </p:txBody>
      </p:sp>
    </p:spTree>
    <p:extLst>
      <p:ext uri="{BB962C8B-B14F-4D97-AF65-F5344CB8AC3E}">
        <p14:creationId xmlns:p14="http://schemas.microsoft.com/office/powerpoint/2010/main" val="189920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E5CC-4091-B95E-F903-02E48D0D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 descr="A group of squares with blue squares&#10;&#10;AI-generated content may be incorrect.">
            <a:extLst>
              <a:ext uri="{FF2B5EF4-FFF2-40B4-BE49-F238E27FC236}">
                <a16:creationId xmlns:a16="http://schemas.microsoft.com/office/drawing/2014/main" id="{CDAE1E59-7402-31C0-0276-23C38EB7F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481" y="1148211"/>
            <a:ext cx="9097037" cy="551070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177055-6C06-7ADF-373E-E87E9947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3×3 Filter Sliding on 7×7 Image (Stride=1)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D4CC562-F6FB-3D8F-D48F-DFAD076B420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676A6-258C-88AD-CEB2-EA5A966C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648117-15C4-AEE9-F3E2-0BA29AA398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44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B30E-5A54-2DA8-C180-B3629B74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id with blue squares&#10;&#10;AI-generated content may be incorrect.">
            <a:extLst>
              <a:ext uri="{FF2B5EF4-FFF2-40B4-BE49-F238E27FC236}">
                <a16:creationId xmlns:a16="http://schemas.microsoft.com/office/drawing/2014/main" id="{48A5D7F5-60D6-CA00-6084-0A9255FDA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317" y="1101150"/>
            <a:ext cx="9277997" cy="562032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A12823-C21F-A1E0-7D1C-D4DD7DB6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3×3 Filter Sliding on 7×7 Image (Stride=2)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A4A5FF-9A43-51C8-FBA8-5105B1D2E56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C4FF6-E279-A5C0-D2D6-F010EFD3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6DBA2-A365-8CC2-C0E0-9F6C3069F6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77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0117-C504-5E15-A9DF-EF0B20F5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grid with blue squares&#10;&#10;AI-generated content may be incorrect.">
            <a:extLst>
              <a:ext uri="{FF2B5EF4-FFF2-40B4-BE49-F238E27FC236}">
                <a16:creationId xmlns:a16="http://schemas.microsoft.com/office/drawing/2014/main" id="{F7EB4069-6F4D-ED2A-63FD-2877145A4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5" y="1211780"/>
            <a:ext cx="8891386" cy="538612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BF90B9-A821-EE35-F632-1D7E24CD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3×3 Filter Sliding on 7×7 Image (Stride=3)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1F5E27-CEFE-C691-5C78-F92E3ADC3A6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1F960-7F83-9A47-C0DA-F9282105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62C94F-2EFA-3F79-D365-364739F82D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D594C4-9084-0978-B8EA-61FE312E01C6}"/>
              </a:ext>
            </a:extLst>
          </p:cNvPr>
          <p:cNvSpPr txBox="1"/>
          <p:nvPr/>
        </p:nvSpPr>
        <p:spPr>
          <a:xfrm>
            <a:off x="8427308" y="2462837"/>
            <a:ext cx="30148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What is the issue in this?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52883F-0AA1-69EB-C38E-EEF08E675F38}"/>
              </a:ext>
            </a:extLst>
          </p:cNvPr>
          <p:cNvSpPr txBox="1"/>
          <p:nvPr/>
        </p:nvSpPr>
        <p:spPr>
          <a:xfrm>
            <a:off x="8460202" y="4216301"/>
            <a:ext cx="33981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It does not fit! cannot apply 3x3 filter on 7x7 input with stride 3</a:t>
            </a:r>
          </a:p>
        </p:txBody>
      </p:sp>
    </p:spTree>
    <p:extLst>
      <p:ext uri="{BB962C8B-B14F-4D97-AF65-F5344CB8AC3E}">
        <p14:creationId xmlns:p14="http://schemas.microsoft.com/office/powerpoint/2010/main" val="176163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8060-03D9-F92C-EA2E-59180FD5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E6F8-6C5D-CB96-2EDC-ECE1C6B9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Output Size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E83291-DC20-3092-4323-389C47F51D5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336D9-0F97-5DD2-F779-093FDB763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E59020-4F58-0FF0-B409-F73D1D5373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ABB233-B634-363A-F48F-7D471235919B}"/>
                  </a:ext>
                </a:extLst>
              </p:cNvPr>
              <p:cNvSpPr txBox="1"/>
              <p:nvPr/>
            </p:nvSpPr>
            <p:spPr>
              <a:xfrm>
                <a:off x="5241267" y="1849512"/>
                <a:ext cx="4594712" cy="4478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500" dirty="0"/>
                  <a:t>Output size, 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5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500" b="0" dirty="0"/>
              </a:p>
              <a:p>
                <a:endParaRPr lang="en-US" sz="2500" dirty="0"/>
              </a:p>
              <a:p>
                <a:r>
                  <a:rPr lang="en-US" sz="2500" dirty="0"/>
                  <a:t>For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500" dirty="0"/>
                  <a:t>:</a:t>
                </a:r>
                <a:br>
                  <a:rPr lang="en-US" sz="2500" dirty="0"/>
                </a:br>
                <a:endParaRPr lang="en-US" sz="2500" dirty="0"/>
              </a:p>
              <a:p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=1⇒ </m:t>
                    </m:r>
                  </m:oMath>
                </a14:m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7−3</m:t>
                            </m:r>
                          </m:e>
                        </m:d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+1=5</m:t>
                    </m:r>
                  </m:oMath>
                </a14:m>
                <a:endParaRPr lang="en-US" sz="2500" dirty="0"/>
              </a:p>
              <a:p>
                <a:endParaRPr lang="en-US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=2⇒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7−3</m:t>
                              </m:r>
                            </m:e>
                          </m:d>
                        </m:num>
                        <m:den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500" i="1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500" dirty="0"/>
              </a:p>
              <a:p>
                <a:endParaRPr lang="en-US" sz="2500" dirty="0"/>
              </a:p>
              <a:p>
                <a14:m>
                  <m:oMath xmlns:m="http://schemas.openxmlformats.org/officeDocument/2006/math">
                    <m:r>
                      <a:rPr lang="en-US" sz="25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5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=3⇒</m:t>
                    </m:r>
                    <m:r>
                      <a:rPr lang="en-US" sz="25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5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7−3</m:t>
                            </m:r>
                          </m:e>
                        </m:d>
                      </m:num>
                      <m:den>
                        <m:r>
                          <a:rPr lang="en-US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+1=</m:t>
                    </m:r>
                    <m:r>
                      <a:rPr lang="en-US" sz="25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2.33</m:t>
                    </m:r>
                  </m:oMath>
                </a14:m>
                <a:r>
                  <a:rPr lang="en-US" sz="2500" dirty="0">
                    <a:solidFill>
                      <a:srgbClr val="FF0000"/>
                    </a:solidFill>
                  </a:rPr>
                  <a:t>!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ABB233-B634-363A-F48F-7D4712359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267" y="1849512"/>
                <a:ext cx="4594712" cy="4478405"/>
              </a:xfrm>
              <a:prstGeom prst="rect">
                <a:avLst/>
              </a:prstGeom>
              <a:blipFill>
                <a:blip r:embed="rId3"/>
                <a:stretch>
                  <a:fillRect l="-2255" b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92E3488-EB8A-51EA-4346-0BFC661E1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43714" y="2453026"/>
            <a:ext cx="2457576" cy="2438525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7B87CC-5079-9564-BFB0-96268F982856}"/>
              </a:ext>
            </a:extLst>
          </p:cNvPr>
          <p:cNvCxnSpPr/>
          <p:nvPr/>
        </p:nvCxnSpPr>
        <p:spPr>
          <a:xfrm>
            <a:off x="958566" y="2587189"/>
            <a:ext cx="0" cy="8958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F8FEF6-78A1-CD30-4E49-12E5D50953AF}"/>
              </a:ext>
            </a:extLst>
          </p:cNvPr>
          <p:cNvCxnSpPr>
            <a:cxnSpLocks/>
          </p:cNvCxnSpPr>
          <p:nvPr/>
        </p:nvCxnSpPr>
        <p:spPr>
          <a:xfrm flipH="1">
            <a:off x="1166571" y="2374937"/>
            <a:ext cx="9349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47789C-892A-F84D-B048-5DC68DAB62BE}"/>
              </a:ext>
            </a:extLst>
          </p:cNvPr>
          <p:cNvSpPr txBox="1"/>
          <p:nvPr/>
        </p:nvSpPr>
        <p:spPr>
          <a:xfrm>
            <a:off x="652072" y="285045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0790A-31BF-5663-03B2-6638010854F0}"/>
              </a:ext>
            </a:extLst>
          </p:cNvPr>
          <p:cNvSpPr txBox="1"/>
          <p:nvPr/>
        </p:nvSpPr>
        <p:spPr>
          <a:xfrm>
            <a:off x="1480821" y="200560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7C79DF-2F15-D448-68C6-5852560AE4D0}"/>
              </a:ext>
            </a:extLst>
          </p:cNvPr>
          <p:cNvCxnSpPr>
            <a:cxnSpLocks/>
          </p:cNvCxnSpPr>
          <p:nvPr/>
        </p:nvCxnSpPr>
        <p:spPr>
          <a:xfrm flipH="1">
            <a:off x="1121263" y="4982291"/>
            <a:ext cx="227776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92ECE7-4ED3-3B13-D8AE-36763D35EC67}"/>
              </a:ext>
            </a:extLst>
          </p:cNvPr>
          <p:cNvCxnSpPr>
            <a:cxnSpLocks/>
          </p:cNvCxnSpPr>
          <p:nvPr/>
        </p:nvCxnSpPr>
        <p:spPr>
          <a:xfrm>
            <a:off x="3590553" y="2562474"/>
            <a:ext cx="0" cy="22447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38889DD-6FE1-BF2B-7470-8CB9A5F7AC5E}"/>
              </a:ext>
            </a:extLst>
          </p:cNvPr>
          <p:cNvSpPr txBox="1"/>
          <p:nvPr/>
        </p:nvSpPr>
        <p:spPr>
          <a:xfrm>
            <a:off x="3605681" y="348305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552453-8145-22DD-FE0F-604D8683E9C2}"/>
              </a:ext>
            </a:extLst>
          </p:cNvPr>
          <p:cNvSpPr txBox="1"/>
          <p:nvPr/>
        </p:nvSpPr>
        <p:spPr>
          <a:xfrm>
            <a:off x="2101566" y="499729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2796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8ACC-ABB8-66F9-70A9-BEB28227B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id with blue and black lines&#10;&#10;AI-generated content may be incorrect.">
            <a:extLst>
              <a:ext uri="{FF2B5EF4-FFF2-40B4-BE49-F238E27FC236}">
                <a16:creationId xmlns:a16="http://schemas.microsoft.com/office/drawing/2014/main" id="{D70B6BFE-4E18-A46E-3713-A6CC6BA39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0" t="10827" r="11992" b="8657"/>
          <a:stretch>
            <a:fillRect/>
          </a:stretch>
        </p:blipFill>
        <p:spPr>
          <a:xfrm>
            <a:off x="2021747" y="1553545"/>
            <a:ext cx="7849681" cy="528537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2521FB-6FD3-7FF5-5F18-1E0B8B14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Common Solution: Zero padding the border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A2A9B4-0B70-90E9-D131-D72E338DEA1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9B48A-B32E-0E52-C228-6699CA98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6100-D6D8-4378-205E-C3DE809544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30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2623D-64A5-2EE4-AC56-9D147740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18FC-84A8-C6DA-AB10-DA68245E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Activation Map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AF71E3-6CD9-90E8-1543-D4AED7683A2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EFA3B-4B9E-98B6-6756-1068F925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987AA-4BE9-B0A3-49FE-5A2C0449BF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F800CBFC-A723-CDF4-4F5E-4030CD7902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9842" y="1690688"/>
                <a:ext cx="10888910" cy="5167312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/>
                <a:r>
                  <a:rPr lang="en-US" dirty="0"/>
                  <a:t>It is the 2D grid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) of neuron </a:t>
                </a:r>
                <a:r>
                  <a:rPr lang="en-US" i="1" dirty="0"/>
                  <a:t>outputs</a:t>
                </a:r>
                <a:r>
                  <a:rPr lang="en-US" dirty="0"/>
                  <a:t> you get </a:t>
                </a:r>
                <a:r>
                  <a:rPr lang="en-US" b="1" dirty="0"/>
                  <a:t>after</a:t>
                </a:r>
                <a:r>
                  <a:rPr lang="en-US" dirty="0"/>
                  <a:t> applying a filter and the activation function to an input (image or previous layer)</a:t>
                </a:r>
              </a:p>
              <a:p>
                <a:pPr algn="just"/>
                <a:r>
                  <a:rPr lang="en-US" b="1" dirty="0"/>
                  <a:t>Step-by-step</a:t>
                </a:r>
                <a:r>
                  <a:rPr lang="en-US" dirty="0"/>
                  <a:t>: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US" b="1" u="sng" dirty="0"/>
                  <a:t>Convolution</a:t>
                </a:r>
                <a:r>
                  <a:rPr lang="en-US" dirty="0"/>
                  <a:t>: At each spatial location, the filter does: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weighted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filter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weights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local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patch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 algn="just">
                  <a:buNone/>
                </a:pPr>
                <a:r>
                  <a:rPr lang="en-US" dirty="0"/>
                  <a:t>This gives a single number for that position.</a:t>
                </a:r>
              </a:p>
              <a:p>
                <a:pPr marL="457200" lvl="1" indent="0" algn="just">
                  <a:buNone/>
                </a:pPr>
                <a:endParaRPr lang="en-US" dirty="0"/>
              </a:p>
              <a:p>
                <a:pPr marL="914400" lvl="1" indent="-457200" algn="just">
                  <a:buFont typeface="+mj-lt"/>
                  <a:buAutoNum type="arabicPeriod" startAt="2"/>
                </a:pPr>
                <a:r>
                  <a:rPr lang="en-US" b="1" u="sng" dirty="0"/>
                  <a:t>Activation function</a:t>
                </a:r>
                <a:r>
                  <a:rPr lang="en-US" dirty="0"/>
                  <a:t>: Then you apply a nonlinearity (e.g. </a:t>
                </a:r>
                <a:r>
                  <a:rPr lang="en-US" dirty="0" err="1"/>
                  <a:t>ReLU</a:t>
                </a:r>
                <a:r>
                  <a:rPr lang="en-US" dirty="0"/>
                  <a:t>):</a:t>
                </a:r>
              </a:p>
              <a:p>
                <a:pPr marL="914400" lvl="1" indent="-457200" algn="just">
                  <a:buFont typeface="+mj-lt"/>
                  <a:buAutoNum type="arabicPeriod" startAt="2"/>
                </a:pPr>
                <a:endParaRPr lang="en-US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activation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weighted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sum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 algn="just">
                  <a:buNone/>
                </a:pPr>
                <a:endParaRPr lang="en-US" dirty="0"/>
              </a:p>
              <a:p>
                <a:pPr marL="457200" lvl="1" indent="0" algn="just">
                  <a:buNone/>
                </a:pPr>
                <a:r>
                  <a:rPr lang="en-US" dirty="0"/>
                  <a:t>This tells you </a:t>
                </a:r>
                <a:r>
                  <a:rPr lang="en-US" b="1" dirty="0"/>
                  <a:t>how strongly that filter responds</a:t>
                </a:r>
                <a:r>
                  <a:rPr lang="en-US" dirty="0"/>
                  <a:t> at that location.</a:t>
                </a:r>
              </a:p>
              <a:p>
                <a:pPr marL="457200" lvl="1" indent="0" algn="just">
                  <a:buNone/>
                </a:pPr>
                <a:endParaRPr lang="en-US" dirty="0"/>
              </a:p>
              <a:p>
                <a:pPr marL="914400" lvl="1" indent="-457200" algn="just">
                  <a:buFont typeface="+mj-lt"/>
                  <a:buAutoNum type="arabicPeriod" startAt="3"/>
                </a:pPr>
                <a:r>
                  <a:rPr lang="en-US" b="1" u="sng" dirty="0"/>
                  <a:t>Putting all locations together</a:t>
                </a:r>
                <a:r>
                  <a:rPr lang="en-US" dirty="0"/>
                  <a:t>: Repeat this for every valid position across the height and width → you get a </a:t>
                </a:r>
                <a:r>
                  <a:rPr lang="en-US" b="1" dirty="0"/>
                  <a:t>2D grid</a:t>
                </a:r>
                <a:r>
                  <a:rPr lang="en-US" dirty="0"/>
                  <a:t> of activations. That grid is the </a:t>
                </a:r>
                <a:r>
                  <a:rPr lang="en-US" b="1" dirty="0"/>
                  <a:t>activation map</a:t>
                </a:r>
                <a:r>
                  <a:rPr lang="en-US" dirty="0"/>
                  <a:t> for that particular filter.</a:t>
                </a:r>
              </a:p>
            </p:txBody>
          </p:sp>
        </mc:Choice>
        <mc:Fallback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F800CBFC-A723-CDF4-4F5E-4030CD7902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9842" y="1690688"/>
                <a:ext cx="10888910" cy="5167312"/>
              </a:xfrm>
              <a:blipFill>
                <a:blip r:embed="rId3"/>
                <a:stretch>
                  <a:fillRect l="-784" t="-2241" r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8749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559A-EF8D-88F1-F27F-7FA4BB6E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C2EE-943C-CAA4-66D5-E6001506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Activation Map: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623668-8087-21BF-DDC6-95E35EDD9C3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5AD22-FEBF-502A-8E27-F1AFB423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248ACB-8F12-987A-BAE8-8F6781BDEA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Content Placeholder 5" descr="A diagram of a graph&#10;&#10;AI-generated content may be incorrect.">
            <a:extLst>
              <a:ext uri="{FF2B5EF4-FFF2-40B4-BE49-F238E27FC236}">
                <a16:creationId xmlns:a16="http://schemas.microsoft.com/office/drawing/2014/main" id="{AA8E6E1B-1801-4AC1-9024-F7D05CA39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118519"/>
            <a:ext cx="7620000" cy="3810000"/>
          </a:xfrm>
        </p:spPr>
      </p:pic>
    </p:spTree>
    <p:extLst>
      <p:ext uri="{BB962C8B-B14F-4D97-AF65-F5344CB8AC3E}">
        <p14:creationId xmlns:p14="http://schemas.microsoft.com/office/powerpoint/2010/main" val="3061756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F6C24-70A3-D264-37E4-1C1FB139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grid with a square object on it&#10;&#10;AI-generated content may be incorrect.">
            <a:extLst>
              <a:ext uri="{FF2B5EF4-FFF2-40B4-BE49-F238E27FC236}">
                <a16:creationId xmlns:a16="http://schemas.microsoft.com/office/drawing/2014/main" id="{C87F9966-363C-F285-7557-EE99FB396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3" t="29648" r="20502" b="27547"/>
          <a:stretch>
            <a:fillRect/>
          </a:stretch>
        </p:blipFill>
        <p:spPr>
          <a:xfrm>
            <a:off x="1343575" y="1657292"/>
            <a:ext cx="10010225" cy="488162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508703-5C53-75F2-5972-2E55BFE1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Convolution on RGB Image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B6A138-523B-7990-B720-0EC3D628E33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5D4D1-7E06-AAE6-E362-17466757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42687A-2714-C82E-E17B-65AEC00C0D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07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B4328-46B6-59E8-508A-A560C576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id with a square in center&#10;&#10;AI-generated content may be incorrect.">
            <a:extLst>
              <a:ext uri="{FF2B5EF4-FFF2-40B4-BE49-F238E27FC236}">
                <a16:creationId xmlns:a16="http://schemas.microsoft.com/office/drawing/2014/main" id="{D42F8C28-BB0F-8EAA-257D-7ED643736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4" t="29184" r="21003" b="25702"/>
          <a:stretch>
            <a:fillRect/>
          </a:stretch>
        </p:blipFill>
        <p:spPr>
          <a:xfrm>
            <a:off x="1023457" y="1378973"/>
            <a:ext cx="10229993" cy="527272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640569-7230-5288-CCB9-091537F2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Convolution on RGB Image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98B1CB-7E36-CF62-B998-EFDBECB390C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70AC0-EC50-6E1E-152A-D867BE64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465080-16AD-F265-91F0-5EB6330AA5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78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2CBC-18AC-DC55-D7CC-0AD42D2B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grid with a square object in the middle&#10;&#10;AI-generated content may be incorrect.">
            <a:extLst>
              <a:ext uri="{FF2B5EF4-FFF2-40B4-BE49-F238E27FC236}">
                <a16:creationId xmlns:a16="http://schemas.microsoft.com/office/drawing/2014/main" id="{574E1AC9-1A5F-1E60-0766-4FE2E6A38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96" t="29763" r="21710" b="25895"/>
          <a:stretch>
            <a:fillRect/>
          </a:stretch>
        </p:blipFill>
        <p:spPr>
          <a:xfrm>
            <a:off x="1073791" y="1371029"/>
            <a:ext cx="10360406" cy="541566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B6D2C-59D6-FD11-BDCB-CE1C142B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Convolution on RGB Image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E5CF9C-1DCD-D82F-D10B-CBFB94E5A7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F6146-6D29-CF63-00E8-411B2677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F124A-112A-6B33-2811-BF942ECEB7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8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7AF0-D1E1-F353-7EA4-25BABD42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5630-173C-342D-341C-C02EE676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646" y="2688875"/>
            <a:ext cx="10515600" cy="1325563"/>
          </a:xfrm>
        </p:spPr>
        <p:txBody>
          <a:bodyPr>
            <a:normAutofit/>
          </a:bodyPr>
          <a:lstStyle/>
          <a:p>
            <a:pPr algn="ctr" fontAlgn="base"/>
            <a:r>
              <a:rPr lang="en-US" b="1" dirty="0"/>
              <a:t>Mathematical Formulation of CNN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9721A-9C9D-B129-46A5-7C0224E4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87CED-2330-94FB-CB52-D6285EFBA0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27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F740-563F-B32D-6CCD-C8A0827D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7744-F99F-A808-E41F-A166A549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Shapes and notations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1DF68D-3CB3-EFD1-14CB-06DF069FD9E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824B2-D5A7-30B5-48A7-370AB3F8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D1324-6086-508F-989E-90F38F305C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95EEF8D-0FEF-9958-40FD-9545E68C04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 u="sng" dirty="0"/>
                  <a:t>Input Image/Feature Map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spatial size,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the depth (channels)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for grayscale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for RGB</a:t>
                </a:r>
              </a:p>
              <a:p>
                <a:r>
                  <a:rPr lang="en-US" b="1" u="sng" dirty="0"/>
                  <a:t>Filter/Kernel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is the spatial size of the filter,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the same as input depth</a:t>
                </a:r>
              </a:p>
              <a:p>
                <a:pPr algn="just"/>
                <a:r>
                  <a:rPr lang="en-US" b="1" u="sng" dirty="0"/>
                  <a:t>Stride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the number of pixels we move the filter each step in height/width</a:t>
                </a:r>
              </a:p>
              <a:p>
                <a:pPr algn="just"/>
                <a:r>
                  <a:rPr lang="en-US" b="1" u="sng" dirty="0"/>
                  <a:t>Activation map</a:t>
                </a:r>
                <a:r>
                  <a:rPr lang="en-US" dirty="0"/>
                  <a:t>: output of this convolutional layer, for ONE filter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95EEF8D-0FEF-9958-40FD-9545E68C0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80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115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E5E59-C5B8-0A4C-4FC5-B853BF0E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2EDF-FBB5-E8FA-F149-21D80DE8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Activation Map (no padding)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20EDB2-9645-9830-8630-76178E9D387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73CCA-CC90-21CB-AE31-DA3C59B0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F23F82-2749-992D-C1FE-E7D66252E5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F9F4EAD-622F-6B35-3F84-ABA903AF61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Assuming </a:t>
                </a:r>
                <a:r>
                  <a:rPr lang="en-US" b="1" dirty="0"/>
                  <a:t>no padding</a:t>
                </a:r>
                <a:r>
                  <a:rPr lang="en-US" dirty="0"/>
                  <a:t> (valid convolution), stride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and filter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, let the local patch from the input be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patch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can then flatten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patch</m:t>
                        </m:r>
                      </m:sub>
                    </m:sSub>
                  </m:oMath>
                </a14:m>
                <a:r>
                  <a:rPr lang="en-US" dirty="0"/>
                  <a:t> to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flatten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flatten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patch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Similarly, we can flatten the filter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to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flatten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flatten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F9F4EAD-622F-6B35-3F84-ABA903AF61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092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4EE75-1834-DCE2-4E3C-EDE57F3E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5390-7CB7-6CC4-23EE-93CD1C13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Activation Map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9E2DDA-198E-5186-7B72-0255D922681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1C127-D74D-51E3-D98E-A4AF29AA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496DA5-42B9-8F99-F120-9EC6E16F13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B15FBA4-7B7D-45FE-6780-46045EDB8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dirty="0"/>
                  <a:t>For each location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in the activation map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</a:t>
                </a:r>
              </a:p>
              <a:p>
                <a:pPr algn="just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flatten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flatten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Finally, applying an activation function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If there are </a:t>
                </a:r>
                <a:r>
                  <a:rPr lang="en-US" b="1" u="sng" dirty="0"/>
                  <a:t>multiple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number of) filters: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B15FBA4-7B7D-45FE-6780-46045EDB8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81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0B6AC-210D-095A-BD1F-7489212C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8202-0FB0-5A19-B6F7-8C700891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200" b="1" dirty="0"/>
              <a:t>Pooling Layers (</a:t>
            </a:r>
            <a:r>
              <a:rPr lang="en-US" sz="4200" b="1" dirty="0" err="1"/>
              <a:t>Downsampling</a:t>
            </a:r>
            <a:r>
              <a:rPr lang="en-US" sz="4200" b="1" dirty="0"/>
              <a:t> Feature Maps)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BAA51E-7D58-8A3E-7659-30D1109B680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E7A24-B258-1E8D-BEA6-DD249186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C56462-8619-7ACE-0FE2-5D62EAB798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1626CDF-B7B0-9134-0162-7C31DAEC24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Pooling is a </a:t>
                </a:r>
                <a:r>
                  <a:rPr lang="en-US" b="1" dirty="0" err="1"/>
                  <a:t>downsampling</a:t>
                </a:r>
                <a:r>
                  <a:rPr lang="en-US" b="1" dirty="0"/>
                  <a:t> operation</a:t>
                </a:r>
                <a:r>
                  <a:rPr lang="en-US" dirty="0"/>
                  <a:t> applied to each channel (feature map) independently</a:t>
                </a:r>
              </a:p>
              <a:p>
                <a:r>
                  <a:rPr lang="en-US" dirty="0"/>
                  <a:t>Reduces spatial size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→ smaller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′×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) while keeping the number of channels the same</a:t>
                </a:r>
              </a:p>
              <a:p>
                <a:r>
                  <a:rPr lang="en-US" b="1" dirty="0"/>
                  <a:t>Pooling window/filter size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b="1" dirty="0"/>
                  <a:t>Pooling stride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 (generally,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b="1" dirty="0"/>
                  <a:t>Output feature map size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where,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1626CDF-B7B0-9134-0162-7C31DAEC24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2116C05-1924-406B-BB8D-46CC434BE48F}"/>
              </a:ext>
            </a:extLst>
          </p:cNvPr>
          <p:cNvSpPr txBox="1"/>
          <p:nvPr/>
        </p:nvSpPr>
        <p:spPr>
          <a:xfrm>
            <a:off x="8058727" y="3421048"/>
            <a:ext cx="329507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Pooling intuitive video example: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Click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452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D5C8-416F-234C-92E6-B9AF66F5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13CF-56C5-F75B-F2C0-4518D29A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Types of Pooling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F0C8E6-7A28-BDF2-CC41-9DD48FBFF7E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3552F-4FCF-9551-3796-A3494163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A46F0-66A4-7318-D51D-D034A32451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FB445-C029-3A68-FA51-F398CA66C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Max pooling</a:t>
            </a:r>
          </a:p>
          <a:p>
            <a:pPr lvl="1"/>
            <a:r>
              <a:rPr lang="en-US" dirty="0"/>
              <a:t>For each P×P window:</a:t>
            </a:r>
          </a:p>
          <a:p>
            <a:pPr marL="457200" lvl="1" indent="0" algn="ctr">
              <a:buNone/>
            </a:pPr>
            <a:r>
              <a:rPr lang="en-US" dirty="0"/>
              <a:t>output=max⁡ of all values in the window</a:t>
            </a:r>
          </a:p>
          <a:p>
            <a:pPr lvl="1"/>
            <a:r>
              <a:rPr lang="en-US" dirty="0"/>
              <a:t>Keeps the strongest activation (strongest evidence of a feature)</a:t>
            </a:r>
          </a:p>
          <a:p>
            <a:pPr lvl="1"/>
            <a:r>
              <a:rPr lang="en-US" dirty="0"/>
              <a:t>More commonly used than other types of pooling</a:t>
            </a:r>
          </a:p>
          <a:p>
            <a:r>
              <a:rPr lang="en-US" b="1" dirty="0"/>
              <a:t>Average pooling</a:t>
            </a:r>
          </a:p>
          <a:p>
            <a:pPr lvl="1"/>
            <a:r>
              <a:rPr lang="en-US" dirty="0"/>
              <a:t>For each P×P window</a:t>
            </a:r>
          </a:p>
          <a:p>
            <a:pPr marL="457200" lvl="1" indent="0" algn="ctr">
              <a:buNone/>
            </a:pPr>
            <a:r>
              <a:rPr lang="en-US" dirty="0"/>
              <a:t>output=average of all values in the window</a:t>
            </a:r>
          </a:p>
          <a:p>
            <a:pPr lvl="1"/>
            <a:r>
              <a:rPr lang="en-US" dirty="0"/>
              <a:t>Smooths values</a:t>
            </a:r>
          </a:p>
          <a:p>
            <a:pPr lvl="1"/>
            <a:r>
              <a:rPr lang="en-US" dirty="0"/>
              <a:t>Less used in modern CNNs</a:t>
            </a:r>
          </a:p>
        </p:txBody>
      </p:sp>
    </p:spTree>
    <p:extLst>
      <p:ext uri="{BB962C8B-B14F-4D97-AF65-F5344CB8AC3E}">
        <p14:creationId xmlns:p14="http://schemas.microsoft.com/office/powerpoint/2010/main" val="2073951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7444E-0095-9239-F09E-92DDEE34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B3A7-4B4D-9E46-585C-8C740B01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Why Pooling?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54D7A3-DBF5-E752-7216-E4BB1C286D0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52D5C-FCC4-6305-31D4-861BC6F9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F92E8C-CC28-FD3E-AF7D-A3D5980B6F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18ACB4-D30C-69A2-5432-F077F32CD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Reduces computation &amp; parameters</a:t>
            </a:r>
            <a:r>
              <a:rPr lang="en-US" dirty="0"/>
              <a:t> in later layers (smaller feature maps)</a:t>
            </a:r>
          </a:p>
          <a:p>
            <a:pPr algn="just"/>
            <a:r>
              <a:rPr lang="en-US" dirty="0"/>
              <a:t>Acts as a form of </a:t>
            </a:r>
            <a:r>
              <a:rPr lang="en-US" b="1" dirty="0"/>
              <a:t>regularization</a:t>
            </a:r>
            <a:r>
              <a:rPr lang="en-US" dirty="0"/>
              <a:t>, helping prevent overfitting</a:t>
            </a:r>
          </a:p>
        </p:txBody>
      </p:sp>
    </p:spTree>
    <p:extLst>
      <p:ext uri="{BB962C8B-B14F-4D97-AF65-F5344CB8AC3E}">
        <p14:creationId xmlns:p14="http://schemas.microsoft.com/office/powerpoint/2010/main" val="3497264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A596-364B-760A-1F2E-CE9F5777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B299-16F5-CE58-B78F-27263CEE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Fully-Connected (FC) Layers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BC0BC4-8C64-23CE-23CB-8D713148805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E1096-1535-BE99-3276-41DBF361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4DE5F6-66E2-C634-68AA-2243411438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21CC9-0678-AD6A-5D90-B7DB3EB75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Acts like a standard </a:t>
            </a:r>
            <a:r>
              <a:rPr lang="en-US" b="1" dirty="0"/>
              <a:t>MLP (feedforward neural network)</a:t>
            </a:r>
            <a:r>
              <a:rPr lang="en-US" dirty="0"/>
              <a:t> layer at the end of the CNN</a:t>
            </a:r>
          </a:p>
          <a:p>
            <a:pPr algn="just"/>
            <a:r>
              <a:rPr lang="en-US" dirty="0"/>
              <a:t>Role in a CNN:</a:t>
            </a:r>
          </a:p>
          <a:p>
            <a:pPr lvl="1" algn="just"/>
            <a:r>
              <a:rPr lang="en-US" dirty="0"/>
              <a:t>Convolution + pooling: learn spatial features (edges, textures, shapes, objects)</a:t>
            </a:r>
          </a:p>
          <a:p>
            <a:pPr lvl="1" algn="just"/>
            <a:r>
              <a:rPr lang="en-US" dirty="0"/>
              <a:t>Fully-connected layers: use those features to make global decisions, e.g., “Is this a cat, dog, or car?”</a:t>
            </a:r>
          </a:p>
        </p:txBody>
      </p:sp>
    </p:spTree>
    <p:extLst>
      <p:ext uri="{BB962C8B-B14F-4D97-AF65-F5344CB8AC3E}">
        <p14:creationId xmlns:p14="http://schemas.microsoft.com/office/powerpoint/2010/main" val="1182724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FBD52-9ED4-D1C6-A323-E5602DE09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51E364F-ED3A-D5C9-84B3-C0BF1E0FA3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872" y="1155503"/>
            <a:ext cx="10515600" cy="5356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727413-D60B-3CEE-14CE-B1941186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81"/>
            <a:ext cx="10515600" cy="1325563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An example architecture of a CNN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C0234F-20FD-3CA4-365E-8CAA0ADF8CD2}"/>
              </a:ext>
            </a:extLst>
          </p:cNvPr>
          <p:cNvCxnSpPr/>
          <p:nvPr/>
        </p:nvCxnSpPr>
        <p:spPr>
          <a:xfrm>
            <a:off x="652072" y="1094031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EBD1-FF29-32BE-E92A-61CC5E46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6CC2F-7E8C-7035-5B09-F409D43049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868C2D-AB69-302B-D4E9-B6C1A36717A4}"/>
              </a:ext>
            </a:extLst>
          </p:cNvPr>
          <p:cNvSpPr txBox="1"/>
          <p:nvPr/>
        </p:nvSpPr>
        <p:spPr>
          <a:xfrm>
            <a:off x="5278931" y="6582975"/>
            <a:ext cx="2551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source: AnalyticsVidhya.com</a:t>
            </a:r>
          </a:p>
        </p:txBody>
      </p:sp>
    </p:spTree>
    <p:extLst>
      <p:ext uri="{BB962C8B-B14F-4D97-AF65-F5344CB8AC3E}">
        <p14:creationId xmlns:p14="http://schemas.microsoft.com/office/powerpoint/2010/main" val="2881183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539E-3FB5-C4E7-6991-6345F653B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E09E77C-E445-C886-8A0C-BF2D702B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642" y="1351491"/>
            <a:ext cx="3633399" cy="5409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9E71AA-6729-2CA6-CC04-A00E4FB5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81"/>
            <a:ext cx="10515600" cy="1325563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An example of an inference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D0DD9D-C82D-65BE-0CB0-F8098A908124}"/>
              </a:ext>
            </a:extLst>
          </p:cNvPr>
          <p:cNvCxnSpPr/>
          <p:nvPr/>
        </p:nvCxnSpPr>
        <p:spPr>
          <a:xfrm>
            <a:off x="652072" y="1094031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02663-BBF2-96E4-FB57-D39DF915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660908-8F29-978D-23F4-1C86E1E447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850C66-6B71-0667-CE06-5066687A3C26}"/>
              </a:ext>
            </a:extLst>
          </p:cNvPr>
          <p:cNvSpPr txBox="1"/>
          <p:nvPr/>
        </p:nvSpPr>
        <p:spPr>
          <a:xfrm>
            <a:off x="838200" y="6582975"/>
            <a:ext cx="2039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source: Medium.com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E163C38-610F-4858-387C-42FF4D0E6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58725" y="2846978"/>
            <a:ext cx="1623339" cy="14592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352425-D01A-DE83-652C-BE7BFCBAD52F}"/>
              </a:ext>
            </a:extLst>
          </p:cNvPr>
          <p:cNvSpPr txBox="1"/>
          <p:nvPr/>
        </p:nvSpPr>
        <p:spPr>
          <a:xfrm>
            <a:off x="958725" y="4460697"/>
            <a:ext cx="1619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AA17F9-9443-D7E0-D7CC-AB293A78C2CD}"/>
              </a:ext>
            </a:extLst>
          </p:cNvPr>
          <p:cNvSpPr txBox="1"/>
          <p:nvPr/>
        </p:nvSpPr>
        <p:spPr>
          <a:xfrm>
            <a:off x="5160105" y="621364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242424"/>
                </a:solidFill>
                <a:effectLst/>
                <a:latin typeface="source-serif-pro"/>
              </a:rPr>
              <a:t>Total convolution layers: 17</a:t>
            </a:r>
            <a:endParaRPr lang="en-US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F9EAE68-0003-9767-5416-15F4B49CBDB4}"/>
              </a:ext>
            </a:extLst>
          </p:cNvPr>
          <p:cNvSpPr/>
          <p:nvPr/>
        </p:nvSpPr>
        <p:spPr>
          <a:xfrm>
            <a:off x="2877604" y="3546389"/>
            <a:ext cx="804710" cy="2769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3741AE-14A5-4606-1662-71ECD13A0AA5}"/>
              </a:ext>
            </a:extLst>
          </p:cNvPr>
          <p:cNvSpPr txBox="1"/>
          <p:nvPr/>
        </p:nvSpPr>
        <p:spPr>
          <a:xfrm>
            <a:off x="7945012" y="2501982"/>
            <a:ext cx="40743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Early layers are usually more interpretable and preserve most of the low-level information in the input image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As we move deeper into the network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the features become less visually intuitive and more abstract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focuses on class-specific patterns while discarding more general image details</a:t>
            </a:r>
          </a:p>
        </p:txBody>
      </p:sp>
    </p:spTree>
    <p:extLst>
      <p:ext uri="{BB962C8B-B14F-4D97-AF65-F5344CB8AC3E}">
        <p14:creationId xmlns:p14="http://schemas.microsoft.com/office/powerpoint/2010/main" val="853745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AA873-128F-8C14-CD77-2418F1E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542C-A060-5B06-B51C-99AF1FE9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927"/>
            <a:ext cx="10515600" cy="1325563"/>
          </a:xfrm>
        </p:spPr>
        <p:txBody>
          <a:bodyPr>
            <a:normAutofit/>
          </a:bodyPr>
          <a:lstStyle/>
          <a:p>
            <a:pPr fontAlgn="base"/>
            <a:r>
              <a:rPr lang="en-US" sz="4000" b="1" dirty="0"/>
              <a:t>CNNs – Backbone of Modern Vision Algorithms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BD6B6E-7C11-4675-A263-C832F61DB5E8}"/>
              </a:ext>
            </a:extLst>
          </p:cNvPr>
          <p:cNvCxnSpPr/>
          <p:nvPr/>
        </p:nvCxnSpPr>
        <p:spPr>
          <a:xfrm>
            <a:off x="652072" y="153887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6EBD0-8054-3511-DF99-F485BE21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3069ED-3A12-A37E-4D67-18C968D89A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2AC1F-C742-2EBC-7AA0-2E576F049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CNNs learn </a:t>
            </a:r>
            <a:r>
              <a:rPr lang="en-US" b="1" dirty="0"/>
              <a:t>hierarchical visual features</a:t>
            </a:r>
            <a:r>
              <a:rPr lang="en-US" dirty="0"/>
              <a:t> (edges → textures → parts → objects) directly from pixels, making them the </a:t>
            </a:r>
            <a:r>
              <a:rPr lang="en-US" b="1" dirty="0"/>
              <a:t>standard backbone</a:t>
            </a:r>
            <a:r>
              <a:rPr lang="en-US" dirty="0"/>
              <a:t> for most computer vision systems</a:t>
            </a:r>
          </a:p>
          <a:p>
            <a:r>
              <a:rPr lang="en-US" b="1" dirty="0"/>
              <a:t>Image classification</a:t>
            </a:r>
          </a:p>
          <a:p>
            <a:pPr lvl="1"/>
            <a:r>
              <a:rPr lang="en-US" dirty="0"/>
              <a:t>Models like </a:t>
            </a:r>
            <a:r>
              <a:rPr lang="en-US" dirty="0" err="1"/>
              <a:t>ResNet</a:t>
            </a:r>
            <a:r>
              <a:rPr lang="en-US" dirty="0"/>
              <a:t>, VGG: “Is this a cat, dog, or car?”</a:t>
            </a:r>
          </a:p>
          <a:p>
            <a:r>
              <a:rPr lang="en-US" b="1" dirty="0"/>
              <a:t>Object detection</a:t>
            </a:r>
          </a:p>
          <a:p>
            <a:pPr lvl="1"/>
            <a:r>
              <a:rPr lang="en-US" dirty="0"/>
              <a:t>Faster R-CNN, YOLO, SSD: draw boxes + labels around objects in an image</a:t>
            </a:r>
          </a:p>
          <a:p>
            <a:r>
              <a:rPr lang="en-US" b="1" dirty="0"/>
              <a:t>Semantic &amp; instance segmentation</a:t>
            </a:r>
          </a:p>
          <a:p>
            <a:pPr lvl="1"/>
            <a:r>
              <a:rPr lang="en-US" dirty="0"/>
              <a:t>U-Net, Mask R-CNN: classify every pixel (e.g., road vs. car vs. pedestrian).</a:t>
            </a:r>
          </a:p>
        </p:txBody>
      </p:sp>
    </p:spTree>
    <p:extLst>
      <p:ext uri="{BB962C8B-B14F-4D97-AF65-F5344CB8AC3E}">
        <p14:creationId xmlns:p14="http://schemas.microsoft.com/office/powerpoint/2010/main" val="26272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21862</TotalTime>
  <Words>1316</Words>
  <Application>Microsoft Office PowerPoint</Application>
  <PresentationFormat>Widescreen</PresentationFormat>
  <Paragraphs>184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source-serif-pro</vt:lpstr>
      <vt:lpstr>Office Theme</vt:lpstr>
      <vt:lpstr>Lecture 13:  Convolutional Neural Network</vt:lpstr>
      <vt:lpstr>Introduction</vt:lpstr>
      <vt:lpstr>Image Types</vt:lpstr>
      <vt:lpstr>The Idea of a CNN</vt:lpstr>
      <vt:lpstr>Intuition</vt:lpstr>
      <vt:lpstr>3×3 Filter Sliding on 7×7 Image (Stride=1)</vt:lpstr>
      <vt:lpstr>3×3 Filter Sliding on 7×7 Image (Stride=2)</vt:lpstr>
      <vt:lpstr>3×3 Filter Sliding on 7×7 Image (Stride=3)</vt:lpstr>
      <vt:lpstr>Output Size</vt:lpstr>
      <vt:lpstr>Common Solution: Zero padding the border</vt:lpstr>
      <vt:lpstr>Activation Map</vt:lpstr>
      <vt:lpstr>Activation Map: Example</vt:lpstr>
      <vt:lpstr>Convolution on RGB Image</vt:lpstr>
      <vt:lpstr>Convolution on RGB Image</vt:lpstr>
      <vt:lpstr>Convolution on RGB Image</vt:lpstr>
      <vt:lpstr>Mathematical Formulation of CNN</vt:lpstr>
      <vt:lpstr>Shapes and notations</vt:lpstr>
      <vt:lpstr>Activation Map (no padding)</vt:lpstr>
      <vt:lpstr>Activation Map (contd.)</vt:lpstr>
      <vt:lpstr>Pooling Layers (Downsampling Feature Maps)</vt:lpstr>
      <vt:lpstr>Types of Pooling</vt:lpstr>
      <vt:lpstr>Why Pooling?</vt:lpstr>
      <vt:lpstr>Fully-Connected (FC) Layers</vt:lpstr>
      <vt:lpstr>An example architecture of a CNN</vt:lpstr>
      <vt:lpstr>An example of an inference</vt:lpstr>
      <vt:lpstr>CNNs – Backbone of Modern Vision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13:  Convolutional Neural Network</dc:title>
  <dc:creator>Jilan Samiuddin</dc:creator>
  <cp:lastModifiedBy>Jilan Samiuddin</cp:lastModifiedBy>
  <cp:revision>258</cp:revision>
  <dcterms:created xsi:type="dcterms:W3CDTF">2025-05-01T04:50:36Z</dcterms:created>
  <dcterms:modified xsi:type="dcterms:W3CDTF">2026-04-13T03:48:01Z</dcterms:modified>
</cp:coreProperties>
</file>