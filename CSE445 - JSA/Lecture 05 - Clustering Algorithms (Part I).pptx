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3" r:id="rId18"/>
    <p:sldId id="274" r:id="rId19"/>
    <p:sldId id="275" r:id="rId20"/>
    <p:sldId id="276" r:id="rId21"/>
    <p:sldId id="283" r:id="rId22"/>
    <p:sldId id="284" r:id="rId23"/>
    <p:sldId id="285" r:id="rId24"/>
    <p:sldId id="286" r:id="rId25"/>
    <p:sldId id="28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91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2451A-F307-5BB9-A9E6-DF65E752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C7E63-177E-6E43-F9AA-0D3F1940B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94873-9BE3-CAC6-CD1B-48738A552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69BF0-0C9E-5A94-FD66-F42CA8B70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64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EA37-1B83-F209-E942-531B23C3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FE38A-5D26-E777-9051-8A2B00671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B03BD-0EAA-0E42-3D3B-8B0DEF78C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91B94-FEAB-23C5-347C-DD0C09D40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5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D7DF6-2A19-6DB1-9532-AD7F26F2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999D4-B26D-BE1E-B6F8-C5FB2F22E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06BDE-6BEA-FF59-61DA-4995DBAF0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54A85-97BA-0515-0FC6-67300CD7D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0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rcRect/>
          <a:tile tx="-46990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5: Clustering Algorithms (Part 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F7D2-52DD-129E-DA62-E86E6903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A8FFCC-CB1A-7AFD-1E29-764FC879F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453072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u="sng" dirty="0"/>
              <a:t>Goal</a:t>
            </a:r>
            <a:r>
              <a:rPr lang="en-US" b="1" dirty="0"/>
              <a:t>:</a:t>
            </a:r>
            <a:r>
              <a:rPr lang="en-US" dirty="0"/>
              <a:t> Group unlabeled data points into "clusters" based on similarity</a:t>
            </a:r>
          </a:p>
          <a:p>
            <a:pPr algn="just"/>
            <a:r>
              <a:rPr lang="en-US" b="1" u="sng" dirty="0"/>
              <a:t>Key Idea</a:t>
            </a:r>
            <a:r>
              <a:rPr lang="en-US" dirty="0"/>
              <a:t>: Objects in the same cluster are </a:t>
            </a:r>
            <a:r>
              <a:rPr lang="en-US" b="1" dirty="0"/>
              <a:t>more alike</a:t>
            </a:r>
            <a:r>
              <a:rPr lang="en-US" dirty="0"/>
              <a:t> (high intra-cluster similarity) than those in different clusters (low inter-cluster similarity)</a:t>
            </a:r>
          </a:p>
          <a:p>
            <a:pPr algn="just"/>
            <a:r>
              <a:rPr lang="en-US" b="1" u="sng" dirty="0"/>
              <a:t>Unsupervised</a:t>
            </a:r>
            <a:r>
              <a:rPr lang="en-US" dirty="0"/>
              <a:t>: No predefined labels; algorithms infer structure from data alone</a:t>
            </a:r>
          </a:p>
          <a:p>
            <a:pPr algn="just"/>
            <a:r>
              <a:rPr lang="en-US" b="1" u="sng" dirty="0"/>
              <a:t>NOTE</a:t>
            </a:r>
            <a:r>
              <a:rPr lang="en-US" dirty="0"/>
              <a:t>:  It is </a:t>
            </a:r>
            <a:r>
              <a:rPr lang="en-US" b="1" i="1" dirty="0"/>
              <a:t>not necessary</a:t>
            </a:r>
            <a:r>
              <a:rPr lang="en-US" dirty="0"/>
              <a:t> that clusters formed must be circular in shape</a:t>
            </a:r>
          </a:p>
          <a:p>
            <a:pPr algn="just"/>
            <a:r>
              <a:rPr lang="en-US" b="1" u="sng" dirty="0"/>
              <a:t>Example usages</a:t>
            </a:r>
            <a:r>
              <a:rPr lang="en-US" dirty="0"/>
              <a:t>:</a:t>
            </a:r>
          </a:p>
          <a:p>
            <a:pPr lvl="1" algn="just"/>
            <a:r>
              <a:rPr lang="en-US" b="1" dirty="0"/>
              <a:t>Customer Segmentation</a:t>
            </a:r>
            <a:r>
              <a:rPr lang="en-US" dirty="0"/>
              <a:t>: Group users by behavior for targeted marketing</a:t>
            </a:r>
          </a:p>
          <a:p>
            <a:pPr lvl="1"/>
            <a:r>
              <a:rPr lang="en-US" b="1" dirty="0"/>
              <a:t>Image Recognition</a:t>
            </a:r>
            <a:r>
              <a:rPr lang="en-US" dirty="0"/>
              <a:t>: Segment pixels into objects/regions</a:t>
            </a:r>
          </a:p>
          <a:p>
            <a:pPr lvl="1"/>
            <a:r>
              <a:rPr lang="en-US" b="1" dirty="0"/>
              <a:t>Biology</a:t>
            </a:r>
            <a:r>
              <a:rPr lang="en-US" dirty="0"/>
              <a:t>: Classify species/genetic patterns</a:t>
            </a:r>
          </a:p>
          <a:p>
            <a:pPr lvl="1"/>
            <a:r>
              <a:rPr lang="en-US" b="1" dirty="0"/>
              <a:t>Recommendation Systems</a:t>
            </a:r>
            <a:r>
              <a:rPr lang="en-US" dirty="0"/>
              <a:t>: Cluster similar users/products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9A77C0-7299-E288-8330-26271E0F6E1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79C25-5251-03F7-1CF7-B17B7E87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CCFC7-D2D0-E752-7425-7AF4E2E2CB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9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8A99-DC97-90F6-A51B-02FFCF7C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34D8-36A5-ECF8-C7DD-770A30916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Clustering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1C5947-9C92-E9AD-56CA-3E12950C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11040256" cy="4530721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Hard Clustering (Exclusive Clustering)</a:t>
            </a:r>
          </a:p>
          <a:p>
            <a:pPr lvl="1" algn="just"/>
            <a:r>
              <a:rPr lang="en-US" dirty="0"/>
              <a:t>Each data point belongs to </a:t>
            </a:r>
            <a:r>
              <a:rPr lang="en-US" b="1" dirty="0"/>
              <a:t>exactly one cluster</a:t>
            </a:r>
            <a:r>
              <a:rPr lang="en-US" dirty="0"/>
              <a:t> with no ambiguity</a:t>
            </a:r>
          </a:p>
          <a:p>
            <a:pPr lvl="1" algn="just"/>
            <a:r>
              <a:rPr lang="en-US" b="1" dirty="0"/>
              <a:t>Example</a:t>
            </a:r>
            <a:r>
              <a:rPr lang="en-US" dirty="0"/>
              <a:t>: If 4 data points are clustered into 2 groups, every point is assigned to either Cluster 1 or Cluster 2, never both</a:t>
            </a:r>
          </a:p>
          <a:p>
            <a:pPr lvl="1" algn="just"/>
            <a:r>
              <a:rPr lang="en-US" b="1" dirty="0"/>
              <a:t>Algorithms</a:t>
            </a:r>
            <a:r>
              <a:rPr lang="en-US" dirty="0"/>
              <a:t>: K-Means, Hierarchical Clustering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Soft Clustering (Probabilistic Clustering)</a:t>
            </a:r>
            <a:endParaRPr lang="en-US" dirty="0"/>
          </a:p>
          <a:p>
            <a:pPr lvl="1" algn="just"/>
            <a:r>
              <a:rPr lang="en-US" dirty="0"/>
              <a:t>Data points can belong to </a:t>
            </a:r>
            <a:r>
              <a:rPr lang="en-US" b="1" dirty="0"/>
              <a:t>multiple clusters with varying probabilities</a:t>
            </a:r>
            <a:endParaRPr lang="en-US" dirty="0"/>
          </a:p>
          <a:p>
            <a:pPr lvl="1" algn="just"/>
            <a:r>
              <a:rPr lang="en-US" dirty="0"/>
              <a:t>Instead of strict assignments, the algorithm computes the </a:t>
            </a:r>
            <a:r>
              <a:rPr lang="en-US" b="1" dirty="0"/>
              <a:t>likelihood</a:t>
            </a:r>
            <a:r>
              <a:rPr lang="en-US" dirty="0"/>
              <a:t> of a point being in each cluster</a:t>
            </a:r>
          </a:p>
          <a:p>
            <a:pPr lvl="1" algn="just"/>
            <a:r>
              <a:rPr lang="en-US" b="1" dirty="0"/>
              <a:t>Example</a:t>
            </a:r>
            <a:r>
              <a:rPr lang="en-US" dirty="0"/>
              <a:t>: For 4 data points and 2 clusters, a point may have a 70% chance of being in Cluster 1 and 30% in Cluster 2</a:t>
            </a:r>
          </a:p>
          <a:p>
            <a:pPr lvl="1" algn="just"/>
            <a:r>
              <a:rPr lang="en-US" b="1" dirty="0"/>
              <a:t>Algorithms</a:t>
            </a:r>
            <a:r>
              <a:rPr lang="en-US" dirty="0"/>
              <a:t>: Gaussian Mixture Models (GMM), Fuzzy C-Means</a:t>
            </a:r>
          </a:p>
          <a:p>
            <a:pPr marL="0" indent="0" algn="just">
              <a:buNone/>
            </a:pPr>
            <a:r>
              <a:rPr lang="en-US" b="1" u="sng" dirty="0"/>
              <a:t>Key Difference</a:t>
            </a:r>
            <a:r>
              <a:rPr lang="en-US" dirty="0"/>
              <a:t>: Hard clustering forces rigid boundaries, while soft clustering allows for uncertainty and overlapping memberships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452C1C-6D2C-DF79-1079-1C4053FAA0F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36FA1-972B-35D2-8D11-37E9D0A5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F03398-155A-06DE-15CF-B299747CE1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9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3B92-5AB6-6262-7DB3-EF4633F0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9FC3-5F74-03D5-BBC9-BCC0F86F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Types of Clustering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F0E7453-E68F-D1FB-7E8C-F853AAF5C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825623"/>
                <a:ext cx="7542315" cy="4945877"/>
              </a:xfrm>
            </p:spPr>
            <p:txBody>
              <a:bodyPr>
                <a:normAutofit fontScale="70000" lnSpcReduction="20000"/>
              </a:bodyPr>
              <a:lstStyle/>
              <a:p>
                <a:pPr marL="514350" indent="-514350" algn="just">
                  <a:buFont typeface="+mj-lt"/>
                  <a:buAutoNum type="arabicPeriod"/>
                </a:pPr>
                <a:r>
                  <a:rPr lang="en-US" sz="3600" b="1" u="sng" dirty="0"/>
                  <a:t>Centroid-Based Clustering</a:t>
                </a:r>
                <a:endParaRPr lang="en-US" sz="3600" u="sng" dirty="0"/>
              </a:p>
              <a:p>
                <a:pPr algn="just"/>
                <a:r>
                  <a:rPr lang="en-US" b="1" dirty="0"/>
                  <a:t>Concept</a:t>
                </a:r>
                <a:r>
                  <a:rPr lang="en-US" dirty="0"/>
                  <a:t>: Groups data points around central vectors (</a:t>
                </a:r>
                <a:r>
                  <a:rPr lang="en-US" i="1" dirty="0"/>
                  <a:t>centroids</a:t>
                </a:r>
                <a:r>
                  <a:rPr lang="en-US" dirty="0"/>
                  <a:t>), assigning each point to the nearest centroid</a:t>
                </a:r>
              </a:p>
              <a:p>
                <a:pPr algn="just"/>
                <a:r>
                  <a:rPr lang="en-US" b="1" dirty="0"/>
                  <a:t>Similarity Measures</a:t>
                </a:r>
                <a:r>
                  <a:rPr lang="en-US" dirty="0"/>
                  <a:t>: Euclidean, Manhattan, or Minkowski distance</a:t>
                </a:r>
              </a:p>
              <a:p>
                <a:pPr algn="just"/>
                <a:r>
                  <a:rPr lang="en-US" b="1" dirty="0"/>
                  <a:t>How It Works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Divides data into a predefined number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of clusters</a:t>
                </a:r>
              </a:p>
              <a:p>
                <a:pPr lvl="1" algn="just"/>
                <a:r>
                  <a:rPr lang="en-US" dirty="0"/>
                  <a:t>Each cluster is represented by a centroid (mean of its points)</a:t>
                </a:r>
              </a:p>
              <a:p>
                <a:pPr lvl="1" algn="just"/>
                <a:r>
                  <a:rPr lang="en-US" dirty="0"/>
                  <a:t>Points are reassigned iteratively to minimize within-cluster variance</a:t>
                </a:r>
              </a:p>
              <a:p>
                <a:pPr algn="just"/>
                <a:r>
                  <a:rPr lang="en-US" b="1" dirty="0"/>
                  <a:t>Pros</a:t>
                </a:r>
                <a:r>
                  <a:rPr lang="en-US" dirty="0"/>
                  <a:t>: Simple, fast, and scalable for large datasets</a:t>
                </a:r>
              </a:p>
              <a:p>
                <a:pPr algn="just"/>
                <a:r>
                  <a:rPr lang="en-US" b="1" dirty="0"/>
                  <a:t>Cons</a:t>
                </a:r>
                <a:r>
                  <a:rPr lang="en-US" dirty="0"/>
                  <a:t>: Requires specifying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and sensitive to outliers and initial centroid positions</a:t>
                </a:r>
              </a:p>
              <a:p>
                <a:pPr algn="just"/>
                <a:r>
                  <a:rPr lang="en-US" b="1" dirty="0"/>
                  <a:t>Algorithms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b="1" dirty="0"/>
                  <a:t>K-Means</a:t>
                </a:r>
                <a:r>
                  <a:rPr lang="en-US" dirty="0"/>
                  <a:t> (most widely used)</a:t>
                </a:r>
              </a:p>
              <a:p>
                <a:pPr lvl="1" algn="just"/>
                <a:r>
                  <a:rPr lang="en-US" b="1" dirty="0"/>
                  <a:t>K-Medoids</a:t>
                </a:r>
                <a:r>
                  <a:rPr lang="en-US" dirty="0"/>
                  <a:t> (more robust to outliers, uses medians instead of means)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F0E7453-E68F-D1FB-7E8C-F853AAF5C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825623"/>
                <a:ext cx="7542315" cy="4945877"/>
              </a:xfrm>
              <a:blipFill>
                <a:blip r:embed="rId2"/>
                <a:stretch>
                  <a:fillRect l="-1455" t="-3079" r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D3F0A9-B999-06C8-79CB-07ADE683862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CF083-8534-122C-BC42-9CD50C63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9AC48E-B812-1C85-E2EB-457543C9323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229969-E257-979E-8D91-EC6AA5117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387" y="2337648"/>
            <a:ext cx="3950963" cy="32599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935307-97E0-004C-484D-E2D424C872C2}"/>
              </a:ext>
            </a:extLst>
          </p:cNvPr>
          <p:cNvSpPr txBox="1"/>
          <p:nvPr/>
        </p:nvSpPr>
        <p:spPr>
          <a:xfrm>
            <a:off x="9389077" y="5907556"/>
            <a:ext cx="1561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credit: Google</a:t>
            </a:r>
          </a:p>
        </p:txBody>
      </p:sp>
    </p:spTree>
    <p:extLst>
      <p:ext uri="{BB962C8B-B14F-4D97-AF65-F5344CB8AC3E}">
        <p14:creationId xmlns:p14="http://schemas.microsoft.com/office/powerpoint/2010/main" val="269945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EC29-E73E-0891-5467-6A8CC675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04A4-9FF4-DF71-2CFB-FDE018CA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Types of Clustering Methods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17A1BC-C6FF-66F3-5C9C-6DB8B2DBC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7299501" cy="4530721"/>
          </a:xfrm>
        </p:spPr>
        <p:txBody>
          <a:bodyPr>
            <a:normAutofit fontScale="77500" lnSpcReduction="20000"/>
          </a:bodyPr>
          <a:lstStyle/>
          <a:p>
            <a:pPr marL="514350" indent="-514350" algn="just">
              <a:buFont typeface="+mj-lt"/>
              <a:buAutoNum type="arabicPeriod" startAt="2"/>
            </a:pPr>
            <a:r>
              <a:rPr lang="en-US" sz="3200" b="1" u="sng" dirty="0"/>
              <a:t>Density-Based Clustering</a:t>
            </a:r>
            <a:endParaRPr lang="en-US" sz="3200" u="sng" dirty="0"/>
          </a:p>
          <a:p>
            <a:pPr algn="just"/>
            <a:r>
              <a:rPr lang="en-US" b="1" dirty="0"/>
              <a:t>Concept</a:t>
            </a:r>
            <a:r>
              <a:rPr lang="en-US" dirty="0"/>
              <a:t>: Identifies clusters as dense regions separated by sparse areas; handles noise and arbitrary shapes</a:t>
            </a:r>
          </a:p>
          <a:p>
            <a:pPr algn="just"/>
            <a:r>
              <a:rPr lang="en-US" b="1" dirty="0"/>
              <a:t>Key Features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Automatically detects the number of clusters</a:t>
            </a:r>
          </a:p>
          <a:p>
            <a:pPr lvl="1" algn="just"/>
            <a:r>
              <a:rPr lang="en-US" dirty="0"/>
              <a:t>Robust to outliers and varying cluster shapes/sizes</a:t>
            </a:r>
          </a:p>
          <a:p>
            <a:pPr lvl="1" algn="just"/>
            <a:r>
              <a:rPr lang="en-US" dirty="0"/>
              <a:t>Works well with irregular or overlapping clusters</a:t>
            </a:r>
          </a:p>
          <a:p>
            <a:pPr algn="just"/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Expands clusters from core points with sufficient nearby neighbors</a:t>
            </a:r>
          </a:p>
          <a:p>
            <a:pPr lvl="1" algn="just"/>
            <a:r>
              <a:rPr lang="en-US" dirty="0"/>
              <a:t>Outliers are not assigned to any clusters</a:t>
            </a:r>
          </a:p>
          <a:p>
            <a:pPr algn="just"/>
            <a:r>
              <a:rPr lang="en-US" b="1" dirty="0"/>
              <a:t>Algorithms</a:t>
            </a:r>
            <a:r>
              <a:rPr lang="en-US" dirty="0"/>
              <a:t>:</a:t>
            </a:r>
          </a:p>
          <a:p>
            <a:pPr lvl="1" algn="just"/>
            <a:r>
              <a:rPr lang="en-US" b="1" dirty="0"/>
              <a:t>DBSCAN</a:t>
            </a:r>
            <a:r>
              <a:rPr lang="en-US" dirty="0"/>
              <a:t> (Density-Based Spatial Clustering of Applications with Noise)</a:t>
            </a:r>
          </a:p>
          <a:p>
            <a:pPr lvl="1" algn="just"/>
            <a:r>
              <a:rPr lang="en-US" b="1" dirty="0"/>
              <a:t>OPTICS</a:t>
            </a:r>
            <a:r>
              <a:rPr lang="en-US" dirty="0"/>
              <a:t> (Ordering Points To Identify Clustering Structure)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44E49E-D078-4AB6-6ED9-134CAED31C8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028D3-CCB0-5750-D702-C20DBFDE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5E5890-9913-42B2-2C06-4DA668C057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355540-855B-73E6-EEDD-5890959AD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965" y="2183330"/>
            <a:ext cx="4122478" cy="35808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FB65F0-C14F-943C-D7A0-E3B65C4384A5}"/>
              </a:ext>
            </a:extLst>
          </p:cNvPr>
          <p:cNvSpPr txBox="1"/>
          <p:nvPr/>
        </p:nvSpPr>
        <p:spPr>
          <a:xfrm>
            <a:off x="9389077" y="5907556"/>
            <a:ext cx="1561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credit: Google</a:t>
            </a:r>
          </a:p>
        </p:txBody>
      </p:sp>
    </p:spTree>
    <p:extLst>
      <p:ext uri="{BB962C8B-B14F-4D97-AF65-F5344CB8AC3E}">
        <p14:creationId xmlns:p14="http://schemas.microsoft.com/office/powerpoint/2010/main" val="2416408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EB76-FAD1-81BC-C742-7803B21BD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818E-4708-CB86-6797-60077054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Types of Clustering Methods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4185B6-3735-7688-03C3-BF688553B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825624"/>
            <a:ext cx="7299501" cy="4530721"/>
          </a:xfrm>
        </p:spPr>
        <p:txBody>
          <a:bodyPr>
            <a:normAutofit fontScale="85000" lnSpcReduction="10000"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US" sz="2900" b="1" u="sng" dirty="0"/>
              <a:t>Distribution-Based Clustering (Probabilistic Methods)</a:t>
            </a:r>
            <a:endParaRPr lang="en-US" sz="2900" u="sng" dirty="0"/>
          </a:p>
          <a:p>
            <a:pPr algn="just"/>
            <a:r>
              <a:rPr lang="en-US" b="1" dirty="0"/>
              <a:t>Concept</a:t>
            </a:r>
            <a:r>
              <a:rPr lang="en-US" dirty="0"/>
              <a:t>: Assumes data is generated from statistical distributions (e.g., Gaussian)</a:t>
            </a:r>
          </a:p>
          <a:p>
            <a:pPr algn="just"/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Estimates distribution parameters (mean, variance) for each cluster</a:t>
            </a:r>
          </a:p>
          <a:p>
            <a:pPr lvl="1" algn="just"/>
            <a:r>
              <a:rPr lang="en-US" dirty="0"/>
              <a:t>Assigns points based on probability (e.g., likelihood of belonging to a Gaussian)</a:t>
            </a:r>
          </a:p>
          <a:p>
            <a:pPr algn="just"/>
            <a:r>
              <a:rPr lang="en-US" b="1" dirty="0"/>
              <a:t>Pros</a:t>
            </a:r>
            <a:r>
              <a:rPr lang="en-US" dirty="0"/>
              <a:t>: Captures clusters of varying shapes/sizes; handles uncertainty</a:t>
            </a:r>
          </a:p>
          <a:p>
            <a:pPr algn="just"/>
            <a:r>
              <a:rPr lang="en-US" b="1" dirty="0"/>
              <a:t>Cons</a:t>
            </a:r>
            <a:r>
              <a:rPr lang="en-US" dirty="0"/>
              <a:t>: Requires assumptions about data distribution</a:t>
            </a:r>
          </a:p>
          <a:p>
            <a:pPr algn="just"/>
            <a:r>
              <a:rPr lang="en-US" b="1" dirty="0"/>
              <a:t>Algorithm</a:t>
            </a:r>
            <a:r>
              <a:rPr lang="en-US" dirty="0"/>
              <a:t>: Gaussian Mixture Models (GMM</a:t>
            </a:r>
            <a:r>
              <a:rPr lang="en-US" b="1" dirty="0"/>
              <a:t>)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C03DFE-BF30-0248-B3FA-BFCB7D15FE5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FF47E-5FBF-04A9-0666-2FD2514F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10602-8B33-0136-3FE4-58B7CAF440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34A512-1C97-4565-17F6-025CEE152D6F}"/>
              </a:ext>
            </a:extLst>
          </p:cNvPr>
          <p:cNvSpPr txBox="1"/>
          <p:nvPr/>
        </p:nvSpPr>
        <p:spPr>
          <a:xfrm>
            <a:off x="9389077" y="5907556"/>
            <a:ext cx="1561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credit: Google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CEE5ED-8B0A-5217-0695-9E0F50D3F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00" y="1912436"/>
            <a:ext cx="2973697" cy="382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4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Types of Clustering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660E5FC-7FB8-7CCE-DDC6-5FA74BBB9E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3030579"/>
              </a:xfrm>
            </p:spPr>
            <p:txBody>
              <a:bodyPr>
                <a:normAutofit fontScale="77500" lnSpcReduction="20000"/>
              </a:bodyPr>
              <a:lstStyle/>
              <a:p>
                <a:pPr marL="514350" indent="-514350" algn="just">
                  <a:buFont typeface="+mj-lt"/>
                  <a:buAutoNum type="arabicPeriod" startAt="4"/>
                </a:pPr>
                <a:r>
                  <a:rPr lang="en-US" sz="3200" b="1" u="sng" dirty="0"/>
                  <a:t>Connectivity-Based Clustering (Hierarchical Methods)</a:t>
                </a:r>
                <a:endParaRPr lang="en-US" sz="3200" u="sng" dirty="0"/>
              </a:p>
              <a:p>
                <a:pPr algn="just"/>
                <a:r>
                  <a:rPr lang="en-US" b="1" dirty="0"/>
                  <a:t>Concept</a:t>
                </a:r>
                <a:r>
                  <a:rPr lang="en-US" dirty="0"/>
                  <a:t>: Builds a tree-like hierarchy of clusters based on similarity/distance</a:t>
                </a:r>
              </a:p>
              <a:p>
                <a:pPr algn="just"/>
                <a:r>
                  <a:rPr lang="en-US" b="1" dirty="0"/>
                  <a:t>Approaches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b="1" dirty="0"/>
                  <a:t>Agglomerative (Bottom-Up)</a:t>
                </a:r>
                <a:r>
                  <a:rPr lang="en-US" dirty="0"/>
                  <a:t>: Starts with each point as its own cluster and merges the closest pairs</a:t>
                </a:r>
              </a:p>
              <a:p>
                <a:pPr lvl="1" algn="just"/>
                <a:r>
                  <a:rPr lang="en-US" b="1" dirty="0"/>
                  <a:t>Divisive (Top-Down)</a:t>
                </a:r>
                <a:r>
                  <a:rPr lang="en-US" dirty="0"/>
                  <a:t>: Begins with all points in one cluster and splits them recursively</a:t>
                </a:r>
              </a:p>
              <a:p>
                <a:pPr algn="just"/>
                <a:r>
                  <a:rPr lang="en-US" b="1" dirty="0"/>
                  <a:t>Pros</a:t>
                </a:r>
                <a:r>
                  <a:rPr lang="en-US" dirty="0"/>
                  <a:t>: No need to predefine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; intuitive visualization.</a:t>
                </a:r>
              </a:p>
              <a:p>
                <a:pPr algn="just"/>
                <a:r>
                  <a:rPr lang="en-US" b="1" dirty="0"/>
                  <a:t>Cons</a:t>
                </a:r>
                <a:r>
                  <a:rPr lang="en-US" dirty="0"/>
                  <a:t>: Computationally expensive for large datasets.</a:t>
                </a:r>
              </a:p>
              <a:p>
                <a:pPr algn="just"/>
                <a:r>
                  <a:rPr lang="en-US" b="1" dirty="0"/>
                  <a:t>Use Cases</a:t>
                </a:r>
                <a:r>
                  <a:rPr lang="en-US" dirty="0"/>
                  <a:t>: Taxonomy (biology), document clustering.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660E5FC-7FB8-7CCE-DDC6-5FA74BBB9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3030579"/>
              </a:xfrm>
              <a:blipFill>
                <a:blip r:embed="rId2"/>
                <a:stretch>
                  <a:fillRect l="-994" t="-5030" r="-497" b="-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F7707F-45C0-2371-08C3-D57189A51904}"/>
              </a:ext>
            </a:extLst>
          </p:cNvPr>
          <p:cNvSpPr txBox="1"/>
          <p:nvPr/>
        </p:nvSpPr>
        <p:spPr>
          <a:xfrm>
            <a:off x="5361573" y="6491694"/>
            <a:ext cx="1561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credit: Google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4ED52E-4451-19DB-214C-3E9B34A55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045" y="4641493"/>
            <a:ext cx="6988309" cy="189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194BB-996C-0022-4492-14629EDE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B81-3CCF-00D3-AC34-5C4ACEE2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949"/>
            <a:ext cx="10515600" cy="1325563"/>
          </a:xfrm>
        </p:spPr>
        <p:txBody>
          <a:bodyPr>
            <a:normAutofit/>
          </a:bodyPr>
          <a:lstStyle/>
          <a:p>
            <a:pPr algn="ctr" fontAlgn="base"/>
            <a:r>
              <a:rPr lang="en-US" sz="5500" b="1" dirty="0"/>
              <a:t>K-means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0FEA0-8A51-DD3A-83F9-74922728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6B83E5-1E15-1483-529F-E1C8FAA9F4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61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556A-DDAB-2EE9-8218-DACA8714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2E8B-13B0-7B17-92FF-3BC4CCA2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K-means Algorithm: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865B86A-EBF6-D82F-F215-C46092CFB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Initialize centroids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Choose the number of clusters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Randomly select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 data points as initial centroids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Assign points to nearest centroid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For each data point, calculate its distance (e.g., Euclidean) to all centroids</a:t>
                </a:r>
              </a:p>
              <a:p>
                <a:pPr lvl="1"/>
                <a:r>
                  <a:rPr lang="en-US" dirty="0"/>
                  <a:t>Assign the point to the cluster with the </a:t>
                </a:r>
                <a:r>
                  <a:rPr lang="en-US" b="1" dirty="0"/>
                  <a:t>closest centroid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Recalculate centroids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For each cluster, compute the new centroid as the </a:t>
                </a:r>
                <a:r>
                  <a:rPr lang="en-US" b="1" dirty="0"/>
                  <a:t>mean</a:t>
                </a:r>
                <a:r>
                  <a:rPr lang="en-US" dirty="0"/>
                  <a:t> of all points in the cluster: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Centroi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  <m:brk m:alnAt="7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luste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</a:t>
                </a:r>
              </a:p>
              <a:p>
                <a:pPr marL="457200" lvl="1" indent="0" algn="just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the number of points in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Repeat Steps 2 and 3 until convergence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Reassign points to the new centroids and recalculate centroids</a:t>
                </a:r>
              </a:p>
              <a:p>
                <a:pPr lvl="1"/>
                <a:r>
                  <a:rPr lang="en-US" dirty="0"/>
                  <a:t>Stop when centroids no longer change (or changes fall below a threshold)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865B86A-EBF6-D82F-F215-C46092CFB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  <a:blipFill>
                <a:blip r:embed="rId2"/>
                <a:stretch>
                  <a:fillRect l="-1049" t="-2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FFB9E0-CF4B-AE2E-879F-D13D5A4616B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2810D-D94E-6E3E-DC76-B26B6E7C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A15C8A-AF9F-E3CA-A313-9D0914DFF7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58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F6A7B-AF41-9155-A330-621C233F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DE85B5-A78F-6E89-F5F3-4C93A2A15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504" y="5848648"/>
            <a:ext cx="4019757" cy="3302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B0D869-4CDB-2A98-854A-F2011E04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K-means Algorithm: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E1D2DA8-557B-4D33-28BC-1F3A05477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1"/>
                <a:ext cx="11040256" cy="456281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Dataset: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(6,5)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Initialize centroids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,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(1,1)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dirty="0"/>
                  <a:t> randomly as initial centroids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Assign points to nearest centroid</a:t>
                </a:r>
                <a:r>
                  <a:rPr lang="en-US" dirty="0"/>
                  <a:t>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Recalculate centroids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E1D2DA8-557B-4D33-28BC-1F3A05477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1"/>
                <a:ext cx="11040256" cy="4562815"/>
              </a:xfrm>
              <a:blipFill>
                <a:blip r:embed="rId3"/>
                <a:stretch>
                  <a:fillRect l="-883" t="-2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8AE3BD-D0C0-618C-6784-F9C02965453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2B06-83D7-8041-2DD8-8F38AA09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A6DA0-F303-CAD2-BB43-180C826F07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1E7B78-EF57-20FC-E7B7-FCA80BD67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131" y="3263780"/>
            <a:ext cx="6255288" cy="2359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4E41D6-79CE-DFA3-0B57-1FC69E149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3918" y="4001998"/>
            <a:ext cx="2216264" cy="106685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58123E92-0762-3D77-9CEF-C2700CA633EA}"/>
              </a:ext>
            </a:extLst>
          </p:cNvPr>
          <p:cNvSpPr/>
          <p:nvPr/>
        </p:nvSpPr>
        <p:spPr>
          <a:xfrm>
            <a:off x="8245291" y="4289244"/>
            <a:ext cx="611659" cy="30891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E7129B-86EF-20AF-5F38-738F14E31A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687" y="5877950"/>
            <a:ext cx="5448580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8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621F-FAC9-13AD-1B80-2FC62831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0B05-F43A-F8E0-5D9A-F9CC2FAB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K-means example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3A25E99-BD86-8D2E-61B0-FA66D93E22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1"/>
                <a:ext cx="11040256" cy="456281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Dataset: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(6,5)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b="1" dirty="0"/>
                  <a:t>Repeat Steps 2 and 3 until convergence</a:t>
                </a:r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3A25E99-BD86-8D2E-61B0-FA66D93E22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1"/>
                <a:ext cx="11040256" cy="4562815"/>
              </a:xfrm>
              <a:blipFill>
                <a:blip r:embed="rId2"/>
                <a:stretch>
                  <a:fillRect l="-1160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63240F-67DF-CDFD-2E7B-ABBE8253E22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4A3FA-D960-FF14-8A86-CF06E45A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760878-4998-04FA-8350-FAE0BBD128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654C8A-2BAE-CAE5-A50C-1A25ACA2D082}"/>
              </a:ext>
            </a:extLst>
          </p:cNvPr>
          <p:cNvSpPr/>
          <p:nvPr/>
        </p:nvSpPr>
        <p:spPr>
          <a:xfrm>
            <a:off x="7998941" y="4289243"/>
            <a:ext cx="611659" cy="30891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D259E3-49CC-81CC-5271-4BF4934DE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118" y="2834941"/>
            <a:ext cx="5547141" cy="28136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EE1B68-7DD7-F67D-F517-1C23B28B2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5497" y="3948376"/>
            <a:ext cx="1911448" cy="9906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F57BE4-EF8D-ADD8-F421-397139C194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951" y="5734017"/>
            <a:ext cx="5092962" cy="5778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C80983-7A2C-23E6-9F6E-1D860A1BD6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207" y="5845148"/>
            <a:ext cx="4438878" cy="9334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4790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52ABF-990B-0494-0DA7-A9701828A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6810-C531-9AE5-B6D0-54DAAD01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K-means example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475477C-0588-8674-F078-B38714C447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1"/>
                <a:ext cx="11040256" cy="456281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Dataset: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(6,5)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475477C-0588-8674-F078-B38714C447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1"/>
                <a:ext cx="11040256" cy="4562815"/>
              </a:xfrm>
              <a:blipFill>
                <a:blip r:embed="rId2"/>
                <a:stretch>
                  <a:fillRect l="-994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EA9398-1618-1DAD-1F1E-E842E01A85C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FBE7A-440C-9158-AFCA-6803B00B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593010-3B83-45AF-FAB9-C7758E9D7A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FFA38F-C627-23E3-D057-2E9792D46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464" y="2507238"/>
            <a:ext cx="8414644" cy="408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24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9F1D-8A5C-2DA8-E704-AB6CF4EA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BBA491C-65DC-7313-0E91-81707AE39F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fontAlgn="base"/>
                <a:r>
                  <a:rPr lang="en-US" b="1" dirty="0"/>
                  <a:t>Elbow Method for Optimal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1" dirty="0"/>
                  <a:t> in K-Means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BBA491C-65DC-7313-0E91-81707AE39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0F95F0E7-76A3-093F-2357-FEFF638D0F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The Elbow Method is a technique to determine the </a:t>
                </a:r>
                <a:r>
                  <a:rPr lang="en-US" b="1" u="sng" dirty="0"/>
                  <a:t>optimal number of clusters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by identifying the point where the rate of decrease in </a:t>
                </a:r>
                <a:r>
                  <a:rPr lang="en-US" b="1" u="sng" dirty="0"/>
                  <a:t>within-cluster sum of squares (WCSS, also known as </a:t>
                </a:r>
                <a:r>
                  <a:rPr lang="en-US" b="1" i="1" u="sng" dirty="0"/>
                  <a:t>inertia</a:t>
                </a:r>
                <a:r>
                  <a:rPr lang="en-US" b="1" u="sng" dirty="0"/>
                  <a:t>)</a:t>
                </a:r>
                <a:r>
                  <a:rPr lang="en-US" dirty="0"/>
                  <a:t> sharply changes. This "elbow point" represents the trade-off between model complexity and explanatory power.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0F95F0E7-76A3-093F-2357-FEFF638D0F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  <a:blipFill>
                <a:blip r:embed="rId3"/>
                <a:stretch>
                  <a:fillRect l="-994" t="-2046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C9C32C-735B-3A1F-2976-16F83F5FF85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20E14-DF81-A453-CA71-CF75A63C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C993BA-3DEA-5862-1660-5F322F6FE4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3074" name="Picture 2" descr="Elbow-Method">
            <a:extLst>
              <a:ext uri="{FF2B5EF4-FFF2-40B4-BE49-F238E27FC236}">
                <a16:creationId xmlns:a16="http://schemas.microsoft.com/office/drawing/2014/main" id="{9023C15B-0963-323E-3683-BF07E6938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811" y="3831309"/>
            <a:ext cx="6414031" cy="262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4583F-0097-7A2C-A5A6-0A92A4372B46}"/>
              </a:ext>
            </a:extLst>
          </p:cNvPr>
          <p:cNvSpPr txBox="1"/>
          <p:nvPr/>
        </p:nvSpPr>
        <p:spPr>
          <a:xfrm>
            <a:off x="6671953" y="4650907"/>
            <a:ext cx="3701144" cy="7848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/>
              <a:t>There comes a point, i.e., the elbow point, where adding more clusters results in only a marginal decrease in WCSS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90320D-2D68-2F6C-F2C6-77BA86EA3951}"/>
              </a:ext>
            </a:extLst>
          </p:cNvPr>
          <p:cNvCxnSpPr/>
          <p:nvPr/>
        </p:nvCxnSpPr>
        <p:spPr>
          <a:xfrm flipH="1">
            <a:off x="5818909" y="5435737"/>
            <a:ext cx="853044" cy="389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3B2247-272B-34CD-FB82-71E606EF3080}"/>
              </a:ext>
            </a:extLst>
          </p:cNvPr>
          <p:cNvSpPr txBox="1"/>
          <p:nvPr/>
        </p:nvSpPr>
        <p:spPr>
          <a:xfrm>
            <a:off x="5101137" y="6548346"/>
            <a:ext cx="2142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credit: </a:t>
            </a:r>
            <a:r>
              <a:rPr lang="en-US" sz="1200" dirty="0" err="1"/>
              <a:t>GeeksForGeeks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0066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4EE9-B274-F73A-41C1-A6DB3D82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EE24-8C12-CE90-37DF-E0D7A3B2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Elbow Method: Steps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033B9E1B-F094-362A-7902-F2BB7B23B6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Compute K-Means for a range of K values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Run K-Means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Record Inertia for each K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Inertia = Sum of squared distances of points to their closest centroid: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Inertia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Plot the Inertia Curve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X-axis: Number of clusters (K)</a:t>
                </a:r>
              </a:p>
              <a:p>
                <a:pPr lvl="1"/>
                <a:r>
                  <a:rPr lang="en-US" dirty="0"/>
                  <a:t>Y-axis: Inertia value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Identify the Elbow Point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where inertia decrease sharply slows</a:t>
                </a:r>
              </a:p>
              <a:p>
                <a:pPr lvl="1"/>
                <a:r>
                  <a:rPr lang="en-US" dirty="0"/>
                  <a:t>Optimal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 Point where curve forms an "elbow"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033B9E1B-F094-362A-7902-F2BB7B23B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  <a:blipFill>
                <a:blip r:embed="rId2"/>
                <a:stretch>
                  <a:fillRect l="-1160" t="-2647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2A199F-7702-8E1C-C718-383CA29E997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9DFA2-C53C-7C85-F20E-232A80A1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DB1EE8-FF5A-BF5E-628D-2C46DFAA2B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0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93B8C-932B-3CF4-8C3F-293A15E53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CD25F80-DDFF-305E-AEAE-56719800A9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1"/>
                <a:ext cx="11040256" cy="456281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Dataset: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(6,5)</m:t>
                    </m:r>
                  </m:oMath>
                </a14:m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CD25F80-DDFF-305E-AEAE-56719800A9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1"/>
                <a:ext cx="11040256" cy="4562815"/>
              </a:xfrm>
              <a:blipFill>
                <a:blip r:embed="rId2"/>
                <a:stretch>
                  <a:fillRect l="-994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2043045-A686-45BD-6831-655430EC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Elbow Method: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66292E-5CAF-4EA0-8EBB-85E6B1D0930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819EF-B5C0-2EDF-DEBE-0E2111C0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87C02C-0975-87CF-008F-D606F7BF663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441B8C6-6B2F-A23E-110F-84657B71A09D}"/>
              </a:ext>
            </a:extLst>
          </p:cNvPr>
          <p:cNvGrpSpPr/>
          <p:nvPr/>
        </p:nvGrpSpPr>
        <p:grpSpPr>
          <a:xfrm>
            <a:off x="1003715" y="2498730"/>
            <a:ext cx="9790833" cy="4152969"/>
            <a:chOff x="873209" y="2746595"/>
            <a:chExt cx="10128770" cy="374034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5CFC61-89B1-919A-7F80-0D9340EE3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209" y="2787467"/>
              <a:ext cx="3892750" cy="356888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DCE8977-51BC-6467-319E-B9DCE7BA5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5959" y="2746595"/>
              <a:ext cx="6236020" cy="3740342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282A403-8DC1-8D34-BDD2-776E0107E1B8}"/>
              </a:ext>
            </a:extLst>
          </p:cNvPr>
          <p:cNvSpPr/>
          <p:nvPr/>
        </p:nvSpPr>
        <p:spPr>
          <a:xfrm>
            <a:off x="878651" y="2498730"/>
            <a:ext cx="3863842" cy="41529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DCDF69-FB57-ED5B-251C-AD43BA299369}"/>
              </a:ext>
            </a:extLst>
          </p:cNvPr>
          <p:cNvSpPr/>
          <p:nvPr/>
        </p:nvSpPr>
        <p:spPr>
          <a:xfrm>
            <a:off x="4806606" y="2498730"/>
            <a:ext cx="6027961" cy="41529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BC0C6B-3CE4-2D06-B006-F655D1945D4A}"/>
              </a:ext>
            </a:extLst>
          </p:cNvPr>
          <p:cNvSpPr txBox="1"/>
          <p:nvPr/>
        </p:nvSpPr>
        <p:spPr>
          <a:xfrm rot="16200000">
            <a:off x="119405" y="4091050"/>
            <a:ext cx="1056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Step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BFFF4C-012A-0E4A-68B6-1F57DBC152DD}"/>
              </a:ext>
            </a:extLst>
          </p:cNvPr>
          <p:cNvSpPr txBox="1"/>
          <p:nvPr/>
        </p:nvSpPr>
        <p:spPr>
          <a:xfrm rot="16200000">
            <a:off x="10521061" y="4035633"/>
            <a:ext cx="1056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1809184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5AB8-6145-7790-A2C0-6590589D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CAB7-3FDC-5763-3635-71DF9EE9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Elbow Method: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5862F9-8A8B-CFEF-BC11-E48CE96A07E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590B7-06AD-8E94-5A64-C8122384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1D55C-256A-F1A6-EEA0-B817DCD999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E74716D-6331-98F0-68E2-1AF12A072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7264" y="1784061"/>
            <a:ext cx="4454824" cy="4351338"/>
          </a:xfr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A9AFE0F-C1C8-F987-5C72-EFDC5131D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623" y="1663028"/>
            <a:ext cx="4776925" cy="443936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CE1846A-8227-24E3-DE05-0C90D8E1C287}"/>
              </a:ext>
            </a:extLst>
          </p:cNvPr>
          <p:cNvSpPr txBox="1"/>
          <p:nvPr/>
        </p:nvSpPr>
        <p:spPr>
          <a:xfrm>
            <a:off x="2115864" y="6218690"/>
            <a:ext cx="203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Steps 3 and 4</a:t>
            </a:r>
          </a:p>
        </p:txBody>
      </p:sp>
    </p:spTree>
    <p:extLst>
      <p:ext uri="{BB962C8B-B14F-4D97-AF65-F5344CB8AC3E}">
        <p14:creationId xmlns:p14="http://schemas.microsoft.com/office/powerpoint/2010/main" val="2139712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9F5DD-E5FC-1750-652A-256E20EE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9737-7E74-D5AD-EE46-CD12DCE8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949"/>
            <a:ext cx="10515600" cy="1325563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US" sz="6000" b="1" dirty="0"/>
              <a:t>Density-Based Spatial Clustering of Applications with Noise (DBSCAN)</a:t>
            </a:r>
            <a:endParaRPr lang="en-US" sz="55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8AB76-0F5F-D0C1-C8A2-244580E3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09FD7-64F7-1326-00B5-E5303F5866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5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00535-1865-6F21-6603-FB7156DB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BEA5-E162-E15D-8E16-D9FB0E99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Key Concepts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232778-26F2-717B-DF9F-409BD56BE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506326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DBSCAN groups points in dense regions while identifying outliers in sparse areas. Unlike centroid-based methods, it discovers </a:t>
            </a:r>
            <a:r>
              <a:rPr lang="en-US" b="1" u="sng" dirty="0"/>
              <a:t>clusters of arbitrary shapes</a:t>
            </a:r>
            <a:r>
              <a:rPr lang="en-US" dirty="0"/>
              <a:t> and is </a:t>
            </a:r>
            <a:r>
              <a:rPr lang="en-US" b="1" u="sng" dirty="0"/>
              <a:t>robust to noise</a:t>
            </a:r>
          </a:p>
          <a:p>
            <a:pPr algn="just"/>
            <a:r>
              <a:rPr lang="en-US" b="1" u="sng" dirty="0"/>
              <a:t>Key Terms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ε (eps)</a:t>
            </a:r>
            <a:r>
              <a:rPr lang="en-US" dirty="0"/>
              <a:t>: Radius defining neighborhood around a point</a:t>
            </a:r>
          </a:p>
          <a:p>
            <a:pPr lvl="1"/>
            <a:r>
              <a:rPr lang="en-US" b="1" dirty="0" err="1"/>
              <a:t>MinPts</a:t>
            </a:r>
            <a:r>
              <a:rPr lang="en-US" dirty="0"/>
              <a:t>: Minimum points required in ε-neighborhood to form dense region</a:t>
            </a:r>
          </a:p>
          <a:p>
            <a:pPr lvl="1"/>
            <a:r>
              <a:rPr lang="en-US" b="1" dirty="0"/>
              <a:t>Core Point</a:t>
            </a:r>
            <a:r>
              <a:rPr lang="en-US" dirty="0"/>
              <a:t>: Has ≥ </a:t>
            </a:r>
            <a:r>
              <a:rPr lang="en-US" dirty="0" err="1"/>
              <a:t>MinPts</a:t>
            </a:r>
            <a:r>
              <a:rPr lang="en-US" dirty="0"/>
              <a:t> in its ε-neighborhood</a:t>
            </a:r>
          </a:p>
          <a:p>
            <a:pPr lvl="1"/>
            <a:r>
              <a:rPr lang="en-US" b="1" dirty="0"/>
              <a:t>Border Point</a:t>
            </a:r>
            <a:r>
              <a:rPr lang="en-US" dirty="0"/>
              <a:t>: Fewer than </a:t>
            </a:r>
            <a:r>
              <a:rPr lang="en-US" dirty="0" err="1"/>
              <a:t>MinPts</a:t>
            </a:r>
            <a:r>
              <a:rPr lang="en-US" dirty="0"/>
              <a:t> but reachable from core point</a:t>
            </a:r>
          </a:p>
          <a:p>
            <a:pPr lvl="1"/>
            <a:r>
              <a:rPr lang="en-US" b="1" dirty="0"/>
              <a:t>Noise Point</a:t>
            </a:r>
            <a:r>
              <a:rPr lang="en-US" dirty="0"/>
              <a:t>: Neither core nor border point</a:t>
            </a:r>
          </a:p>
          <a:p>
            <a:pPr lvl="1" algn="just"/>
            <a:endParaRPr lang="en-US" dirty="0"/>
          </a:p>
          <a:p>
            <a:pPr algn="just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C4BC29-A66F-6A2E-D401-830CD7165C8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A44D9-57FE-F868-CCD8-7659C785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54CA4C-D0CF-2CDB-C1E0-6D3344E981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07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B60-FA0D-54BE-4035-EEEA4694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8F37-C895-E735-3769-8857B5B3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DBSCAN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238BF82-EA58-5F99-991A-BF67CA50E2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</p:spPr>
            <p:txBody>
              <a:bodyPr>
                <a:normAutofit/>
              </a:bodyPr>
              <a:lstStyle/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500" b="1" u="sng" dirty="0"/>
                  <a:t>Initialize:</a:t>
                </a:r>
              </a:p>
              <a:p>
                <a:pPr lvl="1" algn="just"/>
                <a:r>
                  <a:rPr lang="en-US" sz="2500" dirty="0"/>
                  <a:t>Mark all points as unvisited</a:t>
                </a:r>
              </a:p>
              <a:p>
                <a:pPr lvl="1" algn="just"/>
                <a:r>
                  <a:rPr lang="en-US" sz="2500" dirty="0"/>
                  <a:t>Set cluster counter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n-US" sz="2500" dirty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500" b="1" u="sng" dirty="0"/>
                  <a:t>Process Points:</a:t>
                </a:r>
              </a:p>
              <a:p>
                <a:pPr lvl="1" algn="just"/>
                <a:r>
                  <a:rPr lang="en-US" sz="2500" dirty="0"/>
                  <a:t>For each unvisited point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500" dirty="0"/>
                  <a:t>:</a:t>
                </a:r>
              </a:p>
              <a:p>
                <a:pPr lvl="2" algn="just"/>
                <a:r>
                  <a:rPr lang="en-US" sz="2500" dirty="0"/>
                  <a:t>Mark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500" dirty="0"/>
                  <a:t> as visited</a:t>
                </a:r>
              </a:p>
              <a:p>
                <a:pPr lvl="2" algn="just"/>
                <a:r>
                  <a:rPr lang="en-US" sz="2500" dirty="0"/>
                  <a:t>Find neighbors in </a:t>
                </a:r>
                <a14:m>
                  <m:oMath xmlns:m="http://schemas.openxmlformats.org/officeDocument/2006/math">
                    <m:r>
                      <a:rPr lang="en-US" sz="25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500" dirty="0"/>
                  <a:t>’s  </a:t>
                </a:r>
                <a:r>
                  <a:rPr lang="el-GR" sz="2500" dirty="0"/>
                  <a:t>ε-</a:t>
                </a:r>
                <a:r>
                  <a:rPr lang="en-US" sz="2500" dirty="0"/>
                  <a:t>radius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500" dirty="0"/>
                  <a:t> </a:t>
                </a:r>
              </a:p>
              <a:p>
                <a:pPr lvl="2" algn="just"/>
                <a:r>
                  <a:rPr lang="en-US" sz="2500" dirty="0"/>
                  <a:t>If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| &lt;</m:t>
                    </m:r>
                    <m:r>
                      <m:rPr>
                        <m:sty m:val="p"/>
                      </m:rPr>
                      <a:rPr lang="en-US" sz="2500" b="0" i="0" dirty="0" smtClean="0">
                        <a:latin typeface="Cambria Math" panose="02040503050406030204" pitchFamily="18" charset="0"/>
                      </a:rPr>
                      <m:t>MinPts</m:t>
                    </m:r>
                  </m:oMath>
                </a14:m>
                <a:r>
                  <a:rPr lang="en-US" sz="2500" dirty="0"/>
                  <a:t> → Mark as noise (temporary)</a:t>
                </a:r>
              </a:p>
              <a:p>
                <a:pPr lvl="2" algn="just"/>
                <a:r>
                  <a:rPr lang="en-US" sz="2500" dirty="0"/>
                  <a:t>Else:</a:t>
                </a:r>
              </a:p>
              <a:p>
                <a:pPr lvl="3" algn="just"/>
                <a:r>
                  <a:rPr lang="en-US" sz="2500" dirty="0"/>
                  <a:t>Create new cluster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endParaRPr lang="en-US" sz="2500" dirty="0"/>
              </a:p>
              <a:p>
                <a:pPr lvl="3" algn="just"/>
                <a:r>
                  <a:rPr lang="en-US" sz="2500" dirty="0"/>
                  <a:t>Add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500" dirty="0"/>
                  <a:t> to cluster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500" dirty="0"/>
              </a:p>
              <a:p>
                <a:pPr lvl="3" algn="just"/>
                <a:r>
                  <a:rPr lang="en-US" sz="2500" dirty="0"/>
                  <a:t>Expand cluster: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 i="0" dirty="0" smtClean="0">
                        <a:latin typeface="Cambria Math" panose="02040503050406030204" pitchFamily="18" charset="0"/>
                      </a:rPr>
                      <m:t>RegionQuery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238BF82-EA58-5F99-991A-BF67CA50E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  <a:blipFill>
                <a:blip r:embed="rId2"/>
                <a:stretch>
                  <a:fillRect l="-994" t="-1925" b="-1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17062B-42AB-CE64-90E5-2F85D76AFCA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2A687-5323-4372-788A-8B3857B9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A83B6-DF0C-BD18-34AC-C9FA00B7E9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39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8936-587E-FA21-2D77-2CD6FFAD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7B23-BE8B-3343-14BF-4447A662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DBSCAN Steps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EC222CA-162B-3AA5-B302-CF7C6F2112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</p:spPr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US" sz="3000" b="1" u="sng" dirty="0"/>
                  <a:t>Expand Cluster (</a:t>
                </a:r>
                <a:r>
                  <a:rPr lang="en-US" sz="3000" b="1" u="sng" dirty="0" err="1"/>
                  <a:t>RegionQuery</a:t>
                </a:r>
                <a:r>
                  <a:rPr lang="en-US" sz="3000" b="1" u="sng" dirty="0"/>
                  <a:t>):</a:t>
                </a:r>
              </a:p>
              <a:p>
                <a:pPr lvl="1" algn="just"/>
                <a:r>
                  <a:rPr lang="en-US" sz="3000" dirty="0"/>
                  <a:t>For each point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in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3000" dirty="0"/>
                  <a:t>:</a:t>
                </a:r>
              </a:p>
              <a:p>
                <a:pPr lvl="2" algn="just"/>
                <a:r>
                  <a:rPr lang="en-US" sz="3000" dirty="0"/>
                  <a:t>If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is unvisited:</a:t>
                </a:r>
              </a:p>
              <a:p>
                <a:pPr lvl="3" algn="just"/>
                <a:r>
                  <a:rPr lang="en-US" sz="3000" dirty="0"/>
                  <a:t>Mark as visited</a:t>
                </a:r>
              </a:p>
              <a:p>
                <a:pPr lvl="3" algn="just"/>
                <a:r>
                  <a:rPr lang="en-US" sz="3000" dirty="0"/>
                  <a:t>Find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's neighbors (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)</a:t>
                </a:r>
              </a:p>
              <a:p>
                <a:pPr lvl="3" algn="just"/>
                <a:r>
                  <a:rPr lang="en-US" sz="3000" dirty="0"/>
                  <a:t>If |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| ≥ </a:t>
                </a:r>
                <a:r>
                  <a:rPr lang="en-US" sz="3000" dirty="0" err="1"/>
                  <a:t>MinPts</a:t>
                </a:r>
                <a:r>
                  <a:rPr lang="en-US" sz="3000" dirty="0"/>
                  <a:t>: Merge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000" dirty="0"/>
                  <a:t> into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3000" dirty="0"/>
              </a:p>
              <a:p>
                <a:pPr lvl="2" algn="just"/>
                <a:r>
                  <a:rPr lang="en-US" sz="3000" dirty="0"/>
                  <a:t>If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000" dirty="0"/>
                  <a:t> not in any cluster</a:t>
                </a:r>
              </a:p>
              <a:p>
                <a:pPr lvl="3" algn="just"/>
                <a:r>
                  <a:rPr lang="en-US" sz="3000" dirty="0"/>
                  <a:t>Add to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US" sz="3000" b="1" u="sng" dirty="0"/>
                  <a:t>Terminate</a:t>
                </a:r>
                <a:r>
                  <a:rPr lang="en-US" sz="3000" dirty="0"/>
                  <a:t> when all points processed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EC222CA-162B-3AA5-B302-CF7C6F2112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63264"/>
              </a:xfrm>
              <a:blipFill>
                <a:blip r:embed="rId2"/>
                <a:stretch>
                  <a:fillRect l="-1325" t="-2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449B1C-479C-A662-CE18-CCCE517AB11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05D3C-1F12-4FC4-E60F-308DD5E9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9AB749-D6C2-655B-3B44-926B85144A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35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4FD3D-F3DF-70A2-5C44-EDE655850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4689-DF1A-CE19-5A9A-05773283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DBSCAN: Example (𝜀=1.9, </a:t>
            </a:r>
            <a:r>
              <a:rPr lang="en-US" b="1" dirty="0" err="1"/>
              <a:t>MinPts</a:t>
            </a:r>
            <a:r>
              <a:rPr lang="en-US" b="1" dirty="0"/>
              <a:t>=4)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89671F-94CD-3E65-6625-3B961BBF6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5063264"/>
          </a:xfrm>
        </p:spPr>
        <p:txBody>
          <a:bodyPr>
            <a:normAutofit/>
          </a:bodyPr>
          <a:lstStyle/>
          <a:p>
            <a:pPr algn="just"/>
            <a:r>
              <a:rPr lang="en-US" sz="3500" b="1" u="sng" dirty="0"/>
              <a:t>Dataset</a:t>
            </a:r>
            <a:r>
              <a:rPr lang="en-US" sz="3500" dirty="0"/>
              <a:t>:</a:t>
            </a:r>
          </a:p>
          <a:p>
            <a:pPr marL="0" indent="0" algn="just">
              <a:buNone/>
            </a:pPr>
            <a:r>
              <a:rPr lang="pt-BR" sz="3500" dirty="0"/>
              <a:t>A(3, 7), B(4, 6), C(5, 5), D(6, 4), E(7, 3), F(6, 2), G(7, 2), H(8, 4), I(3, 3), J(2, 6), K(3, 5), L(2, 4)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20771C-D193-1ABE-7D8F-29138726C46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7316E-F56D-BB17-506C-D1C090D2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94DE6E-B2EE-EEFE-A0E8-1FD95AB7AF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76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068CD-E0B4-380B-CD14-1E1A2613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FA15-F94D-19E9-4C25-7D585A36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DBSCAN: Example (𝜀=1.9)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1733F0-04B4-2DB0-2E45-30384882157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E9A59-517A-AD63-F9F6-3A24AC00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BCF7C7-B782-6760-BBE5-03250B03D3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B295180-5790-0BF3-C529-110E1003FD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248792"/>
              </p:ext>
            </p:extLst>
          </p:nvPr>
        </p:nvGraphicFramePr>
        <p:xfrm>
          <a:off x="838204" y="1529453"/>
          <a:ext cx="10515596" cy="482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161845921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11897967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90722100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79716973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08953118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6894283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79742414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2949808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96125929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02672529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41808116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53838207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951320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5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77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34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5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3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09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02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83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65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11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67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2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66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317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201E9-4424-E0C1-3E5A-6EDE3BCC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86A95-B791-D545-8729-238CCC59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200" b="1" dirty="0"/>
              <a:t>DBSCAN: Example (</a:t>
            </a:r>
            <a:r>
              <a:rPr lang="en-US" sz="4200" b="1" dirty="0" err="1"/>
              <a:t>MinPts</a:t>
            </a:r>
            <a:r>
              <a:rPr lang="en-US" sz="4200" b="1" dirty="0"/>
              <a:t>=4)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C10590-4CCA-1288-8C39-F494FF17EF4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2DCBE-66DD-945C-803C-29EA32BE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095A3-76DB-95C4-5AA5-9BF4992676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7B6BFA6-D337-1D1C-E95D-E092B0FA7B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173166"/>
              </p:ext>
            </p:extLst>
          </p:nvPr>
        </p:nvGraphicFramePr>
        <p:xfrm>
          <a:off x="838203" y="1529453"/>
          <a:ext cx="3092774" cy="481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46387">
                  <a:extLst>
                    <a:ext uri="{9D8B030D-6E8A-4147-A177-3AD203B41FA5}">
                      <a16:colId xmlns:a16="http://schemas.microsoft.com/office/drawing/2014/main" val="1618459210"/>
                    </a:ext>
                  </a:extLst>
                </a:gridCol>
                <a:gridCol w="1546387">
                  <a:extLst>
                    <a:ext uri="{9D8B030D-6E8A-4147-A177-3AD203B41FA5}">
                      <a16:colId xmlns:a16="http://schemas.microsoft.com/office/drawing/2014/main" val="2118979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Neighbors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5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77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A, C, </a:t>
                      </a:r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34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5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3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D, F, G,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093752"/>
                  </a:ext>
                </a:extLst>
              </a:tr>
              <a:tr h="34616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E,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02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E,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83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65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11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A,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67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solidFill>
                            <a:srgbClr val="FF0000"/>
                          </a:solidFill>
                        </a:rPr>
                        <a:t>B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 J, 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2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I,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66129"/>
                  </a:ext>
                </a:extLst>
              </a:tr>
            </a:tbl>
          </a:graphicData>
        </a:graphic>
      </p:graphicFrame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25F8B45F-41E5-8ACF-2FE5-5D1B297F9A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2980890"/>
              </p:ext>
            </p:extLst>
          </p:nvPr>
        </p:nvGraphicFramePr>
        <p:xfrm>
          <a:off x="4989498" y="1525472"/>
          <a:ext cx="6482763" cy="481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60921">
                  <a:extLst>
                    <a:ext uri="{9D8B030D-6E8A-4147-A177-3AD203B41FA5}">
                      <a16:colId xmlns:a16="http://schemas.microsoft.com/office/drawing/2014/main" val="1618459210"/>
                    </a:ext>
                  </a:extLst>
                </a:gridCol>
                <a:gridCol w="2160921">
                  <a:extLst>
                    <a:ext uri="{9D8B030D-6E8A-4147-A177-3AD203B41FA5}">
                      <a16:colId xmlns:a16="http://schemas.microsoft.com/office/drawing/2014/main" val="2118979678"/>
                    </a:ext>
                  </a:extLst>
                </a:gridCol>
                <a:gridCol w="2160921">
                  <a:extLst>
                    <a:ext uri="{9D8B030D-6E8A-4147-A177-3AD203B41FA5}">
                      <a16:colId xmlns:a16="http://schemas.microsoft.com/office/drawing/2014/main" val="482585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5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Border (w.r.t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77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34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Border (w.r.t B)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5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Border (w.r.t 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3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093752"/>
                  </a:ext>
                </a:extLst>
              </a:tr>
              <a:tr h="34616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Border (w.r.t 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02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Border (w.r.t 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83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Border (w.r.t 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965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11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Border (w.r.t K)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67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2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Border (w.r.t K)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66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696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7EC4-3CDA-6F25-69C0-9D2E64AEA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C464-7CF6-EB49-A5C6-2CDE1F78B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200" b="1" dirty="0"/>
              <a:t>DBSCAN: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6E94BF-687D-A63D-E5CB-06B76BAF637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2E80D-AB04-65FA-3A89-9836EEB3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726FD-8352-5FE5-9CD5-CB1ED71618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9AB3258-9F3B-FE82-A637-D8C8F491E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69278" y="1578920"/>
            <a:ext cx="6183948" cy="5142555"/>
          </a:xfrm>
        </p:spPr>
      </p:pic>
    </p:spTree>
    <p:extLst>
      <p:ext uri="{BB962C8B-B14F-4D97-AF65-F5344CB8AC3E}">
        <p14:creationId xmlns:p14="http://schemas.microsoft.com/office/powerpoint/2010/main" val="2802158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7252-7A09-A6FE-1B10-08FCF61C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5DDA-F48D-0D85-B1E1-37120F49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4200" b="1" dirty="0"/>
              <a:t>DBSCAN vs K-Means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2F303E-EDBC-4335-D94F-3AF328CA541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939F3-54A9-1017-BF16-73B2C3B3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F29BD6-EF36-73C8-0312-B15AE972D8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8F2017-3CAC-727D-5D03-BB58865FF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26640" y="1616075"/>
            <a:ext cx="10227160" cy="474027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186AAB-0738-66EA-FD0E-BCA0D44BC8A0}"/>
              </a:ext>
            </a:extLst>
          </p:cNvPr>
          <p:cNvSpPr txBox="1"/>
          <p:nvPr/>
        </p:nvSpPr>
        <p:spPr>
          <a:xfrm>
            <a:off x="4829289" y="6400413"/>
            <a:ext cx="21421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credit: </a:t>
            </a:r>
            <a:r>
              <a:rPr lang="en-US" sz="1200" dirty="0" err="1"/>
              <a:t>GeeksForGeeks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62836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13227</TotalTime>
  <Words>1758</Words>
  <Application>Microsoft Office PowerPoint</Application>
  <PresentationFormat>Widescreen</PresentationFormat>
  <Paragraphs>361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Wingdings</vt:lpstr>
      <vt:lpstr>Office Theme</vt:lpstr>
      <vt:lpstr>Lecture 5: Clustering Algorithms (Part I)</vt:lpstr>
      <vt:lpstr>Introduction</vt:lpstr>
      <vt:lpstr>Types of Clustering</vt:lpstr>
      <vt:lpstr>Types of Clustering Methods</vt:lpstr>
      <vt:lpstr>Types of Clustering Methods</vt:lpstr>
      <vt:lpstr>Types of Clustering Methods</vt:lpstr>
      <vt:lpstr>Types of Clustering Methods</vt:lpstr>
      <vt:lpstr>K-means Algorithm</vt:lpstr>
      <vt:lpstr>K-means Algorithm: Steps</vt:lpstr>
      <vt:lpstr>K-means Algorithm: Example</vt:lpstr>
      <vt:lpstr>K-means example (contd.)</vt:lpstr>
      <vt:lpstr>K-means example (contd.)</vt:lpstr>
      <vt:lpstr>Elbow Method for Optimal K in K-Means</vt:lpstr>
      <vt:lpstr>Elbow Method: Steps</vt:lpstr>
      <vt:lpstr>Elbow Method: Example</vt:lpstr>
      <vt:lpstr>Elbow Method: Example (contd.)</vt:lpstr>
      <vt:lpstr>Density-Based Spatial Clustering of Applications with Noise (DBSCAN)</vt:lpstr>
      <vt:lpstr>Key Concepts</vt:lpstr>
      <vt:lpstr>DBSCAN Steps</vt:lpstr>
      <vt:lpstr>DBSCAN Steps (contd.)</vt:lpstr>
      <vt:lpstr>DBSCAN: Example (𝜀=1.9, MinPts=4)</vt:lpstr>
      <vt:lpstr>DBSCAN: Example (𝜀=1.9) (contd.)</vt:lpstr>
      <vt:lpstr>DBSCAN: Example (MinPts=4) (contd.)</vt:lpstr>
      <vt:lpstr>DBSCAN: Example (contd.)</vt:lpstr>
      <vt:lpstr>DBSCAN vs K-Means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Clustering Algorithms (Part I)</dc:title>
  <dc:creator>Jilan Samiuddin</dc:creator>
  <cp:lastModifiedBy>Jilan Samiuddin</cp:lastModifiedBy>
  <cp:revision>128</cp:revision>
  <dcterms:created xsi:type="dcterms:W3CDTF">2025-05-01T04:50:36Z</dcterms:created>
  <dcterms:modified xsi:type="dcterms:W3CDTF">2026-02-16T03:20:44Z</dcterms:modified>
</cp:coreProperties>
</file>