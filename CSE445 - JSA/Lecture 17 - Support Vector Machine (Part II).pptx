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4" r:id="rId3"/>
    <p:sldId id="273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76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76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5ECB7-37BC-2AD6-0208-20434126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08109-9AAC-5C98-1B11-6BB6300CA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9659D-F4E9-5D65-F7D8-D91204B09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12B91-4F8E-2E2E-3A19-DCFF9CAAF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28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0A427-97B5-2F21-4796-0425AC03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EF707-E3E2-AC6C-4187-C4AEFE2E6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52E68-7CA5-6D02-C6A9-B94C7A03A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FDD4D-4DD8-A4B6-8B51-C2CC6C8D3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17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8E6B1-CC63-2AF2-F283-97D91C667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01ADA-C4D5-F857-226C-45636A849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A7490-44ED-85F8-61C1-1D86EE9A7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8D0E-0C3F-7FEE-268F-ECA4349EA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39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A188-C9D1-D473-B177-BBC8A1AA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CE078-ED7F-D067-7FA0-8CCFD0C71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4729A-C81B-0703-8A5B-C54B849F4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40999-ECB7-B1E6-CB57-E61D60A20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34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/>
          <a:stretch>
            <a:fillRect t="-35000" b="-3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17: Support Vector Machine (SVM) (Part II)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AEE8-6F8B-9FE0-BB68-5586414E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3528-3C14-7895-8EA3-B3996489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Case 3: Not Linearly Separable Data – Kernel Trick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1A0919-707C-DD43-2AB2-B90D62AFEA3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440A3-F561-5513-DF30-DCC7BF98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2826BA-4010-179D-017F-00C3FB366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B782FC3-F038-0CB2-CBC0-A3F8A8277D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5"/>
                <a:ext cx="11040256" cy="104284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000" b="1" u="sng" dirty="0"/>
                  <a:t>Key Idea</a:t>
                </a:r>
                <a:r>
                  <a:rPr lang="en-US" sz="2000" dirty="0"/>
                  <a:t>: Map input data into a </a:t>
                </a:r>
                <a:r>
                  <a:rPr lang="en-US" sz="2000" b="1" dirty="0"/>
                  <a:t>higher-dimensional space</a:t>
                </a:r>
                <a:r>
                  <a:rPr lang="en-US" sz="2000" dirty="0"/>
                  <a:t> where it becomes </a:t>
                </a:r>
                <a:r>
                  <a:rPr lang="en-US" sz="2000" b="1" dirty="0"/>
                  <a:t>linearly separable</a:t>
                </a:r>
              </a:p>
              <a:p>
                <a:pPr algn="just"/>
                <a:r>
                  <a:rPr lang="en-US" sz="2000" b="1" dirty="0"/>
                  <a:t>In this example: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∅: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to transform 1D data to 2D data, more particularly: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B782FC3-F038-0CB2-CBC0-A3F8A8277D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5"/>
                <a:ext cx="11040256" cy="1042840"/>
              </a:xfrm>
              <a:blipFill>
                <a:blip r:embed="rId4"/>
                <a:stretch>
                  <a:fillRect l="-497" t="-5233" r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8E83DFB-9C8D-991C-D0C7-F574F37D00B0}"/>
              </a:ext>
            </a:extLst>
          </p:cNvPr>
          <p:cNvGrpSpPr/>
          <p:nvPr/>
        </p:nvGrpSpPr>
        <p:grpSpPr>
          <a:xfrm>
            <a:off x="1584502" y="2935186"/>
            <a:ext cx="9210046" cy="3603726"/>
            <a:chOff x="1584502" y="3203772"/>
            <a:chExt cx="9210046" cy="360372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38F49C2-8A05-5834-9AAB-9D084E58A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4502" y="3203772"/>
              <a:ext cx="9210046" cy="3603726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E9F2960-18AB-E8C8-8093-361D27D2B235}"/>
                </a:ext>
              </a:extLst>
            </p:cNvPr>
            <p:cNvCxnSpPr>
              <a:cxnSpLocks/>
            </p:cNvCxnSpPr>
            <p:nvPr/>
          </p:nvCxnSpPr>
          <p:spPr>
            <a:xfrm>
              <a:off x="6715897" y="5381365"/>
              <a:ext cx="3873844" cy="0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51B7FF-EDA6-97B5-9C10-EE0A7BFDE419}"/>
                </a:ext>
              </a:extLst>
            </p:cNvPr>
            <p:cNvSpPr txBox="1"/>
            <p:nvPr/>
          </p:nvSpPr>
          <p:spPr>
            <a:xfrm>
              <a:off x="7619395" y="5077828"/>
              <a:ext cx="20668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Decision Boundary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DD0B636-7641-70C6-363D-EA0C3C142AC0}"/>
              </a:ext>
            </a:extLst>
          </p:cNvPr>
          <p:cNvSpPr txBox="1"/>
          <p:nvPr/>
        </p:nvSpPr>
        <p:spPr>
          <a:xfrm>
            <a:off x="2023559" y="6468256"/>
            <a:ext cx="35725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Data is not linearly separable in the input space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471904-4FC2-8480-95F5-8BA2DCFB7E2C}"/>
              </a:ext>
            </a:extLst>
          </p:cNvPr>
          <p:cNvSpPr txBox="1"/>
          <p:nvPr/>
        </p:nvSpPr>
        <p:spPr>
          <a:xfrm>
            <a:off x="6302537" y="6406472"/>
            <a:ext cx="469615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Data is now linearly separable in the transformed feature space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B8DCC8-6BCA-85D6-D393-BB3748499B6C}"/>
              </a:ext>
            </a:extLst>
          </p:cNvPr>
          <p:cNvSpPr txBox="1"/>
          <p:nvPr/>
        </p:nvSpPr>
        <p:spPr>
          <a:xfrm>
            <a:off x="2425013" y="6286642"/>
            <a:ext cx="1279325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300" dirty="0"/>
              <a:t>Medicine Dosage,</a:t>
            </a:r>
          </a:p>
        </p:txBody>
      </p:sp>
    </p:spTree>
    <p:extLst>
      <p:ext uri="{BB962C8B-B14F-4D97-AF65-F5344CB8AC3E}">
        <p14:creationId xmlns:p14="http://schemas.microsoft.com/office/powerpoint/2010/main" val="111883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94163-6275-8D2E-88F3-9D2CC3F99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9DD3-46B3-07B8-7E63-AEDB9EE1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Case 3: Kernel Trick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A3D0C1-B1B4-9A3C-622C-29FBF33F46B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82211-AD9E-F7BA-B7C1-1479895F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38218-A495-F6C2-ECA8-EF87379AD4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E01EB143-5DBF-FBBD-69B8-D89E7F30B7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53072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3200" dirty="0"/>
                  <a:t>While mapping functions play an important role, </a:t>
                </a:r>
                <a:r>
                  <a:rPr lang="en-US" sz="3200" b="1" u="sng" dirty="0"/>
                  <a:t>there is no generalized thumb rule</a:t>
                </a:r>
                <a:r>
                  <a:rPr lang="en-US" sz="3200" dirty="0"/>
                  <a:t> available describing </a:t>
                </a:r>
                <a:r>
                  <a:rPr lang="en-US" sz="3200" b="1" u="sng" dirty="0"/>
                  <a:t>what transformations should be applied</a:t>
                </a:r>
              </a:p>
              <a:p>
                <a:pPr algn="just"/>
                <a:r>
                  <a:rPr lang="en-US" sz="3200" dirty="0"/>
                  <a:t>For example, if there are two datasets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/>
                  <a:t>, there is no guarantee that transformation that worked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will work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/>
                  <a:t> as well</a:t>
                </a:r>
              </a:p>
              <a:p>
                <a:pPr algn="just"/>
                <a:r>
                  <a:rPr lang="en-US" sz="3200" dirty="0"/>
                  <a:t>Moreover, if the data is large, mapping process takes significant time </a:t>
                </a:r>
              </a:p>
              <a:p>
                <a:pPr algn="just"/>
                <a:r>
                  <a:rPr lang="en-US" sz="3200" dirty="0"/>
                  <a:t>So, what do we do? The answer is, the </a:t>
                </a:r>
                <a:r>
                  <a:rPr lang="en-US" sz="3200" b="1" u="sng" dirty="0"/>
                  <a:t>Kernel Trick</a:t>
                </a:r>
                <a:r>
                  <a:rPr lang="en-US" sz="3200" dirty="0"/>
                  <a:t>!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E01EB143-5DBF-FBBD-69B8-D89E7F30B7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530725"/>
              </a:xfrm>
              <a:blipFill>
                <a:blip r:embed="rId3"/>
                <a:stretch>
                  <a:fillRect l="-1270" t="-2688" r="-1380" b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37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5E49-5968-A0AD-C827-3C52F88F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5E8C-36AF-341F-B2AB-45567993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Case 3: Kernel Trick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4E3110-DD9B-2566-999B-6E9A08A3A55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3C8EB-6C80-36FC-0F19-1678F2EC9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42BAD5-C1E9-6518-3E23-54E1C81463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42B0606-9820-F9F5-BB49-23DBF2DD7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11040256" cy="2369495"/>
          </a:xfrm>
        </p:spPr>
        <p:txBody>
          <a:bodyPr>
            <a:noAutofit/>
          </a:bodyPr>
          <a:lstStyle/>
          <a:p>
            <a:pPr algn="just"/>
            <a:r>
              <a:rPr lang="en-US" sz="2500" b="1" u="sng" dirty="0"/>
              <a:t>What is Kernel?</a:t>
            </a:r>
          </a:p>
          <a:p>
            <a:pPr lvl="1" algn="just"/>
            <a:r>
              <a:rPr lang="en-US" sz="2500" dirty="0"/>
              <a:t>Kernels are set of functions used to transform data from lower dimension to higher dimension and to manipulate data using dot product at higher dimensions</a:t>
            </a:r>
          </a:p>
          <a:p>
            <a:pPr lvl="1" algn="just"/>
            <a:r>
              <a:rPr lang="en-US" sz="2500" dirty="0"/>
              <a:t>Once the higher dimension data is obtained, apply SVM for classification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2DDBC0-94CC-0FC5-1EC9-50C79C6C2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021" y="3750323"/>
            <a:ext cx="7147664" cy="29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41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E65D5-5C8D-FA08-5E78-8A76FFFDC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A85E-136B-38F9-4FDA-EF61D55A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1" dirty="0"/>
              <a:t>Kernel Trick: 2</a:t>
            </a:r>
            <a:r>
              <a:rPr lang="en-US" sz="3600" b="1" baseline="30000" dirty="0"/>
              <a:t>nd</a:t>
            </a:r>
            <a:r>
              <a:rPr lang="en-US" sz="3600" b="1" dirty="0"/>
              <a:t> Order Degree Polynomial Mapping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971A0E-539D-CA40-B587-815935CC594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D4318-CCFB-ADB4-58DC-834B1A3D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64ECA7-398E-61C1-8D47-51B3BAFAE8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16E9D2B-02FC-0104-515D-A6FFBA0C7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371289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500" dirty="0"/>
                  <a:t>Suppose we have 2D input vector: </a:t>
                </a:r>
                <a14:m>
                  <m:oMath xmlns:m="http://schemas.openxmlformats.org/officeDocument/2006/math"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endParaRPr lang="en-US" sz="2500" dirty="0"/>
              </a:p>
              <a:p>
                <a:pPr algn="just"/>
                <a:r>
                  <a:rPr lang="en-US" sz="2400" dirty="0"/>
                  <a:t>We want to use a </a:t>
                </a:r>
                <a:r>
                  <a:rPr lang="en-US" sz="2400" b="1" dirty="0"/>
                  <a:t>non-linear mapping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to a higher-dimensional space so that a linear decision boundary can be found </a:t>
                </a:r>
                <a:r>
                  <a:rPr lang="en-US" sz="2400" b="1" dirty="0"/>
                  <a:t>there</a:t>
                </a:r>
                <a:r>
                  <a:rPr lang="en-US" sz="2400" dirty="0"/>
                  <a:t> – not in the original input space</a:t>
                </a:r>
              </a:p>
              <a:p>
                <a:pPr algn="just"/>
                <a:r>
                  <a:rPr lang="en-US" sz="2400" dirty="0"/>
                  <a:t>A typical 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order polynomial mapping:</a:t>
                </a:r>
              </a:p>
              <a:p>
                <a:pPr algn="just"/>
                <a:endParaRPr lang="en-US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ad>
                            <m:radPr>
                              <m:degHide m:val="on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ad>
                            <m:radPr>
                              <m:deg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ad>
                            <m:radPr>
                              <m:deg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1</m:t>
                          </m:r>
                        </m:e>
                      </m:d>
                    </m:oMath>
                  </m:oMathPara>
                </a14:m>
                <a:endParaRPr lang="en-US" sz="25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5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500" dirty="0">
                    <a:latin typeface="+mj-lt"/>
                    <a:ea typeface="Cambria Math" panose="02040503050406030204" pitchFamily="18" charset="0"/>
                  </a:rPr>
                  <a:t>a</a:t>
                </a:r>
                <a:r>
                  <a:rPr lang="en-US" sz="2500" b="0" i="0" dirty="0">
                    <a:latin typeface="+mj-lt"/>
                    <a:ea typeface="Cambria Math" panose="02040503050406030204" pitchFamily="18" charset="0"/>
                  </a:rPr>
                  <a:t>nd this maps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500" b="0" i="0" dirty="0">
                    <a:latin typeface="+mj-lt"/>
                    <a:ea typeface="Cambria Math" panose="02040503050406030204" pitchFamily="18" charset="0"/>
                  </a:rPr>
                  <a:t>, and the dot product is given by:</a:t>
                </a:r>
              </a:p>
              <a:p>
                <a:pPr marL="0" indent="0" algn="just">
                  <a:buNone/>
                </a:pPr>
                <a:endParaRPr lang="en-US" sz="2500" b="0" i="0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l-G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5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 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sSubSup>
                        <m:sSub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 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 </m:t>
                      </m:r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 +2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</m:t>
                      </m:r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+1</m:t>
                      </m:r>
                    </m:oMath>
                  </m:oMathPara>
                </a14:m>
                <a:endParaRPr lang="en-US" sz="2500" b="0" i="0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16E9D2B-02FC-0104-515D-A6FFBA0C7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371289"/>
              </a:xfrm>
              <a:blipFill>
                <a:blip r:embed="rId3"/>
                <a:stretch>
                  <a:fillRect l="-939" t="-1811" r="-828" b="-8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0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B387-D9A5-5A73-70A1-8E4E6741A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E9451-58BD-34EB-FACD-68C4C33C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1" dirty="0"/>
              <a:t>Kernel Trick: 2</a:t>
            </a:r>
            <a:r>
              <a:rPr lang="en-US" sz="3600" b="1" baseline="30000" dirty="0"/>
              <a:t>nd</a:t>
            </a:r>
            <a:r>
              <a:rPr lang="en-US" sz="3600" b="1" dirty="0"/>
              <a:t> Order Degree Polynomial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1C054B-83EA-B190-C057-A6A52F7CC43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DB58C-885C-AD26-359E-BF6559C29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AC1AB9-46F7-34CB-079F-060FDB50E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DFEDE69-9B89-BCFA-4A80-3B32918AF6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371289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500" dirty="0">
                    <a:latin typeface="+mj-lt"/>
                    <a:ea typeface="Cambria Math" panose="02040503050406030204" pitchFamily="18" charset="0"/>
                  </a:rPr>
                  <a:t>But the mapping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500" b="0" i="0" dirty="0">
                    <a:latin typeface="+mj-lt"/>
                    <a:ea typeface="Cambria Math" panose="02040503050406030204" pitchFamily="18" charset="0"/>
                  </a:rPr>
                  <a:t> is computationally expensive since explicit mapping for each data point needs to be calculated</a:t>
                </a:r>
              </a:p>
              <a:p>
                <a:pPr algn="just"/>
                <a:r>
                  <a:rPr lang="en-US" sz="2500" b="1" u="sng" dirty="0">
                    <a:latin typeface="+mj-lt"/>
                    <a:ea typeface="Cambria Math" panose="02040503050406030204" pitchFamily="18" charset="0"/>
                  </a:rPr>
                  <a:t>Instead</a:t>
                </a:r>
                <a:r>
                  <a:rPr lang="en-US" sz="2500" dirty="0">
                    <a:latin typeface="+mj-lt"/>
                    <a:ea typeface="Cambria Math" panose="02040503050406030204" pitchFamily="18" charset="0"/>
                  </a:rPr>
                  <a:t>, </a:t>
                </a:r>
                <a:r>
                  <a:rPr lang="en-US" sz="2400" dirty="0"/>
                  <a:t>we can use the </a:t>
                </a:r>
                <a:r>
                  <a:rPr lang="en-US" sz="2400" b="1" dirty="0"/>
                  <a:t>polynomial kernel</a:t>
                </a:r>
                <a:r>
                  <a:rPr lang="en-US" sz="2400" dirty="0"/>
                  <a:t>:</a:t>
                </a:r>
              </a:p>
              <a:p>
                <a:pPr algn="just"/>
                <a:endParaRPr lang="en-US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sz="25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5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5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500" b="0" i="0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500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500" b="0" i="0" dirty="0">
                    <a:latin typeface="+mj-lt"/>
                    <a:ea typeface="Cambria Math" panose="02040503050406030204" pitchFamily="18" charset="0"/>
                  </a:rPr>
                  <a:t>If we expand the above, we get:</a:t>
                </a:r>
              </a:p>
              <a:p>
                <a:pPr marL="0" indent="0" algn="just">
                  <a:buNone/>
                </a:pPr>
                <a:endParaRPr lang="en-US" sz="2500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 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sSubSup>
                        <m:sSub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 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 </m:t>
                      </m:r>
                      <m:sSubSup>
                        <m:sSub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 +2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​</m:t>
                      </m:r>
                      <m:sSubSup>
                        <m:sSubSup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l-GR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+1</m:t>
                      </m:r>
                    </m:oMath>
                  </m:oMathPara>
                </a14:m>
                <a:endParaRPr lang="en-US" sz="2500" b="0" i="0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500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500" b="0" i="0" dirty="0">
                    <a:latin typeface="+mj-lt"/>
                    <a:ea typeface="Cambria Math" panose="02040503050406030204" pitchFamily="18" charset="0"/>
                  </a:rPr>
                  <a:t>This is the exact same expression we </a:t>
                </a:r>
                <a:r>
                  <a:rPr lang="en-US" sz="2500" dirty="0">
                    <a:latin typeface="+mj-lt"/>
                    <a:ea typeface="Cambria Math" panose="02040503050406030204" pitchFamily="18" charset="0"/>
                  </a:rPr>
                  <a:t>found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l-G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l-GR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5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5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500" b="0" i="0" dirty="0">
                    <a:latin typeface="+mj-lt"/>
                    <a:ea typeface="Cambria Math" panose="02040503050406030204" pitchFamily="18" charset="0"/>
                  </a:rPr>
                  <a:t>!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DFEDE69-9B89-BCFA-4A80-3B32918AF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371289"/>
              </a:xfrm>
              <a:blipFill>
                <a:blip r:embed="rId3"/>
                <a:stretch>
                  <a:fillRect l="-939" t="-1811" r="-883" b="-1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35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652D-9C8F-5FAE-8EB8-C9743D8B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6945-21DD-976E-6217-F1E4D3A0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1" dirty="0"/>
              <a:t>Mathematical Example: Kernel Trick 2</a:t>
            </a:r>
            <a:r>
              <a:rPr lang="en-US" sz="3600" b="1" baseline="30000" dirty="0"/>
              <a:t>nd</a:t>
            </a:r>
            <a:r>
              <a:rPr lang="en-US" sz="3600" b="1" dirty="0"/>
              <a:t> Degree Poly.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A30466-C1C8-4FFF-01D5-671E1E6CC0E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2ADBF-7035-5871-C0A5-E0145CE1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F981DE-E72B-162E-7558-9F83BD6DD8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5983F5DA-679D-88AE-A03C-AEF0DBB908C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68569381"/>
                  </p:ext>
                </p:extLst>
              </p:nvPr>
            </p:nvGraphicFramePr>
            <p:xfrm>
              <a:off x="652072" y="1783168"/>
              <a:ext cx="1756719" cy="1097280"/>
            </p:xfrm>
            <a:graphic>
              <a:graphicData uri="http://schemas.openxmlformats.org/drawingml/2006/table">
                <a:tbl>
                  <a:tblPr/>
                  <a:tblGrid>
                    <a:gridCol w="729049">
                      <a:extLst>
                        <a:ext uri="{9D8B030D-6E8A-4147-A177-3AD203B41FA5}">
                          <a16:colId xmlns:a16="http://schemas.microsoft.com/office/drawing/2014/main" val="3356464737"/>
                        </a:ext>
                      </a:extLst>
                    </a:gridCol>
                    <a:gridCol w="1027670">
                      <a:extLst>
                        <a:ext uri="{9D8B030D-6E8A-4147-A177-3AD203B41FA5}">
                          <a16:colId xmlns:a16="http://schemas.microsoft.com/office/drawing/2014/main" val="366302978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Sample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46411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[1, 2]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252645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[0, 1]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748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[2, 3]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24601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5983F5DA-679D-88AE-A03C-AEF0DBB908C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68569381"/>
                  </p:ext>
                </p:extLst>
              </p:nvPr>
            </p:nvGraphicFramePr>
            <p:xfrm>
              <a:off x="652072" y="1783168"/>
              <a:ext cx="1756719" cy="1097280"/>
            </p:xfrm>
            <a:graphic>
              <a:graphicData uri="http://schemas.openxmlformats.org/drawingml/2006/table">
                <a:tbl>
                  <a:tblPr/>
                  <a:tblGrid>
                    <a:gridCol w="729049">
                      <a:extLst>
                        <a:ext uri="{9D8B030D-6E8A-4147-A177-3AD203B41FA5}">
                          <a16:colId xmlns:a16="http://schemas.microsoft.com/office/drawing/2014/main" val="3356464737"/>
                        </a:ext>
                      </a:extLst>
                    </a:gridCol>
                    <a:gridCol w="1027670">
                      <a:extLst>
                        <a:ext uri="{9D8B030D-6E8A-4147-A177-3AD203B41FA5}">
                          <a16:colId xmlns:a16="http://schemas.microsoft.com/office/drawing/2014/main" val="366302978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Sample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71176" t="-2222" r="-1176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464119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833" t="-100000" r="-143333" b="-2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[1, 2]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25264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833" t="-204444" r="-143333" b="-1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[0, 1]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748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33" t="-304444" r="-143333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[2, 3]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24601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5C886B8-B375-51B2-6CDC-A09305EB1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065439"/>
                  </p:ext>
                </p:extLst>
              </p:nvPr>
            </p:nvGraphicFramePr>
            <p:xfrm>
              <a:off x="734197" y="4984750"/>
              <a:ext cx="6279292" cy="1371600"/>
            </p:xfrm>
            <a:graphic>
              <a:graphicData uri="http://schemas.openxmlformats.org/drawingml/2006/table">
                <a:tbl>
                  <a:tblPr/>
                  <a:tblGrid>
                    <a:gridCol w="508687">
                      <a:extLst>
                        <a:ext uri="{9D8B030D-6E8A-4147-A177-3AD203B41FA5}">
                          <a16:colId xmlns:a16="http://schemas.microsoft.com/office/drawing/2014/main" val="2925887924"/>
                        </a:ext>
                      </a:extLst>
                    </a:gridCol>
                    <a:gridCol w="1890584">
                      <a:extLst>
                        <a:ext uri="{9D8B030D-6E8A-4147-A177-3AD203B41FA5}">
                          <a16:colId xmlns:a16="http://schemas.microsoft.com/office/drawing/2014/main" val="1744079020"/>
                        </a:ext>
                      </a:extLst>
                    </a:gridCol>
                    <a:gridCol w="1896762">
                      <a:extLst>
                        <a:ext uri="{9D8B030D-6E8A-4147-A177-3AD203B41FA5}">
                          <a16:colId xmlns:a16="http://schemas.microsoft.com/office/drawing/2014/main" val="184115209"/>
                        </a:ext>
                      </a:extLst>
                    </a:gridCol>
                    <a:gridCol w="1983259">
                      <a:extLst>
                        <a:ext uri="{9D8B030D-6E8A-4147-A177-3AD203B41FA5}">
                          <a16:colId xmlns:a16="http://schemas.microsoft.com/office/drawing/2014/main" val="835375422"/>
                        </a:ext>
                      </a:extLst>
                    </a:gridCol>
                  </a:tblGrid>
                  <a:tr h="0">
                    <a:tc gridSpan="4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200" b="1" dirty="0"/>
                            <a:t>Kernel Function Computation</a:t>
                          </a:r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12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1509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69375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1200" b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  <m:t>1⋅1+2⋅2+1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 = 36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  <m:t>1⋅0+2⋅1+1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 = 9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  <m:t>1⋅2+2⋅3+1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= 81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517036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1200" b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  <m:t>0⋅0+1⋅1+1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 4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  <m:t>0⋅2+1⋅3+1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 = 16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118966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81</m:t>
                                </m:r>
                              </m:oMath>
                            </m:oMathPara>
                          </a14:m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  <m:t>2⋅2+3⋅3+1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= 196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48512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5C886B8-B375-51B2-6CDC-A09305EB1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065439"/>
                  </p:ext>
                </p:extLst>
              </p:nvPr>
            </p:nvGraphicFramePr>
            <p:xfrm>
              <a:off x="734197" y="4984750"/>
              <a:ext cx="6279292" cy="1371600"/>
            </p:xfrm>
            <a:graphic>
              <a:graphicData uri="http://schemas.openxmlformats.org/drawingml/2006/table">
                <a:tbl>
                  <a:tblPr/>
                  <a:tblGrid>
                    <a:gridCol w="508687">
                      <a:extLst>
                        <a:ext uri="{9D8B030D-6E8A-4147-A177-3AD203B41FA5}">
                          <a16:colId xmlns:a16="http://schemas.microsoft.com/office/drawing/2014/main" val="2925887924"/>
                        </a:ext>
                      </a:extLst>
                    </a:gridCol>
                    <a:gridCol w="1890584">
                      <a:extLst>
                        <a:ext uri="{9D8B030D-6E8A-4147-A177-3AD203B41FA5}">
                          <a16:colId xmlns:a16="http://schemas.microsoft.com/office/drawing/2014/main" val="1744079020"/>
                        </a:ext>
                      </a:extLst>
                    </a:gridCol>
                    <a:gridCol w="1896762">
                      <a:extLst>
                        <a:ext uri="{9D8B030D-6E8A-4147-A177-3AD203B41FA5}">
                          <a16:colId xmlns:a16="http://schemas.microsoft.com/office/drawing/2014/main" val="184115209"/>
                        </a:ext>
                      </a:extLst>
                    </a:gridCol>
                    <a:gridCol w="1983259">
                      <a:extLst>
                        <a:ext uri="{9D8B030D-6E8A-4147-A177-3AD203B41FA5}">
                          <a16:colId xmlns:a16="http://schemas.microsoft.com/office/drawing/2014/main" val="835375422"/>
                        </a:ext>
                      </a:extLst>
                    </a:gridCol>
                  </a:tblGrid>
                  <a:tr h="27432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7" t="-2222" r="-194" b="-40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15093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419" t="-102222" r="-206129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7010" t="-102222" r="-105466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16564" t="-102222" r="-613" b="-3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3756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90" t="-197826" r="-112976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419" t="-197826" r="-20612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7010" t="-197826" r="-10546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16564" t="-197826" r="-61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170367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90" t="-304444" r="-1129762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419" t="-304444" r="-206129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7010" t="-304444" r="-105466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16564" t="-304444" r="-613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118966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90" t="-404444" r="-1129762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419" t="-404444" r="-206129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7010" t="-404444" r="-105466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16564" t="-404444" r="-613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48512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0DAA29C-3D75-EDC9-31D7-90E16C28B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4920384"/>
                  </p:ext>
                </p:extLst>
              </p:nvPr>
            </p:nvGraphicFramePr>
            <p:xfrm>
              <a:off x="2967681" y="1690688"/>
              <a:ext cx="8462319" cy="2779395"/>
            </p:xfrm>
            <a:graphic>
              <a:graphicData uri="http://schemas.openxmlformats.org/drawingml/2006/table">
                <a:tbl>
                  <a:tblPr/>
                  <a:tblGrid>
                    <a:gridCol w="836141">
                      <a:extLst>
                        <a:ext uri="{9D8B030D-6E8A-4147-A177-3AD203B41FA5}">
                          <a16:colId xmlns:a16="http://schemas.microsoft.com/office/drawing/2014/main" val="2001875171"/>
                        </a:ext>
                      </a:extLst>
                    </a:gridCol>
                    <a:gridCol w="2294237">
                      <a:extLst>
                        <a:ext uri="{9D8B030D-6E8A-4147-A177-3AD203B41FA5}">
                          <a16:colId xmlns:a16="http://schemas.microsoft.com/office/drawing/2014/main" val="4089464350"/>
                        </a:ext>
                      </a:extLst>
                    </a:gridCol>
                    <a:gridCol w="2496065">
                      <a:extLst>
                        <a:ext uri="{9D8B030D-6E8A-4147-A177-3AD203B41FA5}">
                          <a16:colId xmlns:a16="http://schemas.microsoft.com/office/drawing/2014/main" val="3680854634"/>
                        </a:ext>
                      </a:extLst>
                    </a:gridCol>
                    <a:gridCol w="2835876">
                      <a:extLst>
                        <a:ext uri="{9D8B030D-6E8A-4147-A177-3AD203B41FA5}">
                          <a16:colId xmlns:a16="http://schemas.microsoft.com/office/drawing/2014/main" val="3071175808"/>
                        </a:ext>
                      </a:extLst>
                    </a:gridCol>
                  </a:tblGrid>
                  <a:tr h="0">
                    <a:tc gridSpan="4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200" b="1" dirty="0">
                              <a:ea typeface="Cambria Math" panose="02040503050406030204" pitchFamily="18" charset="0"/>
                            </a:rPr>
                            <a:t>Compute</a:t>
                          </a:r>
                          <a:r>
                            <a:rPr lang="en-US" sz="1200" baseline="0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65042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∙1∙2,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∙1,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∙2,1</m:t>
                                    </m:r>
                                  </m:e>
                                </m:d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= [1, 4, 2.828, 1.414, 2.828, 1]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89075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[0, 1, 0, 0, 1.414, 1]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74121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 [4, 9, 8.485, 2.828, 4.243, 1]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7464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229535"/>
                      </a:ext>
                    </a:extLst>
                  </a:tr>
                  <a:tr h="0">
                    <a:tc gridSpan="4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200" b="1" dirty="0"/>
                            <a:t>Compute dot products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11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l-GR" sz="11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l-GR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2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85333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7200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1+16+8+2+8+1=36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0+4+0+0+4+1=9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4+36+24+4+12+1=81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32106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12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0+1+0+0+2+1=4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0+9+0+0+6+1=16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094528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81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16+81+72+8+18+1=196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36648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0DAA29C-3D75-EDC9-31D7-90E16C28B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4920384"/>
                  </p:ext>
                </p:extLst>
              </p:nvPr>
            </p:nvGraphicFramePr>
            <p:xfrm>
              <a:off x="2967681" y="1690688"/>
              <a:ext cx="8462319" cy="2779395"/>
            </p:xfrm>
            <a:graphic>
              <a:graphicData uri="http://schemas.openxmlformats.org/drawingml/2006/table">
                <a:tbl>
                  <a:tblPr/>
                  <a:tblGrid>
                    <a:gridCol w="836141">
                      <a:extLst>
                        <a:ext uri="{9D8B030D-6E8A-4147-A177-3AD203B41FA5}">
                          <a16:colId xmlns:a16="http://schemas.microsoft.com/office/drawing/2014/main" val="2001875171"/>
                        </a:ext>
                      </a:extLst>
                    </a:gridCol>
                    <a:gridCol w="2294237">
                      <a:extLst>
                        <a:ext uri="{9D8B030D-6E8A-4147-A177-3AD203B41FA5}">
                          <a16:colId xmlns:a16="http://schemas.microsoft.com/office/drawing/2014/main" val="4089464350"/>
                        </a:ext>
                      </a:extLst>
                    </a:gridCol>
                    <a:gridCol w="2496065">
                      <a:extLst>
                        <a:ext uri="{9D8B030D-6E8A-4147-A177-3AD203B41FA5}">
                          <a16:colId xmlns:a16="http://schemas.microsoft.com/office/drawing/2014/main" val="3680854634"/>
                        </a:ext>
                      </a:extLst>
                    </a:gridCol>
                    <a:gridCol w="2835876">
                      <a:extLst>
                        <a:ext uri="{9D8B030D-6E8A-4147-A177-3AD203B41FA5}">
                          <a16:colId xmlns:a16="http://schemas.microsoft.com/office/drawing/2014/main" val="3071175808"/>
                        </a:ext>
                      </a:extLst>
                    </a:gridCol>
                  </a:tblGrid>
                  <a:tr h="27432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2" t="-2222" r="-216" b="-92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6504217"/>
                      </a:ext>
                    </a:extLst>
                  </a:tr>
                  <a:tr h="3105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30" t="-90196" r="-916058" b="-711765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22" t="-90196" r="-240" b="-71176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890752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30" t="-215556" r="-916058" b="-706667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22" t="-215556" r="-240" b="-70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741217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30" t="-315556" r="-916058" b="-606667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22" t="-315556" r="-240" b="-60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7464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229535"/>
                      </a:ext>
                    </a:extLst>
                  </a:tr>
                  <a:tr h="27432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2" t="-504348" r="-216" b="-3956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85333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6605" t="-617778" r="-232891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5610" t="-617778" r="-114146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98925" t="-617778" r="-645" b="-3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00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30" t="-717778" r="-916058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6605" t="-717778" r="-232891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5610" t="-717778" r="-114146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98925" t="-717778" r="-645" b="-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321065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30" t="-817778" r="-916058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6605" t="-817778" r="-232891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5610" t="-817778" r="-114146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98925" t="-817778" r="-645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94528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30" t="-917778" r="-916058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6605" t="-917778" r="-232891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5610" t="-917778" r="-114146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98925" t="-917778" r="-645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36648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F478D67-D016-D44B-26C7-79320991CD92}"/>
              </a:ext>
            </a:extLst>
          </p:cNvPr>
          <p:cNvSpPr txBox="1"/>
          <p:nvPr/>
        </p:nvSpPr>
        <p:spPr>
          <a:xfrm>
            <a:off x="8391010" y="4452560"/>
            <a:ext cx="3182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Explicit Polynomial Mapping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E40E5D-94CA-6428-EE53-2F835B68C26C}"/>
              </a:ext>
            </a:extLst>
          </p:cNvPr>
          <p:cNvSpPr txBox="1"/>
          <p:nvPr/>
        </p:nvSpPr>
        <p:spPr>
          <a:xfrm>
            <a:off x="3873843" y="6356350"/>
            <a:ext cx="338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Kernel Function Computation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BC59DD-F643-13A9-037E-C6D8DE61250A}"/>
              </a:ext>
            </a:extLst>
          </p:cNvPr>
          <p:cNvCxnSpPr>
            <a:cxnSpLocks/>
          </p:cNvCxnSpPr>
          <p:nvPr/>
        </p:nvCxnSpPr>
        <p:spPr>
          <a:xfrm>
            <a:off x="1773836" y="2987699"/>
            <a:ext cx="1117645" cy="525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FD9B91A-E12C-B3A2-0990-F026F5AD956F}"/>
              </a:ext>
            </a:extLst>
          </p:cNvPr>
          <p:cNvCxnSpPr>
            <a:cxnSpLocks/>
          </p:cNvCxnSpPr>
          <p:nvPr/>
        </p:nvCxnSpPr>
        <p:spPr>
          <a:xfrm>
            <a:off x="1176914" y="2996165"/>
            <a:ext cx="305897" cy="18257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F16502E-8162-045D-6A43-77479CDCD56E}"/>
              </a:ext>
            </a:extLst>
          </p:cNvPr>
          <p:cNvSpPr txBox="1"/>
          <p:nvPr/>
        </p:nvSpPr>
        <p:spPr>
          <a:xfrm>
            <a:off x="8077458" y="5244147"/>
            <a:ext cx="32763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 </a:t>
            </a:r>
            <a:r>
              <a:rPr lang="en-US" b="1" dirty="0">
                <a:solidFill>
                  <a:srgbClr val="FF0000"/>
                </a:solidFill>
              </a:rPr>
              <a:t>larger datasets</a:t>
            </a:r>
            <a:r>
              <a:rPr lang="en-US" dirty="0">
                <a:solidFill>
                  <a:srgbClr val="FF0000"/>
                </a:solidFill>
              </a:rPr>
              <a:t> or </a:t>
            </a:r>
            <a:r>
              <a:rPr lang="en-US" b="1" dirty="0">
                <a:solidFill>
                  <a:srgbClr val="FF0000"/>
                </a:solidFill>
              </a:rPr>
              <a:t>complex kernels</a:t>
            </a:r>
            <a:r>
              <a:rPr lang="en-US" dirty="0">
                <a:solidFill>
                  <a:srgbClr val="FF0000"/>
                </a:solidFill>
              </a:rPr>
              <a:t> (like RBF or high-degree polynomials), explicit mapping becomes infeasible.</a:t>
            </a:r>
          </a:p>
        </p:txBody>
      </p:sp>
    </p:spTree>
    <p:extLst>
      <p:ext uri="{BB962C8B-B14F-4D97-AF65-F5344CB8AC3E}">
        <p14:creationId xmlns:p14="http://schemas.microsoft.com/office/powerpoint/2010/main" val="1125275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363F-F30C-4093-7266-6BD93238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DDD0-CE84-825B-46A5-3CF04B1F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1" dirty="0"/>
              <a:t>Is the 2</a:t>
            </a:r>
            <a:r>
              <a:rPr lang="en-US" sz="3600" b="1" baseline="30000" dirty="0"/>
              <a:t>nd</a:t>
            </a:r>
            <a:r>
              <a:rPr lang="en-US" sz="3600" b="1" dirty="0"/>
              <a:t> Order Polynomial Mapping Unique?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C75C95-E2CE-3D9F-81FC-2E5971F66A2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EBC36-1A73-DB67-A7C0-9083BDD4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BF920-7733-4D7B-D111-DD829F050B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B2CD435-43EE-501B-75EB-A973C5B0DC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3000" dirty="0"/>
                  <a:t>The mapping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, </m:t>
                        </m:r>
                        <m:rad>
                          <m:radPr>
                            <m:degHide m:val="on"/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sSubPr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sSubPr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sSubPr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, 1</m:t>
                        </m:r>
                      </m:e>
                    </m:d>
                  </m:oMath>
                </a14:m>
                <a:r>
                  <a:rPr lang="en-US" sz="3000" dirty="0">
                    <a:latin typeface="+mj-lt"/>
                    <a:ea typeface="Cambria Math" panose="02040503050406030204" pitchFamily="18" charset="0"/>
                  </a:rPr>
                  <a:t> is </a:t>
                </a:r>
                <a:r>
                  <a:rPr lang="en-US" sz="3000" b="1" u="sng" dirty="0">
                    <a:latin typeface="+mj-lt"/>
                    <a:ea typeface="Cambria Math" panose="02040503050406030204" pitchFamily="18" charset="0"/>
                  </a:rPr>
                  <a:t>not unique</a:t>
                </a:r>
              </a:p>
              <a:p>
                <a:r>
                  <a:rPr lang="en-US" sz="3200" dirty="0"/>
                  <a:t>It just needs to satisfy the following condition: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l-GR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sz="3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2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3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3200" dirty="0"/>
                  <a:t>Any transformation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/>
                  <a:t> that gives the same result for that dot product works</a:t>
                </a:r>
              </a:p>
              <a:p>
                <a:pPr algn="just"/>
                <a:r>
                  <a:rPr lang="en-US" sz="3200" dirty="0"/>
                  <a:t>Examples of variations:</a:t>
                </a:r>
              </a:p>
              <a:p>
                <a:pPr lvl="1" algn="just"/>
                <a:r>
                  <a:rPr lang="en-US" sz="2800" b="1" dirty="0"/>
                  <a:t>Different scaling</a:t>
                </a:r>
                <a:r>
                  <a:rPr lang="en-US" sz="2800" dirty="0"/>
                  <a:t> (e.g., without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800" dirty="0"/>
                  <a:t> ​factors)</a:t>
                </a:r>
              </a:p>
              <a:p>
                <a:pPr lvl="1" algn="just"/>
                <a:r>
                  <a:rPr lang="en-US" sz="2800" b="1" dirty="0"/>
                  <a:t>Different feature order</a:t>
                </a:r>
                <a:r>
                  <a:rPr lang="en-US" sz="2800" dirty="0"/>
                  <a:t> (e.g., grouping terms differently)</a:t>
                </a:r>
              </a:p>
              <a:p>
                <a:pPr lvl="1" algn="just"/>
                <a:r>
                  <a:rPr lang="en-US" sz="2800" b="1" dirty="0"/>
                  <a:t>Higher dimensions</a:t>
                </a:r>
                <a:r>
                  <a:rPr lang="en-US" sz="2800" dirty="0"/>
                  <a:t>: For 3D input, the 2nd-degree mapping would include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etc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 algn="just"/>
                <a:r>
                  <a:rPr lang="en-US" sz="2800" b="1" dirty="0"/>
                  <a:t>Restricted mappings</a:t>
                </a:r>
                <a:r>
                  <a:rPr lang="en-US" sz="2800" dirty="0"/>
                  <a:t>: Some applications might skip linear terms or constant bias.</a:t>
                </a:r>
                <a:endParaRPr lang="en-US" sz="2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B2CD435-43EE-501B-75EB-A973C5B0DC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217" t="-2742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17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58A1E-051F-7865-63BE-1FEBB243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C962E-8A15-8C5B-7787-D30138EF9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1" dirty="0"/>
              <a:t>Kernel Trick Summary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861106-EB28-1EE3-7B28-C4189A0F5B2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2366A-3EBC-0521-2A15-764EDCD4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0A17A7-9339-C9BF-9716-3C62EE864C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CD42E480-E424-8F20-5A39-1756B95155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Therefore, we do not need to know Ф explicitly, we just need to define the Kernel function</a:t>
                </a:r>
              </a:p>
              <a:p>
                <a:endParaRPr lang="en-US" sz="2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600" b="1" u="sng" dirty="0">
                    <a:latin typeface="+mj-lt"/>
                    <a:ea typeface="Cambria Math" panose="02040503050406030204" pitchFamily="18" charset="0"/>
                  </a:rPr>
                  <a:t>NOTE</a:t>
                </a:r>
                <a:r>
                  <a:rPr lang="en-US" sz="2600" dirty="0">
                    <a:latin typeface="+mj-lt"/>
                    <a:ea typeface="Cambria Math" panose="02040503050406030204" pitchFamily="18" charset="0"/>
                  </a:rPr>
                  <a:t>: Not every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600" dirty="0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dirty="0"/>
                  <a:t>can be a valid kernel – </a:t>
                </a:r>
                <a:r>
                  <a:rPr lang="en-US" b="1" u="sng" dirty="0"/>
                  <a:t>it has to satisfy so-called Mercer conditions</a:t>
                </a:r>
                <a:r>
                  <a:rPr lang="en-US" b="1" dirty="0"/>
                  <a:t> </a:t>
                </a:r>
                <a:r>
                  <a:rPr lang="en-US" dirty="0"/>
                  <a:t>(but this is out of scope of our course). Otherwise, the underlying quadratic program may not be solvable.</a:t>
                </a:r>
                <a:endParaRPr lang="en-US" sz="2600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CD42E480-E424-8F20-5A39-1756B9515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043" t="-2219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803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FF9F-A48F-0EE6-F733-59978CBD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326F-AD0A-9D7D-29B5-B5EDB6B0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5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/>
              <a:t>Kernel Trick Summary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CB190C-1A8F-440F-DC73-173F3D9782BE}"/>
              </a:ext>
            </a:extLst>
          </p:cNvPr>
          <p:cNvCxnSpPr/>
          <p:nvPr/>
        </p:nvCxnSpPr>
        <p:spPr>
          <a:xfrm>
            <a:off x="652072" y="107379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E2FF9-70DC-E27E-9EE0-EE53A38B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450FFD-BEC9-4C8A-F254-8D499B5EAE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12AC696-12F3-6685-23D7-8CB19AB5624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89738495"/>
                  </p:ext>
                </p:extLst>
              </p:nvPr>
            </p:nvGraphicFramePr>
            <p:xfrm>
              <a:off x="522532" y="1391285"/>
              <a:ext cx="10515600" cy="524687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715487405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039713231"/>
                        </a:ext>
                      </a:extLst>
                    </a:gridCol>
                  </a:tblGrid>
                  <a:tr h="2350135">
                    <a:tc>
                      <a:txBody>
                        <a:bodyPr/>
                        <a:lstStyle/>
                        <a:p>
                          <a:pPr marL="342900" indent="-342900">
                            <a:buAutoNum type="arabicPeriod"/>
                          </a:pPr>
                          <a:r>
                            <a:rPr lang="en-US" b="1" dirty="0"/>
                            <a:t>Primal Problem in Original Input Space</a:t>
                          </a:r>
                        </a:p>
                        <a:p>
                          <a:pPr marL="342900" indent="-342900">
                            <a:buAutoNum type="arabicPeriod"/>
                          </a:pPr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1" smtClean="0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r>
                            <a:rPr lang="en-US" b="0" dirty="0" err="1"/>
                            <a:t>s.t.</a:t>
                          </a:r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smtClean="0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b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b="1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1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u="none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u="none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b="1" u="none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u="none" smtClean="0">
                                    <a:latin typeface="Cambria Math" panose="02040503050406030204" pitchFamily="18" charset="0"/>
                                  </a:rPr>
                                  <m:t>𝑠𝑖𝑔𝑛</m:t>
                                </m:r>
                                <m:d>
                                  <m:dPr>
                                    <m:ctrlPr>
                                      <a:rPr lang="en-US" b="1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u="none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p>
                                        <m:r>
                                          <a:rPr lang="en-US" b="0" u="none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b="1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u="none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b="0" u="none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1" u="none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u="none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u="none" dirty="0"/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2. Primal Problem in Feature Space via Mapping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1" smtClean="0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r>
                            <a:rPr lang="en-US" b="0" dirty="0" err="1"/>
                            <a:t>s.t.</a:t>
                          </a:r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smtClean="0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l-GR" dirty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b="0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b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b="1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u="none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u="none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b="1" u="none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u="none" smtClean="0">
                                    <a:latin typeface="Cambria Math" panose="02040503050406030204" pitchFamily="18" charset="0"/>
                                  </a:rPr>
                                  <m:t>𝑠𝑖𝑔𝑛</m:t>
                                </m:r>
                                <m:d>
                                  <m:dPr>
                                    <m:ctrlPr>
                                      <a:rPr lang="en-US" b="1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u="none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p>
                                        <m:r>
                                          <a:rPr lang="en-US" b="0" u="none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l-GR" dirty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1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dirty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b="0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b="1" u="none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u="none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u="none" dirty="0"/>
                        </a:p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4358173"/>
                      </a:ext>
                    </a:extLst>
                  </a:tr>
                  <a:tr h="21717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b="1" dirty="0"/>
                            <a:t>3. Dual Problem of (2)</a:t>
                          </a:r>
                        </a:p>
                        <a:p>
                          <a:pPr marL="342900" indent="-342900">
                            <a:buAutoNum type="arabicPeriod"/>
                          </a:pPr>
                          <a:endParaRPr lang="en-US" dirty="0"/>
                        </a:p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maximize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⟨"/>
                                            <m:endChr m:val="⟩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dirty="0" smtClean="0">
                                                <a:latin typeface="Cambria Math" panose="02040503050406030204" pitchFamily="18" charset="0"/>
                                              </a:rPr>
                                              <m:t>Φ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b="0" dirty="0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dirty="0" smtClean="0">
                                                <a:latin typeface="Cambria Math" panose="02040503050406030204" pitchFamily="18" charset="0"/>
                                              </a:rPr>
                                              <m:t>Φ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s.t.</a:t>
                          </a:r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m:rPr>
                                  <m:sty m:val="p"/>
                                </m:rP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⟨"/>
                                            <m:endChr m:val="⟩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dirty="0" smtClean="0">
                                                <a:latin typeface="Cambria Math" panose="02040503050406030204" pitchFamily="18" charset="0"/>
                                              </a:rPr>
                                              <m:t>Φ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b="0" dirty="0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dirty="0" smtClean="0">
                                                <a:latin typeface="Cambria Math" panose="02040503050406030204" pitchFamily="18" charset="0"/>
                                              </a:rPr>
                                              <m:t>Φ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  <m:r>
                                          <a:rPr lang="en-US" b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marL="0" indent="0" algn="ctr">
                            <a:buNone/>
                          </a:pPr>
                          <a:endParaRPr 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b="1" dirty="0"/>
                            <a:t>4. Dual with Kernel Trick</a:t>
                          </a:r>
                        </a:p>
                        <a:p>
                          <a:pPr marL="342900" indent="-342900">
                            <a:buAutoNum type="arabicPeriod"/>
                          </a:pPr>
                          <a:endParaRPr lang="en-US" dirty="0"/>
                        </a:p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maximize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b="0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0" dirty="0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s.t.</a:t>
                          </a:r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m:rPr>
                                  <m:sty m:val="p"/>
                                </m:rP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b="0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0" dirty="0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b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01469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12AC696-12F3-6685-23D7-8CB19AB5624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89738495"/>
                  </p:ext>
                </p:extLst>
              </p:nvPr>
            </p:nvGraphicFramePr>
            <p:xfrm>
              <a:off x="522532" y="1391285"/>
              <a:ext cx="10515600" cy="525900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715487405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039713231"/>
                        </a:ext>
                      </a:extLst>
                    </a:gridCol>
                  </a:tblGrid>
                  <a:tr h="23501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6" t="-1554" r="-100232" b="-124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16" t="-1554" r="-232" b="-124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4358173"/>
                      </a:ext>
                    </a:extLst>
                  </a:tr>
                  <a:tr h="29088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6" t="-82180" r="-100232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16" t="-82180" r="-232" b="-6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01469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87952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62D1-0056-3557-C2CA-1D51B5B2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E5A87-B737-B40A-A8F8-B5FDD78D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5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/>
              <a:t>Popular Kernels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29ED19-D630-A622-0D12-E4D1E085F9F7}"/>
              </a:ext>
            </a:extLst>
          </p:cNvPr>
          <p:cNvCxnSpPr/>
          <p:nvPr/>
        </p:nvCxnSpPr>
        <p:spPr>
          <a:xfrm>
            <a:off x="652072" y="107379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2865C-56D7-DD81-C3C1-880DF6DB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06C5B8-8F3D-5C67-977F-A35AF73144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7BC0D92-1987-4AE7-6305-452C5B805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2745" y="2093021"/>
            <a:ext cx="9906509" cy="3816546"/>
          </a:xfrm>
        </p:spPr>
      </p:pic>
    </p:spTree>
    <p:extLst>
      <p:ext uri="{BB962C8B-B14F-4D97-AF65-F5344CB8AC3E}">
        <p14:creationId xmlns:p14="http://schemas.microsoft.com/office/powerpoint/2010/main" val="180714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AEE8-6F8B-9FE0-BB68-5586414E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3528-3C14-7895-8EA3-B3996489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Kernel Trick Using Radial Basis Function (RBF)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1A0919-707C-DD43-2AB2-B90D62AFEA3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440A3-F561-5513-DF30-DCC7BF98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2826BA-4010-179D-017F-00C3FB366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B782FC3-F038-0CB2-CBC0-A3F8A8277D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530723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500" b="1" u="sng" dirty="0"/>
                  <a:t>RBF Kernel</a:t>
                </a:r>
                <a:r>
                  <a:rPr lang="en-US" sz="2500" dirty="0"/>
                  <a:t>, also known as the </a:t>
                </a:r>
                <a:r>
                  <a:rPr lang="en-US" sz="2500" b="1" u="sng" dirty="0"/>
                  <a:t>Gaussian Kernel</a:t>
                </a:r>
                <a:r>
                  <a:rPr lang="en-US" sz="2500" dirty="0"/>
                  <a:t>, computes a similarity score between data points based on their distance in the input space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5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5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500" dirty="0"/>
              </a:p>
              <a:p>
                <a:pPr algn="just"/>
                <a:r>
                  <a:rPr lang="en-US" sz="2500" dirty="0"/>
                  <a:t>The term </a:t>
                </a:r>
                <a14:m>
                  <m:oMath xmlns:m="http://schemas.openxmlformats.org/officeDocument/2006/math">
                    <m:r>
                      <a:rPr lang="en-US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500" dirty="0"/>
                  <a:t> controls the smoothness of the decision boundary</a:t>
                </a:r>
              </a:p>
              <a:p>
                <a:pPr algn="just"/>
                <a:r>
                  <a:rPr lang="en-US" sz="2500" b="1" dirty="0"/>
                  <a:t>Recall</a:t>
                </a:r>
                <a:r>
                  <a:rPr lang="en-US" sz="2500" dirty="0"/>
                  <a:t>, Kernels play a fundamental role in transforming data into higher-dimensional spaces, enabling algorithms to learn complex patterns and relationships</a:t>
                </a:r>
              </a:p>
              <a:p>
                <a:pPr algn="just"/>
                <a:r>
                  <a:rPr lang="en-US" sz="2500" dirty="0"/>
                  <a:t>If we expand the RBF expression, it will go up to </a:t>
                </a:r>
                <a:r>
                  <a:rPr lang="en-US" sz="2500" b="1" u="sng" dirty="0"/>
                  <a:t>infinite power</a:t>
                </a:r>
                <a:r>
                  <a:rPr lang="en-US" sz="2500" dirty="0"/>
                  <a:t> of </a:t>
                </a:r>
                <a14:m>
                  <m:oMath xmlns:m="http://schemas.openxmlformats.org/officeDocument/2006/math">
                    <m:r>
                      <a:rPr lang="en-US" sz="25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500" dirty="0"/>
                  <a:t>, as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500" dirty="0"/>
                  <a:t> contains infinite terms up to infinite power of </a:t>
                </a:r>
                <a14:m>
                  <m:oMath xmlns:m="http://schemas.openxmlformats.org/officeDocument/2006/math">
                    <m:r>
                      <a:rPr lang="en-US" sz="2500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500" dirty="0"/>
                  <a:t>, hence it involves terms up to infinite powers in </a:t>
                </a:r>
                <a:r>
                  <a:rPr lang="en-US" sz="2500" b="1" u="sng" dirty="0"/>
                  <a:t>infinite dimension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B782FC3-F038-0CB2-CBC0-A3F8A8277D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530723"/>
              </a:xfrm>
              <a:blipFill>
                <a:blip r:embed="rId4"/>
                <a:stretch>
                  <a:fillRect l="-828" t="-1747" r="-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986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51D1-C890-A4DC-E951-BC58DD3A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7089-E418-4852-666E-1FA1C22E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RBF Expansion using Taylor Series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7B32CE-A414-DC8B-46EC-2B2599F81A4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69989-DA0E-20F6-BD06-6E8EE3D4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790B44-863B-5E89-4CA0-CFEC6347BC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F7E4FC21-2356-B068-7D55-7B31CCBE84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530723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500" dirty="0"/>
                  <a:t>RBF Kernel: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5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5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sSup>
                              <m:sSup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5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5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r>
                                          <a:rPr lang="en-US" sz="25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sz="2500" dirty="0"/>
              </a:p>
              <a:p>
                <a:pPr algn="just"/>
                <a:endParaRPr lang="en-US" sz="2500" dirty="0"/>
              </a:p>
              <a:p>
                <a:pPr marL="0" indent="0" algn="just">
                  <a:buNone/>
                </a:pPr>
                <a:r>
                  <a:rPr lang="en-US" sz="2500" dirty="0">
                    <a:ea typeface="Cambria Math" panose="02040503050406030204" pitchFamily="18" charset="0"/>
                  </a:rPr>
                  <a:t>If we expand: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sz="25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5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5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5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500" b="1" dirty="0"/>
              </a:p>
              <a:p>
                <a:pPr marL="0" indent="0" algn="just">
                  <a:buNone/>
                </a:pPr>
                <a:r>
                  <a:rPr lang="en-US" sz="2500" dirty="0"/>
                  <a:t>Therefore,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5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500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5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5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5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5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5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5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25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func>
                            <m:funcPr>
                              <m:ctrlPr>
                                <a:rPr lang="en-US" sz="25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5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5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5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sz="25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5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25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sSup>
                                        <m:sSupPr>
                                          <m:ctrlPr>
                                            <a:rPr lang="en-US" sz="25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5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25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500" dirty="0"/>
              </a:p>
              <a:p>
                <a:pPr marL="0" indent="0" algn="just">
                  <a:buNone/>
                </a:pPr>
                <a:r>
                  <a:rPr lang="en-US" sz="2500" dirty="0"/>
                  <a:t>The last term is where the </a:t>
                </a:r>
                <a:r>
                  <a:rPr lang="en-US" sz="2400" b="1" dirty="0"/>
                  <a:t>feature expansion</a:t>
                </a:r>
                <a:r>
                  <a:rPr lang="en-US" sz="2400" dirty="0"/>
                  <a:t> happens</a:t>
                </a:r>
                <a:r>
                  <a:rPr lang="en-US" sz="2500" dirty="0"/>
                  <a:t>, so let us expand it using Taylor series.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p>
                                    <m:sSup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  <m:d>
                                        <m:dPr>
                                          <m:ctrlPr>
                                            <a:rPr lang="en-US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en-US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en-US" sz="2400" dirty="0"/>
                  <a:t>Each term adds higher-order interactions between components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!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F7E4FC21-2356-B068-7D55-7B31CCBE84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530723"/>
              </a:xfrm>
              <a:blipFill>
                <a:blip r:embed="rId4"/>
                <a:stretch>
                  <a:fillRect l="-939" t="-1747" r="-883" b="-1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288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FE434-A29D-FCEA-9F09-9FE56D8D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EA335-B60F-A55A-6D33-6D8C370D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Why this matters?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BDCE94-C033-33B9-0FDC-5ACA2C07FDB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B9F61-9EB4-DAA1-46BA-A1B1F9E3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CE0A11-D89D-6499-A07C-A66C8C438C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3E3BBFF-033A-C425-10AB-AE9A6E3A5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11040256" cy="4530723"/>
          </a:xfrm>
        </p:spPr>
        <p:txBody>
          <a:bodyPr>
            <a:noAutofit/>
          </a:bodyPr>
          <a:lstStyle/>
          <a:p>
            <a:pPr algn="just"/>
            <a:r>
              <a:rPr lang="en-US" sz="3000" dirty="0"/>
              <a:t>This makes it clear that the </a:t>
            </a:r>
            <a:r>
              <a:rPr lang="en-US" sz="3000" b="1" dirty="0"/>
              <a:t>RBF kernel implicitly includes all polynomial kernels</a:t>
            </a:r>
            <a:r>
              <a:rPr lang="en-US" sz="3000" dirty="0"/>
              <a:t>:</a:t>
            </a:r>
          </a:p>
          <a:p>
            <a:pPr lvl="1" algn="just"/>
            <a:r>
              <a:rPr lang="en-US" sz="2600" dirty="0"/>
              <a:t>No need to compute or store any of these polynomial features explicitly</a:t>
            </a:r>
          </a:p>
          <a:p>
            <a:pPr lvl="1" algn="just"/>
            <a:r>
              <a:rPr lang="en-US" sz="2600" dirty="0"/>
              <a:t>The result is an </a:t>
            </a:r>
            <a:r>
              <a:rPr lang="en-US" sz="2600" b="1" dirty="0"/>
              <a:t>infinite-dimensional</a:t>
            </a:r>
            <a:r>
              <a:rPr lang="en-US" sz="2600" dirty="0"/>
              <a:t> feature space</a:t>
            </a:r>
          </a:p>
          <a:p>
            <a:pPr lvl="1" algn="just"/>
            <a:r>
              <a:rPr lang="en-US" sz="2600" dirty="0"/>
              <a:t>Yet, evaluation is fast because you are just </a:t>
            </a:r>
            <a:r>
              <a:rPr lang="en-US" sz="2600" b="1" dirty="0"/>
              <a:t>computing a single exponential</a:t>
            </a:r>
            <a:r>
              <a:rPr lang="en-US" sz="2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57233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C7EC-69E2-F870-C136-D5FB6A7C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85FF5-EA37-E3CB-7F3C-6B384E04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Example Code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8B7900-8FDC-29E0-2B3F-07318FDE124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40E90-8A35-BC5F-B656-CDFBA48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568973-9A39-C01B-D699-3807AFD478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042B56-168D-BC41-6FC6-A226B965C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052959" y="1687720"/>
            <a:ext cx="5646737" cy="4805155"/>
          </a:xfrm>
        </p:spPr>
      </p:pic>
    </p:spTree>
    <p:extLst>
      <p:ext uri="{BB962C8B-B14F-4D97-AF65-F5344CB8AC3E}">
        <p14:creationId xmlns:p14="http://schemas.microsoft.com/office/powerpoint/2010/main" val="2919940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89E5-0463-E0DA-C138-3DCD8EB56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9EFF4-1EF1-90C5-89A9-57D49C77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Example Code: Result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F615B0-08DB-1E82-EC93-BE041C3DCE3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5170D-50A8-0422-E684-6881878B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AD98C2-A3B8-7EF9-6A49-FF289DD27D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28" name="Content Placeholder 27" descr="A diagram of a decision boundary&#10;&#10;AI-generated content may be incorrect.">
            <a:extLst>
              <a:ext uri="{FF2B5EF4-FFF2-40B4-BE49-F238E27FC236}">
                <a16:creationId xmlns:a16="http://schemas.microsoft.com/office/drawing/2014/main" id="{B5CFD9F9-68BA-317E-AB79-A8BEAA765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5" y="1896269"/>
            <a:ext cx="4095750" cy="4210050"/>
          </a:xfrm>
        </p:spPr>
      </p:pic>
    </p:spTree>
    <p:extLst>
      <p:ext uri="{BB962C8B-B14F-4D97-AF65-F5344CB8AC3E}">
        <p14:creationId xmlns:p14="http://schemas.microsoft.com/office/powerpoint/2010/main" val="1601706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21757</TotalTime>
  <Words>1192</Words>
  <Application>Microsoft Office PowerPoint</Application>
  <PresentationFormat>Widescreen</PresentationFormat>
  <Paragraphs>179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Lecture 17: Support Vector Machine (SVM) (Part II)</vt:lpstr>
      <vt:lpstr>Case 3: Not Linearly Separable Data – Kernel Trick</vt:lpstr>
      <vt:lpstr>Case 3: Kernel Trick (contd.)</vt:lpstr>
      <vt:lpstr>Case 3: Kernel Trick (contd.)</vt:lpstr>
      <vt:lpstr>Kernel Trick: 2nd Order Degree Polynomial Mapping</vt:lpstr>
      <vt:lpstr>Kernel Trick: 2nd Order Degree Polynomial (contd.)</vt:lpstr>
      <vt:lpstr>Mathematical Example: Kernel Trick 2nd Degree Poly.</vt:lpstr>
      <vt:lpstr>Is the 2nd Order Polynomial Mapping Unique?</vt:lpstr>
      <vt:lpstr>Kernel Trick Summary</vt:lpstr>
      <vt:lpstr>Kernel Trick Summary (contd.)</vt:lpstr>
      <vt:lpstr>Popular Kernels</vt:lpstr>
      <vt:lpstr>Kernel Trick Using Radial Basis Function (RBF)</vt:lpstr>
      <vt:lpstr>RBF Expansion using Taylor Series</vt:lpstr>
      <vt:lpstr>Why this matters?</vt:lpstr>
      <vt:lpstr>Example Code</vt:lpstr>
      <vt:lpstr>Example Code: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13: Support Vector Machine (SVM) (Part II)</dc:title>
  <dc:creator>Jilan Samiuddin</dc:creator>
  <cp:lastModifiedBy>Jilan Samiuddin</cp:lastModifiedBy>
  <cp:revision>255</cp:revision>
  <dcterms:created xsi:type="dcterms:W3CDTF">2025-05-01T04:50:36Z</dcterms:created>
  <dcterms:modified xsi:type="dcterms:W3CDTF">2026-04-29T03:36:17Z</dcterms:modified>
</cp:coreProperties>
</file>