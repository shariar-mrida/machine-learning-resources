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61" r:id="rId3"/>
    <p:sldId id="262" r:id="rId4"/>
    <p:sldId id="263" r:id="rId5"/>
    <p:sldId id="264" r:id="rId6"/>
    <p:sldId id="265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2" r:id="rId21"/>
    <p:sldId id="28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4E0159-42FF-E65A-8E4D-D784988C25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496018-5CC2-59DE-2953-7738B9834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8FED0-F494-4C8F-803A-297D5BD08D3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6F1A6-4EBD-D971-0F49-66EB5F0FDB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CC8F35-1B39-1C84-0B7A-25A637B3F2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219B2-123C-4C18-A5D8-EB8782F74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474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6CD510-D800-49E6-BF08-298A1FE48EE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8FE62-91E1-4730-A536-75C928C6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541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923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03D7-70F1-1C6F-A3B7-A8287EE25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7E7C8-C452-803C-5FAC-14BDD1D43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D9D17-AB94-0B7D-C590-1F7E5184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370ED-970E-4212-BB35-C22C1D195CBC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9647B-4FB4-82CC-07BE-EFD93BF4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4B835-5F31-3FC0-10FA-FAC19E81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3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216F1-8C26-C670-B7DC-8010AD39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ADE1A-A059-2960-24A5-D405837CE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42EED-1E92-359C-10FA-4E5D3C3F9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BB735-82A6-4413-A653-62CE81350112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24E15-03A2-851D-88BC-2445BB771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F4FD2-0C66-774A-A375-1089C6654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2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5120E-FC2F-A46F-4B09-23117B46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862F9-9511-E32B-4BD7-47E0A71AD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C9156-0A2A-DB75-C8EA-248EA3DE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75B7-2148-4A9D-995D-56145ABEAE97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D3A95-056A-D033-22AF-CDDBE987E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57329-594F-D458-6A9C-F07B09AF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53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A64B-29CB-8665-CEC5-DF412D2F9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8CDFC-7ECF-8F07-A1A5-1C0C8B38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D181D-A96E-0D94-2062-16DE28541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00174-4A25-E989-7ACA-5C0B639C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A078-0F96-4814-AF41-4D8FAE7F8A6C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3BD85-5B63-139B-2CE7-19610007F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ABD13-EDE6-69F9-8590-026CFFF1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6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F3A3-B693-9109-7927-708691AAD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C4F7D-CCD8-33A2-D7D0-35E5380DD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AD8A8-2AB0-25CD-201F-ED952A4CD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E13444-B5AF-C486-4E0A-7F2108ACD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942FB4-090B-A58C-DF43-EA43DA1F16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08DE3-3255-6046-EE31-0C14E3532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CFAE0-6AEA-4322-8961-61818A5C4CC4}" type="datetime1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A5004F-5259-2B42-1938-FA9CAA92C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354AB-D64D-E84A-BA76-66DBB6E4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54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E9BCC-F36B-F141-B6AC-0F246614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7B0912-EE39-228C-9255-704DBA8C2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CC14-615A-40E5-878F-B7968E69ACA9}" type="datetime1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CFC76-DAA8-A15C-4AC4-93D299980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AFFAA-E646-0DDF-64A0-A28BAC96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07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8BE16B-802E-3074-11D1-8DE9C32B0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13215-DB23-4892-8F9A-91431A502CD2}" type="datetime1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70A2E-3D38-5D1E-AF19-F063247E7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31207-BFA9-21E9-A865-318F13DA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0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605C-FA05-25DE-15F4-805A8CF09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4B131-EC7F-BFD9-E7B6-AB3137F4F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959E2-E99B-EDA1-628E-184C643D5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E0DFE-327E-11B6-BD8C-0F41386E7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BCFA-E3E0-4FF4-BACA-FCF5C255E5DE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8662-BCB8-828C-9BDF-DD1D1A56A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0129B-382F-9101-9ED5-631C3B88F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1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04D93-D5ED-C785-80CB-7CF60D10A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39CBA7-CE7D-C187-B782-CA09C95AF8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639DC-D960-C20C-EDEF-4E282D5FC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0A177-05FD-4F3A-55CF-3EEB7E4E8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C14-2B3B-4EE3-949A-779D533E8478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99E7E-8ECE-4DE4-A26C-C2CAB097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AEDC0-BC10-677B-FFB3-DD53581A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78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9DC3-0DF6-0743-E644-4A7AC5421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E063F-D43E-FD0C-D76B-188F3B72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1BACC-50F2-51B8-0376-B959E5C69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C18E-A90B-4B22-BF53-42EC149F08BB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CC8EC-0CE8-F103-3FD7-ED00AEDD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0F038-A502-BA4A-633C-2C8924FA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4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D0902E-7688-3814-1155-474461F4B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62A82-7CD6-0470-0AF6-CCA98D9EF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BDE9E-FAFF-63E1-22C0-33E9AE7F2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4F7D-5048-4108-88DC-972512EB713E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85A15-7E8B-01A9-927C-5655A070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D3DFA-2B27-BC65-59BF-B29EA1A3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8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CAD65-4AD5-02F3-7FA3-E760BBE79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EEE9E-8A03-0343-4D11-0133E5C0B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60B93-A586-42A5-0F99-907C96847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7581B-AB8F-4D43-BDE7-8F5E2E8E8856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50782-3D97-A485-DC22-453A9166F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A4F32-3929-476D-213C-0F9E358D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8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7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ass/>
                    </a14:imgEffect>
                  </a14:imgLayer>
                </a14:imgProps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8" name="Rectangle 207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115A1-643A-7BF3-3A4B-2A7AF1AE9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8" y="743447"/>
            <a:ext cx="4552707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b="1" dirty="0"/>
              <a:t>Lecture 9: Decision Tree (Classification)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1FF77-E09E-52C0-CD84-03CBD6D98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US" b="1" i="1" dirty="0"/>
              <a:t>Dr. Jilan Samiuddin (JSA)</a:t>
            </a:r>
          </a:p>
          <a:p>
            <a:pPr algn="l"/>
            <a:r>
              <a:rPr lang="en-US" dirty="0"/>
              <a:t>Assistant Professor</a:t>
            </a:r>
          </a:p>
          <a:p>
            <a:pPr algn="l"/>
            <a:r>
              <a:rPr lang="en-US" dirty="0"/>
              <a:t>North South University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C301A-7024-8616-AFF2-7263B1346FFF}"/>
              </a:ext>
            </a:extLst>
          </p:cNvPr>
          <p:cNvSpPr txBox="1"/>
          <p:nvPr/>
        </p:nvSpPr>
        <p:spPr>
          <a:xfrm>
            <a:off x="952227" y="1199214"/>
            <a:ext cx="2782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CSE445 Machine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CA6BF-0DE8-9E57-6E92-74A6BC63A17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8000"/>
          </a:blip>
          <a:stretch>
            <a:fillRect/>
          </a:stretch>
        </p:blipFill>
        <p:spPr>
          <a:xfrm>
            <a:off x="392975" y="260715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640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CD7B2-5AC7-06A4-EC6E-C98361C94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90EBF-1D62-D059-41A9-07C69DA72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60E5FC-7FB8-7CCE-DDC6-5FA74BBB9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720592"/>
            <a:ext cx="11040256" cy="4635757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decision tree is a </a:t>
            </a:r>
            <a:r>
              <a:rPr lang="en-US" b="1" dirty="0"/>
              <a:t>supervised learning algorithm</a:t>
            </a:r>
            <a:r>
              <a:rPr lang="en-US" dirty="0"/>
              <a:t> used for both </a:t>
            </a:r>
            <a:r>
              <a:rPr lang="en-US" b="1" u="sng" dirty="0"/>
              <a:t>classification</a:t>
            </a:r>
            <a:r>
              <a:rPr lang="en-US" dirty="0"/>
              <a:t> and </a:t>
            </a:r>
            <a:r>
              <a:rPr lang="en-US" b="1" u="sng" dirty="0"/>
              <a:t>regression</a:t>
            </a:r>
            <a:r>
              <a:rPr lang="en-US" dirty="0"/>
              <a:t> tasks</a:t>
            </a:r>
          </a:p>
          <a:p>
            <a:pPr algn="just"/>
            <a:r>
              <a:rPr lang="en-US" dirty="0"/>
              <a:t>It mimics human decision-making by splitting data into branches at decision points (</a:t>
            </a:r>
            <a:r>
              <a:rPr lang="en-US" b="1" u="sng" dirty="0"/>
              <a:t>nodes</a:t>
            </a:r>
            <a:r>
              <a:rPr lang="en-US" dirty="0"/>
              <a:t>) to reach a final prediction (</a:t>
            </a:r>
            <a:r>
              <a:rPr lang="en-US" b="1" u="sng" dirty="0"/>
              <a:t>leaf</a:t>
            </a:r>
            <a:r>
              <a:rPr lang="en-US" dirty="0"/>
              <a:t>)</a:t>
            </a:r>
          </a:p>
          <a:p>
            <a:pPr algn="just"/>
            <a:r>
              <a:rPr lang="en-US" dirty="0"/>
              <a:t>Think of it like a flowchart:</a:t>
            </a:r>
          </a:p>
          <a:p>
            <a:pPr lvl="1"/>
            <a:r>
              <a:rPr lang="en-US" b="1" dirty="0"/>
              <a:t>Classification Trees:</a:t>
            </a:r>
            <a:r>
              <a:rPr lang="en-US" dirty="0"/>
              <a:t> Predict categories (e.g., "spam" or "not spam").</a:t>
            </a:r>
          </a:p>
          <a:p>
            <a:pPr lvl="1"/>
            <a:r>
              <a:rPr lang="en-US" b="1" dirty="0"/>
              <a:t>Regression Trees:</a:t>
            </a:r>
            <a:r>
              <a:rPr lang="en-US" dirty="0"/>
              <a:t> Predict continuous values (e.g., house prices).</a:t>
            </a:r>
          </a:p>
          <a:p>
            <a:pPr lvl="1" algn="just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2AF9C3-86BF-C1E8-076B-A95B1586665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16F021-D75C-363D-3B08-54BCA73B1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A86381-B03F-CD2F-4DA9-BF885FD3C63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29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34E4D-825D-9EC7-43E9-45DD87EAA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2735F-416F-52D7-5C2D-0B14984A2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Key Terms/Components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0C5AA6F-6AE2-3B39-CCD7-29DCE23CA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720592"/>
            <a:ext cx="6220918" cy="4931107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b="1" dirty="0"/>
              <a:t>Root Node</a:t>
            </a:r>
          </a:p>
          <a:p>
            <a:pPr lvl="1" algn="just"/>
            <a:r>
              <a:rPr lang="en-US" dirty="0"/>
              <a:t>The topmost decision point</a:t>
            </a:r>
          </a:p>
          <a:p>
            <a:pPr lvl="1" algn="just"/>
            <a:r>
              <a:rPr lang="en-US" dirty="0"/>
              <a:t>Uses the most informative feature to split the data</a:t>
            </a:r>
          </a:p>
          <a:p>
            <a:pPr lvl="1" algn="just"/>
            <a:r>
              <a:rPr lang="en-US" dirty="0"/>
              <a:t>Example: In a dataset predicting loan approval, the root might split based on "Income &gt; $50k?"</a:t>
            </a:r>
          </a:p>
          <a:p>
            <a:pPr algn="just"/>
            <a:r>
              <a:rPr lang="en-US" b="1" dirty="0"/>
              <a:t>Internal Nodes</a:t>
            </a:r>
          </a:p>
          <a:p>
            <a:pPr lvl="1" algn="just"/>
            <a:r>
              <a:rPr lang="en-US" dirty="0"/>
              <a:t>Decision points after the root</a:t>
            </a:r>
          </a:p>
          <a:p>
            <a:pPr lvl="1" algn="just"/>
            <a:r>
              <a:rPr lang="en-US" dirty="0"/>
              <a:t>Further split data based on feature conditions</a:t>
            </a:r>
          </a:p>
          <a:p>
            <a:pPr lvl="1" algn="just"/>
            <a:r>
              <a:rPr lang="en-US" dirty="0"/>
              <a:t>Example: After splitting by income, an internal node might check "Credit Score &gt; 700?"</a:t>
            </a:r>
          </a:p>
          <a:p>
            <a:pPr algn="just"/>
            <a:r>
              <a:rPr lang="en-US" b="1" dirty="0"/>
              <a:t>Leaf Nodes</a:t>
            </a:r>
          </a:p>
          <a:p>
            <a:pPr lvl="1" algn="just"/>
            <a:r>
              <a:rPr lang="en-US" dirty="0"/>
              <a:t>Final nodes containing predicted outcomes</a:t>
            </a:r>
          </a:p>
          <a:p>
            <a:pPr lvl="1" algn="just"/>
            <a:r>
              <a:rPr lang="en-US" dirty="0"/>
              <a:t>No further splitting occurs here</a:t>
            </a:r>
          </a:p>
          <a:p>
            <a:pPr lvl="1" algn="just"/>
            <a:r>
              <a:rPr lang="en-US" dirty="0"/>
              <a:t>Example: "Approve loan" or "Reject loan"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5EA57D-C0EE-CE2E-50D4-025A1BE5AA99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7987C-7C61-7EC8-8FA0-D85EF29B8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A63998-5FF6-D01B-F470-99A0F45D7A6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6805DF-6C5A-E51B-9872-556FB32E8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280" y="2453026"/>
            <a:ext cx="5038848" cy="290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366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EC9BC-DF04-061A-C2D1-4DDFACF12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35A66-E29D-77D9-4EBB-48174D79F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Some Applications of Decision Trees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972091D-28F4-DB2C-887D-097550312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1" y="1720592"/>
            <a:ext cx="11040255" cy="4931107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Healthcare:</a:t>
            </a:r>
            <a:r>
              <a:rPr lang="en-US" dirty="0"/>
              <a:t> Diagnosing diseases based on symptoms</a:t>
            </a:r>
          </a:p>
          <a:p>
            <a:pPr algn="just"/>
            <a:r>
              <a:rPr lang="en-US" b="1" dirty="0"/>
              <a:t>Finance:</a:t>
            </a:r>
            <a:r>
              <a:rPr lang="en-US" dirty="0"/>
              <a:t> Credit risk assessment and fraud detection</a:t>
            </a:r>
          </a:p>
          <a:p>
            <a:pPr algn="just"/>
            <a:r>
              <a:rPr lang="en-US" b="1" dirty="0"/>
              <a:t>Marketing:</a:t>
            </a:r>
            <a:r>
              <a:rPr lang="en-US" dirty="0"/>
              <a:t> Customer segmentation (e.g., "Will this user buy Product X?")</a:t>
            </a:r>
          </a:p>
          <a:p>
            <a:pPr algn="just"/>
            <a:r>
              <a:rPr lang="en-US" b="1" dirty="0"/>
              <a:t>Manufacturing:</a:t>
            </a:r>
            <a:r>
              <a:rPr lang="en-US" dirty="0"/>
              <a:t> Quality control (e.g., "Is this product defective?")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6E241D-8242-63EC-5731-EBFA7F283B0E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DAC39-A210-3DC3-D0FF-0504F47BA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2B1ED2-07DF-CCAD-4B19-09E82DFEC9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774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42DA5-445B-CF0B-FBC0-878997BBE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31510-25E9-3D30-54CC-084F4A589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Splitting Works: Key Criteria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813B54C0-A2E6-482D-EA57-CE6578EE70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1" y="1598041"/>
                <a:ext cx="11040255" cy="5137408"/>
              </a:xfrm>
            </p:spPr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US" dirty="0"/>
                  <a:t>To decide how to split nodes, trees use </a:t>
                </a:r>
                <a:r>
                  <a:rPr lang="en-US" b="1" dirty="0"/>
                  <a:t>impurity measures</a:t>
                </a:r>
                <a:r>
                  <a:rPr lang="en-US" dirty="0"/>
                  <a:t>. The goal is to maximize </a:t>
                </a:r>
                <a:r>
                  <a:rPr lang="en-US" b="1" dirty="0"/>
                  <a:t>homogeneity</a:t>
                </a:r>
                <a:r>
                  <a:rPr lang="en-US" dirty="0"/>
                  <a:t> (purity) in child nodes.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en-US" b="1" u="sng" dirty="0"/>
                  <a:t>Entropy</a:t>
                </a:r>
                <a:r>
                  <a:rPr lang="en-US" dirty="0"/>
                  <a:t>: </a:t>
                </a:r>
              </a:p>
              <a:p>
                <a:pPr lvl="1"/>
                <a:r>
                  <a:rPr lang="en-US" dirty="0"/>
                  <a:t>Measures </a:t>
                </a:r>
                <a:r>
                  <a:rPr lang="en-US" b="1" dirty="0"/>
                  <a:t>disorder</a:t>
                </a:r>
                <a:r>
                  <a:rPr lang="en-US" dirty="0"/>
                  <a:t> in data.</a:t>
                </a:r>
              </a:p>
              <a:p>
                <a:pPr lvl="1"/>
                <a:r>
                  <a:rPr lang="en-US" b="1" dirty="0"/>
                  <a:t>Formula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Entropy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func>
                          </m:e>
                        </m:d>
                      </m:e>
                    </m:nary>
                  </m:oMath>
                </a14:m>
                <a:r>
                  <a:rPr lang="en-US" dirty="0"/>
                  <a:t>, 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proportion (probability) of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 the node</a:t>
                </a:r>
              </a:p>
              <a:p>
                <a:pPr lvl="1" algn="just"/>
                <a:r>
                  <a:rPr lang="en-US" b="1" dirty="0"/>
                  <a:t>Lower entropy </a:t>
                </a:r>
                <a:r>
                  <a:rPr lang="en-US" b="1" dirty="0">
                    <a:sym typeface="Wingdings" panose="05000000000000000000" pitchFamily="2" charset="2"/>
                  </a:rPr>
                  <a:t></a:t>
                </a:r>
                <a:r>
                  <a:rPr lang="en-US" b="1" dirty="0"/>
                  <a:t> purer node</a:t>
                </a:r>
                <a:r>
                  <a:rPr lang="en-US" dirty="0"/>
                  <a:t> (e.g., only one class)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en-US" b="1" u="sng" dirty="0"/>
                  <a:t>Gini Index</a:t>
                </a:r>
                <a:r>
                  <a:rPr lang="en-US" dirty="0"/>
                  <a:t>:</a:t>
                </a:r>
              </a:p>
              <a:p>
                <a:pPr lvl="1" algn="just"/>
                <a:r>
                  <a:rPr lang="en-US" dirty="0"/>
                  <a:t>Measures </a:t>
                </a:r>
                <a:r>
                  <a:rPr lang="en-US" b="1" dirty="0"/>
                  <a:t>disorder</a:t>
                </a:r>
                <a:r>
                  <a:rPr lang="en-US" dirty="0"/>
                  <a:t> in data</a:t>
                </a:r>
              </a:p>
              <a:p>
                <a:pPr lvl="1" algn="just"/>
                <a:r>
                  <a:rPr lang="en-US" b="1" dirty="0"/>
                  <a:t>Formula</a:t>
                </a:r>
                <a:r>
                  <a:rPr lang="en-US" dirty="0"/>
                  <a:t>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Gini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 lvl="1" algn="just"/>
                <a:r>
                  <a:rPr lang="en-US" dirty="0"/>
                  <a:t>Ranges from 0 (</a:t>
                </a:r>
                <a:r>
                  <a:rPr lang="en-US" b="1" dirty="0"/>
                  <a:t>pure node</a:t>
                </a:r>
                <a:r>
                  <a:rPr lang="en-US" dirty="0"/>
                  <a:t>) to 0.5 (</a:t>
                </a:r>
                <a:r>
                  <a:rPr lang="en-US" b="1" dirty="0"/>
                  <a:t>mixed classes</a:t>
                </a:r>
                <a:r>
                  <a:rPr lang="en-US" dirty="0"/>
                  <a:t>)</a:t>
                </a:r>
              </a:p>
              <a:p>
                <a:pPr lvl="1" algn="just"/>
                <a:r>
                  <a:rPr lang="en-US" b="1" dirty="0"/>
                  <a:t>Faster</a:t>
                </a:r>
                <a:r>
                  <a:rPr lang="en-US" dirty="0"/>
                  <a:t> to calculate than entropy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en-US" b="1" u="sng" dirty="0"/>
                  <a:t>Information Gain (IG)</a:t>
                </a:r>
                <a:r>
                  <a:rPr lang="en-US" dirty="0"/>
                  <a:t>:</a:t>
                </a:r>
              </a:p>
              <a:p>
                <a:pPr lvl="1" algn="just"/>
                <a:r>
                  <a:rPr lang="en-US" dirty="0"/>
                  <a:t>Decides which feature to split on </a:t>
                </a:r>
              </a:p>
              <a:p>
                <a:pPr lvl="1" algn="just"/>
                <a:r>
                  <a:rPr lang="en-US" b="1" dirty="0"/>
                  <a:t>Formula</a:t>
                </a:r>
                <a:r>
                  <a:rPr lang="en-US" dirty="0"/>
                  <a:t>: IG = Entropy(parent) – Weighted Entropy (Children)</a:t>
                </a:r>
              </a:p>
              <a:p>
                <a:pPr lvl="1" algn="just"/>
                <a:r>
                  <a:rPr lang="en-US" b="1" dirty="0"/>
                  <a:t>Higher IG </a:t>
                </a:r>
                <a:r>
                  <a:rPr lang="en-US" b="1" dirty="0">
                    <a:sym typeface="Wingdings" panose="05000000000000000000" pitchFamily="2" charset="2"/>
                  </a:rPr>
                  <a:t> </a:t>
                </a:r>
                <a:r>
                  <a:rPr lang="en-US" b="1" dirty="0"/>
                  <a:t>better split</a:t>
                </a:r>
                <a:r>
                  <a:rPr lang="en-US" dirty="0"/>
                  <a:t> (reduces uncertainty the most)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813B54C0-A2E6-482D-EA57-CE6578EE70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1" y="1598041"/>
                <a:ext cx="11040255" cy="5137408"/>
              </a:xfrm>
              <a:blipFill>
                <a:blip r:embed="rId2"/>
                <a:stretch>
                  <a:fillRect l="-1049" t="-2966" r="-994" b="-2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88B1EC8-79CE-F986-377B-DE3F77E5E37D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E9CC4C-B536-D8C4-7B06-09E8575D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63D03A-D494-C9DF-4750-84D11D1D285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16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3C63F-C254-F5B3-3AB5-A1C106057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A0FB9-2F57-DA12-FA28-6318B6756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Understanding criteria using an example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558759D2-6D1B-C00C-5BA8-70F5A89420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1" y="1720592"/>
                <a:ext cx="11040255" cy="4931107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Fruit classification: 10 fruits (5 apples, 5 oranges)</a:t>
                </a:r>
              </a:p>
              <a:p>
                <a:pPr algn="just"/>
                <a:r>
                  <a:rPr lang="en-US" b="1" u="sng" dirty="0"/>
                  <a:t>Task</a:t>
                </a:r>
                <a:r>
                  <a:rPr lang="en-US" dirty="0"/>
                  <a:t>: </a:t>
                </a:r>
                <a:r>
                  <a:rPr lang="en-US" i="1" dirty="0"/>
                  <a:t>Build a decision tree to classify fruits based on their features (color and texture)</a:t>
                </a:r>
              </a:p>
              <a:p>
                <a:pPr algn="just"/>
                <a:r>
                  <a:rPr lang="en-US" b="1" u="sng" dirty="0"/>
                  <a:t>Step 1</a:t>
                </a:r>
                <a:r>
                  <a:rPr lang="en-US" dirty="0"/>
                  <a:t>: Entropy – Measuring disorder (chaos)</a:t>
                </a:r>
              </a:p>
              <a:p>
                <a:pPr marL="0" indent="0" algn="just">
                  <a:buNone/>
                </a:pPr>
                <a:r>
                  <a:rPr lang="en-US" dirty="0"/>
                  <a:t>	Probability of apple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	Probability of orange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Entropy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root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0.5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0.5</m:t>
                            </m:r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0.5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0.5</m:t>
                            </m:r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b="1" dirty="0"/>
                  <a:t>Interpretation:</a:t>
                </a:r>
                <a:endParaRPr lang="en-US" dirty="0"/>
              </a:p>
              <a:p>
                <a:pPr marL="1371600" lvl="3" indent="0">
                  <a:buNone/>
                </a:pPr>
                <a:r>
                  <a:rPr lang="en-US" b="1" dirty="0"/>
                  <a:t>Max entropy (1.0) = Perfect chaos</a:t>
                </a:r>
                <a:r>
                  <a:rPr lang="en-US" dirty="0"/>
                  <a:t> (50-50 split)</a:t>
                </a:r>
              </a:p>
              <a:p>
                <a:pPr marL="1371600" lvl="3" indent="0">
                  <a:buNone/>
                </a:pPr>
                <a:r>
                  <a:rPr lang="en-US" b="1" dirty="0"/>
                  <a:t>Min entropy (0.0) = Perfect order</a:t>
                </a:r>
                <a:r>
                  <a:rPr lang="en-US" dirty="0"/>
                  <a:t> (all same fruit)</a:t>
                </a:r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558759D2-6D1B-C00C-5BA8-70F5A89420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1" y="1720592"/>
                <a:ext cx="11040255" cy="4931107"/>
              </a:xfrm>
              <a:blipFill>
                <a:blip r:embed="rId2"/>
                <a:stretch>
                  <a:fillRect l="-994" t="-2101" r="-1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C476A83-31FC-51B2-4DA3-E707491FF141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A451FE-A2A0-B57C-A059-439BEBCC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78CBC2-7F42-0814-9F13-1D108378982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343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78B06-2581-2636-1268-EB5ADFA18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05A5B-4DF3-017B-FF53-0582BEFA6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Criteria using an example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14783E6-BACB-00A8-4361-CCDC0D04D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1" y="1720592"/>
            <a:ext cx="6651685" cy="1511646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b="1" u="sng" dirty="0"/>
              <a:t>Step 2</a:t>
            </a:r>
            <a:r>
              <a:rPr lang="en-US" dirty="0"/>
              <a:t>: Splitting the Data</a:t>
            </a:r>
          </a:p>
          <a:p>
            <a:pPr marL="0" indent="0">
              <a:buNone/>
            </a:pPr>
            <a:r>
              <a:rPr lang="en-US" dirty="0"/>
              <a:t>You have two features to split the basket:</a:t>
            </a:r>
          </a:p>
          <a:p>
            <a:pPr marL="457200" lvl="1" indent="0">
              <a:buNone/>
            </a:pPr>
            <a:r>
              <a:rPr lang="en-US" b="1" dirty="0"/>
              <a:t>Color</a:t>
            </a:r>
            <a:r>
              <a:rPr lang="en-US" dirty="0"/>
              <a:t> (Red or Orange)</a:t>
            </a:r>
          </a:p>
          <a:p>
            <a:pPr marL="457200" lvl="1" indent="0">
              <a:buNone/>
            </a:pPr>
            <a:r>
              <a:rPr lang="en-US" b="1" dirty="0"/>
              <a:t>Texture</a:t>
            </a:r>
            <a:r>
              <a:rPr lang="en-US" dirty="0"/>
              <a:t> (Smooth or Bumpy)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FA091A9-7FBF-5D09-6702-98FB9F51CAD1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63D9C1-1BF9-B514-EAD2-3530AD14B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232BF8-4338-3485-B4B1-2657F936CA9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E50A21-5A2D-E22A-E5E8-F429C5D4D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486" y="2166016"/>
            <a:ext cx="4711942" cy="17780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A30855-0D06-D1AB-464F-BCEBF65C45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1858" y="4419435"/>
            <a:ext cx="4635738" cy="17336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1CA733FB-5CEF-237C-035D-403DD829CD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7408869"/>
                  </p:ext>
                </p:extLst>
              </p:nvPr>
            </p:nvGraphicFramePr>
            <p:xfrm>
              <a:off x="557801" y="3232239"/>
              <a:ext cx="6651685" cy="3408286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560748">
                      <a:extLst>
                        <a:ext uri="{9D8B030D-6E8A-4147-A177-3AD203B41FA5}">
                          <a16:colId xmlns:a16="http://schemas.microsoft.com/office/drawing/2014/main" val="2596248103"/>
                        </a:ext>
                      </a:extLst>
                    </a:gridCol>
                    <a:gridCol w="4090937">
                      <a:extLst>
                        <a:ext uri="{9D8B030D-6E8A-4147-A177-3AD203B41FA5}">
                          <a16:colId xmlns:a16="http://schemas.microsoft.com/office/drawing/2014/main" val="39065521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Entropy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75077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den>
                                  </m:f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e>
                                        <m:sub>
                                          <m: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smtClean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num>
                                        <m:den>
                                          <m:r>
                                            <a:rPr lang="en-US" b="0" smtClean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den>
                                      </m:f>
                                    </m:e>
                                  </m:func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num>
                                    <m:den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den>
                                  </m:f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e>
                                        <m:sub>
                                          <m: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num>
                                        <m:den>
                                          <m:r>
                                            <a:rPr lang="en-US" b="0" smtClean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den>
                                      </m:f>
                                    </m:e>
                                  </m:func>
                                </m:e>
                              </m:d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dirty="0"/>
                            <a:t>  (pure apples)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4727253"/>
                      </a:ext>
                    </a:extLst>
                  </a:tr>
                  <a:tr h="55110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num>
                                    <m:den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den>
                                  </m:f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e>
                                        <m:sub>
                                          <m: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num>
                                        <m:den>
                                          <m:r>
                                            <a:rPr lang="en-US" b="0" smtClean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den>
                                      </m:f>
                                    </m:e>
                                  </m:func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den>
                                  </m:f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e>
                                        <m:sub>
                                          <m: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smtClean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num>
                                        <m:den>
                                          <m:r>
                                            <a:rPr lang="en-US" b="0" smtClean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den>
                                      </m:f>
                                    </m:e>
                                  </m:func>
                                </m:e>
                              </m:d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dirty="0"/>
                            <a:t> (pure oranges)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149551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Weighted (for color)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+0)</m:t>
                                  </m:r>
                                </m:num>
                                <m:den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0+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(0+5)</m:t>
                                  </m:r>
                                </m:num>
                                <m:den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×0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8413133"/>
                      </a:ext>
                    </a:extLst>
                  </a:tr>
                  <a:tr h="14376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Smooth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num>
                                    <m:den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den>
                                  </m:f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e>
                                        <m:sub>
                                          <m: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num>
                                        <m:den>
                                          <m:r>
                                            <a:rPr lang="en-US" b="0" smtClean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den>
                                      </m:f>
                                    </m:e>
                                  </m:func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den>
                                  </m:f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e>
                                        <m:sub>
                                          <m: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b="0" smtClean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den>
                                      </m:f>
                                    </m:e>
                                  </m:func>
                                </m:e>
                              </m:d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0.72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1219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Bumpy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den>
                                  </m:f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e>
                                        <m:sub>
                                          <m: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b="0" smtClean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den>
                                      </m:f>
                                    </m:e>
                                  </m:func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num>
                                    <m:den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den>
                                  </m:f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e>
                                        <m:sub>
                                          <m: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num>
                                        <m:den>
                                          <m:r>
                                            <a:rPr lang="en-US" b="0" smtClean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den>
                                      </m:f>
                                    </m:e>
                                  </m:func>
                                </m:e>
                              </m:d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0.72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20645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Weighted (for texture)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(4+1)</m:t>
                                  </m:r>
                                </m:num>
                                <m:den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0.72+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(1+4)</m:t>
                                  </m:r>
                                </m:num>
                                <m:den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×0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.72=0.72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48578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1CA733FB-5CEF-237C-035D-403DD829CD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7408869"/>
                  </p:ext>
                </p:extLst>
              </p:nvPr>
            </p:nvGraphicFramePr>
            <p:xfrm>
              <a:off x="557801" y="3232239"/>
              <a:ext cx="6651685" cy="340752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560748">
                      <a:extLst>
                        <a:ext uri="{9D8B030D-6E8A-4147-A177-3AD203B41FA5}">
                          <a16:colId xmlns:a16="http://schemas.microsoft.com/office/drawing/2014/main" val="2596248103"/>
                        </a:ext>
                      </a:extLst>
                    </a:gridCol>
                    <a:gridCol w="4090937">
                      <a:extLst>
                        <a:ext uri="{9D8B030D-6E8A-4147-A177-3AD203B41FA5}">
                          <a16:colId xmlns:a16="http://schemas.microsoft.com/office/drawing/2014/main" val="39065521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Entropy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7507762"/>
                      </a:ext>
                    </a:extLst>
                  </a:tr>
                  <a:tr h="49993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2649" t="-79268" r="-595" b="-5109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4727253"/>
                      </a:ext>
                    </a:extLst>
                  </a:tr>
                  <a:tr h="55110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2649" t="-161538" r="-595" b="-3604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4955156"/>
                      </a:ext>
                    </a:extLst>
                  </a:tr>
                  <a:tr h="49288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Weighted (for color)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2649" t="-293827" r="-595" b="-3049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8413133"/>
                      </a:ext>
                    </a:extLst>
                  </a:tr>
                  <a:tr h="49993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Smooth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2649" t="-389024" r="-595" b="-2012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21998"/>
                      </a:ext>
                    </a:extLst>
                  </a:tr>
                  <a:tr h="49993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Bumpy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2649" t="-489024" r="-595" b="-1012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2064520"/>
                      </a:ext>
                    </a:extLst>
                  </a:tr>
                  <a:tr h="49288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Weighted (for texture)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2649" t="-596296" r="-595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485782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73754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86AD0-D091-4964-1C4F-3E57B0BE8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91A6D-952C-BEA4-6878-1FAB6B791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Criteria using an example 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860BA89B-96B4-29A1-2A89-CC16691EA5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1" y="1720591"/>
                <a:ext cx="11040256" cy="4548231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b="1" u="sng" dirty="0"/>
                  <a:t>Step 3</a:t>
                </a:r>
                <a:r>
                  <a:rPr lang="en-US" dirty="0"/>
                  <a:t>: Information Gain (IG) – Reward for reducing chaos </a:t>
                </a:r>
              </a:p>
              <a:p>
                <a:pPr algn="just"/>
                <a:r>
                  <a:rPr lang="en-US" dirty="0"/>
                  <a:t>IG for color split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Entropy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root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Entropy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weighted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childre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			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 1.0 – 0.0 = 1.0</m:t>
                    </m:r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IG for texture split 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Entropy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root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Entropy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weighted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childre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dirty="0"/>
                  <a:t>			    	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1.0 –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0.7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0.28</m:t>
                    </m:r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b="1" u="sng" dirty="0"/>
                  <a:t>Interpretation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b="1" dirty="0"/>
                  <a:t>Higher IG </a:t>
                </a:r>
                <a:r>
                  <a:rPr lang="en-US" b="1" dirty="0">
                    <a:sym typeface="Wingdings" panose="05000000000000000000" pitchFamily="2" charset="2"/>
                  </a:rPr>
                  <a:t></a:t>
                </a:r>
                <a:r>
                  <a:rPr lang="en-US" b="1" dirty="0"/>
                  <a:t> Better split</a:t>
                </a:r>
                <a:r>
                  <a:rPr lang="en-US" dirty="0"/>
                  <a:t> (reduces disorder more)</a:t>
                </a:r>
              </a:p>
              <a:p>
                <a:pPr lvl="1"/>
                <a:r>
                  <a:rPr lang="en-US" b="1" dirty="0"/>
                  <a:t>Color is the winner!</a:t>
                </a:r>
                <a:r>
                  <a:rPr lang="en-US" dirty="0"/>
                  <a:t> It perfectly separates apples and oranges</a:t>
                </a:r>
              </a:p>
              <a:p>
                <a:pPr marL="0" indent="0" algn="just">
                  <a:buNone/>
                </a:pPr>
                <a:endParaRPr lang="en-US" dirty="0"/>
              </a:p>
              <a:p>
                <a:pPr algn="just"/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860BA89B-96B4-29A1-2A89-CC16691EA5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1" y="1720591"/>
                <a:ext cx="11040256" cy="4548231"/>
              </a:xfrm>
              <a:blipFill>
                <a:blip r:embed="rId2"/>
                <a:stretch>
                  <a:fillRect l="-1160" t="-2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D93CF90-2147-0519-1241-587B8BA4ADDF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8531C-C4F2-35C6-018C-49E7C2102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F08454-8534-E21B-08B5-C538450AE16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989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AF39F-6A99-BC95-C12D-EEAC9F0F1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A25AC-6EF2-E74B-9ECA-36B71CB26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Criteria using an example 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11714829-F88C-5A46-1AB1-7A882C334A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1" y="1560332"/>
                <a:ext cx="11040256" cy="4548231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b="1" u="sng" dirty="0"/>
                  <a:t>Step 4</a:t>
                </a:r>
                <a:r>
                  <a:rPr lang="en-US" dirty="0"/>
                  <a:t>: Gini Index - Simpler Impurity</a:t>
                </a:r>
              </a:p>
              <a:p>
                <a:pPr marL="0" indent="0" algn="just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Gini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root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11714829-F88C-5A46-1AB1-7A882C334A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1" y="1560332"/>
                <a:ext cx="11040256" cy="4548231"/>
              </a:xfrm>
              <a:blipFill>
                <a:blip r:embed="rId2"/>
                <a:stretch>
                  <a:fillRect l="-994" t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5C13D8C-6575-C20C-DD33-B9A8D1484979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9C8C0F-A968-C52F-87C1-84B6DE7E9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233921-409F-88D9-F9C3-40E6FF73B39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100A0FB-BC7C-C003-65BB-186E98C1C8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7251042"/>
                  </p:ext>
                </p:extLst>
              </p:nvPr>
            </p:nvGraphicFramePr>
            <p:xfrm>
              <a:off x="652071" y="2979645"/>
              <a:ext cx="6651685" cy="3737356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560748">
                      <a:extLst>
                        <a:ext uri="{9D8B030D-6E8A-4147-A177-3AD203B41FA5}">
                          <a16:colId xmlns:a16="http://schemas.microsoft.com/office/drawing/2014/main" val="2596248103"/>
                        </a:ext>
                      </a:extLst>
                    </a:gridCol>
                    <a:gridCol w="4090937">
                      <a:extLst>
                        <a:ext uri="{9D8B030D-6E8A-4147-A177-3AD203B41FA5}">
                          <a16:colId xmlns:a16="http://schemas.microsoft.com/office/drawing/2014/main" val="39065521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Gini Index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75077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5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5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5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4727253"/>
                      </a:ext>
                    </a:extLst>
                  </a:tr>
                  <a:tr h="55110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5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5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5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149551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Weighted (for color)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+0)</m:t>
                                  </m:r>
                                </m:num>
                                <m:den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0+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(0+5)</m:t>
                                  </m:r>
                                </m:num>
                                <m:den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×0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8413133"/>
                      </a:ext>
                    </a:extLst>
                  </a:tr>
                  <a:tr h="14376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Smooth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5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5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0.32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1219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Bumpy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5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5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0.32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20645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Weighted (for texture)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(4+1)</m:t>
                                  </m:r>
                                </m:num>
                                <m:den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(1+4)</m:t>
                                  </m:r>
                                </m:num>
                                <m:den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×0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2=0.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48578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100A0FB-BC7C-C003-65BB-186E98C1C8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7251042"/>
                  </p:ext>
                </p:extLst>
              </p:nvPr>
            </p:nvGraphicFramePr>
            <p:xfrm>
              <a:off x="652071" y="2979645"/>
              <a:ext cx="6651685" cy="373659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560748">
                      <a:extLst>
                        <a:ext uri="{9D8B030D-6E8A-4147-A177-3AD203B41FA5}">
                          <a16:colId xmlns:a16="http://schemas.microsoft.com/office/drawing/2014/main" val="2596248103"/>
                        </a:ext>
                      </a:extLst>
                    </a:gridCol>
                    <a:gridCol w="4090937">
                      <a:extLst>
                        <a:ext uri="{9D8B030D-6E8A-4147-A177-3AD203B41FA5}">
                          <a16:colId xmlns:a16="http://schemas.microsoft.com/office/drawing/2014/main" val="39065521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Gini Index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7507762"/>
                      </a:ext>
                    </a:extLst>
                  </a:tr>
                  <a:tr h="59499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2798" t="-66327" r="-595" b="-4663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4727253"/>
                      </a:ext>
                    </a:extLst>
                  </a:tr>
                  <a:tr h="59499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2798" t="-168041" r="-595" b="-3711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4955156"/>
                      </a:ext>
                    </a:extLst>
                  </a:tr>
                  <a:tr h="49288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Weighted (for color)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2798" t="-320988" r="-595" b="-34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8413133"/>
                      </a:ext>
                    </a:extLst>
                  </a:tr>
                  <a:tr h="59499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Smooth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2798" t="-347959" r="-595" b="-1846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21998"/>
                      </a:ext>
                    </a:extLst>
                  </a:tr>
                  <a:tr h="59499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Bumpy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2798" t="-447959" r="-595" b="-846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2064520"/>
                      </a:ext>
                    </a:extLst>
                  </a:tr>
                  <a:tr h="49288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Weighted (for texture)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2798" t="-662963" r="-595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485782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35FD370-79F2-AE1F-1AC3-F6ED3CF582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3756" y="2166016"/>
            <a:ext cx="4711942" cy="17780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DE2172-A933-776A-F37C-BF62E0F55C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6128" y="4419435"/>
            <a:ext cx="4635738" cy="173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668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8F2E8-B874-1CF2-B704-B9458BAA3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D6051-0ADB-824B-3277-72E5098DD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Criteria using an example 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8295E7C-748C-1E84-D08C-1A2BCEC2DE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1" y="1560332"/>
                <a:ext cx="11040256" cy="4548231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b="1" u="sng" dirty="0"/>
                  <a:t>Step 5</a:t>
                </a:r>
                <a:r>
                  <a:rPr lang="en-US" dirty="0"/>
                  <a:t>: Gini Gain (GG)</a:t>
                </a:r>
              </a:p>
              <a:p>
                <a:pPr algn="just"/>
                <a:r>
                  <a:rPr lang="en-US" dirty="0"/>
                  <a:t>GG for color split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Gini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root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Gini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weighted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children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			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 0.5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– 0.0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GG for texture split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Gini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root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Gini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weighted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children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		    			     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0.5 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–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0.32 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0.18</m:t>
                    </m:r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b="1" u="sng" dirty="0"/>
                  <a:t>Interpretation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b="1" dirty="0"/>
                  <a:t>Higher GG </a:t>
                </a:r>
                <a:r>
                  <a:rPr lang="en-US" b="1" dirty="0">
                    <a:sym typeface="Wingdings" panose="05000000000000000000" pitchFamily="2" charset="2"/>
                  </a:rPr>
                  <a:t></a:t>
                </a:r>
                <a:r>
                  <a:rPr lang="en-US" b="1" dirty="0"/>
                  <a:t> Better split</a:t>
                </a:r>
                <a:r>
                  <a:rPr lang="en-US" dirty="0"/>
                  <a:t> </a:t>
                </a:r>
              </a:p>
              <a:p>
                <a:pPr lvl="1"/>
                <a:r>
                  <a:rPr lang="en-US" b="1" dirty="0"/>
                  <a:t>Color is the winner again!</a:t>
                </a:r>
                <a:r>
                  <a:rPr lang="en-US" dirty="0"/>
                  <a:t> It perfectly separates apples and oranges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8295E7C-748C-1E84-D08C-1A2BCEC2DE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1" y="1560332"/>
                <a:ext cx="11040256" cy="4548231"/>
              </a:xfrm>
              <a:blipFill>
                <a:blip r:embed="rId2"/>
                <a:stretch>
                  <a:fillRect l="-1160" t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B226949-6F45-CB2E-C45B-A2F3F8EAF21E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7E4011-1EF7-B1F5-CE01-668A8F272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1C0A87-E6C7-78B8-BD15-4AFDC24830E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66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161AE-E0C3-8996-75CC-1DD46239F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53F14A0A-3B08-B950-9F08-397498B78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01" y="3556385"/>
            <a:ext cx="8112979" cy="3035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7BEF7D-D700-E4D6-A5E3-5F31DDDF9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Decision Tree on Iris Dataset: Mathematical Walkthrough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1B8F5-6CDC-8060-1B35-6FBE4D8ED654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C2C7A5-81CF-A8F7-5BFF-DB93B9EC0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D191F4-F47F-4F38-EBE4-01E2BF749EB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D013959-018E-EE0B-A275-9DE33BEF88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28711" y="2616574"/>
            <a:ext cx="10315723" cy="892255"/>
          </a:xfr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49A7ACC-EB55-F066-8B93-D5B36D5AF6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797487"/>
              </p:ext>
            </p:extLst>
          </p:nvPr>
        </p:nvGraphicFramePr>
        <p:xfrm>
          <a:off x="8362962" y="4224965"/>
          <a:ext cx="3562511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6808">
                  <a:extLst>
                    <a:ext uri="{9D8B030D-6E8A-4147-A177-3AD203B41FA5}">
                      <a16:colId xmlns:a16="http://schemas.microsoft.com/office/drawing/2014/main" val="879419384"/>
                    </a:ext>
                  </a:extLst>
                </a:gridCol>
                <a:gridCol w="942681">
                  <a:extLst>
                    <a:ext uri="{9D8B030D-6E8A-4147-A177-3AD203B41FA5}">
                      <a16:colId xmlns:a16="http://schemas.microsoft.com/office/drawing/2014/main" val="1195998161"/>
                    </a:ext>
                  </a:extLst>
                </a:gridCol>
                <a:gridCol w="1343022">
                  <a:extLst>
                    <a:ext uri="{9D8B030D-6E8A-4147-A177-3AD203B41FA5}">
                      <a16:colId xmlns:a16="http://schemas.microsoft.com/office/drawing/2014/main" val="3147615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Proportion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8265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Setosa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010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Versicolor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896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Virginica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9948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071E7B9-E8EA-4BAF-D6C5-BE39F31ACE63}"/>
              </a:ext>
            </a:extLst>
          </p:cNvPr>
          <p:cNvSpPr txBox="1"/>
          <p:nvPr/>
        </p:nvSpPr>
        <p:spPr>
          <a:xfrm>
            <a:off x="928711" y="1575138"/>
            <a:ext cx="105570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/>
              <a:t>Iris Dataset is one of best know datasets in pattern recognition literature. This dataset contains 3 classes of 50 instances each, where each class refers to a type of iris plant. One class is linearly separable from the other 2 the latter are NOT linearly separable from each other.</a:t>
            </a:r>
          </a:p>
        </p:txBody>
      </p:sp>
    </p:spTree>
    <p:extLst>
      <p:ext uri="{BB962C8B-B14F-4D97-AF65-F5344CB8AC3E}">
        <p14:creationId xmlns:p14="http://schemas.microsoft.com/office/powerpoint/2010/main" val="2701587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C2DBB-CF2C-6B21-668C-AF1B4D49D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4A195-380F-1912-4153-9A81B2DE6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Iris Dataset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CCE6B92-6EC9-E7A4-E2D8-ED9B733D7FC5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88B67-7788-775F-5C0D-72C9CD649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0336FE-E329-F4CB-EF57-698AB89A73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23CAB8-86D0-0D5C-529E-1AD542967F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u="sng" dirty="0">
                    <a:latin typeface="+mj-lt"/>
                  </a:rPr>
                  <a:t>Step 1</a:t>
                </a:r>
                <a:r>
                  <a:rPr lang="en-US" dirty="0">
                    <a:latin typeface="+mj-lt"/>
                  </a:rPr>
                  <a:t>: Entropy calculation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Entropy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root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=1.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585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b="1" u="sng" dirty="0"/>
                  <a:t>Step 2</a:t>
                </a:r>
                <a:r>
                  <a:rPr lang="en-US" dirty="0"/>
                  <a:t>: Candidate Split on “Petal Length ≤ 2.45 cm“ (a common optimal threshold for the first split)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23CAB8-86D0-0D5C-529E-1AD542967F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34AD5A25-86F0-0959-5ADC-AF0384233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961" y="4060140"/>
            <a:ext cx="7650239" cy="266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772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0B620-EF35-C57A-62D4-067CD7E3D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38771-37F0-8F46-2469-914A9ACBE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Iris Dataset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4CC50E7-F073-5E80-68C9-E9BF9EF91D82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E7462D-B479-7DFC-A499-54705121E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F4CB9E-7159-6700-2D3B-3E5DBA1720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6F8ACC-EE2D-0F3D-BFC9-03A91E3343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155680" cy="4351338"/>
              </a:xfrm>
            </p:spPr>
            <p:txBody>
              <a:bodyPr/>
              <a:lstStyle/>
              <a:p>
                <a:r>
                  <a:rPr lang="en-US" b="1" u="sng" dirty="0">
                    <a:latin typeface="+mj-lt"/>
                  </a:rPr>
                  <a:t>Step 3</a:t>
                </a:r>
                <a:r>
                  <a:rPr lang="en-US" dirty="0">
                    <a:latin typeface="+mj-lt"/>
                  </a:rPr>
                  <a:t>: Compute Child Node Entropies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Entropy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left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den>
                              </m:f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den>
                              </m:f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Entropy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right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den>
                              </m:f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den>
                              </m:f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6F8ACC-EE2D-0F3D-BFC9-03A91E3343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155680" cy="4351338"/>
              </a:xfrm>
              <a:blipFill>
                <a:blip r:embed="rId3"/>
                <a:stretch>
                  <a:fillRect l="-984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60683C1E-6EE2-EE57-5628-AA57F0A4F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961" y="4060140"/>
            <a:ext cx="7650239" cy="266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089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4E145-F07D-7BE7-E34E-04F31C45C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1ADA5-1E76-161A-9A89-6819C1137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Iris Dataset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58C4ED-DACE-E051-4750-08CC83292B6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B3767E-A6B6-BB6A-CCDE-23CC2E6E8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36FB0C-16B2-CF0B-4DC2-EFB787A6008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014FAF-FE26-C084-3679-B1C77E92B0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b="1" u="sng" dirty="0">
                    <a:latin typeface="+mj-lt"/>
                  </a:rPr>
                  <a:t>Step 4</a:t>
                </a:r>
                <a:r>
                  <a:rPr lang="en-US" dirty="0">
                    <a:latin typeface="+mj-lt"/>
                  </a:rPr>
                  <a:t>: Weighted Entropy After Split</a:t>
                </a:r>
              </a:p>
              <a:p>
                <a:endParaRPr lang="en-US" dirty="0">
                  <a:latin typeface="+mj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Entropy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weighted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150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×0.0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150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×1.0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0.666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u="sng" dirty="0"/>
                  <a:t>Step 5</a:t>
                </a:r>
                <a:r>
                  <a:rPr lang="en-US" dirty="0"/>
                  <a:t>: Information Gain (IG)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IG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1.585−0.666=0.919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algn="just"/>
                <a:r>
                  <a:rPr lang="en-US" b="1" u="sng" dirty="0"/>
                  <a:t>Interpretation</a:t>
                </a:r>
                <a:r>
                  <a:rPr lang="en-US" dirty="0"/>
                  <a:t>:</a:t>
                </a:r>
              </a:p>
              <a:p>
                <a:pPr lvl="1" algn="just"/>
                <a:r>
                  <a:rPr lang="en-US" dirty="0"/>
                  <a:t>The IG value obtained is high, i.e., this split significantly reduces uncertainty</a:t>
                </a:r>
              </a:p>
              <a:p>
                <a:pPr lvl="1" algn="just"/>
                <a:r>
                  <a:rPr lang="en-US" dirty="0"/>
                  <a:t>The tree will choose this split if no other feature provides higher IG</a:t>
                </a:r>
              </a:p>
              <a:p>
                <a:pPr lvl="1" algn="just"/>
                <a:r>
                  <a:rPr lang="en-US" b="1" dirty="0"/>
                  <a:t>High IG splits</a:t>
                </a:r>
                <a:r>
                  <a:rPr lang="en-US" dirty="0"/>
                  <a:t> maximize class homogeneity (e.g., left node is 100% </a:t>
                </a:r>
                <a:r>
                  <a:rPr lang="en-US" dirty="0" err="1"/>
                  <a:t>Setosa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014FAF-FE26-C084-3679-B1C77E92B0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 t="-2661" b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3433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6DD9D-E520-7DDD-F179-AB9AC15F0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8B017-43D2-EC14-AAEF-7E5E45717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Stopping Criteria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22F7BC-D95B-4FC8-A22D-4E9ED30C3714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0D9C2B-65F6-7090-2098-F1A8BEFD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161E5E-0434-13C8-C60D-57E4F52E7E8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65269-828D-AB1E-4899-0DCEA340B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Node is pure (entropy=0)</a:t>
            </a:r>
          </a:p>
          <a:p>
            <a:r>
              <a:rPr lang="en-US" b="1" dirty="0"/>
              <a:t>Maximum tree depth reached</a:t>
            </a:r>
          </a:p>
          <a:p>
            <a:pPr lvl="1"/>
            <a:r>
              <a:rPr lang="en-US" dirty="0"/>
              <a:t>Maximum number of levels in the tree</a:t>
            </a:r>
          </a:p>
          <a:p>
            <a:pPr lvl="1"/>
            <a:r>
              <a:rPr lang="en-US" dirty="0"/>
              <a:t>Prevents deep trees that overfit</a:t>
            </a:r>
          </a:p>
          <a:p>
            <a:r>
              <a:rPr lang="en-US" b="1" dirty="0"/>
              <a:t>IG below minimum threshold</a:t>
            </a:r>
          </a:p>
          <a:p>
            <a:pPr lvl="1"/>
            <a:r>
              <a:rPr lang="en-US" dirty="0"/>
              <a:t> In some tree implementations, a minimum IG threshold can be set to avoid splits that do not improve the model sufficiently (and to prevent overfitting). This threshold is often set by the user.</a:t>
            </a:r>
          </a:p>
          <a:p>
            <a:r>
              <a:rPr lang="en-US" b="1" dirty="0"/>
              <a:t>Minimum Samples per Leaf</a:t>
            </a:r>
          </a:p>
          <a:p>
            <a:pPr lvl="1"/>
            <a:r>
              <a:rPr lang="en-US" dirty="0"/>
              <a:t>Do not split if it results in too few samples in a leaf</a:t>
            </a:r>
          </a:p>
          <a:p>
            <a:r>
              <a:rPr lang="en-US" b="1" dirty="0"/>
              <a:t>Minimum Samples per Split</a:t>
            </a:r>
          </a:p>
          <a:p>
            <a:pPr lvl="1"/>
            <a:r>
              <a:rPr lang="en-US" dirty="0"/>
              <a:t>Do not consider a split unless the node has enough samples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257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FBC94-F8D4-650C-F2C0-087532A6D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CDF85-D070-2ED3-0278-38ABE3B03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IG Range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0D0DA7F-19BD-4365-D789-A4D3265616EA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46E598-FD49-454D-F4DB-B2E484239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F7102A-135F-EE5F-E925-94EF054826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8AA5B5-C0CE-4E8A-91DB-0F3F4CE96F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Minimum IG</a:t>
                </a:r>
                <a:r>
                  <a:rPr lang="en-US" dirty="0"/>
                  <a:t>: 0</a:t>
                </a:r>
              </a:p>
              <a:p>
                <a:pPr lvl="1"/>
                <a:r>
                  <a:rPr lang="en-US" dirty="0"/>
                  <a:t>Occurs when the split provides </a:t>
                </a:r>
                <a:r>
                  <a:rPr lang="en-US" i="1" dirty="0"/>
                  <a:t>no reduction</a:t>
                </a:r>
                <a:r>
                  <a:rPr lang="en-US" dirty="0"/>
                  <a:t> in entropy (e.g., child nodes have identical impurity to the parent)</a:t>
                </a:r>
              </a:p>
              <a:p>
                <a:r>
                  <a:rPr lang="en-US" b="1" dirty="0"/>
                  <a:t>Maximum IG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Entropy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root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Achieved when the split creates </a:t>
                </a:r>
                <a:r>
                  <a:rPr lang="en-US" i="1" dirty="0"/>
                  <a:t>perfectly pure child nodes</a:t>
                </a:r>
                <a:r>
                  <a:rPr lang="en-US" dirty="0"/>
                  <a:t> (entropy = 0 for all children)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IG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Entropy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root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8AA5B5-C0CE-4E8A-91DB-0F3F4CE96F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2340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BFA58-8095-A5B3-FE61-17E19F630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49A4C-B0F3-E87C-CC1F-6F0D07194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IG Interpretation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6AF8A7-7286-5632-70FA-093E6A6BECA2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3FA1B0-E03D-5D2C-B9F3-D8B747B0C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43E5C5-DF5B-C53B-A9E9-E510F43CDB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851A6-30DD-851F-BE8A-6866B8D4F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39293" cy="489585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Since IG depends on the parent entropy (which varies per dataset/split), we evaluate it </a:t>
            </a:r>
            <a:r>
              <a:rPr lang="en-US" b="1" i="1" u="sng" dirty="0"/>
              <a:t>relatively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u="sng" dirty="0"/>
              <a:t>Relative to parent entropy</a:t>
            </a:r>
            <a:endParaRPr lang="en-US" dirty="0"/>
          </a:p>
          <a:p>
            <a:pPr algn="just"/>
            <a:r>
              <a:rPr lang="en-US" b="1" dirty="0"/>
              <a:t>High IG</a:t>
            </a:r>
            <a:r>
              <a:rPr lang="en-US" dirty="0"/>
              <a:t>: IG &gt; 20–30% of parent entropy</a:t>
            </a:r>
          </a:p>
          <a:p>
            <a:pPr algn="just"/>
            <a:r>
              <a:rPr lang="en-US" b="1" dirty="0"/>
              <a:t>Low IG</a:t>
            </a:r>
            <a:r>
              <a:rPr lang="en-US" dirty="0"/>
              <a:t>: IG &lt; 5–10% of parent entropy</a:t>
            </a:r>
          </a:p>
          <a:p>
            <a:pPr algn="just"/>
            <a:r>
              <a:rPr lang="en-US" i="1" dirty="0"/>
              <a:t>Example (Iris dataset):</a:t>
            </a:r>
            <a:endParaRPr lang="en-US" dirty="0"/>
          </a:p>
          <a:p>
            <a:pPr lvl="1" algn="just"/>
            <a:r>
              <a:rPr lang="en-US" dirty="0"/>
              <a:t>Parent entropy = 1.585</a:t>
            </a:r>
          </a:p>
          <a:p>
            <a:pPr lvl="1" algn="just"/>
            <a:r>
              <a:rPr lang="en-US" dirty="0"/>
              <a:t>IG = 0.919 → </a:t>
            </a:r>
            <a:r>
              <a:rPr lang="en-US" b="1" dirty="0"/>
              <a:t>58% of parent entropy</a:t>
            </a:r>
            <a:r>
              <a:rPr lang="en-US" dirty="0"/>
              <a:t> (highly effective split)</a:t>
            </a:r>
          </a:p>
          <a:p>
            <a:pPr algn="just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DD7B23-396F-68EC-6BC2-AB103C425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716" y="1596420"/>
            <a:ext cx="4194981" cy="29349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461A7E-28BD-A357-8729-F0C56018B3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3716" y="4819962"/>
            <a:ext cx="4255034" cy="153638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52887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60633-9E8A-48FA-58B0-154116167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100EC-8CBC-1BE8-C090-644650C9A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IG Interpretation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8E6B97-9283-14DD-5C2E-6B9FFA435F45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BEDEBD-55F4-F3FC-9E4B-82CF795D4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847BE4-9CA1-45A1-DC94-9B007D08180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11205-E2EE-B633-05A3-9A71BA5C2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 startAt="2"/>
            </a:pPr>
            <a:r>
              <a:rPr lang="en-US" b="1" u="sng" dirty="0"/>
              <a:t>Relative to Other Splits</a:t>
            </a:r>
          </a:p>
          <a:p>
            <a:pPr algn="just"/>
            <a:r>
              <a:rPr lang="en-US" dirty="0"/>
              <a:t>Decision trees compare IG across all possible splits at a node</a:t>
            </a:r>
          </a:p>
          <a:p>
            <a:r>
              <a:rPr lang="en-US" dirty="0"/>
              <a:t>The split with the </a:t>
            </a:r>
            <a:r>
              <a:rPr lang="en-US" b="1" dirty="0"/>
              <a:t>highest IG</a:t>
            </a:r>
            <a:r>
              <a:rPr lang="en-US" dirty="0"/>
              <a:t> is chosen</a:t>
            </a:r>
          </a:p>
          <a:p>
            <a:r>
              <a:rPr lang="en-US" i="1" dirty="0"/>
              <a:t>Absolute IG values matter less than their rank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b="1" u="sng" dirty="0"/>
              <a:t>Domain-Specific Thresholds for stopping</a:t>
            </a:r>
          </a:p>
          <a:p>
            <a:r>
              <a:rPr lang="en-US" b="1" dirty="0"/>
              <a:t>Minimum IG threshold</a:t>
            </a:r>
            <a:r>
              <a:rPr lang="en-US" dirty="0"/>
              <a:t>: Splits with IG less than the threshold are rejected</a:t>
            </a:r>
          </a:p>
          <a:p>
            <a:r>
              <a:rPr lang="en-US" b="1" dirty="0"/>
              <a:t>Statistical significance</a:t>
            </a:r>
            <a:r>
              <a:rPr lang="en-US" dirty="0"/>
              <a:t>: IG should be meaningfully above 0</a:t>
            </a:r>
          </a:p>
        </p:txBody>
      </p:sp>
    </p:spTree>
    <p:extLst>
      <p:ext uri="{BB962C8B-B14F-4D97-AF65-F5344CB8AC3E}">
        <p14:creationId xmlns:p14="http://schemas.microsoft.com/office/powerpoint/2010/main" val="31959707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075C3-2DE1-026E-FBFC-8EE5C7470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7938E93-305A-4E0B-9082-34F3E0B2D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151" y="4265940"/>
            <a:ext cx="3414768" cy="24986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2ED88B-06C3-BE5A-11D6-7F9BBE004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104" y="1462057"/>
            <a:ext cx="3479548" cy="25911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4E53CF-44B1-BD4B-42E9-E2E5D85D1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b="1" dirty="0"/>
              <a:t>Decision Tree using </a:t>
            </a:r>
            <a:r>
              <a:rPr lang="en-US" sz="4200" b="1" dirty="0" err="1"/>
              <a:t>Sklearn</a:t>
            </a:r>
            <a:r>
              <a:rPr lang="en-US" sz="4200" b="1" dirty="0"/>
              <a:t>: Iris Dataset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9D9C009-CC8C-D854-6F74-09DC6A370C61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8FC9C-A794-DCD8-5106-29F2A428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58ACE5-04B9-AF40-EED4-43BEA33FBDC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38165F7-1FFC-CEA7-D86B-51D07A2EFE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39875" y="1523423"/>
            <a:ext cx="3479548" cy="2609661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7F4EB1-FC97-0EDC-6047-76FBDECA76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655" y="4186065"/>
            <a:ext cx="3414768" cy="25911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A392346-F058-771F-7D90-C51CB4817C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338" y="3011254"/>
            <a:ext cx="5105662" cy="234962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74246C2-2777-B47E-0A4D-5345400C2707}"/>
              </a:ext>
            </a:extLst>
          </p:cNvPr>
          <p:cNvSpPr txBox="1"/>
          <p:nvPr/>
        </p:nvSpPr>
        <p:spPr>
          <a:xfrm>
            <a:off x="7722003" y="2727220"/>
            <a:ext cx="3834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SL               SW              PL                PW     </a:t>
            </a:r>
          </a:p>
        </p:txBody>
      </p:sp>
    </p:spTree>
    <p:extLst>
      <p:ext uri="{BB962C8B-B14F-4D97-AF65-F5344CB8AC3E}">
        <p14:creationId xmlns:p14="http://schemas.microsoft.com/office/powerpoint/2010/main" val="926085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FADEA-8251-AFC2-4AC3-8A3E3BF9F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1800734-DCF1-1E45-3921-809BB5D70E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4865" y="1492568"/>
            <a:ext cx="5150115" cy="1752690"/>
          </a:xfr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9BF2321-D36E-1B95-F047-A9BB51730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65" y="3308938"/>
            <a:ext cx="4515082" cy="53977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B8B6AFE-322E-4C4A-602D-3F91F87AD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865" y="3848716"/>
            <a:ext cx="6293173" cy="29402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559EF2-5BA2-DF95-7D27-83FAA1151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b="1" dirty="0"/>
              <a:t>Decision Tree using </a:t>
            </a:r>
            <a:r>
              <a:rPr lang="en-US" sz="4200" b="1" dirty="0" err="1"/>
              <a:t>Sklearn</a:t>
            </a:r>
            <a:r>
              <a:rPr lang="en-US" sz="4200" b="1" dirty="0"/>
              <a:t>: Python Code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B6FB407-25A0-B3C7-D6C0-225F04FD97BB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A1919B-998F-B8A1-576F-9CDDA8B50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54F58D-4433-74F4-B5E2-24E9CA2CEAC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A8FDCEE-439B-B1CE-0F8A-9EB6ED29C486}"/>
              </a:ext>
            </a:extLst>
          </p:cNvPr>
          <p:cNvSpPr txBox="1">
            <a:spLocks/>
          </p:cNvSpPr>
          <p:nvPr/>
        </p:nvSpPr>
        <p:spPr>
          <a:xfrm>
            <a:off x="5492578" y="1553985"/>
            <a:ext cx="6699422" cy="24314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sz="9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iris.iloc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[:, :-1]</a:t>
            </a:r>
          </a:p>
          <a:p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y = </a:t>
            </a:r>
            <a:r>
              <a:rPr lang="en-US" sz="9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iris.iloc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[:,4]</a:t>
            </a:r>
          </a:p>
          <a:p>
            <a:endParaRPr lang="en-US" sz="9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X_train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9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X_test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,\</a:t>
            </a:r>
          </a:p>
          <a:p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9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y_train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9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y_test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9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train_test_split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(X, y,</a:t>
            </a:r>
          </a:p>
          <a:p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</a:t>
            </a:r>
            <a:r>
              <a:rPr lang="en-US" sz="9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test_size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=0.33,</a:t>
            </a:r>
          </a:p>
          <a:p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</a:t>
            </a:r>
            <a:r>
              <a:rPr lang="en-US" sz="9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random_state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=42)</a:t>
            </a:r>
          </a:p>
          <a:p>
            <a:endParaRPr lang="en-US" sz="9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treemodel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9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DecisionTreeClassifier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(criterion=</a:t>
            </a:r>
            <a:r>
              <a:rPr lang="en-US" sz="95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'entropy'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9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random_state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=0)</a:t>
            </a:r>
          </a:p>
          <a:p>
            <a:r>
              <a:rPr lang="en-US" sz="9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treemodel.fit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9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X_train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9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y_train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9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plt.figure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9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figsize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=(15, 10))</a:t>
            </a:r>
          </a:p>
          <a:p>
            <a:r>
              <a:rPr lang="en-US" sz="9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tree.plot_tree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9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treemodel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, filled=</a:t>
            </a:r>
            <a:r>
              <a:rPr lang="en-US" sz="95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, rounded=</a:t>
            </a:r>
            <a:r>
              <a:rPr lang="en-US" sz="95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9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feature_names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=["SL","SW","PL","PW"])</a:t>
            </a:r>
          </a:p>
          <a:p>
            <a:r>
              <a:rPr lang="en-US" sz="9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ypred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9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treemodel.predict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9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X_test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score = </a:t>
            </a:r>
            <a:r>
              <a:rPr lang="en-US" sz="9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accuracy_score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9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ypred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9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y_test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print(score)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4FBC39-140B-5D01-2029-F0C49BAF186D}"/>
              </a:ext>
            </a:extLst>
          </p:cNvPr>
          <p:cNvCxnSpPr/>
          <p:nvPr/>
        </p:nvCxnSpPr>
        <p:spPr>
          <a:xfrm>
            <a:off x="5418438" y="1492568"/>
            <a:ext cx="0" cy="52289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8311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79910-E26A-8C9F-8E26-95D5EF85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2F4D7AC-D6D7-D588-3E57-8F5591E712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3208" y="1543954"/>
            <a:ext cx="6369776" cy="5240742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BB83A3-0A08-2DF1-A53B-5367E9666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b="1" dirty="0"/>
              <a:t>Decision Tree for Iris Dataset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65F1423-9FF5-04E3-6601-31101E1ED5C1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75571-05A0-7996-1B4C-D62E5C4FC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BAE70C-2CD8-A7F1-35F9-03FC8D2578B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0B37BD1-5D32-C6B5-09D0-0BBED7F27684}"/>
              </a:ext>
            </a:extLst>
          </p:cNvPr>
          <p:cNvSpPr txBox="1"/>
          <p:nvPr/>
        </p:nvSpPr>
        <p:spPr>
          <a:xfrm>
            <a:off x="733306" y="1690688"/>
            <a:ext cx="295298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Accuracy on test data: 98%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3311F1-0066-5AD5-0EAD-AF01CD7E3C0A}"/>
              </a:ext>
            </a:extLst>
          </p:cNvPr>
          <p:cNvSpPr txBox="1"/>
          <p:nvPr/>
        </p:nvSpPr>
        <p:spPr>
          <a:xfrm>
            <a:off x="6096000" y="6246524"/>
            <a:ext cx="3280322" cy="29238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300" dirty="0"/>
              <a:t>Figure: Decision tree based on training data</a:t>
            </a:r>
          </a:p>
        </p:txBody>
      </p:sp>
    </p:spTree>
    <p:extLst>
      <p:ext uri="{BB962C8B-B14F-4D97-AF65-F5344CB8AC3E}">
        <p14:creationId xmlns:p14="http://schemas.microsoft.com/office/powerpoint/2010/main" val="3374573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14729</TotalTime>
  <Words>1506</Words>
  <Application>Microsoft Office PowerPoint</Application>
  <PresentationFormat>Widescreen</PresentationFormat>
  <Paragraphs>216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Cambria Math</vt:lpstr>
      <vt:lpstr>Courier New</vt:lpstr>
      <vt:lpstr>Wingdings</vt:lpstr>
      <vt:lpstr>Office Theme</vt:lpstr>
      <vt:lpstr>Lecture 9: Decision Tree (Classification)</vt:lpstr>
      <vt:lpstr>Introduction</vt:lpstr>
      <vt:lpstr>Key Terms/Components</vt:lpstr>
      <vt:lpstr>Some Applications of Decision Trees</vt:lpstr>
      <vt:lpstr>How Splitting Works: Key Criteria</vt:lpstr>
      <vt:lpstr>Understanding criteria using an example</vt:lpstr>
      <vt:lpstr>Criteria using an example</vt:lpstr>
      <vt:lpstr>Criteria using an example (contd.)</vt:lpstr>
      <vt:lpstr>Criteria using an example (contd.)</vt:lpstr>
      <vt:lpstr>Criteria using an example (contd.)</vt:lpstr>
      <vt:lpstr>Decision Tree on Iris Dataset: Mathematical Walkthrough</vt:lpstr>
      <vt:lpstr>Iris Dataset (contd.)</vt:lpstr>
      <vt:lpstr>Iris Dataset (contd.)</vt:lpstr>
      <vt:lpstr>Iris Dataset (contd.)</vt:lpstr>
      <vt:lpstr>Stopping Criteria</vt:lpstr>
      <vt:lpstr>IG Range</vt:lpstr>
      <vt:lpstr>IG Interpretation</vt:lpstr>
      <vt:lpstr>IG Interpretation (contd.)</vt:lpstr>
      <vt:lpstr>Decision Tree using Sklearn: Iris Dataset</vt:lpstr>
      <vt:lpstr>Decision Tree using Sklearn: Python Code</vt:lpstr>
      <vt:lpstr>Decision Tree for Iris Dataset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Jilan Samiuddin</dc:creator>
  <cp:lastModifiedBy>Jilan Samiuddin</cp:lastModifiedBy>
  <cp:revision>160</cp:revision>
  <dcterms:created xsi:type="dcterms:W3CDTF">2025-05-01T04:50:36Z</dcterms:created>
  <dcterms:modified xsi:type="dcterms:W3CDTF">2026-03-11T03:16:38Z</dcterms:modified>
</cp:coreProperties>
</file>